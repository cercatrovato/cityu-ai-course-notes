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9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delivery: 30 seconds.</a:t>
            </a:r>
          </a:p>
          <a:p>
            <a:endParaRPr dirty="0"/>
          </a:p>
          <a:p>
            <a:r>
              <a:rPr dirty="0"/>
              <a:t>ENGLISH SCRIPT</a:t>
            </a:r>
          </a:p>
          <a:p>
            <a:r>
              <a:rPr dirty="0"/>
              <a:t>Our main question is who is likely to buy again within ninety days. Prediction alone does not explain what different customers are like. We therefore add customer segmentation and group-level exploration. Clustering has two roles: it may help improve predictive features, and it provides customer insights for differentiated business recommendations. We will evaluate both roles rather than assuming clustering must improve the model.</a:t>
            </a:r>
          </a:p>
          <a:p>
            <a:endParaRPr dirty="0"/>
          </a:p>
          <a:p>
            <a:r>
              <a:rPr dirty="0" err="1"/>
              <a:t>中文讲解</a:t>
            </a:r>
            <a:endParaRPr dirty="0"/>
          </a:p>
          <a:p>
            <a:r>
              <a:rPr dirty="0"/>
              <a:t>新的主次：复购预测为主；全体客户分群与组内EDA为辅但有独立贡献。不是只聚类高复购分数客户，也不默认每群单独训练分类器。预测不等于营销因果效果。</a:t>
            </a:r>
          </a:p>
          <a:p>
            <a:endParaRPr dirty="0"/>
          </a:p>
          <a:p>
            <a:r>
              <a:rPr dirty="0"/>
              <a:t>Sources: user-approved revised workflow; IS6400 Project Guideline pp.1–2; </a:t>
            </a:r>
            <a:r>
              <a:rPr dirty="0" err="1"/>
              <a:t>Olist</a:t>
            </a:r>
            <a:r>
              <a:rPr dirty="0"/>
              <a:t> v2 raw data (https://www.kaggle.com/datasets/olistbr/brazilian-ecommerce). This is a proposal, not a claim of completed analysis or proven marketing uplift. Team identity and current Canvas instructions remain to be confirmed.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delivery: 30 seconds.</a:t>
            </a:r>
          </a:p>
          <a:p>
            <a:endParaRPr dirty="0"/>
          </a:p>
          <a:p>
            <a:r>
              <a:rPr dirty="0"/>
              <a:t>ENGLISH SCRIPT</a:t>
            </a:r>
          </a:p>
          <a:p>
            <a:r>
              <a:rPr dirty="0"/>
              <a:t>We use the orders, order items and customers tables. We aggregate item amounts to each order, then connect orders to unique buyers. This produces customer snapshots at defined dates. Product metadata can support category profiles. IDs are categorical, money is numeric, and timestamps define what information was available. The displayed counts describe raw tables, not the final modelling sample.</a:t>
            </a:r>
          </a:p>
          <a:p>
            <a:endParaRPr dirty="0"/>
          </a:p>
          <a:p>
            <a:r>
              <a:rPr dirty="0" err="1"/>
              <a:t>中文讲解</a:t>
            </a:r>
            <a:endParaRPr dirty="0"/>
          </a:p>
          <a:p>
            <a:r>
              <a:rPr dirty="0"/>
              <a:t>数据核心仍三表，不需要为了多模型无目的增加表。customer_id是订单侧编号；customer_unique_id标记跨订单买家。不同快照可包含同一客户：若模拟已有客户的重复评分可保留并说明，不把它当全新客户泛化。辅助产品元数据有快照限制。</a:t>
            </a:r>
          </a:p>
          <a:p>
            <a:endParaRPr dirty="0"/>
          </a:p>
          <a:p>
            <a:r>
              <a:rPr dirty="0"/>
              <a:t>Sources: user-approved revised workflow; IS6400 Project Guideline pp.1–2; </a:t>
            </a:r>
            <a:r>
              <a:rPr dirty="0" err="1"/>
              <a:t>Olist</a:t>
            </a:r>
            <a:r>
              <a:rPr dirty="0"/>
              <a:t> v2 raw data (https://www.kaggle.com/datasets/olistbr/brazilian-ecommerce). This is a proposal, not a claim of completed analysis or proven marketing uplift. Team identity and current Canvas instructions remain to be confirmed.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delivery: 35 seconds.</a:t>
            </a:r>
          </a:p>
          <a:p>
            <a:endParaRPr/>
          </a:p>
          <a:p>
            <a:r>
              <a:t>ENGLISH SCRIPT</a:t>
            </a:r>
          </a:p>
          <a:p>
            <a:r>
              <a:t>At each analysis date, we use six months of historical activity to predict an approved, positive-value order in the next ninety days. Candidate inputs include RFM, order size, recent activity and region. Earlier snapshots support development; a later period is reserved for final evaluation. Group-level findings suggest candidate features, but we only keep changes supported by validation. All inputs must be available at the prediction date.</a:t>
            </a:r>
          </a:p>
          <a:p>
            <a:endParaRPr/>
          </a:p>
          <a:p>
            <a:r>
              <a:t>中文讲解</a:t>
            </a:r>
          </a:p>
          <a:p>
            <a:r>
              <a:t>沿用小实验的操作定义，目标是未来90天再次有批准且商品金额为正的订单；不是净完成销售、忠诚或终身价值。不要根据事后取消状态删样本；如团队改标签要在正式实验前锁定并更新。观察不足90天不能标零，取数末尾稀疏月不直接使用。六个月为拟采用历史窗口，具体日期和资格待正式数据审核。群标签可作为候选特征；其他可尝试候选为组内EDA启发的行为特征、交互项。CatBoost/随机森林不是靠将某列乘常数来有效改变特征权重；不用手动业务权重替代验证。</a:t>
            </a:r>
          </a:p>
          <a:p>
            <a:endParaRPr/>
          </a:p>
          <a:p>
            <a:r>
              <a:t>Sources: user-approved revised workflow; IS6400 Project Guideline pp.1–2; Olist v2 raw data (https://www.kaggle.com/datasets/olistbr/brazilian-ecommerce). This is a proposal, not a claim of completed analysis or proven marketing uplift. Team identity and current Canvas instructions remain to be confirmed.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delivery: 50 seconds.</a:t>
            </a:r>
          </a:p>
          <a:p>
            <a:endParaRPr/>
          </a:p>
          <a:p>
            <a:r>
              <a:t>ENGLISH SCRIPT</a:t>
            </a:r>
          </a:p>
          <a:p>
            <a:r>
              <a:t>The workflow starts with overall exploration and feature engineering. We then run two parallel paths. The main path compares classification models. The supporting path clusters the full eligible customer population and explores each group separately. Group findings suggest feature changes, which return to the prediction pipeline and are checked on validation data. They also produce business insights in their own right. After development is frozen, we evaluate predictions on a later held-out period and combine both outputs.</a:t>
            </a:r>
          </a:p>
          <a:p>
            <a:endParaRPr/>
          </a:p>
          <a:p>
            <a:r>
              <a:t>中文讲解</a:t>
            </a:r>
          </a:p>
          <a:p>
            <a:r>
              <a:t>流程图重点：右侧组内EDA有两个出口。一条反馈特征工程，重新比较分类模型；另一条直接支撑客户画像和商业建议。因此聚类不只是改指标工具，也不替代分类主线。全体指覆盖所有符合条件的客户类型，不是只聚类预测高分客户。预处理和聚类在开发客户中拟合，测试客户仅用已冻结聚类模型分配群体。组内可以比较目标分布、未输入聚类的变量、验证集错误，不读取最终测试目标来选变量。经过验证的候选更新才保留，不能假定每轮提高。AP为主选模指标，ROC-AUC和前10%名单精确率召回率同时报告；后两项固定相同名单比例，避免任意阈值。对照应保留简单规则、初版分类器、改进分类器，以区分聚类启发特征是否带来实际提升。分群质量关注样本支持、稳定性和可解释性，不强求轮廓系数最大。</a:t>
            </a:r>
          </a:p>
          <a:p>
            <a:endParaRPr/>
          </a:p>
          <a:p>
            <a:r>
              <a:t>Sources: user-approved revised workflow; IS6400 Project Guideline pp.1–2; Olist v2 raw data (https://www.kaggle.com/datasets/olistbr/brazilian-ecommerce). This is a proposal, not a claim of completed analysis or proven marketing uplift. Team identity and current Canvas instructions remain to be confirmed.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delivery: 30 seconds.</a:t>
            </a:r>
          </a:p>
          <a:p>
            <a:endParaRPr/>
          </a:p>
          <a:p>
            <a:r>
              <a:t>ENGLISH SCRIPT</a:t>
            </a:r>
          </a:p>
          <a:p>
            <a:r>
              <a:t>The final report will deliver more than a prediction tool. It will show how well repurchase can be predicted, describe the different customer groups, and connect both to business recommendations. Clustering may remain valuable even if it adds little predictive improvement, provided its profiles are stable and decision-relevant. Recommendations are hypotheses for future experiments: predicting a purchase does not show that marketing caused it.</a:t>
            </a:r>
          </a:p>
          <a:p>
            <a:endParaRPr/>
          </a:p>
          <a:p>
            <a:r>
              <a:t>中文讲解</a:t>
            </a:r>
          </a:p>
          <a:p>
            <a:r>
              <a:t>商业结论需有“观察证据→解释与限制→建议行动→未来验证”的链条。不能先给高价值/流失标签再找证据，不能把聚类输入的差异重复当成新发现。不同群可能需要不同品类内容、沟通或服务安排，这些是待测假设。Category lift可作画像指标，但要同时看人数、原始占比、购买频次和观察期，不能把购买机会多解释为纯粹偏好。保持客户画像与预测贡献两条验收线；即使新特征没有提升AP，也可以报告哪些客户行为差异值得运营试验。</a:t>
            </a:r>
          </a:p>
          <a:p>
            <a:endParaRPr/>
          </a:p>
          <a:p>
            <a:r>
              <a:t>Sources: user-approved revised workflow; IS6400 Project Guideline pp.1–2; Olist v2 raw data (https://www.kaggle.com/datasets/olistbr/brazilian-ecommerce). This is a proposal, not a claim of completed analysis or proven marketing uplift. Team identity and current Canvas instructions remain to be confirmed.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p:cNvPicPr>
            <a:picLocks noChangeAspect="1"/>
          </p:cNvPicPr>
          <p:nvPr/>
        </p:nvPicPr>
        <p:blipFill>
          <a:blip r:embed="rId3"/>
          <a:stretch/>
        </p:blipFill>
        <p:spPr>
          <a:xfrm>
            <a:off x="0" y="0"/>
            <a:ext cx="12192000" cy="6858000"/>
          </a:xfrm>
          <a:prstGeom prst="rect">
            <a:avLst/>
          </a:prstGeom>
        </p:spPr>
      </p:pic>
      <p:sp>
        <p:nvSpPr>
          <p:cNvPr id="2" name="矩形 1">
            <a:extLst>
              <a:ext uri="{FF2B5EF4-FFF2-40B4-BE49-F238E27FC236}">
                <a16:creationId xmlns:a16="http://schemas.microsoft.com/office/drawing/2014/main" id="{A228A1ED-A344-47E2-A1D8-EAD5346CD7A6}"/>
              </a:ext>
            </a:extLst>
          </p:cNvPr>
          <p:cNvSpPr>
            <a:spLocks noGrp="1"/>
          </p:cNvSpPr>
          <p:nvPr/>
        </p:nvSpPr>
        <p:spPr>
          <a:xfrm>
            <a:off x="609600" y="466725"/>
            <a:ext cx="9239250" cy="238125"/>
          </a:xfrm>
          <a:prstGeom prst="rect">
            <a:avLst/>
          </a:prstGeom>
          <a:noFill/>
          <a:ln w="0">
            <a:noFill/>
          </a:ln>
        </p:spPr>
        <p:txBody>
          <a:bodyPr lIns="0" tIns="0" rIns="0" bIns="0"/>
          <a:lstStyle/>
          <a:p>
            <a:r>
              <a:rPr sz="1275" b="1">
                <a:solidFill>
                  <a:srgbClr val="A82062"/>
                </a:solidFill>
                <a:latin typeface="Arial"/>
                <a:ea typeface="Arial"/>
                <a:cs typeface="Arial"/>
              </a:rPr>
              <a:t>01  /  BUSINESS PROBLEM</a:t>
            </a:r>
          </a:p>
        </p:txBody>
      </p:sp>
      <p:sp>
        <p:nvSpPr>
          <p:cNvPr id="3" name="矩形 2">
            <a:extLst>
              <a:ext uri="{FF2B5EF4-FFF2-40B4-BE49-F238E27FC236}">
                <a16:creationId xmlns:a16="http://schemas.microsoft.com/office/drawing/2014/main" id="{F2F86047-7751-47DD-BC23-CB4ABADDC7F6}"/>
              </a:ext>
            </a:extLst>
          </p:cNvPr>
          <p:cNvSpPr>
            <a:spLocks noGrp="1"/>
          </p:cNvSpPr>
          <p:nvPr/>
        </p:nvSpPr>
        <p:spPr>
          <a:xfrm>
            <a:off x="609600" y="857250"/>
            <a:ext cx="9239250" cy="619125"/>
          </a:xfrm>
          <a:prstGeom prst="rect">
            <a:avLst/>
          </a:prstGeom>
          <a:noFill/>
          <a:ln w="0">
            <a:noFill/>
          </a:ln>
        </p:spPr>
        <p:txBody>
          <a:bodyPr lIns="0" tIns="0" rIns="0" bIns="0"/>
          <a:lstStyle/>
          <a:p>
            <a:r>
              <a:rPr sz="2625" b="1">
                <a:solidFill>
                  <a:srgbClr val="192B40"/>
                </a:solidFill>
                <a:latin typeface="Arial"/>
                <a:ea typeface="Arial"/>
                <a:cs typeface="Arial"/>
              </a:rPr>
              <a:t>Predict repurchase. Understand the customers.</a:t>
            </a:r>
          </a:p>
        </p:txBody>
      </p:sp>
      <p:sp>
        <p:nvSpPr>
          <p:cNvPr id="4" name="矩形 3">
            <a:extLst>
              <a:ext uri="{FF2B5EF4-FFF2-40B4-BE49-F238E27FC236}">
                <a16:creationId xmlns:a16="http://schemas.microsoft.com/office/drawing/2014/main" id="{EF127E8F-D859-4611-837C-506B80A42D6F}"/>
              </a:ext>
            </a:extLst>
          </p:cNvPr>
          <p:cNvSpPr>
            <a:spLocks noGrp="1"/>
          </p:cNvSpPr>
          <p:nvPr/>
        </p:nvSpPr>
        <p:spPr>
          <a:xfrm>
            <a:off x="609600" y="1590675"/>
            <a:ext cx="10972800" cy="19050"/>
          </a:xfrm>
          <a:prstGeom prst="rect">
            <a:avLst/>
          </a:prstGeom>
          <a:solidFill>
            <a:srgbClr val="DDE3E9"/>
          </a:solidFill>
          <a:ln w="0">
            <a:noFill/>
          </a:ln>
        </p:spPr>
      </p:sp>
      <p:sp>
        <p:nvSpPr>
          <p:cNvPr id="5" name="矩形 4">
            <a:extLst>
              <a:ext uri="{FF2B5EF4-FFF2-40B4-BE49-F238E27FC236}">
                <a16:creationId xmlns:a16="http://schemas.microsoft.com/office/drawing/2014/main" id="{AFEC362C-D5AA-4A34-9F62-E555B0B7F32C}"/>
              </a:ext>
            </a:extLst>
          </p:cNvPr>
          <p:cNvSpPr>
            <a:spLocks noGrp="1"/>
          </p:cNvSpPr>
          <p:nvPr/>
        </p:nvSpPr>
        <p:spPr>
          <a:xfrm>
            <a:off x="609600" y="6429375"/>
            <a:ext cx="9048750" cy="190500"/>
          </a:xfrm>
          <a:prstGeom prst="rect">
            <a:avLst/>
          </a:prstGeom>
          <a:noFill/>
          <a:ln w="0">
            <a:noFill/>
          </a:ln>
        </p:spPr>
        <p:txBody>
          <a:bodyPr lIns="0" tIns="0" rIns="0" bIns="0"/>
          <a:lstStyle/>
          <a:p>
            <a:r>
              <a:rPr sz="1050" b="0">
                <a:solidFill>
                  <a:srgbClr val="536375"/>
                </a:solidFill>
                <a:latin typeface="Arial"/>
                <a:ea typeface="Arial"/>
                <a:cs typeface="Arial"/>
              </a:rPr>
              <a:t>IS6400  •  Repurchase prediction &amp; customer insights</a:t>
            </a:r>
          </a:p>
        </p:txBody>
      </p:sp>
      <p:sp>
        <p:nvSpPr>
          <p:cNvPr id="6" name="矩形 5">
            <a:extLst>
              <a:ext uri="{FF2B5EF4-FFF2-40B4-BE49-F238E27FC236}">
                <a16:creationId xmlns:a16="http://schemas.microsoft.com/office/drawing/2014/main" id="{CA0BFC39-CF60-4730-ABD2-C004CD20306B}"/>
              </a:ext>
            </a:extLst>
          </p:cNvPr>
          <p:cNvSpPr>
            <a:spLocks noGrp="1"/>
          </p:cNvSpPr>
          <p:nvPr/>
        </p:nvSpPr>
        <p:spPr>
          <a:xfrm>
            <a:off x="10906125" y="6429375"/>
            <a:ext cx="666750" cy="190500"/>
          </a:xfrm>
          <a:prstGeom prst="rect">
            <a:avLst/>
          </a:prstGeom>
          <a:noFill/>
          <a:ln w="0">
            <a:noFill/>
          </a:ln>
        </p:spPr>
        <p:txBody>
          <a:bodyPr lIns="0" tIns="0" rIns="0" bIns="0"/>
          <a:lstStyle/>
          <a:p>
            <a:r>
              <a:rPr sz="1050" b="0">
                <a:solidFill>
                  <a:srgbClr val="536375"/>
                </a:solidFill>
                <a:latin typeface="Arial"/>
                <a:ea typeface="Arial"/>
                <a:cs typeface="Arial"/>
              </a:rPr>
              <a:t>1 / 5</a:t>
            </a:r>
          </a:p>
        </p:txBody>
      </p:sp>
      <p:sp>
        <p:nvSpPr>
          <p:cNvPr id="7" name="矩形 6">
            <a:extLst>
              <a:ext uri="{FF2B5EF4-FFF2-40B4-BE49-F238E27FC236}">
                <a16:creationId xmlns:a16="http://schemas.microsoft.com/office/drawing/2014/main" id="{BC6EED5F-861F-459F-AC30-B59989949C51}"/>
              </a:ext>
            </a:extLst>
          </p:cNvPr>
          <p:cNvSpPr>
            <a:spLocks noGrp="1"/>
          </p:cNvSpPr>
          <p:nvPr/>
        </p:nvSpPr>
        <p:spPr>
          <a:xfrm>
            <a:off x="609600" y="2009775"/>
            <a:ext cx="10810875" cy="971550"/>
          </a:xfrm>
          <a:prstGeom prst="rect">
            <a:avLst/>
          </a:prstGeom>
          <a:noFill/>
          <a:ln w="0">
            <a:noFill/>
          </a:ln>
        </p:spPr>
        <p:txBody>
          <a:bodyPr lIns="0" tIns="0" rIns="0" bIns="0"/>
          <a:lstStyle/>
          <a:p>
            <a:r>
              <a:rPr sz="2475" b="1">
                <a:solidFill>
                  <a:srgbClr val="A82062"/>
                </a:solidFill>
                <a:latin typeface="Arial"/>
                <a:ea typeface="Arial"/>
                <a:cs typeface="Arial"/>
              </a:rPr>
              <a:t>Who is likely to buy again in the next 90 days,</a:t>
            </a:r>
          </a:p>
          <a:p>
            <a:r>
              <a:rPr sz="2475" b="1">
                <a:solidFill>
                  <a:srgbClr val="A82062"/>
                </a:solidFill>
                <a:latin typeface="Arial"/>
                <a:ea typeface="Arial"/>
                <a:cs typeface="Arial"/>
              </a:rPr>
              <a:t>and how do purchasing patterns differ across groups?</a:t>
            </a:r>
          </a:p>
        </p:txBody>
      </p:sp>
      <p:sp>
        <p:nvSpPr>
          <p:cNvPr id="8" name="矩形 7">
            <a:extLst>
              <a:ext uri="{FF2B5EF4-FFF2-40B4-BE49-F238E27FC236}">
                <a16:creationId xmlns:a16="http://schemas.microsoft.com/office/drawing/2014/main" id="{8BC36A92-5062-49D2-9FF1-7AF54910177B}"/>
              </a:ext>
            </a:extLst>
          </p:cNvPr>
          <p:cNvSpPr>
            <a:spLocks noGrp="1"/>
          </p:cNvSpPr>
          <p:nvPr/>
        </p:nvSpPr>
        <p:spPr>
          <a:xfrm>
            <a:off x="609600" y="3143250"/>
            <a:ext cx="10953750" cy="542925"/>
          </a:xfrm>
          <a:prstGeom prst="rect">
            <a:avLst/>
          </a:prstGeom>
          <a:noFill/>
          <a:ln w="0">
            <a:noFill/>
          </a:ln>
        </p:spPr>
        <p:txBody>
          <a:bodyPr lIns="0" tIns="0" rIns="0" bIns="0"/>
          <a:lstStyle/>
          <a:p>
            <a:r>
              <a:rPr sz="1875" b="0" dirty="0">
                <a:solidFill>
                  <a:srgbClr val="536375"/>
                </a:solidFill>
                <a:latin typeface="Arial"/>
                <a:ea typeface="Arial"/>
                <a:cs typeface="Arial"/>
              </a:rPr>
              <a:t>Support customer operations with both a </a:t>
            </a:r>
            <a:r>
              <a:rPr lang="en-US" sz="1875" dirty="0">
                <a:solidFill>
                  <a:srgbClr val="536375"/>
                </a:solidFill>
                <a:latin typeface="Arial"/>
                <a:ea typeface="Arial"/>
                <a:cs typeface="Arial"/>
              </a:rPr>
              <a:t>prediction </a:t>
            </a:r>
            <a:r>
              <a:rPr sz="1875" b="0" dirty="0">
                <a:solidFill>
                  <a:srgbClr val="536375"/>
                </a:solidFill>
                <a:latin typeface="Arial"/>
                <a:ea typeface="Arial"/>
                <a:cs typeface="Arial"/>
              </a:rPr>
              <a:t>and an explanation.</a:t>
            </a:r>
          </a:p>
        </p:txBody>
      </p:sp>
      <p:sp>
        <p:nvSpPr>
          <p:cNvPr id="9" name="矩形 8">
            <a:extLst>
              <a:ext uri="{FF2B5EF4-FFF2-40B4-BE49-F238E27FC236}">
                <a16:creationId xmlns:a16="http://schemas.microsoft.com/office/drawing/2014/main" id="{BB80178A-71E0-41A4-A7CC-01E7D4C34E57}"/>
              </a:ext>
            </a:extLst>
          </p:cNvPr>
          <p:cNvSpPr>
            <a:spLocks noGrp="1"/>
          </p:cNvSpPr>
          <p:nvPr/>
        </p:nvSpPr>
        <p:spPr>
          <a:xfrm>
            <a:off x="609600" y="3990975"/>
            <a:ext cx="3505200" cy="1714500"/>
          </a:xfrm>
          <a:prstGeom prst="rect">
            <a:avLst/>
          </a:prstGeom>
          <a:solidFill>
            <a:srgbClr val="F3F5F7"/>
          </a:solidFill>
          <a:ln w="0">
            <a:noFill/>
          </a:ln>
        </p:spPr>
      </p:sp>
      <p:sp>
        <p:nvSpPr>
          <p:cNvPr id="10" name="矩形 9">
            <a:extLst>
              <a:ext uri="{FF2B5EF4-FFF2-40B4-BE49-F238E27FC236}">
                <a16:creationId xmlns:a16="http://schemas.microsoft.com/office/drawing/2014/main" id="{90C69527-C6B8-4647-8FC1-F146098B6657}"/>
              </a:ext>
            </a:extLst>
          </p:cNvPr>
          <p:cNvSpPr>
            <a:spLocks noGrp="1"/>
          </p:cNvSpPr>
          <p:nvPr/>
        </p:nvSpPr>
        <p:spPr>
          <a:xfrm>
            <a:off x="781050" y="4124325"/>
            <a:ext cx="3162300" cy="247650"/>
          </a:xfrm>
          <a:prstGeom prst="rect">
            <a:avLst/>
          </a:prstGeom>
          <a:noFill/>
          <a:ln w="0">
            <a:noFill/>
          </a:ln>
        </p:spPr>
        <p:txBody>
          <a:bodyPr lIns="0" tIns="0" rIns="0" bIns="0"/>
          <a:lstStyle/>
          <a:p>
            <a:r>
              <a:rPr sz="1200" b="1">
                <a:solidFill>
                  <a:srgbClr val="A82062"/>
                </a:solidFill>
                <a:latin typeface="Arial"/>
                <a:ea typeface="Arial"/>
                <a:cs typeface="Arial"/>
              </a:rPr>
              <a:t>PRIMARY</a:t>
            </a:r>
          </a:p>
        </p:txBody>
      </p:sp>
      <p:sp>
        <p:nvSpPr>
          <p:cNvPr id="11" name="矩形 10">
            <a:extLst>
              <a:ext uri="{FF2B5EF4-FFF2-40B4-BE49-F238E27FC236}">
                <a16:creationId xmlns:a16="http://schemas.microsoft.com/office/drawing/2014/main" id="{57928169-1250-4930-8838-152510B900F4}"/>
              </a:ext>
            </a:extLst>
          </p:cNvPr>
          <p:cNvSpPr>
            <a:spLocks noGrp="1"/>
          </p:cNvSpPr>
          <p:nvPr/>
        </p:nvSpPr>
        <p:spPr>
          <a:xfrm>
            <a:off x="781050" y="4543425"/>
            <a:ext cx="3162300" cy="342900"/>
          </a:xfrm>
          <a:prstGeom prst="rect">
            <a:avLst/>
          </a:prstGeom>
          <a:noFill/>
          <a:ln w="0">
            <a:noFill/>
          </a:ln>
        </p:spPr>
        <p:txBody>
          <a:bodyPr lIns="0" tIns="0" rIns="0" bIns="0"/>
          <a:lstStyle/>
          <a:p>
            <a:r>
              <a:rPr sz="1875" b="1">
                <a:solidFill>
                  <a:srgbClr val="192B40"/>
                </a:solidFill>
                <a:latin typeface="Arial"/>
                <a:ea typeface="Arial"/>
                <a:cs typeface="Arial"/>
              </a:rPr>
              <a:t>Repurchase prediction</a:t>
            </a:r>
          </a:p>
        </p:txBody>
      </p:sp>
      <p:sp>
        <p:nvSpPr>
          <p:cNvPr id="12" name="矩形 11">
            <a:extLst>
              <a:ext uri="{FF2B5EF4-FFF2-40B4-BE49-F238E27FC236}">
                <a16:creationId xmlns:a16="http://schemas.microsoft.com/office/drawing/2014/main" id="{69C2DCCB-E983-4AC3-8753-2C00E7EDF144}"/>
              </a:ext>
            </a:extLst>
          </p:cNvPr>
          <p:cNvSpPr>
            <a:spLocks noGrp="1"/>
          </p:cNvSpPr>
          <p:nvPr/>
        </p:nvSpPr>
        <p:spPr>
          <a:xfrm>
            <a:off x="781050" y="5067300"/>
            <a:ext cx="3162300" cy="581025"/>
          </a:xfrm>
          <a:prstGeom prst="rect">
            <a:avLst/>
          </a:prstGeom>
          <a:noFill/>
          <a:ln w="0">
            <a:noFill/>
          </a:ln>
        </p:spPr>
        <p:txBody>
          <a:bodyPr lIns="0" tIns="0" rIns="0" bIns="0"/>
          <a:lstStyle/>
          <a:p>
            <a:r>
              <a:rPr sz="1650" b="0" dirty="0">
                <a:solidFill>
                  <a:srgbClr val="192B40"/>
                </a:solidFill>
                <a:latin typeface="Arial"/>
                <a:ea typeface="Arial"/>
                <a:cs typeface="Arial"/>
              </a:rPr>
              <a:t>Compare classifiers and</a:t>
            </a:r>
          </a:p>
          <a:p>
            <a:r>
              <a:rPr sz="1650" b="0" dirty="0">
                <a:solidFill>
                  <a:srgbClr val="192B40"/>
                </a:solidFill>
                <a:latin typeface="Arial"/>
                <a:ea typeface="Arial"/>
                <a:cs typeface="Arial"/>
              </a:rPr>
              <a:t>identify predictive signals.</a:t>
            </a:r>
          </a:p>
        </p:txBody>
      </p:sp>
      <p:sp>
        <p:nvSpPr>
          <p:cNvPr id="13" name="矩形 12">
            <a:extLst>
              <a:ext uri="{FF2B5EF4-FFF2-40B4-BE49-F238E27FC236}">
                <a16:creationId xmlns:a16="http://schemas.microsoft.com/office/drawing/2014/main" id="{6E5BFF83-CC9F-4563-B54E-C6807CA514D4}"/>
              </a:ext>
            </a:extLst>
          </p:cNvPr>
          <p:cNvSpPr>
            <a:spLocks noGrp="1"/>
          </p:cNvSpPr>
          <p:nvPr/>
        </p:nvSpPr>
        <p:spPr>
          <a:xfrm>
            <a:off x="4343400" y="3990975"/>
            <a:ext cx="3505200" cy="1714500"/>
          </a:xfrm>
          <a:prstGeom prst="rect">
            <a:avLst/>
          </a:prstGeom>
          <a:solidFill>
            <a:srgbClr val="F8F0F4"/>
          </a:solidFill>
          <a:ln w="0">
            <a:noFill/>
          </a:ln>
        </p:spPr>
      </p:sp>
      <p:sp>
        <p:nvSpPr>
          <p:cNvPr id="14" name="矩形 13">
            <a:extLst>
              <a:ext uri="{FF2B5EF4-FFF2-40B4-BE49-F238E27FC236}">
                <a16:creationId xmlns:a16="http://schemas.microsoft.com/office/drawing/2014/main" id="{3C829CA2-BB40-41C2-A040-D783049DE2FF}"/>
              </a:ext>
            </a:extLst>
          </p:cNvPr>
          <p:cNvSpPr>
            <a:spLocks noGrp="1"/>
          </p:cNvSpPr>
          <p:nvPr/>
        </p:nvSpPr>
        <p:spPr>
          <a:xfrm>
            <a:off x="4514850" y="4124325"/>
            <a:ext cx="3162300" cy="247650"/>
          </a:xfrm>
          <a:prstGeom prst="rect">
            <a:avLst/>
          </a:prstGeom>
          <a:noFill/>
          <a:ln w="0">
            <a:noFill/>
          </a:ln>
        </p:spPr>
        <p:txBody>
          <a:bodyPr lIns="0" tIns="0" rIns="0" bIns="0"/>
          <a:lstStyle/>
          <a:p>
            <a:r>
              <a:rPr sz="1200" b="1">
                <a:solidFill>
                  <a:srgbClr val="A82062"/>
                </a:solidFill>
                <a:latin typeface="Arial"/>
                <a:ea typeface="Arial"/>
                <a:cs typeface="Arial"/>
              </a:rPr>
              <a:t>SUPPORTING</a:t>
            </a:r>
          </a:p>
        </p:txBody>
      </p:sp>
      <p:sp>
        <p:nvSpPr>
          <p:cNvPr id="15" name="矩形 14">
            <a:extLst>
              <a:ext uri="{FF2B5EF4-FFF2-40B4-BE49-F238E27FC236}">
                <a16:creationId xmlns:a16="http://schemas.microsoft.com/office/drawing/2014/main" id="{A939DF19-E3A4-4E13-935F-F64C9C984C64}"/>
              </a:ext>
            </a:extLst>
          </p:cNvPr>
          <p:cNvSpPr>
            <a:spLocks noGrp="1"/>
          </p:cNvSpPr>
          <p:nvPr/>
        </p:nvSpPr>
        <p:spPr>
          <a:xfrm>
            <a:off x="4514850" y="4543425"/>
            <a:ext cx="3162300" cy="342900"/>
          </a:xfrm>
          <a:prstGeom prst="rect">
            <a:avLst/>
          </a:prstGeom>
          <a:noFill/>
          <a:ln w="0">
            <a:noFill/>
          </a:ln>
        </p:spPr>
        <p:txBody>
          <a:bodyPr lIns="0" tIns="0" rIns="0" bIns="0"/>
          <a:lstStyle/>
          <a:p>
            <a:r>
              <a:rPr sz="1875" b="1">
                <a:solidFill>
                  <a:srgbClr val="192B40"/>
                </a:solidFill>
                <a:latin typeface="Arial"/>
                <a:ea typeface="Arial"/>
                <a:cs typeface="Arial"/>
              </a:rPr>
              <a:t>Customer segmentation</a:t>
            </a:r>
          </a:p>
        </p:txBody>
      </p:sp>
      <p:sp>
        <p:nvSpPr>
          <p:cNvPr id="16" name="矩形 15">
            <a:extLst>
              <a:ext uri="{FF2B5EF4-FFF2-40B4-BE49-F238E27FC236}">
                <a16:creationId xmlns:a16="http://schemas.microsoft.com/office/drawing/2014/main" id="{90939604-F791-43DD-8096-96EA8D0103D2}"/>
              </a:ext>
            </a:extLst>
          </p:cNvPr>
          <p:cNvSpPr>
            <a:spLocks noGrp="1"/>
          </p:cNvSpPr>
          <p:nvPr/>
        </p:nvSpPr>
        <p:spPr>
          <a:xfrm>
            <a:off x="4514850" y="5067300"/>
            <a:ext cx="3162300" cy="581025"/>
          </a:xfrm>
          <a:prstGeom prst="rect">
            <a:avLst/>
          </a:prstGeom>
          <a:noFill/>
          <a:ln w="0">
            <a:noFill/>
          </a:ln>
        </p:spPr>
        <p:txBody>
          <a:bodyPr lIns="0" tIns="0" rIns="0" bIns="0"/>
          <a:lstStyle/>
          <a:p>
            <a:r>
              <a:rPr sz="1650" b="0">
                <a:solidFill>
                  <a:srgbClr val="192B40"/>
                </a:solidFill>
                <a:latin typeface="Arial"/>
                <a:ea typeface="Arial"/>
                <a:cs typeface="Arial"/>
              </a:rPr>
              <a:t>Use group-level EDA to</a:t>
            </a:r>
          </a:p>
          <a:p>
            <a:r>
              <a:rPr sz="1650" b="0">
                <a:solidFill>
                  <a:srgbClr val="192B40"/>
                </a:solidFill>
                <a:latin typeface="Arial"/>
                <a:ea typeface="Arial"/>
                <a:cs typeface="Arial"/>
              </a:rPr>
              <a:t>understand behaviour.</a:t>
            </a:r>
          </a:p>
        </p:txBody>
      </p:sp>
      <p:sp>
        <p:nvSpPr>
          <p:cNvPr id="17" name="矩形 16">
            <a:extLst>
              <a:ext uri="{FF2B5EF4-FFF2-40B4-BE49-F238E27FC236}">
                <a16:creationId xmlns:a16="http://schemas.microsoft.com/office/drawing/2014/main" id="{D47ADD54-5070-4E40-87A9-576910D10120}"/>
              </a:ext>
            </a:extLst>
          </p:cNvPr>
          <p:cNvSpPr>
            <a:spLocks noGrp="1"/>
          </p:cNvSpPr>
          <p:nvPr/>
        </p:nvSpPr>
        <p:spPr>
          <a:xfrm>
            <a:off x="8077200" y="3990975"/>
            <a:ext cx="3505200" cy="1714500"/>
          </a:xfrm>
          <a:prstGeom prst="rect">
            <a:avLst/>
          </a:prstGeom>
          <a:solidFill>
            <a:srgbClr val="F3F5F7"/>
          </a:solidFill>
          <a:ln w="0">
            <a:noFill/>
          </a:ln>
        </p:spPr>
      </p:sp>
      <p:sp>
        <p:nvSpPr>
          <p:cNvPr id="18" name="矩形 17">
            <a:extLst>
              <a:ext uri="{FF2B5EF4-FFF2-40B4-BE49-F238E27FC236}">
                <a16:creationId xmlns:a16="http://schemas.microsoft.com/office/drawing/2014/main" id="{B3B26F3B-E624-40EA-B47A-FC75E2DEEEF6}"/>
              </a:ext>
            </a:extLst>
          </p:cNvPr>
          <p:cNvSpPr>
            <a:spLocks noGrp="1"/>
          </p:cNvSpPr>
          <p:nvPr/>
        </p:nvSpPr>
        <p:spPr>
          <a:xfrm>
            <a:off x="8248650" y="4124325"/>
            <a:ext cx="3162300" cy="247650"/>
          </a:xfrm>
          <a:prstGeom prst="rect">
            <a:avLst/>
          </a:prstGeom>
          <a:noFill/>
          <a:ln w="0">
            <a:noFill/>
          </a:ln>
        </p:spPr>
        <p:txBody>
          <a:bodyPr lIns="0" tIns="0" rIns="0" bIns="0"/>
          <a:lstStyle/>
          <a:p>
            <a:r>
              <a:rPr sz="1200" b="1">
                <a:solidFill>
                  <a:srgbClr val="A82062"/>
                </a:solidFill>
                <a:latin typeface="Arial"/>
                <a:ea typeface="Arial"/>
                <a:cs typeface="Arial"/>
              </a:rPr>
              <a:t>COMBINED</a:t>
            </a:r>
          </a:p>
        </p:txBody>
      </p:sp>
      <p:sp>
        <p:nvSpPr>
          <p:cNvPr id="19" name="矩形 18">
            <a:extLst>
              <a:ext uri="{FF2B5EF4-FFF2-40B4-BE49-F238E27FC236}">
                <a16:creationId xmlns:a16="http://schemas.microsoft.com/office/drawing/2014/main" id="{A5E27A88-C496-4A4D-BEA5-F04E377E3C20}"/>
              </a:ext>
            </a:extLst>
          </p:cNvPr>
          <p:cNvSpPr>
            <a:spLocks noGrp="1"/>
          </p:cNvSpPr>
          <p:nvPr/>
        </p:nvSpPr>
        <p:spPr>
          <a:xfrm>
            <a:off x="8248650" y="4543425"/>
            <a:ext cx="3162300" cy="342900"/>
          </a:xfrm>
          <a:prstGeom prst="rect">
            <a:avLst/>
          </a:prstGeom>
          <a:noFill/>
          <a:ln w="0">
            <a:noFill/>
          </a:ln>
        </p:spPr>
        <p:txBody>
          <a:bodyPr lIns="0" tIns="0" rIns="0" bIns="0"/>
          <a:lstStyle/>
          <a:p>
            <a:r>
              <a:rPr sz="1875" b="1">
                <a:solidFill>
                  <a:srgbClr val="192B40"/>
                </a:solidFill>
                <a:latin typeface="Arial"/>
                <a:ea typeface="Arial"/>
                <a:cs typeface="Arial"/>
              </a:rPr>
              <a:t>Business insights</a:t>
            </a:r>
          </a:p>
        </p:txBody>
      </p:sp>
      <p:sp>
        <p:nvSpPr>
          <p:cNvPr id="20" name="矩形 19">
            <a:extLst>
              <a:ext uri="{FF2B5EF4-FFF2-40B4-BE49-F238E27FC236}">
                <a16:creationId xmlns:a16="http://schemas.microsoft.com/office/drawing/2014/main" id="{21AC1EC2-A361-4797-9679-878913452A93}"/>
              </a:ext>
            </a:extLst>
          </p:cNvPr>
          <p:cNvSpPr>
            <a:spLocks noGrp="1"/>
          </p:cNvSpPr>
          <p:nvPr/>
        </p:nvSpPr>
        <p:spPr>
          <a:xfrm>
            <a:off x="8248650" y="5067300"/>
            <a:ext cx="3162300" cy="581025"/>
          </a:xfrm>
          <a:prstGeom prst="rect">
            <a:avLst/>
          </a:prstGeom>
          <a:noFill/>
          <a:ln w="0">
            <a:noFill/>
          </a:ln>
        </p:spPr>
        <p:txBody>
          <a:bodyPr lIns="0" tIns="0" rIns="0" bIns="0"/>
          <a:lstStyle/>
          <a:p>
            <a:r>
              <a:rPr sz="1650" b="0">
                <a:solidFill>
                  <a:srgbClr val="192B40"/>
                </a:solidFill>
                <a:latin typeface="Arial"/>
                <a:ea typeface="Arial"/>
                <a:cs typeface="Arial"/>
              </a:rPr>
              <a:t>Connect prediction scores</a:t>
            </a:r>
          </a:p>
          <a:p>
            <a:r>
              <a:rPr sz="1650" b="0">
                <a:solidFill>
                  <a:srgbClr val="192B40"/>
                </a:solidFill>
                <a:latin typeface="Arial"/>
                <a:ea typeface="Arial"/>
                <a:cs typeface="Arial"/>
              </a:rPr>
              <a:t>and profiles to actions.</a:t>
            </a:r>
          </a:p>
        </p:txBody>
      </p:sp>
      <p:sp>
        <p:nvSpPr>
          <p:cNvPr id="21" name="矩形 20">
            <a:extLst>
              <a:ext uri="{FF2B5EF4-FFF2-40B4-BE49-F238E27FC236}">
                <a16:creationId xmlns:a16="http://schemas.microsoft.com/office/drawing/2014/main" id="{3417B7A1-9EC7-4DF7-9683-DB554BCFB23D}"/>
              </a:ext>
            </a:extLst>
          </p:cNvPr>
          <p:cNvSpPr>
            <a:spLocks noGrp="1"/>
          </p:cNvSpPr>
          <p:nvPr/>
        </p:nvSpPr>
        <p:spPr>
          <a:xfrm>
            <a:off x="609600" y="5953125"/>
            <a:ext cx="10953750" cy="285750"/>
          </a:xfrm>
          <a:prstGeom prst="rect">
            <a:avLst/>
          </a:prstGeom>
          <a:noFill/>
          <a:ln w="0">
            <a:noFill/>
          </a:ln>
        </p:spPr>
        <p:txBody>
          <a:bodyPr lIns="0" tIns="0" rIns="0" bIns="0"/>
          <a:lstStyle/>
          <a:p>
            <a:r>
              <a:rPr sz="1650" b="1">
                <a:solidFill>
                  <a:srgbClr val="A82062"/>
                </a:solidFill>
                <a:latin typeface="Arial"/>
                <a:ea typeface="Arial"/>
                <a:cs typeface="Arial"/>
              </a:rPr>
              <a:t>Clustering supports feature discovery AND independent customer insights.</a:t>
            </a:r>
          </a:p>
        </p:txBody>
      </p:sp>
    </p:spTree>
    <p:extLst>
      <p:ext uri="{BB962C8B-B14F-4D97-AF65-F5344CB8AC3E}">
        <p14:creationId xmlns:p14="http://schemas.microsoft.com/office/powerpoint/2010/main" val="445967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图片 28"/>
          <p:cNvPicPr>
            <a:picLocks noChangeAspect="1"/>
          </p:cNvPicPr>
          <p:nvPr/>
        </p:nvPicPr>
        <p:blipFill>
          <a:blip r:embed="rId3"/>
          <a:stretch/>
        </p:blipFill>
        <p:spPr>
          <a:xfrm>
            <a:off x="0" y="0"/>
            <a:ext cx="12192000" cy="6858000"/>
          </a:xfrm>
          <a:prstGeom prst="rect">
            <a:avLst/>
          </a:prstGeom>
        </p:spPr>
      </p:pic>
      <p:sp>
        <p:nvSpPr>
          <p:cNvPr id="2" name="矩形 1">
            <a:extLst>
              <a:ext uri="{FF2B5EF4-FFF2-40B4-BE49-F238E27FC236}">
                <a16:creationId xmlns:a16="http://schemas.microsoft.com/office/drawing/2014/main" id="{2833F3F1-4252-46AF-85A5-1DA6FC0F37D9}"/>
              </a:ext>
            </a:extLst>
          </p:cNvPr>
          <p:cNvSpPr>
            <a:spLocks noGrp="1"/>
          </p:cNvSpPr>
          <p:nvPr/>
        </p:nvSpPr>
        <p:spPr>
          <a:xfrm>
            <a:off x="609600" y="466725"/>
            <a:ext cx="9239250" cy="238125"/>
          </a:xfrm>
          <a:prstGeom prst="rect">
            <a:avLst/>
          </a:prstGeom>
          <a:noFill/>
          <a:ln w="0">
            <a:noFill/>
          </a:ln>
        </p:spPr>
        <p:txBody>
          <a:bodyPr lIns="0" tIns="0" rIns="0" bIns="0"/>
          <a:lstStyle/>
          <a:p>
            <a:r>
              <a:rPr sz="1275" b="1">
                <a:solidFill>
                  <a:srgbClr val="A82062"/>
                </a:solidFill>
                <a:latin typeface="Arial"/>
                <a:ea typeface="Arial"/>
                <a:cs typeface="Arial"/>
              </a:rPr>
              <a:t>02  /  DATASET DESCRIPTION</a:t>
            </a:r>
          </a:p>
        </p:txBody>
      </p:sp>
      <p:sp>
        <p:nvSpPr>
          <p:cNvPr id="3" name="矩形 2">
            <a:extLst>
              <a:ext uri="{FF2B5EF4-FFF2-40B4-BE49-F238E27FC236}">
                <a16:creationId xmlns:a16="http://schemas.microsoft.com/office/drawing/2014/main" id="{8186F21F-4853-4BF2-AE03-584470E2B1F7}"/>
              </a:ext>
            </a:extLst>
          </p:cNvPr>
          <p:cNvSpPr>
            <a:spLocks noGrp="1"/>
          </p:cNvSpPr>
          <p:nvPr/>
        </p:nvSpPr>
        <p:spPr>
          <a:xfrm>
            <a:off x="609600" y="857250"/>
            <a:ext cx="9239250" cy="619125"/>
          </a:xfrm>
          <a:prstGeom prst="rect">
            <a:avLst/>
          </a:prstGeom>
          <a:noFill/>
          <a:ln w="0">
            <a:noFill/>
          </a:ln>
        </p:spPr>
        <p:txBody>
          <a:bodyPr lIns="0" tIns="0" rIns="0" bIns="0"/>
          <a:lstStyle/>
          <a:p>
            <a:r>
              <a:rPr sz="2625" b="1">
                <a:solidFill>
                  <a:srgbClr val="192B40"/>
                </a:solidFill>
                <a:latin typeface="Arial"/>
                <a:ea typeface="Arial"/>
                <a:cs typeface="Arial"/>
              </a:rPr>
              <a:t>Three core tables, linked at customer level</a:t>
            </a:r>
          </a:p>
        </p:txBody>
      </p:sp>
      <p:sp>
        <p:nvSpPr>
          <p:cNvPr id="4" name="矩形 3">
            <a:extLst>
              <a:ext uri="{FF2B5EF4-FFF2-40B4-BE49-F238E27FC236}">
                <a16:creationId xmlns:a16="http://schemas.microsoft.com/office/drawing/2014/main" id="{77F3D12C-B588-4707-8104-6E1137922116}"/>
              </a:ext>
            </a:extLst>
          </p:cNvPr>
          <p:cNvSpPr>
            <a:spLocks noGrp="1"/>
          </p:cNvSpPr>
          <p:nvPr/>
        </p:nvSpPr>
        <p:spPr>
          <a:xfrm>
            <a:off x="609600" y="1590675"/>
            <a:ext cx="10972800" cy="19050"/>
          </a:xfrm>
          <a:prstGeom prst="rect">
            <a:avLst/>
          </a:prstGeom>
          <a:solidFill>
            <a:srgbClr val="DDE3E9"/>
          </a:solidFill>
          <a:ln w="0">
            <a:noFill/>
          </a:ln>
        </p:spPr>
      </p:sp>
      <p:sp>
        <p:nvSpPr>
          <p:cNvPr id="5" name="矩形 4">
            <a:extLst>
              <a:ext uri="{FF2B5EF4-FFF2-40B4-BE49-F238E27FC236}">
                <a16:creationId xmlns:a16="http://schemas.microsoft.com/office/drawing/2014/main" id="{76CEB020-E984-4EFE-96F2-6EE9BA680A5A}"/>
              </a:ext>
            </a:extLst>
          </p:cNvPr>
          <p:cNvSpPr>
            <a:spLocks noGrp="1"/>
          </p:cNvSpPr>
          <p:nvPr/>
        </p:nvSpPr>
        <p:spPr>
          <a:xfrm>
            <a:off x="609600" y="6429375"/>
            <a:ext cx="9048750" cy="190500"/>
          </a:xfrm>
          <a:prstGeom prst="rect">
            <a:avLst/>
          </a:prstGeom>
          <a:noFill/>
          <a:ln w="0">
            <a:noFill/>
          </a:ln>
        </p:spPr>
        <p:txBody>
          <a:bodyPr lIns="0" tIns="0" rIns="0" bIns="0"/>
          <a:lstStyle/>
          <a:p>
            <a:r>
              <a:rPr sz="1050" b="0">
                <a:solidFill>
                  <a:srgbClr val="536375"/>
                </a:solidFill>
                <a:latin typeface="Arial"/>
                <a:ea typeface="Arial"/>
                <a:cs typeface="Arial"/>
              </a:rPr>
              <a:t>IS6400  •  Repurchase prediction &amp; customer insights</a:t>
            </a:r>
          </a:p>
        </p:txBody>
      </p:sp>
      <p:sp>
        <p:nvSpPr>
          <p:cNvPr id="6" name="矩形 5">
            <a:extLst>
              <a:ext uri="{FF2B5EF4-FFF2-40B4-BE49-F238E27FC236}">
                <a16:creationId xmlns:a16="http://schemas.microsoft.com/office/drawing/2014/main" id="{01403DDD-9B54-4C37-82FF-AE71455464ED}"/>
              </a:ext>
            </a:extLst>
          </p:cNvPr>
          <p:cNvSpPr>
            <a:spLocks noGrp="1"/>
          </p:cNvSpPr>
          <p:nvPr/>
        </p:nvSpPr>
        <p:spPr>
          <a:xfrm>
            <a:off x="10906125" y="6429375"/>
            <a:ext cx="666750" cy="190500"/>
          </a:xfrm>
          <a:prstGeom prst="rect">
            <a:avLst/>
          </a:prstGeom>
          <a:noFill/>
          <a:ln w="0">
            <a:noFill/>
          </a:ln>
        </p:spPr>
        <p:txBody>
          <a:bodyPr lIns="0" tIns="0" rIns="0" bIns="0"/>
          <a:lstStyle/>
          <a:p>
            <a:r>
              <a:rPr sz="1050" b="0">
                <a:solidFill>
                  <a:srgbClr val="536375"/>
                </a:solidFill>
                <a:latin typeface="Arial"/>
                <a:ea typeface="Arial"/>
                <a:cs typeface="Arial"/>
              </a:rPr>
              <a:t>2 / 5</a:t>
            </a:r>
          </a:p>
        </p:txBody>
      </p:sp>
      <p:sp>
        <p:nvSpPr>
          <p:cNvPr id="7" name="矩形 6">
            <a:extLst>
              <a:ext uri="{FF2B5EF4-FFF2-40B4-BE49-F238E27FC236}">
                <a16:creationId xmlns:a16="http://schemas.microsoft.com/office/drawing/2014/main" id="{14568585-2030-46A1-8FA2-D586996CD809}"/>
              </a:ext>
            </a:extLst>
          </p:cNvPr>
          <p:cNvSpPr>
            <a:spLocks noGrp="1"/>
          </p:cNvSpPr>
          <p:nvPr/>
        </p:nvSpPr>
        <p:spPr>
          <a:xfrm>
            <a:off x="609600" y="1866900"/>
            <a:ext cx="10953750" cy="304800"/>
          </a:xfrm>
          <a:prstGeom prst="rect">
            <a:avLst/>
          </a:prstGeom>
          <a:noFill/>
          <a:ln w="0">
            <a:noFill/>
          </a:ln>
        </p:spPr>
        <p:txBody>
          <a:bodyPr lIns="0" tIns="0" rIns="0" bIns="0"/>
          <a:lstStyle/>
          <a:p>
            <a:r>
              <a:rPr sz="1800" b="0">
                <a:solidFill>
                  <a:srgbClr val="536375"/>
                </a:solidFill>
                <a:latin typeface="Arial"/>
                <a:ea typeface="Arial"/>
                <a:cs typeface="Arial"/>
              </a:rPr>
              <a:t>Olist • Brazil • Historical orders from 2016–2018</a:t>
            </a:r>
          </a:p>
        </p:txBody>
      </p:sp>
      <p:sp>
        <p:nvSpPr>
          <p:cNvPr id="8" name="矩形 7">
            <a:extLst>
              <a:ext uri="{FF2B5EF4-FFF2-40B4-BE49-F238E27FC236}">
                <a16:creationId xmlns:a16="http://schemas.microsoft.com/office/drawing/2014/main" id="{587D286C-65D9-428A-9CF1-23831735ADA2}"/>
              </a:ext>
            </a:extLst>
          </p:cNvPr>
          <p:cNvSpPr>
            <a:spLocks noGrp="1"/>
          </p:cNvSpPr>
          <p:nvPr/>
        </p:nvSpPr>
        <p:spPr>
          <a:xfrm>
            <a:off x="609600" y="2371725"/>
            <a:ext cx="3505200" cy="2619375"/>
          </a:xfrm>
          <a:prstGeom prst="rect">
            <a:avLst/>
          </a:prstGeom>
          <a:solidFill>
            <a:srgbClr val="F3F5F7"/>
          </a:solidFill>
          <a:ln w="0">
            <a:noFill/>
          </a:ln>
        </p:spPr>
      </p:sp>
      <p:sp>
        <p:nvSpPr>
          <p:cNvPr id="9" name="矩形 8">
            <a:extLst>
              <a:ext uri="{FF2B5EF4-FFF2-40B4-BE49-F238E27FC236}">
                <a16:creationId xmlns:a16="http://schemas.microsoft.com/office/drawing/2014/main" id="{6871305F-1AFB-4C2A-AEEE-F0C01EC79724}"/>
              </a:ext>
            </a:extLst>
          </p:cNvPr>
          <p:cNvSpPr>
            <a:spLocks noGrp="1"/>
          </p:cNvSpPr>
          <p:nvPr/>
        </p:nvSpPr>
        <p:spPr>
          <a:xfrm>
            <a:off x="609600" y="2371725"/>
            <a:ext cx="3505200" cy="38100"/>
          </a:xfrm>
          <a:prstGeom prst="rect">
            <a:avLst/>
          </a:prstGeom>
          <a:solidFill>
            <a:srgbClr val="A82062"/>
          </a:solidFill>
          <a:ln w="0">
            <a:noFill/>
          </a:ln>
        </p:spPr>
      </p:sp>
      <p:sp>
        <p:nvSpPr>
          <p:cNvPr id="10" name="矩形 9">
            <a:extLst>
              <a:ext uri="{FF2B5EF4-FFF2-40B4-BE49-F238E27FC236}">
                <a16:creationId xmlns:a16="http://schemas.microsoft.com/office/drawing/2014/main" id="{8F28057B-F39B-4719-AFA1-E6924B9B36D3}"/>
              </a:ext>
            </a:extLst>
          </p:cNvPr>
          <p:cNvSpPr>
            <a:spLocks noGrp="1"/>
          </p:cNvSpPr>
          <p:nvPr/>
        </p:nvSpPr>
        <p:spPr>
          <a:xfrm>
            <a:off x="781050" y="2552700"/>
            <a:ext cx="3162300" cy="285750"/>
          </a:xfrm>
          <a:prstGeom prst="rect">
            <a:avLst/>
          </a:prstGeom>
          <a:noFill/>
          <a:ln w="0">
            <a:noFill/>
          </a:ln>
        </p:spPr>
        <p:txBody>
          <a:bodyPr lIns="0" tIns="0" rIns="0" bIns="0"/>
          <a:lstStyle/>
          <a:p>
            <a:r>
              <a:rPr sz="1800" b="1">
                <a:solidFill>
                  <a:srgbClr val="192B40"/>
                </a:solidFill>
                <a:latin typeface="Arial"/>
                <a:ea typeface="Arial"/>
                <a:cs typeface="Arial"/>
              </a:rPr>
              <a:t>orders</a:t>
            </a:r>
          </a:p>
        </p:txBody>
      </p:sp>
      <p:sp>
        <p:nvSpPr>
          <p:cNvPr id="11" name="矩形 10">
            <a:extLst>
              <a:ext uri="{FF2B5EF4-FFF2-40B4-BE49-F238E27FC236}">
                <a16:creationId xmlns:a16="http://schemas.microsoft.com/office/drawing/2014/main" id="{3DB7D077-B5A9-4A78-8565-7DC1567B0F32}"/>
              </a:ext>
            </a:extLst>
          </p:cNvPr>
          <p:cNvSpPr>
            <a:spLocks noGrp="1"/>
          </p:cNvSpPr>
          <p:nvPr/>
        </p:nvSpPr>
        <p:spPr>
          <a:xfrm>
            <a:off x="781050" y="2943225"/>
            <a:ext cx="3162300" cy="371475"/>
          </a:xfrm>
          <a:prstGeom prst="rect">
            <a:avLst/>
          </a:prstGeom>
          <a:noFill/>
          <a:ln w="0">
            <a:noFill/>
          </a:ln>
        </p:spPr>
        <p:txBody>
          <a:bodyPr lIns="0" tIns="0" rIns="0" bIns="0"/>
          <a:lstStyle/>
          <a:p>
            <a:r>
              <a:rPr sz="2175" b="1">
                <a:solidFill>
                  <a:srgbClr val="A82062"/>
                </a:solidFill>
                <a:latin typeface="Arial"/>
                <a:ea typeface="Arial"/>
                <a:cs typeface="Arial"/>
              </a:rPr>
              <a:t>99,441 rows</a:t>
            </a:r>
          </a:p>
        </p:txBody>
      </p:sp>
      <p:sp>
        <p:nvSpPr>
          <p:cNvPr id="12" name="矩形 11">
            <a:extLst>
              <a:ext uri="{FF2B5EF4-FFF2-40B4-BE49-F238E27FC236}">
                <a16:creationId xmlns:a16="http://schemas.microsoft.com/office/drawing/2014/main" id="{18955B8D-CDFD-42B7-A1E4-B7DC685F1910}"/>
              </a:ext>
            </a:extLst>
          </p:cNvPr>
          <p:cNvSpPr>
            <a:spLocks noGrp="1"/>
          </p:cNvSpPr>
          <p:nvPr/>
        </p:nvSpPr>
        <p:spPr>
          <a:xfrm>
            <a:off x="781050" y="3486150"/>
            <a:ext cx="3162300" cy="781050"/>
          </a:xfrm>
          <a:prstGeom prst="rect">
            <a:avLst/>
          </a:prstGeom>
          <a:noFill/>
          <a:ln w="0">
            <a:noFill/>
          </a:ln>
        </p:spPr>
        <p:txBody>
          <a:bodyPr lIns="0" tIns="0" rIns="0" bIns="0"/>
          <a:lstStyle/>
          <a:p>
            <a:r>
              <a:rPr sz="1425" b="0">
                <a:solidFill>
                  <a:srgbClr val="192B40"/>
                </a:solidFill>
                <a:latin typeface="Arial"/>
                <a:ea typeface="Arial"/>
                <a:cs typeface="Arial"/>
              </a:rPr>
              <a:t>order_id · customer_id</a:t>
            </a:r>
          </a:p>
          <a:p>
            <a:r>
              <a:rPr sz="1425" b="0">
                <a:solidFill>
                  <a:srgbClr val="192B40"/>
                </a:solidFill>
                <a:latin typeface="Arial"/>
                <a:ea typeface="Arial"/>
                <a:cs typeface="Arial"/>
              </a:rPr>
              <a:t>order_approved_at</a:t>
            </a:r>
          </a:p>
          <a:p>
            <a:r>
              <a:rPr sz="1425" b="0">
                <a:solidFill>
                  <a:srgbClr val="192B40"/>
                </a:solidFill>
                <a:latin typeface="Arial"/>
                <a:ea typeface="Arial"/>
                <a:cs typeface="Arial"/>
              </a:rPr>
              <a:t>order_purchase_timestamp</a:t>
            </a:r>
          </a:p>
        </p:txBody>
      </p:sp>
      <p:sp>
        <p:nvSpPr>
          <p:cNvPr id="13" name="矩形 12">
            <a:extLst>
              <a:ext uri="{FF2B5EF4-FFF2-40B4-BE49-F238E27FC236}">
                <a16:creationId xmlns:a16="http://schemas.microsoft.com/office/drawing/2014/main" id="{1D2DEA8D-F863-4BCE-9C73-58694A033001}"/>
              </a:ext>
            </a:extLst>
          </p:cNvPr>
          <p:cNvSpPr>
            <a:spLocks noGrp="1"/>
          </p:cNvSpPr>
          <p:nvPr/>
        </p:nvSpPr>
        <p:spPr>
          <a:xfrm>
            <a:off x="781050" y="4400550"/>
            <a:ext cx="3162300" cy="495300"/>
          </a:xfrm>
          <a:prstGeom prst="rect">
            <a:avLst/>
          </a:prstGeom>
          <a:noFill/>
          <a:ln w="0">
            <a:noFill/>
          </a:ln>
        </p:spPr>
        <p:txBody>
          <a:bodyPr lIns="0" tIns="0" rIns="0" bIns="0"/>
          <a:lstStyle/>
          <a:p>
            <a:r>
              <a:rPr sz="1350" b="0">
                <a:solidFill>
                  <a:srgbClr val="536375"/>
                </a:solidFill>
                <a:latin typeface="Arial"/>
                <a:ea typeface="Arial"/>
                <a:cs typeface="Arial"/>
              </a:rPr>
              <a:t>IDs: categorical</a:t>
            </a:r>
          </a:p>
          <a:p>
            <a:r>
              <a:rPr sz="1350" b="0">
                <a:solidFill>
                  <a:srgbClr val="536375"/>
                </a:solidFill>
                <a:latin typeface="Arial"/>
                <a:ea typeface="Arial"/>
                <a:cs typeface="Arial"/>
              </a:rPr>
              <a:t>Times: datetime</a:t>
            </a:r>
          </a:p>
        </p:txBody>
      </p:sp>
      <p:sp>
        <p:nvSpPr>
          <p:cNvPr id="14" name="矩形 13">
            <a:extLst>
              <a:ext uri="{FF2B5EF4-FFF2-40B4-BE49-F238E27FC236}">
                <a16:creationId xmlns:a16="http://schemas.microsoft.com/office/drawing/2014/main" id="{462407A3-8263-4671-9857-14D46AF40E43}"/>
              </a:ext>
            </a:extLst>
          </p:cNvPr>
          <p:cNvSpPr>
            <a:spLocks noGrp="1"/>
          </p:cNvSpPr>
          <p:nvPr/>
        </p:nvSpPr>
        <p:spPr>
          <a:xfrm>
            <a:off x="4343400" y="2371725"/>
            <a:ext cx="3505200" cy="2619375"/>
          </a:xfrm>
          <a:prstGeom prst="rect">
            <a:avLst/>
          </a:prstGeom>
          <a:solidFill>
            <a:srgbClr val="F3F5F7"/>
          </a:solidFill>
          <a:ln w="0">
            <a:noFill/>
          </a:ln>
        </p:spPr>
      </p:sp>
      <p:sp>
        <p:nvSpPr>
          <p:cNvPr id="15" name="矩形 14">
            <a:extLst>
              <a:ext uri="{FF2B5EF4-FFF2-40B4-BE49-F238E27FC236}">
                <a16:creationId xmlns:a16="http://schemas.microsoft.com/office/drawing/2014/main" id="{E0AD861A-9AA6-45DC-A1D4-BEB7C117E5A2}"/>
              </a:ext>
            </a:extLst>
          </p:cNvPr>
          <p:cNvSpPr>
            <a:spLocks noGrp="1"/>
          </p:cNvSpPr>
          <p:nvPr/>
        </p:nvSpPr>
        <p:spPr>
          <a:xfrm>
            <a:off x="4343400" y="2371725"/>
            <a:ext cx="3505200" cy="38100"/>
          </a:xfrm>
          <a:prstGeom prst="rect">
            <a:avLst/>
          </a:prstGeom>
          <a:solidFill>
            <a:srgbClr val="A82062"/>
          </a:solidFill>
          <a:ln w="0">
            <a:noFill/>
          </a:ln>
        </p:spPr>
      </p:sp>
      <p:sp>
        <p:nvSpPr>
          <p:cNvPr id="16" name="矩形 15">
            <a:extLst>
              <a:ext uri="{FF2B5EF4-FFF2-40B4-BE49-F238E27FC236}">
                <a16:creationId xmlns:a16="http://schemas.microsoft.com/office/drawing/2014/main" id="{E6A0FDDE-3106-4B0A-AE23-282A6A09970D}"/>
              </a:ext>
            </a:extLst>
          </p:cNvPr>
          <p:cNvSpPr>
            <a:spLocks noGrp="1"/>
          </p:cNvSpPr>
          <p:nvPr/>
        </p:nvSpPr>
        <p:spPr>
          <a:xfrm>
            <a:off x="4514850" y="2552700"/>
            <a:ext cx="3162300" cy="285750"/>
          </a:xfrm>
          <a:prstGeom prst="rect">
            <a:avLst/>
          </a:prstGeom>
          <a:noFill/>
          <a:ln w="0">
            <a:noFill/>
          </a:ln>
        </p:spPr>
        <p:txBody>
          <a:bodyPr lIns="0" tIns="0" rIns="0" bIns="0"/>
          <a:lstStyle/>
          <a:p>
            <a:r>
              <a:rPr sz="1800" b="1">
                <a:solidFill>
                  <a:srgbClr val="192B40"/>
                </a:solidFill>
                <a:latin typeface="Arial"/>
                <a:ea typeface="Arial"/>
                <a:cs typeface="Arial"/>
              </a:rPr>
              <a:t>order_items</a:t>
            </a:r>
          </a:p>
        </p:txBody>
      </p:sp>
      <p:sp>
        <p:nvSpPr>
          <p:cNvPr id="17" name="矩形 16">
            <a:extLst>
              <a:ext uri="{FF2B5EF4-FFF2-40B4-BE49-F238E27FC236}">
                <a16:creationId xmlns:a16="http://schemas.microsoft.com/office/drawing/2014/main" id="{934B773A-2B5A-4C1D-B7FC-8B733BEE8DCA}"/>
              </a:ext>
            </a:extLst>
          </p:cNvPr>
          <p:cNvSpPr>
            <a:spLocks noGrp="1"/>
          </p:cNvSpPr>
          <p:nvPr/>
        </p:nvSpPr>
        <p:spPr>
          <a:xfrm>
            <a:off x="4514850" y="2943225"/>
            <a:ext cx="3162300" cy="371475"/>
          </a:xfrm>
          <a:prstGeom prst="rect">
            <a:avLst/>
          </a:prstGeom>
          <a:noFill/>
          <a:ln w="0">
            <a:noFill/>
          </a:ln>
        </p:spPr>
        <p:txBody>
          <a:bodyPr lIns="0" tIns="0" rIns="0" bIns="0"/>
          <a:lstStyle/>
          <a:p>
            <a:r>
              <a:rPr sz="2175" b="1">
                <a:solidFill>
                  <a:srgbClr val="A82062"/>
                </a:solidFill>
                <a:latin typeface="Arial"/>
                <a:ea typeface="Arial"/>
                <a:cs typeface="Arial"/>
              </a:rPr>
              <a:t>112,650 rows</a:t>
            </a:r>
          </a:p>
        </p:txBody>
      </p:sp>
      <p:sp>
        <p:nvSpPr>
          <p:cNvPr id="18" name="矩形 17">
            <a:extLst>
              <a:ext uri="{FF2B5EF4-FFF2-40B4-BE49-F238E27FC236}">
                <a16:creationId xmlns:a16="http://schemas.microsoft.com/office/drawing/2014/main" id="{E25B4F2D-9E14-4A31-AF64-D82B0CC6C8C6}"/>
              </a:ext>
            </a:extLst>
          </p:cNvPr>
          <p:cNvSpPr>
            <a:spLocks noGrp="1"/>
          </p:cNvSpPr>
          <p:nvPr/>
        </p:nvSpPr>
        <p:spPr>
          <a:xfrm>
            <a:off x="4514850" y="3486150"/>
            <a:ext cx="3162300" cy="781050"/>
          </a:xfrm>
          <a:prstGeom prst="rect">
            <a:avLst/>
          </a:prstGeom>
          <a:noFill/>
          <a:ln w="0">
            <a:noFill/>
          </a:ln>
        </p:spPr>
        <p:txBody>
          <a:bodyPr lIns="0" tIns="0" rIns="0" bIns="0"/>
          <a:lstStyle/>
          <a:p>
            <a:r>
              <a:rPr sz="1425" b="0">
                <a:solidFill>
                  <a:srgbClr val="192B40"/>
                </a:solidFill>
                <a:latin typeface="Arial"/>
                <a:ea typeface="Arial"/>
                <a:cs typeface="Arial"/>
              </a:rPr>
              <a:t>order_id · product_id</a:t>
            </a:r>
          </a:p>
          <a:p>
            <a:r>
              <a:rPr sz="1425" b="0">
                <a:solidFill>
                  <a:srgbClr val="192B40"/>
                </a:solidFill>
                <a:latin typeface="Arial"/>
                <a:ea typeface="Arial"/>
                <a:cs typeface="Arial"/>
              </a:rPr>
              <a:t>price · freight_value</a:t>
            </a:r>
          </a:p>
        </p:txBody>
      </p:sp>
      <p:sp>
        <p:nvSpPr>
          <p:cNvPr id="19" name="矩形 18">
            <a:extLst>
              <a:ext uri="{FF2B5EF4-FFF2-40B4-BE49-F238E27FC236}">
                <a16:creationId xmlns:a16="http://schemas.microsoft.com/office/drawing/2014/main" id="{C15E932D-073D-4796-9FEA-232A0DAB8731}"/>
              </a:ext>
            </a:extLst>
          </p:cNvPr>
          <p:cNvSpPr>
            <a:spLocks noGrp="1"/>
          </p:cNvSpPr>
          <p:nvPr/>
        </p:nvSpPr>
        <p:spPr>
          <a:xfrm>
            <a:off x="4514850" y="4400550"/>
            <a:ext cx="3162300" cy="495300"/>
          </a:xfrm>
          <a:prstGeom prst="rect">
            <a:avLst/>
          </a:prstGeom>
          <a:noFill/>
          <a:ln w="0">
            <a:noFill/>
          </a:ln>
        </p:spPr>
        <p:txBody>
          <a:bodyPr lIns="0" tIns="0" rIns="0" bIns="0"/>
          <a:lstStyle/>
          <a:p>
            <a:r>
              <a:rPr sz="1350" b="0">
                <a:solidFill>
                  <a:srgbClr val="536375"/>
                </a:solidFill>
                <a:latin typeface="Arial"/>
                <a:ea typeface="Arial"/>
                <a:cs typeface="Arial"/>
              </a:rPr>
              <a:t>IDs: categorical</a:t>
            </a:r>
          </a:p>
          <a:p>
            <a:r>
              <a:rPr sz="1350" b="0">
                <a:solidFill>
                  <a:srgbClr val="536375"/>
                </a:solidFill>
                <a:latin typeface="Arial"/>
                <a:ea typeface="Arial"/>
                <a:cs typeface="Arial"/>
              </a:rPr>
              <a:t>Amounts: numeric (BRL)</a:t>
            </a:r>
          </a:p>
        </p:txBody>
      </p:sp>
      <p:sp>
        <p:nvSpPr>
          <p:cNvPr id="20" name="矩形 19">
            <a:extLst>
              <a:ext uri="{FF2B5EF4-FFF2-40B4-BE49-F238E27FC236}">
                <a16:creationId xmlns:a16="http://schemas.microsoft.com/office/drawing/2014/main" id="{79E4E211-8387-4ED9-BCBD-FDAB2277F42E}"/>
              </a:ext>
            </a:extLst>
          </p:cNvPr>
          <p:cNvSpPr>
            <a:spLocks noGrp="1"/>
          </p:cNvSpPr>
          <p:nvPr/>
        </p:nvSpPr>
        <p:spPr>
          <a:xfrm>
            <a:off x="8077200" y="2371725"/>
            <a:ext cx="3505200" cy="2619375"/>
          </a:xfrm>
          <a:prstGeom prst="rect">
            <a:avLst/>
          </a:prstGeom>
          <a:solidFill>
            <a:srgbClr val="F3F5F7"/>
          </a:solidFill>
          <a:ln w="0">
            <a:noFill/>
          </a:ln>
        </p:spPr>
      </p:sp>
      <p:sp>
        <p:nvSpPr>
          <p:cNvPr id="21" name="矩形 20">
            <a:extLst>
              <a:ext uri="{FF2B5EF4-FFF2-40B4-BE49-F238E27FC236}">
                <a16:creationId xmlns:a16="http://schemas.microsoft.com/office/drawing/2014/main" id="{0C45698B-9696-4049-8076-64A48C27E4C4}"/>
              </a:ext>
            </a:extLst>
          </p:cNvPr>
          <p:cNvSpPr>
            <a:spLocks noGrp="1"/>
          </p:cNvSpPr>
          <p:nvPr/>
        </p:nvSpPr>
        <p:spPr>
          <a:xfrm>
            <a:off x="8077200" y="2371725"/>
            <a:ext cx="3505200" cy="38100"/>
          </a:xfrm>
          <a:prstGeom prst="rect">
            <a:avLst/>
          </a:prstGeom>
          <a:solidFill>
            <a:srgbClr val="A82062"/>
          </a:solidFill>
          <a:ln w="0">
            <a:noFill/>
          </a:ln>
        </p:spPr>
      </p:sp>
      <p:sp>
        <p:nvSpPr>
          <p:cNvPr id="22" name="矩形 21">
            <a:extLst>
              <a:ext uri="{FF2B5EF4-FFF2-40B4-BE49-F238E27FC236}">
                <a16:creationId xmlns:a16="http://schemas.microsoft.com/office/drawing/2014/main" id="{013106AA-7EAA-4F67-A666-8B32F2E5BA68}"/>
              </a:ext>
            </a:extLst>
          </p:cNvPr>
          <p:cNvSpPr>
            <a:spLocks noGrp="1"/>
          </p:cNvSpPr>
          <p:nvPr/>
        </p:nvSpPr>
        <p:spPr>
          <a:xfrm>
            <a:off x="8248650" y="2552700"/>
            <a:ext cx="3162300" cy="285750"/>
          </a:xfrm>
          <a:prstGeom prst="rect">
            <a:avLst/>
          </a:prstGeom>
          <a:noFill/>
          <a:ln w="0">
            <a:noFill/>
          </a:ln>
        </p:spPr>
        <p:txBody>
          <a:bodyPr lIns="0" tIns="0" rIns="0" bIns="0"/>
          <a:lstStyle/>
          <a:p>
            <a:r>
              <a:rPr sz="1800" b="1">
                <a:solidFill>
                  <a:srgbClr val="192B40"/>
                </a:solidFill>
                <a:latin typeface="Arial"/>
                <a:ea typeface="Arial"/>
                <a:cs typeface="Arial"/>
              </a:rPr>
              <a:t>customers</a:t>
            </a:r>
          </a:p>
        </p:txBody>
      </p:sp>
      <p:sp>
        <p:nvSpPr>
          <p:cNvPr id="23" name="矩形 22">
            <a:extLst>
              <a:ext uri="{FF2B5EF4-FFF2-40B4-BE49-F238E27FC236}">
                <a16:creationId xmlns:a16="http://schemas.microsoft.com/office/drawing/2014/main" id="{FE1E2576-5D23-491F-B9B5-6545101A7D62}"/>
              </a:ext>
            </a:extLst>
          </p:cNvPr>
          <p:cNvSpPr>
            <a:spLocks noGrp="1"/>
          </p:cNvSpPr>
          <p:nvPr/>
        </p:nvSpPr>
        <p:spPr>
          <a:xfrm>
            <a:off x="8248650" y="2943225"/>
            <a:ext cx="3162300" cy="371475"/>
          </a:xfrm>
          <a:prstGeom prst="rect">
            <a:avLst/>
          </a:prstGeom>
          <a:noFill/>
          <a:ln w="0">
            <a:noFill/>
          </a:ln>
        </p:spPr>
        <p:txBody>
          <a:bodyPr lIns="0" tIns="0" rIns="0" bIns="0"/>
          <a:lstStyle/>
          <a:p>
            <a:r>
              <a:rPr sz="2175" b="1">
                <a:solidFill>
                  <a:srgbClr val="A82062"/>
                </a:solidFill>
                <a:latin typeface="Arial"/>
                <a:ea typeface="Arial"/>
                <a:cs typeface="Arial"/>
              </a:rPr>
              <a:t>99,441 rows</a:t>
            </a:r>
          </a:p>
        </p:txBody>
      </p:sp>
      <p:sp>
        <p:nvSpPr>
          <p:cNvPr id="24" name="矩形 23">
            <a:extLst>
              <a:ext uri="{FF2B5EF4-FFF2-40B4-BE49-F238E27FC236}">
                <a16:creationId xmlns:a16="http://schemas.microsoft.com/office/drawing/2014/main" id="{3491918D-D3E5-4CB2-9F6D-770D8F7EEABB}"/>
              </a:ext>
            </a:extLst>
          </p:cNvPr>
          <p:cNvSpPr>
            <a:spLocks noGrp="1"/>
          </p:cNvSpPr>
          <p:nvPr/>
        </p:nvSpPr>
        <p:spPr>
          <a:xfrm>
            <a:off x="8248650" y="3486150"/>
            <a:ext cx="3162300" cy="781050"/>
          </a:xfrm>
          <a:prstGeom prst="rect">
            <a:avLst/>
          </a:prstGeom>
          <a:noFill/>
          <a:ln w="0">
            <a:noFill/>
          </a:ln>
        </p:spPr>
        <p:txBody>
          <a:bodyPr lIns="0" tIns="0" rIns="0" bIns="0"/>
          <a:lstStyle/>
          <a:p>
            <a:r>
              <a:rPr sz="1425" b="0">
                <a:solidFill>
                  <a:srgbClr val="192B40"/>
                </a:solidFill>
                <a:latin typeface="Arial"/>
                <a:ea typeface="Arial"/>
                <a:cs typeface="Arial"/>
              </a:rPr>
              <a:t>customer_id</a:t>
            </a:r>
          </a:p>
          <a:p>
            <a:r>
              <a:rPr sz="1425" b="0">
                <a:solidFill>
                  <a:srgbClr val="192B40"/>
                </a:solidFill>
                <a:latin typeface="Arial"/>
                <a:ea typeface="Arial"/>
                <a:cs typeface="Arial"/>
              </a:rPr>
              <a:t>customer_unique_id</a:t>
            </a:r>
          </a:p>
          <a:p>
            <a:r>
              <a:rPr sz="1425" b="0">
                <a:solidFill>
                  <a:srgbClr val="192B40"/>
                </a:solidFill>
                <a:latin typeface="Arial"/>
                <a:ea typeface="Arial"/>
                <a:cs typeface="Arial"/>
              </a:rPr>
              <a:t>customer_state</a:t>
            </a:r>
          </a:p>
        </p:txBody>
      </p:sp>
      <p:sp>
        <p:nvSpPr>
          <p:cNvPr id="25" name="矩形 24">
            <a:extLst>
              <a:ext uri="{FF2B5EF4-FFF2-40B4-BE49-F238E27FC236}">
                <a16:creationId xmlns:a16="http://schemas.microsoft.com/office/drawing/2014/main" id="{9A5E0089-2972-4192-92D8-81B1D04CBA8C}"/>
              </a:ext>
            </a:extLst>
          </p:cNvPr>
          <p:cNvSpPr>
            <a:spLocks noGrp="1"/>
          </p:cNvSpPr>
          <p:nvPr/>
        </p:nvSpPr>
        <p:spPr>
          <a:xfrm>
            <a:off x="8248650" y="4400550"/>
            <a:ext cx="3162300" cy="495300"/>
          </a:xfrm>
          <a:prstGeom prst="rect">
            <a:avLst/>
          </a:prstGeom>
          <a:noFill/>
          <a:ln w="0">
            <a:noFill/>
          </a:ln>
        </p:spPr>
        <p:txBody>
          <a:bodyPr lIns="0" tIns="0" rIns="0" bIns="0"/>
          <a:lstStyle/>
          <a:p>
            <a:r>
              <a:rPr sz="1350" b="0">
                <a:solidFill>
                  <a:srgbClr val="536375"/>
                </a:solidFill>
                <a:latin typeface="Arial"/>
                <a:ea typeface="Arial"/>
                <a:cs typeface="Arial"/>
              </a:rPr>
              <a:t>IDs / state: categorical</a:t>
            </a:r>
          </a:p>
        </p:txBody>
      </p:sp>
      <p:sp>
        <p:nvSpPr>
          <p:cNvPr id="26" name="矩形 25">
            <a:extLst>
              <a:ext uri="{FF2B5EF4-FFF2-40B4-BE49-F238E27FC236}">
                <a16:creationId xmlns:a16="http://schemas.microsoft.com/office/drawing/2014/main" id="{7EC5C769-D325-487D-A911-9154CBEF4FC1}"/>
              </a:ext>
            </a:extLst>
          </p:cNvPr>
          <p:cNvSpPr>
            <a:spLocks noGrp="1"/>
          </p:cNvSpPr>
          <p:nvPr/>
        </p:nvSpPr>
        <p:spPr>
          <a:xfrm>
            <a:off x="609600" y="5238750"/>
            <a:ext cx="10953750" cy="352425"/>
          </a:xfrm>
          <a:prstGeom prst="rect">
            <a:avLst/>
          </a:prstGeom>
          <a:noFill/>
          <a:ln w="0">
            <a:noFill/>
          </a:ln>
        </p:spPr>
        <p:txBody>
          <a:bodyPr lIns="0" tIns="0" rIns="0" bIns="0"/>
          <a:lstStyle/>
          <a:p>
            <a:r>
              <a:rPr sz="2175" b="1">
                <a:solidFill>
                  <a:srgbClr val="192B40"/>
                </a:solidFill>
                <a:latin typeface="Arial"/>
                <a:ea typeface="Arial"/>
                <a:cs typeface="Arial"/>
              </a:rPr>
              <a:t>Item rows → Orders → Customer snapshots</a:t>
            </a:r>
          </a:p>
        </p:txBody>
      </p:sp>
      <p:sp>
        <p:nvSpPr>
          <p:cNvPr id="27" name="矩形 26">
            <a:extLst>
              <a:ext uri="{FF2B5EF4-FFF2-40B4-BE49-F238E27FC236}">
                <a16:creationId xmlns:a16="http://schemas.microsoft.com/office/drawing/2014/main" id="{5DCBA373-5B10-481F-86D3-4B8E68791085}"/>
              </a:ext>
            </a:extLst>
          </p:cNvPr>
          <p:cNvSpPr>
            <a:spLocks noGrp="1"/>
          </p:cNvSpPr>
          <p:nvPr/>
        </p:nvSpPr>
        <p:spPr>
          <a:xfrm>
            <a:off x="609600" y="5686425"/>
            <a:ext cx="10953750" cy="285750"/>
          </a:xfrm>
          <a:prstGeom prst="rect">
            <a:avLst/>
          </a:prstGeom>
          <a:noFill/>
          <a:ln w="0">
            <a:noFill/>
          </a:ln>
        </p:spPr>
        <p:txBody>
          <a:bodyPr lIns="0" tIns="0" rIns="0" bIns="0"/>
          <a:lstStyle/>
          <a:p>
            <a:r>
              <a:rPr sz="1725" b="0">
                <a:solidFill>
                  <a:srgbClr val="536375"/>
                </a:solidFill>
                <a:latin typeface="Arial"/>
                <a:ea typeface="Arial"/>
                <a:cs typeface="Arial"/>
              </a:rPr>
              <a:t>Add products for category profiles; audit one-to-many joins.</a:t>
            </a:r>
          </a:p>
        </p:txBody>
      </p:sp>
      <p:sp>
        <p:nvSpPr>
          <p:cNvPr id="28" name="矩形 27">
            <a:extLst>
              <a:ext uri="{FF2B5EF4-FFF2-40B4-BE49-F238E27FC236}">
                <a16:creationId xmlns:a16="http://schemas.microsoft.com/office/drawing/2014/main" id="{67B30E5E-F719-4494-8A37-3CC206FF2FDA}"/>
              </a:ext>
            </a:extLst>
          </p:cNvPr>
          <p:cNvSpPr>
            <a:spLocks noGrp="1"/>
          </p:cNvSpPr>
          <p:nvPr/>
        </p:nvSpPr>
        <p:spPr>
          <a:xfrm>
            <a:off x="609600" y="6105525"/>
            <a:ext cx="10953750" cy="200025"/>
          </a:xfrm>
          <a:prstGeom prst="rect">
            <a:avLst/>
          </a:prstGeom>
          <a:noFill/>
          <a:ln w="0">
            <a:noFill/>
          </a:ln>
        </p:spPr>
        <p:txBody>
          <a:bodyPr lIns="0" tIns="0" rIns="0" bIns="0"/>
          <a:lstStyle/>
          <a:p>
            <a:r>
              <a:rPr sz="1050" b="0">
                <a:solidFill>
                  <a:srgbClr val="536375"/>
                </a:solidFill>
                <a:latin typeface="Arial"/>
                <a:ea typeface="Arial"/>
                <a:cs typeface="Arial"/>
              </a:rPr>
              <a:t>Source: Olist v2; raw row counts verified locally. Final cohort sizes depend on eligibility.</a:t>
            </a:r>
          </a:p>
        </p:txBody>
      </p:sp>
    </p:spTree>
    <p:extLst>
      <p:ext uri="{BB962C8B-B14F-4D97-AF65-F5344CB8AC3E}">
        <p14:creationId xmlns:p14="http://schemas.microsoft.com/office/powerpoint/2010/main" val="1510116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stretch/>
        </p:blipFill>
        <p:spPr>
          <a:xfrm>
            <a:off x="0" y="0"/>
            <a:ext cx="12192000" cy="6858000"/>
          </a:xfrm>
          <a:prstGeom prst="rect">
            <a:avLst/>
          </a:prstGeom>
        </p:spPr>
      </p:pic>
      <p:sp>
        <p:nvSpPr>
          <p:cNvPr id="2" name="矩形 1">
            <a:extLst>
              <a:ext uri="{FF2B5EF4-FFF2-40B4-BE49-F238E27FC236}">
                <a16:creationId xmlns:a16="http://schemas.microsoft.com/office/drawing/2014/main" id="{D1849253-E92D-4A89-AF47-A92E4672D272}"/>
              </a:ext>
            </a:extLst>
          </p:cNvPr>
          <p:cNvSpPr>
            <a:spLocks noGrp="1"/>
          </p:cNvSpPr>
          <p:nvPr/>
        </p:nvSpPr>
        <p:spPr>
          <a:xfrm>
            <a:off x="609600" y="466725"/>
            <a:ext cx="9239250" cy="238125"/>
          </a:xfrm>
          <a:prstGeom prst="rect">
            <a:avLst/>
          </a:prstGeom>
          <a:noFill/>
          <a:ln w="0">
            <a:noFill/>
          </a:ln>
        </p:spPr>
        <p:txBody>
          <a:bodyPr lIns="0" tIns="0" rIns="0" bIns="0"/>
          <a:lstStyle/>
          <a:p>
            <a:r>
              <a:rPr sz="1275" b="1">
                <a:solidFill>
                  <a:srgbClr val="A82062"/>
                </a:solidFill>
                <a:latin typeface="Arial"/>
                <a:ea typeface="Arial"/>
                <a:cs typeface="Arial"/>
              </a:rPr>
              <a:t>03  /  KEY VARIABLES &amp; TARGET</a:t>
            </a:r>
          </a:p>
        </p:txBody>
      </p:sp>
      <p:sp>
        <p:nvSpPr>
          <p:cNvPr id="3" name="矩形 2">
            <a:extLst>
              <a:ext uri="{FF2B5EF4-FFF2-40B4-BE49-F238E27FC236}">
                <a16:creationId xmlns:a16="http://schemas.microsoft.com/office/drawing/2014/main" id="{0D129A97-3D1D-4DC0-8660-FCE5908C3A29}"/>
              </a:ext>
            </a:extLst>
          </p:cNvPr>
          <p:cNvSpPr>
            <a:spLocks noGrp="1"/>
          </p:cNvSpPr>
          <p:nvPr/>
        </p:nvSpPr>
        <p:spPr>
          <a:xfrm>
            <a:off x="609600" y="857250"/>
            <a:ext cx="9239250" cy="619125"/>
          </a:xfrm>
          <a:prstGeom prst="rect">
            <a:avLst/>
          </a:prstGeom>
          <a:noFill/>
          <a:ln w="0">
            <a:noFill/>
          </a:ln>
        </p:spPr>
        <p:txBody>
          <a:bodyPr lIns="0" tIns="0" rIns="0" bIns="0"/>
          <a:lstStyle/>
          <a:p>
            <a:r>
              <a:rPr sz="2625" b="1">
                <a:solidFill>
                  <a:srgbClr val="192B40"/>
                </a:solidFill>
                <a:latin typeface="Arial"/>
                <a:ea typeface="Arial"/>
                <a:cs typeface="Arial"/>
              </a:rPr>
              <a:t>Separate past behaviour from future outcomes</a:t>
            </a:r>
          </a:p>
        </p:txBody>
      </p:sp>
      <p:sp>
        <p:nvSpPr>
          <p:cNvPr id="4" name="矩形 3">
            <a:extLst>
              <a:ext uri="{FF2B5EF4-FFF2-40B4-BE49-F238E27FC236}">
                <a16:creationId xmlns:a16="http://schemas.microsoft.com/office/drawing/2014/main" id="{6FE5500F-898A-4510-B9A9-EF6A5E783BC2}"/>
              </a:ext>
            </a:extLst>
          </p:cNvPr>
          <p:cNvSpPr>
            <a:spLocks noGrp="1"/>
          </p:cNvSpPr>
          <p:nvPr/>
        </p:nvSpPr>
        <p:spPr>
          <a:xfrm>
            <a:off x="609600" y="1590675"/>
            <a:ext cx="10972800" cy="19050"/>
          </a:xfrm>
          <a:prstGeom prst="rect">
            <a:avLst/>
          </a:prstGeom>
          <a:solidFill>
            <a:srgbClr val="DDE3E9"/>
          </a:solidFill>
          <a:ln w="0">
            <a:noFill/>
          </a:ln>
        </p:spPr>
      </p:sp>
      <p:sp>
        <p:nvSpPr>
          <p:cNvPr id="5" name="矩形 4">
            <a:extLst>
              <a:ext uri="{FF2B5EF4-FFF2-40B4-BE49-F238E27FC236}">
                <a16:creationId xmlns:a16="http://schemas.microsoft.com/office/drawing/2014/main" id="{9E20B604-6643-41C8-8B08-18AF90D6A051}"/>
              </a:ext>
            </a:extLst>
          </p:cNvPr>
          <p:cNvSpPr>
            <a:spLocks noGrp="1"/>
          </p:cNvSpPr>
          <p:nvPr/>
        </p:nvSpPr>
        <p:spPr>
          <a:xfrm>
            <a:off x="609600" y="6429375"/>
            <a:ext cx="9048750" cy="190500"/>
          </a:xfrm>
          <a:prstGeom prst="rect">
            <a:avLst/>
          </a:prstGeom>
          <a:noFill/>
          <a:ln w="0">
            <a:noFill/>
          </a:ln>
        </p:spPr>
        <p:txBody>
          <a:bodyPr lIns="0" tIns="0" rIns="0" bIns="0"/>
          <a:lstStyle/>
          <a:p>
            <a:r>
              <a:rPr sz="1050" b="0">
                <a:solidFill>
                  <a:srgbClr val="536375"/>
                </a:solidFill>
                <a:latin typeface="Arial"/>
                <a:ea typeface="Arial"/>
                <a:cs typeface="Arial"/>
              </a:rPr>
              <a:t>IS6400  •  Repurchase prediction &amp; customer insights</a:t>
            </a:r>
          </a:p>
        </p:txBody>
      </p:sp>
      <p:sp>
        <p:nvSpPr>
          <p:cNvPr id="6" name="矩形 5">
            <a:extLst>
              <a:ext uri="{FF2B5EF4-FFF2-40B4-BE49-F238E27FC236}">
                <a16:creationId xmlns:a16="http://schemas.microsoft.com/office/drawing/2014/main" id="{6FEBF998-42BF-465D-8DF5-D1D34CCAD471}"/>
              </a:ext>
            </a:extLst>
          </p:cNvPr>
          <p:cNvSpPr>
            <a:spLocks noGrp="1"/>
          </p:cNvSpPr>
          <p:nvPr/>
        </p:nvSpPr>
        <p:spPr>
          <a:xfrm>
            <a:off x="10906125" y="6429375"/>
            <a:ext cx="666750" cy="190500"/>
          </a:xfrm>
          <a:prstGeom prst="rect">
            <a:avLst/>
          </a:prstGeom>
          <a:noFill/>
          <a:ln w="0">
            <a:noFill/>
          </a:ln>
        </p:spPr>
        <p:txBody>
          <a:bodyPr lIns="0" tIns="0" rIns="0" bIns="0"/>
          <a:lstStyle/>
          <a:p>
            <a:r>
              <a:rPr sz="1050" b="0">
                <a:solidFill>
                  <a:srgbClr val="536375"/>
                </a:solidFill>
                <a:latin typeface="Arial"/>
                <a:ea typeface="Arial"/>
                <a:cs typeface="Arial"/>
              </a:rPr>
              <a:t>3 / 5</a:t>
            </a:r>
          </a:p>
        </p:txBody>
      </p:sp>
      <p:sp>
        <p:nvSpPr>
          <p:cNvPr id="7" name="矩形 6">
            <a:extLst>
              <a:ext uri="{FF2B5EF4-FFF2-40B4-BE49-F238E27FC236}">
                <a16:creationId xmlns:a16="http://schemas.microsoft.com/office/drawing/2014/main" id="{FA8F109E-9E8C-4E07-B35B-ED7FA7D2D73B}"/>
              </a:ext>
            </a:extLst>
          </p:cNvPr>
          <p:cNvSpPr>
            <a:spLocks noGrp="1"/>
          </p:cNvSpPr>
          <p:nvPr/>
        </p:nvSpPr>
        <p:spPr>
          <a:xfrm>
            <a:off x="609600" y="1943100"/>
            <a:ext cx="6953250" cy="1638300"/>
          </a:xfrm>
          <a:prstGeom prst="rect">
            <a:avLst/>
          </a:prstGeom>
          <a:solidFill>
            <a:srgbClr val="F8F0F4"/>
          </a:solidFill>
          <a:ln w="0">
            <a:noFill/>
          </a:ln>
        </p:spPr>
      </p:sp>
      <p:sp>
        <p:nvSpPr>
          <p:cNvPr id="8" name="矩形 7">
            <a:extLst>
              <a:ext uri="{FF2B5EF4-FFF2-40B4-BE49-F238E27FC236}">
                <a16:creationId xmlns:a16="http://schemas.microsoft.com/office/drawing/2014/main" id="{D2754B13-8A2A-4991-8902-DFA42F9951CC}"/>
              </a:ext>
            </a:extLst>
          </p:cNvPr>
          <p:cNvSpPr>
            <a:spLocks noGrp="1"/>
          </p:cNvSpPr>
          <p:nvPr/>
        </p:nvSpPr>
        <p:spPr>
          <a:xfrm>
            <a:off x="800100" y="2105025"/>
            <a:ext cx="6524625" cy="323850"/>
          </a:xfrm>
          <a:prstGeom prst="rect">
            <a:avLst/>
          </a:prstGeom>
          <a:noFill/>
          <a:ln w="0">
            <a:noFill/>
          </a:ln>
        </p:spPr>
        <p:txBody>
          <a:bodyPr lIns="0" tIns="0" rIns="0" bIns="0"/>
          <a:lstStyle/>
          <a:p>
            <a:r>
              <a:rPr sz="2100" b="1" dirty="0">
                <a:solidFill>
                  <a:srgbClr val="A82062"/>
                </a:solidFill>
                <a:latin typeface="Arial"/>
                <a:ea typeface="Arial"/>
                <a:cs typeface="Arial"/>
              </a:rPr>
              <a:t>Predictors: past </a:t>
            </a:r>
            <a:r>
              <a:rPr lang="en-US" altLang="zh-CN" sz="2100" b="1" dirty="0">
                <a:solidFill>
                  <a:srgbClr val="A82062"/>
                </a:solidFill>
                <a:latin typeface="Arial"/>
                <a:ea typeface="Arial"/>
                <a:cs typeface="Arial"/>
              </a:rPr>
              <a:t>6</a:t>
            </a:r>
            <a:r>
              <a:rPr sz="2100" b="1" dirty="0">
                <a:solidFill>
                  <a:srgbClr val="A82062"/>
                </a:solidFill>
                <a:latin typeface="Arial"/>
                <a:ea typeface="Arial"/>
                <a:cs typeface="Arial"/>
              </a:rPr>
              <a:t> months</a:t>
            </a:r>
          </a:p>
        </p:txBody>
      </p:sp>
      <p:sp>
        <p:nvSpPr>
          <p:cNvPr id="9" name="矩形 8">
            <a:extLst>
              <a:ext uri="{FF2B5EF4-FFF2-40B4-BE49-F238E27FC236}">
                <a16:creationId xmlns:a16="http://schemas.microsoft.com/office/drawing/2014/main" id="{D7A12EE2-B896-4282-A4E8-39E19EDA8BF4}"/>
              </a:ext>
            </a:extLst>
          </p:cNvPr>
          <p:cNvSpPr>
            <a:spLocks noGrp="1"/>
          </p:cNvSpPr>
          <p:nvPr/>
        </p:nvSpPr>
        <p:spPr>
          <a:xfrm>
            <a:off x="800100" y="2590800"/>
            <a:ext cx="6524625" cy="695325"/>
          </a:xfrm>
          <a:prstGeom prst="rect">
            <a:avLst/>
          </a:prstGeom>
          <a:noFill/>
          <a:ln w="0">
            <a:noFill/>
          </a:ln>
        </p:spPr>
        <p:txBody>
          <a:bodyPr lIns="0" tIns="0" rIns="0" bIns="0"/>
          <a:lstStyle/>
          <a:p>
            <a:r>
              <a:rPr sz="1875" b="0">
                <a:solidFill>
                  <a:srgbClr val="192B40"/>
                </a:solidFill>
                <a:latin typeface="Arial"/>
                <a:ea typeface="Arial"/>
                <a:cs typeface="Arial"/>
              </a:rPr>
              <a:t>RFM • Average order value • Items per order</a:t>
            </a:r>
          </a:p>
          <a:p>
            <a:r>
              <a:rPr sz="1875" b="0">
                <a:solidFill>
                  <a:srgbClr val="192B40"/>
                </a:solidFill>
                <a:latin typeface="Arial"/>
                <a:ea typeface="Arial"/>
                <a:cs typeface="Arial"/>
              </a:rPr>
              <a:t>Recent activity • Freight share • Region</a:t>
            </a:r>
          </a:p>
        </p:txBody>
      </p:sp>
      <p:sp>
        <p:nvSpPr>
          <p:cNvPr id="10" name="矩形 9">
            <a:extLst>
              <a:ext uri="{FF2B5EF4-FFF2-40B4-BE49-F238E27FC236}">
                <a16:creationId xmlns:a16="http://schemas.microsoft.com/office/drawing/2014/main" id="{D992081A-1C37-448C-A446-FD31A0E97A36}"/>
              </a:ext>
            </a:extLst>
          </p:cNvPr>
          <p:cNvSpPr>
            <a:spLocks noGrp="1"/>
          </p:cNvSpPr>
          <p:nvPr/>
        </p:nvSpPr>
        <p:spPr>
          <a:xfrm>
            <a:off x="7848600" y="1943100"/>
            <a:ext cx="3733800" cy="1638300"/>
          </a:xfrm>
          <a:prstGeom prst="rect">
            <a:avLst/>
          </a:prstGeom>
          <a:solidFill>
            <a:srgbClr val="F3F5F7"/>
          </a:solidFill>
          <a:ln w="0">
            <a:noFill/>
          </a:ln>
        </p:spPr>
      </p:sp>
      <p:sp>
        <p:nvSpPr>
          <p:cNvPr id="11" name="矩形 10">
            <a:extLst>
              <a:ext uri="{FF2B5EF4-FFF2-40B4-BE49-F238E27FC236}">
                <a16:creationId xmlns:a16="http://schemas.microsoft.com/office/drawing/2014/main" id="{FC35929A-701C-46B1-ABA0-382D824EB2DD}"/>
              </a:ext>
            </a:extLst>
          </p:cNvPr>
          <p:cNvSpPr>
            <a:spLocks noGrp="1"/>
          </p:cNvSpPr>
          <p:nvPr/>
        </p:nvSpPr>
        <p:spPr>
          <a:xfrm>
            <a:off x="8039100" y="2105025"/>
            <a:ext cx="3333750" cy="323850"/>
          </a:xfrm>
          <a:prstGeom prst="rect">
            <a:avLst/>
          </a:prstGeom>
          <a:noFill/>
          <a:ln w="0">
            <a:noFill/>
          </a:ln>
        </p:spPr>
        <p:txBody>
          <a:bodyPr lIns="0" tIns="0" rIns="0" bIns="0"/>
          <a:lstStyle/>
          <a:p>
            <a:r>
              <a:rPr sz="2025" b="1" dirty="0">
                <a:solidFill>
                  <a:srgbClr val="192B40"/>
                </a:solidFill>
                <a:latin typeface="Arial"/>
                <a:ea typeface="Arial"/>
                <a:cs typeface="Arial"/>
              </a:rPr>
              <a:t>Target: next 90 days</a:t>
            </a:r>
          </a:p>
        </p:txBody>
      </p:sp>
      <p:sp>
        <p:nvSpPr>
          <p:cNvPr id="12" name="矩形 11">
            <a:extLst>
              <a:ext uri="{FF2B5EF4-FFF2-40B4-BE49-F238E27FC236}">
                <a16:creationId xmlns:a16="http://schemas.microsoft.com/office/drawing/2014/main" id="{FE9225C6-76E2-4E11-A4CA-230CF3025581}"/>
              </a:ext>
            </a:extLst>
          </p:cNvPr>
          <p:cNvSpPr>
            <a:spLocks noGrp="1"/>
          </p:cNvSpPr>
          <p:nvPr/>
        </p:nvSpPr>
        <p:spPr>
          <a:xfrm>
            <a:off x="8039100" y="2590800"/>
            <a:ext cx="3333750" cy="771525"/>
          </a:xfrm>
          <a:prstGeom prst="rect">
            <a:avLst/>
          </a:prstGeom>
          <a:noFill/>
          <a:ln w="0">
            <a:noFill/>
          </a:ln>
        </p:spPr>
        <p:txBody>
          <a:bodyPr lIns="0" tIns="0" rIns="0" bIns="0"/>
          <a:lstStyle/>
          <a:p>
            <a:r>
              <a:rPr sz="1725" b="0">
                <a:solidFill>
                  <a:srgbClr val="192B40"/>
                </a:solidFill>
                <a:latin typeface="Arial"/>
                <a:ea typeface="Arial"/>
                <a:cs typeface="Arial"/>
              </a:rPr>
              <a:t>At least one further</a:t>
            </a:r>
          </a:p>
          <a:p>
            <a:r>
              <a:rPr sz="1725" b="0">
                <a:solidFill>
                  <a:srgbClr val="192B40"/>
                </a:solidFill>
                <a:latin typeface="Arial"/>
                <a:ea typeface="Arial"/>
                <a:cs typeface="Arial"/>
              </a:rPr>
              <a:t>approved, positive-value order</a:t>
            </a:r>
          </a:p>
        </p:txBody>
      </p:sp>
      <p:sp>
        <p:nvSpPr>
          <p:cNvPr id="13" name="矩形 12">
            <a:extLst>
              <a:ext uri="{FF2B5EF4-FFF2-40B4-BE49-F238E27FC236}">
                <a16:creationId xmlns:a16="http://schemas.microsoft.com/office/drawing/2014/main" id="{977E47B5-19BA-4E6C-B51E-77DC4AE949E0}"/>
              </a:ext>
            </a:extLst>
          </p:cNvPr>
          <p:cNvSpPr>
            <a:spLocks noGrp="1"/>
          </p:cNvSpPr>
          <p:nvPr/>
        </p:nvSpPr>
        <p:spPr>
          <a:xfrm>
            <a:off x="609600" y="3943350"/>
            <a:ext cx="3333750" cy="323850"/>
          </a:xfrm>
          <a:prstGeom prst="rect">
            <a:avLst/>
          </a:prstGeom>
          <a:noFill/>
          <a:ln w="0">
            <a:noFill/>
          </a:ln>
        </p:spPr>
        <p:txBody>
          <a:bodyPr lIns="0" tIns="0" rIns="0" bIns="0"/>
          <a:lstStyle/>
          <a:p>
            <a:r>
              <a:rPr sz="2025" b="1">
                <a:solidFill>
                  <a:srgbClr val="192B40"/>
                </a:solidFill>
                <a:latin typeface="Arial"/>
                <a:ea typeface="Arial"/>
                <a:cs typeface="Arial"/>
              </a:rPr>
              <a:t>Earlier snapshots</a:t>
            </a:r>
          </a:p>
        </p:txBody>
      </p:sp>
      <p:sp>
        <p:nvSpPr>
          <p:cNvPr id="14" name="矩形 13">
            <a:extLst>
              <a:ext uri="{FF2B5EF4-FFF2-40B4-BE49-F238E27FC236}">
                <a16:creationId xmlns:a16="http://schemas.microsoft.com/office/drawing/2014/main" id="{11F8DED9-0880-4A6C-9AB1-C2721E242112}"/>
              </a:ext>
            </a:extLst>
          </p:cNvPr>
          <p:cNvSpPr>
            <a:spLocks noGrp="1"/>
          </p:cNvSpPr>
          <p:nvPr/>
        </p:nvSpPr>
        <p:spPr>
          <a:xfrm>
            <a:off x="609600" y="4352925"/>
            <a:ext cx="5143500" cy="314325"/>
          </a:xfrm>
          <a:prstGeom prst="rect">
            <a:avLst/>
          </a:prstGeom>
          <a:noFill/>
          <a:ln w="0">
            <a:noFill/>
          </a:ln>
        </p:spPr>
        <p:txBody>
          <a:bodyPr lIns="0" tIns="0" rIns="0" bIns="0"/>
          <a:lstStyle/>
          <a:p>
            <a:r>
              <a:rPr sz="1725" b="0">
                <a:solidFill>
                  <a:srgbClr val="536375"/>
                </a:solidFill>
                <a:latin typeface="Arial"/>
                <a:ea typeface="Arial"/>
                <a:cs typeface="Arial"/>
              </a:rPr>
              <a:t>Develop features, clusters and models</a:t>
            </a:r>
          </a:p>
        </p:txBody>
      </p:sp>
      <p:sp>
        <p:nvSpPr>
          <p:cNvPr id="15" name="箭头: 右 14">
            <a:extLst>
              <a:ext uri="{FF2B5EF4-FFF2-40B4-BE49-F238E27FC236}">
                <a16:creationId xmlns:a16="http://schemas.microsoft.com/office/drawing/2014/main" id="{D56FDF6B-79B0-4483-90AE-9739265CECC7}"/>
              </a:ext>
            </a:extLst>
          </p:cNvPr>
          <p:cNvSpPr>
            <a:spLocks noGrp="1"/>
          </p:cNvSpPr>
          <p:nvPr/>
        </p:nvSpPr>
        <p:spPr>
          <a:xfrm>
            <a:off x="5705475" y="4162425"/>
            <a:ext cx="495300" cy="200025"/>
          </a:xfrm>
          <a:prstGeom prst="rightArrow">
            <a:avLst/>
          </a:prstGeom>
          <a:solidFill>
            <a:srgbClr val="536375"/>
          </a:solidFill>
          <a:ln w="0">
            <a:noFill/>
          </a:ln>
        </p:spPr>
      </p:sp>
      <p:sp>
        <p:nvSpPr>
          <p:cNvPr id="16" name="矩形 15">
            <a:extLst>
              <a:ext uri="{FF2B5EF4-FFF2-40B4-BE49-F238E27FC236}">
                <a16:creationId xmlns:a16="http://schemas.microsoft.com/office/drawing/2014/main" id="{15B15785-58AB-4FE5-922F-5794A48CCF94}"/>
              </a:ext>
            </a:extLst>
          </p:cNvPr>
          <p:cNvSpPr>
            <a:spLocks noGrp="1"/>
          </p:cNvSpPr>
          <p:nvPr/>
        </p:nvSpPr>
        <p:spPr>
          <a:xfrm>
            <a:off x="6600825" y="3943350"/>
            <a:ext cx="4953000" cy="323850"/>
          </a:xfrm>
          <a:prstGeom prst="rect">
            <a:avLst/>
          </a:prstGeom>
          <a:noFill/>
          <a:ln w="0">
            <a:noFill/>
          </a:ln>
        </p:spPr>
        <p:txBody>
          <a:bodyPr lIns="0" tIns="0" rIns="0" bIns="0"/>
          <a:lstStyle/>
          <a:p>
            <a:r>
              <a:rPr sz="2025" b="1">
                <a:solidFill>
                  <a:srgbClr val="192B40"/>
                </a:solidFill>
                <a:latin typeface="Arial"/>
                <a:ea typeface="Arial"/>
                <a:cs typeface="Arial"/>
              </a:rPr>
              <a:t>Later held-out period</a:t>
            </a:r>
          </a:p>
        </p:txBody>
      </p:sp>
      <p:sp>
        <p:nvSpPr>
          <p:cNvPr id="17" name="矩形 16">
            <a:extLst>
              <a:ext uri="{FF2B5EF4-FFF2-40B4-BE49-F238E27FC236}">
                <a16:creationId xmlns:a16="http://schemas.microsoft.com/office/drawing/2014/main" id="{598D580B-9694-4262-B6AB-885647540FD1}"/>
              </a:ext>
            </a:extLst>
          </p:cNvPr>
          <p:cNvSpPr>
            <a:spLocks noGrp="1"/>
          </p:cNvSpPr>
          <p:nvPr/>
        </p:nvSpPr>
        <p:spPr>
          <a:xfrm>
            <a:off x="6600825" y="4352925"/>
            <a:ext cx="4953000" cy="314325"/>
          </a:xfrm>
          <a:prstGeom prst="rect">
            <a:avLst/>
          </a:prstGeom>
          <a:noFill/>
          <a:ln w="0">
            <a:noFill/>
          </a:ln>
        </p:spPr>
        <p:txBody>
          <a:bodyPr lIns="0" tIns="0" rIns="0" bIns="0"/>
          <a:lstStyle/>
          <a:p>
            <a:r>
              <a:rPr sz="1725" b="0">
                <a:solidFill>
                  <a:srgbClr val="536375"/>
                </a:solidFill>
                <a:latin typeface="Arial"/>
                <a:ea typeface="Arial"/>
                <a:cs typeface="Arial"/>
              </a:rPr>
              <a:t>Evaluate the locked approach</a:t>
            </a:r>
          </a:p>
        </p:txBody>
      </p:sp>
      <p:sp>
        <p:nvSpPr>
          <p:cNvPr id="18" name="矩形 17">
            <a:extLst>
              <a:ext uri="{FF2B5EF4-FFF2-40B4-BE49-F238E27FC236}">
                <a16:creationId xmlns:a16="http://schemas.microsoft.com/office/drawing/2014/main" id="{01E496CA-DE1C-46C3-91AC-40D2C7C10DCC}"/>
              </a:ext>
            </a:extLst>
          </p:cNvPr>
          <p:cNvSpPr>
            <a:spLocks noGrp="1"/>
          </p:cNvSpPr>
          <p:nvPr/>
        </p:nvSpPr>
        <p:spPr>
          <a:xfrm>
            <a:off x="609600" y="5067300"/>
            <a:ext cx="10972800" cy="809625"/>
          </a:xfrm>
          <a:prstGeom prst="rect">
            <a:avLst/>
          </a:prstGeom>
          <a:solidFill>
            <a:srgbClr val="F3F5F7"/>
          </a:solidFill>
          <a:ln w="0">
            <a:noFill/>
          </a:ln>
        </p:spPr>
      </p:sp>
      <p:sp>
        <p:nvSpPr>
          <p:cNvPr id="19" name="矩形 18">
            <a:extLst>
              <a:ext uri="{FF2B5EF4-FFF2-40B4-BE49-F238E27FC236}">
                <a16:creationId xmlns:a16="http://schemas.microsoft.com/office/drawing/2014/main" id="{21931977-E60D-4340-862D-A6BA7E12BC45}"/>
              </a:ext>
            </a:extLst>
          </p:cNvPr>
          <p:cNvSpPr>
            <a:spLocks noGrp="1"/>
          </p:cNvSpPr>
          <p:nvPr/>
        </p:nvSpPr>
        <p:spPr>
          <a:xfrm>
            <a:off x="800100" y="5219700"/>
            <a:ext cx="10591800" cy="561975"/>
          </a:xfrm>
          <a:prstGeom prst="rect">
            <a:avLst/>
          </a:prstGeom>
          <a:noFill/>
          <a:ln w="0">
            <a:noFill/>
          </a:ln>
        </p:spPr>
        <p:txBody>
          <a:bodyPr lIns="0" tIns="0" rIns="0" bIns="0"/>
          <a:lstStyle/>
          <a:p>
            <a:r>
              <a:rPr sz="1875" b="1">
                <a:solidFill>
                  <a:srgbClr val="A82062"/>
                </a:solidFill>
                <a:latin typeface="Arial"/>
                <a:ea typeface="Arial"/>
                <a:cs typeface="Arial"/>
              </a:rPr>
              <a:t>Group insights suggest features; validation decides whether to keep them.</a:t>
            </a:r>
          </a:p>
        </p:txBody>
      </p:sp>
    </p:spTree>
    <p:extLst>
      <p:ext uri="{BB962C8B-B14F-4D97-AF65-F5344CB8AC3E}">
        <p14:creationId xmlns:p14="http://schemas.microsoft.com/office/powerpoint/2010/main" val="310214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图片 50"/>
          <p:cNvPicPr>
            <a:picLocks noChangeAspect="1"/>
          </p:cNvPicPr>
          <p:nvPr/>
        </p:nvPicPr>
        <p:blipFill>
          <a:blip r:embed="rId3"/>
          <a:stretch/>
        </p:blipFill>
        <p:spPr>
          <a:xfrm>
            <a:off x="0" y="0"/>
            <a:ext cx="12192000" cy="6858000"/>
          </a:xfrm>
          <a:prstGeom prst="rect">
            <a:avLst/>
          </a:prstGeom>
        </p:spPr>
      </p:pic>
      <p:sp>
        <p:nvSpPr>
          <p:cNvPr id="2" name="矩形 1">
            <a:extLst>
              <a:ext uri="{FF2B5EF4-FFF2-40B4-BE49-F238E27FC236}">
                <a16:creationId xmlns:a16="http://schemas.microsoft.com/office/drawing/2014/main" id="{E37D2662-E126-4955-973B-DEE7F3E4BA8F}"/>
              </a:ext>
            </a:extLst>
          </p:cNvPr>
          <p:cNvSpPr>
            <a:spLocks noGrp="1"/>
          </p:cNvSpPr>
          <p:nvPr/>
        </p:nvSpPr>
        <p:spPr>
          <a:xfrm>
            <a:off x="609600" y="466725"/>
            <a:ext cx="9239250" cy="238125"/>
          </a:xfrm>
          <a:prstGeom prst="rect">
            <a:avLst/>
          </a:prstGeom>
          <a:noFill/>
          <a:ln w="0">
            <a:noFill/>
          </a:ln>
        </p:spPr>
        <p:txBody>
          <a:bodyPr lIns="0" tIns="0" rIns="0" bIns="0"/>
          <a:lstStyle/>
          <a:p>
            <a:r>
              <a:rPr sz="1275" b="1">
                <a:solidFill>
                  <a:srgbClr val="A82062"/>
                </a:solidFill>
                <a:latin typeface="Arial"/>
                <a:ea typeface="Arial"/>
                <a:cs typeface="Arial"/>
              </a:rPr>
              <a:t>04  /  BDA METHODS</a:t>
            </a:r>
          </a:p>
        </p:txBody>
      </p:sp>
      <p:sp>
        <p:nvSpPr>
          <p:cNvPr id="3" name="矩形 2">
            <a:extLst>
              <a:ext uri="{FF2B5EF4-FFF2-40B4-BE49-F238E27FC236}">
                <a16:creationId xmlns:a16="http://schemas.microsoft.com/office/drawing/2014/main" id="{898D60C4-3179-481C-B454-0924CB9F60E9}"/>
              </a:ext>
            </a:extLst>
          </p:cNvPr>
          <p:cNvSpPr>
            <a:spLocks noGrp="1"/>
          </p:cNvSpPr>
          <p:nvPr/>
        </p:nvSpPr>
        <p:spPr>
          <a:xfrm>
            <a:off x="609600" y="857250"/>
            <a:ext cx="9239250" cy="619125"/>
          </a:xfrm>
          <a:prstGeom prst="rect">
            <a:avLst/>
          </a:prstGeom>
          <a:noFill/>
          <a:ln w="0">
            <a:noFill/>
          </a:ln>
        </p:spPr>
        <p:txBody>
          <a:bodyPr lIns="0" tIns="0" rIns="0" bIns="0"/>
          <a:lstStyle/>
          <a:p>
            <a:r>
              <a:rPr sz="2625" b="1">
                <a:solidFill>
                  <a:srgbClr val="192B40"/>
                </a:solidFill>
                <a:latin typeface="Arial"/>
                <a:ea typeface="Arial"/>
                <a:cs typeface="Arial"/>
              </a:rPr>
              <a:t>One prediction task, two analytical contributions</a:t>
            </a:r>
          </a:p>
        </p:txBody>
      </p:sp>
      <p:sp>
        <p:nvSpPr>
          <p:cNvPr id="4" name="矩形 3">
            <a:extLst>
              <a:ext uri="{FF2B5EF4-FFF2-40B4-BE49-F238E27FC236}">
                <a16:creationId xmlns:a16="http://schemas.microsoft.com/office/drawing/2014/main" id="{3FA392EB-50D7-43E6-917C-C9173BD23933}"/>
              </a:ext>
            </a:extLst>
          </p:cNvPr>
          <p:cNvSpPr>
            <a:spLocks noGrp="1"/>
          </p:cNvSpPr>
          <p:nvPr/>
        </p:nvSpPr>
        <p:spPr>
          <a:xfrm>
            <a:off x="609600" y="1590675"/>
            <a:ext cx="10972800" cy="19050"/>
          </a:xfrm>
          <a:prstGeom prst="rect">
            <a:avLst/>
          </a:prstGeom>
          <a:solidFill>
            <a:srgbClr val="DDE3E9"/>
          </a:solidFill>
          <a:ln w="0">
            <a:noFill/>
          </a:ln>
        </p:spPr>
      </p:sp>
      <p:sp>
        <p:nvSpPr>
          <p:cNvPr id="5" name="矩形 4">
            <a:extLst>
              <a:ext uri="{FF2B5EF4-FFF2-40B4-BE49-F238E27FC236}">
                <a16:creationId xmlns:a16="http://schemas.microsoft.com/office/drawing/2014/main" id="{86DDC8CD-28D2-4B99-BD5B-023DD58E11AB}"/>
              </a:ext>
            </a:extLst>
          </p:cNvPr>
          <p:cNvSpPr>
            <a:spLocks noGrp="1"/>
          </p:cNvSpPr>
          <p:nvPr/>
        </p:nvSpPr>
        <p:spPr>
          <a:xfrm>
            <a:off x="609600" y="6429375"/>
            <a:ext cx="9048750" cy="190500"/>
          </a:xfrm>
          <a:prstGeom prst="rect">
            <a:avLst/>
          </a:prstGeom>
          <a:noFill/>
          <a:ln w="0">
            <a:noFill/>
          </a:ln>
        </p:spPr>
        <p:txBody>
          <a:bodyPr lIns="0" tIns="0" rIns="0" bIns="0"/>
          <a:lstStyle/>
          <a:p>
            <a:r>
              <a:rPr sz="1050" b="0">
                <a:solidFill>
                  <a:srgbClr val="536375"/>
                </a:solidFill>
                <a:latin typeface="Arial"/>
                <a:ea typeface="Arial"/>
                <a:cs typeface="Arial"/>
              </a:rPr>
              <a:t>IS6400  •  Repurchase prediction &amp; customer insights</a:t>
            </a:r>
          </a:p>
        </p:txBody>
      </p:sp>
      <p:sp>
        <p:nvSpPr>
          <p:cNvPr id="6" name="矩形 5">
            <a:extLst>
              <a:ext uri="{FF2B5EF4-FFF2-40B4-BE49-F238E27FC236}">
                <a16:creationId xmlns:a16="http://schemas.microsoft.com/office/drawing/2014/main" id="{76DA3310-8942-410B-91FD-84C896BA6860}"/>
              </a:ext>
            </a:extLst>
          </p:cNvPr>
          <p:cNvSpPr>
            <a:spLocks noGrp="1"/>
          </p:cNvSpPr>
          <p:nvPr/>
        </p:nvSpPr>
        <p:spPr>
          <a:xfrm>
            <a:off x="10906125" y="6429375"/>
            <a:ext cx="666750" cy="190500"/>
          </a:xfrm>
          <a:prstGeom prst="rect">
            <a:avLst/>
          </a:prstGeom>
          <a:noFill/>
          <a:ln w="0">
            <a:noFill/>
          </a:ln>
        </p:spPr>
        <p:txBody>
          <a:bodyPr lIns="0" tIns="0" rIns="0" bIns="0"/>
          <a:lstStyle/>
          <a:p>
            <a:r>
              <a:rPr sz="1050" b="0">
                <a:solidFill>
                  <a:srgbClr val="536375"/>
                </a:solidFill>
                <a:latin typeface="Arial"/>
                <a:ea typeface="Arial"/>
                <a:cs typeface="Arial"/>
              </a:rPr>
              <a:t>4 / 5</a:t>
            </a:r>
          </a:p>
        </p:txBody>
      </p:sp>
      <p:sp>
        <p:nvSpPr>
          <p:cNvPr id="7" name="矩形 6">
            <a:extLst>
              <a:ext uri="{FF2B5EF4-FFF2-40B4-BE49-F238E27FC236}">
                <a16:creationId xmlns:a16="http://schemas.microsoft.com/office/drawing/2014/main" id="{E74432FD-251A-4A56-8B21-352E76202C9A}"/>
              </a:ext>
            </a:extLst>
          </p:cNvPr>
          <p:cNvSpPr>
            <a:spLocks noGrp="1"/>
          </p:cNvSpPr>
          <p:nvPr/>
        </p:nvSpPr>
        <p:spPr>
          <a:xfrm>
            <a:off x="609600" y="1828800"/>
            <a:ext cx="4000500" cy="742950"/>
          </a:xfrm>
          <a:prstGeom prst="rect">
            <a:avLst/>
          </a:prstGeom>
          <a:solidFill>
            <a:srgbClr val="F3F5F7"/>
          </a:solidFill>
          <a:ln w="0">
            <a:noFill/>
          </a:ln>
        </p:spPr>
      </p:sp>
      <p:sp>
        <p:nvSpPr>
          <p:cNvPr id="8" name="矩形 7">
            <a:extLst>
              <a:ext uri="{FF2B5EF4-FFF2-40B4-BE49-F238E27FC236}">
                <a16:creationId xmlns:a16="http://schemas.microsoft.com/office/drawing/2014/main" id="{619C3395-ECC4-48AB-AFDA-9D659509FA95}"/>
              </a:ext>
            </a:extLst>
          </p:cNvPr>
          <p:cNvSpPr>
            <a:spLocks noGrp="1"/>
          </p:cNvSpPr>
          <p:nvPr/>
        </p:nvSpPr>
        <p:spPr>
          <a:xfrm>
            <a:off x="742950" y="1924050"/>
            <a:ext cx="3733800" cy="266700"/>
          </a:xfrm>
          <a:prstGeom prst="rect">
            <a:avLst/>
          </a:prstGeom>
          <a:noFill/>
          <a:ln w="0">
            <a:noFill/>
          </a:ln>
        </p:spPr>
        <p:txBody>
          <a:bodyPr lIns="0" tIns="0" rIns="0" bIns="0"/>
          <a:lstStyle/>
          <a:p>
            <a:r>
              <a:rPr sz="1725" b="1">
                <a:solidFill>
                  <a:srgbClr val="192B40"/>
                </a:solidFill>
                <a:latin typeface="Arial"/>
                <a:ea typeface="Arial"/>
                <a:cs typeface="Arial"/>
              </a:rPr>
              <a:t>Overall EDA</a:t>
            </a:r>
          </a:p>
        </p:txBody>
      </p:sp>
      <p:sp>
        <p:nvSpPr>
          <p:cNvPr id="9" name="矩形 8">
            <a:extLst>
              <a:ext uri="{FF2B5EF4-FFF2-40B4-BE49-F238E27FC236}">
                <a16:creationId xmlns:a16="http://schemas.microsoft.com/office/drawing/2014/main" id="{97E0D1EB-62A9-4D54-9E11-60BC4EFC5C56}"/>
              </a:ext>
            </a:extLst>
          </p:cNvPr>
          <p:cNvSpPr>
            <a:spLocks noGrp="1"/>
          </p:cNvSpPr>
          <p:nvPr/>
        </p:nvSpPr>
        <p:spPr>
          <a:xfrm>
            <a:off x="742950" y="2238375"/>
            <a:ext cx="3733800" cy="304800"/>
          </a:xfrm>
          <a:prstGeom prst="rect">
            <a:avLst/>
          </a:prstGeom>
          <a:noFill/>
          <a:ln w="0">
            <a:noFill/>
          </a:ln>
        </p:spPr>
        <p:txBody>
          <a:bodyPr lIns="0" tIns="0" rIns="0" bIns="0"/>
          <a:lstStyle/>
          <a:p>
            <a:r>
              <a:rPr sz="1350" b="0">
                <a:solidFill>
                  <a:srgbClr val="536375"/>
                </a:solidFill>
                <a:latin typeface="Arial"/>
                <a:ea typeface="Arial"/>
                <a:cs typeface="Arial"/>
              </a:rPr>
              <a:t>Statistics • Distributions • Relationships</a:t>
            </a:r>
          </a:p>
        </p:txBody>
      </p:sp>
      <p:sp>
        <p:nvSpPr>
          <p:cNvPr id="10" name="矩形 9">
            <a:extLst>
              <a:ext uri="{FF2B5EF4-FFF2-40B4-BE49-F238E27FC236}">
                <a16:creationId xmlns:a16="http://schemas.microsoft.com/office/drawing/2014/main" id="{B95E2380-E5C6-4CC4-A5EB-78BC4ECC1938}"/>
              </a:ext>
            </a:extLst>
          </p:cNvPr>
          <p:cNvSpPr>
            <a:spLocks noGrp="1"/>
          </p:cNvSpPr>
          <p:nvPr/>
        </p:nvSpPr>
        <p:spPr>
          <a:xfrm>
            <a:off x="5753100" y="1828800"/>
            <a:ext cx="4953000" cy="742950"/>
          </a:xfrm>
          <a:prstGeom prst="rect">
            <a:avLst/>
          </a:prstGeom>
          <a:solidFill>
            <a:srgbClr val="F8F0F4"/>
          </a:solidFill>
          <a:ln w="0">
            <a:noFill/>
          </a:ln>
        </p:spPr>
      </p:sp>
      <p:sp>
        <p:nvSpPr>
          <p:cNvPr id="11" name="矩形 10">
            <a:extLst>
              <a:ext uri="{FF2B5EF4-FFF2-40B4-BE49-F238E27FC236}">
                <a16:creationId xmlns:a16="http://schemas.microsoft.com/office/drawing/2014/main" id="{504FEBAF-6A9E-4B7F-B8DC-32C34A8C5A1A}"/>
              </a:ext>
            </a:extLst>
          </p:cNvPr>
          <p:cNvSpPr>
            <a:spLocks noGrp="1"/>
          </p:cNvSpPr>
          <p:nvPr/>
        </p:nvSpPr>
        <p:spPr>
          <a:xfrm>
            <a:off x="5886450" y="1924050"/>
            <a:ext cx="4686300" cy="266700"/>
          </a:xfrm>
          <a:prstGeom prst="rect">
            <a:avLst/>
          </a:prstGeom>
          <a:noFill/>
          <a:ln w="0">
            <a:noFill/>
          </a:ln>
        </p:spPr>
        <p:txBody>
          <a:bodyPr lIns="0" tIns="0" rIns="0" bIns="0"/>
          <a:lstStyle/>
          <a:p>
            <a:r>
              <a:rPr sz="1725" b="1">
                <a:solidFill>
                  <a:srgbClr val="192B40"/>
                </a:solidFill>
                <a:latin typeface="Arial"/>
                <a:ea typeface="Arial"/>
                <a:cs typeface="Arial"/>
              </a:rPr>
              <a:t>Feature engineering</a:t>
            </a:r>
          </a:p>
        </p:txBody>
      </p:sp>
      <p:sp>
        <p:nvSpPr>
          <p:cNvPr id="12" name="矩形 11">
            <a:extLst>
              <a:ext uri="{FF2B5EF4-FFF2-40B4-BE49-F238E27FC236}">
                <a16:creationId xmlns:a16="http://schemas.microsoft.com/office/drawing/2014/main" id="{B5B529B8-652C-40CD-8F1A-0AB0F8CE12BB}"/>
              </a:ext>
            </a:extLst>
          </p:cNvPr>
          <p:cNvSpPr>
            <a:spLocks noGrp="1"/>
          </p:cNvSpPr>
          <p:nvPr/>
        </p:nvSpPr>
        <p:spPr>
          <a:xfrm>
            <a:off x="5886450" y="2238375"/>
            <a:ext cx="4686300" cy="304800"/>
          </a:xfrm>
          <a:prstGeom prst="rect">
            <a:avLst/>
          </a:prstGeom>
          <a:noFill/>
          <a:ln w="0">
            <a:noFill/>
          </a:ln>
        </p:spPr>
        <p:txBody>
          <a:bodyPr lIns="0" tIns="0" rIns="0" bIns="0"/>
          <a:lstStyle/>
          <a:p>
            <a:r>
              <a:rPr sz="1350" b="0">
                <a:solidFill>
                  <a:srgbClr val="536375"/>
                </a:solidFill>
                <a:latin typeface="Arial"/>
                <a:ea typeface="Arial"/>
                <a:cs typeface="Arial"/>
              </a:rPr>
              <a:t>Customer-level, pre-prediction inputs</a:t>
            </a:r>
          </a:p>
        </p:txBody>
      </p:sp>
      <p:sp>
        <p:nvSpPr>
          <p:cNvPr id="13" name="箭头: 右 12">
            <a:extLst>
              <a:ext uri="{FF2B5EF4-FFF2-40B4-BE49-F238E27FC236}">
                <a16:creationId xmlns:a16="http://schemas.microsoft.com/office/drawing/2014/main" id="{8C7DDD62-1340-42F5-BB16-758A67A564EC}"/>
              </a:ext>
            </a:extLst>
          </p:cNvPr>
          <p:cNvSpPr>
            <a:spLocks noGrp="1"/>
          </p:cNvSpPr>
          <p:nvPr/>
        </p:nvSpPr>
        <p:spPr>
          <a:xfrm>
            <a:off x="4781550" y="2105025"/>
            <a:ext cx="771525" cy="171450"/>
          </a:xfrm>
          <a:prstGeom prst="rightArrow">
            <a:avLst/>
          </a:prstGeom>
          <a:solidFill>
            <a:srgbClr val="536375"/>
          </a:solidFill>
          <a:ln w="0">
            <a:noFill/>
          </a:ln>
        </p:spPr>
      </p:sp>
      <p:sp>
        <p:nvSpPr>
          <p:cNvPr id="14" name="矩形 13">
            <a:extLst>
              <a:ext uri="{FF2B5EF4-FFF2-40B4-BE49-F238E27FC236}">
                <a16:creationId xmlns:a16="http://schemas.microsoft.com/office/drawing/2014/main" id="{66FECBD5-56AD-43A8-B4CB-7CAE4045A45E}"/>
              </a:ext>
            </a:extLst>
          </p:cNvPr>
          <p:cNvSpPr>
            <a:spLocks noGrp="1"/>
          </p:cNvSpPr>
          <p:nvPr/>
        </p:nvSpPr>
        <p:spPr>
          <a:xfrm>
            <a:off x="8210550" y="2571750"/>
            <a:ext cx="19050" cy="304800"/>
          </a:xfrm>
          <a:prstGeom prst="rect">
            <a:avLst/>
          </a:prstGeom>
          <a:solidFill>
            <a:srgbClr val="536375"/>
          </a:solidFill>
          <a:ln w="0">
            <a:noFill/>
          </a:ln>
        </p:spPr>
      </p:sp>
      <p:sp>
        <p:nvSpPr>
          <p:cNvPr id="15" name="矩形 14">
            <a:extLst>
              <a:ext uri="{FF2B5EF4-FFF2-40B4-BE49-F238E27FC236}">
                <a16:creationId xmlns:a16="http://schemas.microsoft.com/office/drawing/2014/main" id="{A8F3CD86-45B3-4323-887B-A2F056F838E3}"/>
              </a:ext>
            </a:extLst>
          </p:cNvPr>
          <p:cNvSpPr>
            <a:spLocks noGrp="1"/>
          </p:cNvSpPr>
          <p:nvPr/>
        </p:nvSpPr>
        <p:spPr>
          <a:xfrm>
            <a:off x="2743200" y="2857500"/>
            <a:ext cx="6076950" cy="19050"/>
          </a:xfrm>
          <a:prstGeom prst="rect">
            <a:avLst/>
          </a:prstGeom>
          <a:solidFill>
            <a:srgbClr val="536375"/>
          </a:solidFill>
          <a:ln w="0">
            <a:noFill/>
          </a:ln>
        </p:spPr>
      </p:sp>
      <p:sp>
        <p:nvSpPr>
          <p:cNvPr id="16" name="箭头: 下 15">
            <a:extLst>
              <a:ext uri="{FF2B5EF4-FFF2-40B4-BE49-F238E27FC236}">
                <a16:creationId xmlns:a16="http://schemas.microsoft.com/office/drawing/2014/main" id="{EF13821F-68F3-459F-8D9F-DE7210DDE1FC}"/>
              </a:ext>
            </a:extLst>
          </p:cNvPr>
          <p:cNvSpPr>
            <a:spLocks noGrp="1"/>
          </p:cNvSpPr>
          <p:nvPr/>
        </p:nvSpPr>
        <p:spPr>
          <a:xfrm>
            <a:off x="2667000" y="2876550"/>
            <a:ext cx="171450" cy="228600"/>
          </a:xfrm>
          <a:prstGeom prst="downArrow">
            <a:avLst/>
          </a:prstGeom>
          <a:solidFill>
            <a:srgbClr val="536375"/>
          </a:solidFill>
          <a:ln w="0">
            <a:noFill/>
          </a:ln>
        </p:spPr>
      </p:sp>
      <p:sp>
        <p:nvSpPr>
          <p:cNvPr id="17" name="箭头: 下 16">
            <a:extLst>
              <a:ext uri="{FF2B5EF4-FFF2-40B4-BE49-F238E27FC236}">
                <a16:creationId xmlns:a16="http://schemas.microsoft.com/office/drawing/2014/main" id="{359D8B12-E28A-4FE3-816A-9F94BDE78660}"/>
              </a:ext>
            </a:extLst>
          </p:cNvPr>
          <p:cNvSpPr>
            <a:spLocks noGrp="1"/>
          </p:cNvSpPr>
          <p:nvPr/>
        </p:nvSpPr>
        <p:spPr>
          <a:xfrm>
            <a:off x="8734425" y="2876550"/>
            <a:ext cx="171450" cy="228600"/>
          </a:xfrm>
          <a:prstGeom prst="downArrow">
            <a:avLst/>
          </a:prstGeom>
          <a:solidFill>
            <a:srgbClr val="536375"/>
          </a:solidFill>
          <a:ln w="0">
            <a:noFill/>
          </a:ln>
        </p:spPr>
      </p:sp>
      <p:sp>
        <p:nvSpPr>
          <p:cNvPr id="18" name="矩形 17">
            <a:extLst>
              <a:ext uri="{FF2B5EF4-FFF2-40B4-BE49-F238E27FC236}">
                <a16:creationId xmlns:a16="http://schemas.microsoft.com/office/drawing/2014/main" id="{369A6078-7C7C-4580-B26E-40920DED0AA5}"/>
              </a:ext>
            </a:extLst>
          </p:cNvPr>
          <p:cNvSpPr>
            <a:spLocks noGrp="1"/>
          </p:cNvSpPr>
          <p:nvPr/>
        </p:nvSpPr>
        <p:spPr>
          <a:xfrm>
            <a:off x="609600" y="3143250"/>
            <a:ext cx="4286250" cy="781050"/>
          </a:xfrm>
          <a:prstGeom prst="rect">
            <a:avLst/>
          </a:prstGeom>
          <a:solidFill>
            <a:srgbClr val="F3F5F7"/>
          </a:solidFill>
          <a:ln w="0">
            <a:noFill/>
          </a:ln>
        </p:spPr>
      </p:sp>
      <p:sp>
        <p:nvSpPr>
          <p:cNvPr id="19" name="矩形 18">
            <a:extLst>
              <a:ext uri="{FF2B5EF4-FFF2-40B4-BE49-F238E27FC236}">
                <a16:creationId xmlns:a16="http://schemas.microsoft.com/office/drawing/2014/main" id="{41B0B842-2019-4658-A8B8-1D4442FF1524}"/>
              </a:ext>
            </a:extLst>
          </p:cNvPr>
          <p:cNvSpPr>
            <a:spLocks noGrp="1"/>
          </p:cNvSpPr>
          <p:nvPr/>
        </p:nvSpPr>
        <p:spPr>
          <a:xfrm>
            <a:off x="742950" y="3238500"/>
            <a:ext cx="4019550" cy="266700"/>
          </a:xfrm>
          <a:prstGeom prst="rect">
            <a:avLst/>
          </a:prstGeom>
          <a:noFill/>
          <a:ln w="0">
            <a:noFill/>
          </a:ln>
        </p:spPr>
        <p:txBody>
          <a:bodyPr lIns="0" tIns="0" rIns="0" bIns="0"/>
          <a:lstStyle/>
          <a:p>
            <a:r>
              <a:rPr sz="1725" b="1">
                <a:solidFill>
                  <a:srgbClr val="192B40"/>
                </a:solidFill>
                <a:latin typeface="Arial"/>
                <a:ea typeface="Arial"/>
                <a:cs typeface="Arial"/>
              </a:rPr>
              <a:t>Main: classification models</a:t>
            </a:r>
          </a:p>
        </p:txBody>
      </p:sp>
      <p:sp>
        <p:nvSpPr>
          <p:cNvPr id="20" name="矩形 19">
            <a:extLst>
              <a:ext uri="{FF2B5EF4-FFF2-40B4-BE49-F238E27FC236}">
                <a16:creationId xmlns:a16="http://schemas.microsoft.com/office/drawing/2014/main" id="{E906B1D5-B6D2-4554-84E8-D3E4465BB124}"/>
              </a:ext>
            </a:extLst>
          </p:cNvPr>
          <p:cNvSpPr>
            <a:spLocks noGrp="1"/>
          </p:cNvSpPr>
          <p:nvPr/>
        </p:nvSpPr>
        <p:spPr>
          <a:xfrm>
            <a:off x="742950" y="3552825"/>
            <a:ext cx="4019550" cy="342900"/>
          </a:xfrm>
          <a:prstGeom prst="rect">
            <a:avLst/>
          </a:prstGeom>
          <a:noFill/>
          <a:ln w="0">
            <a:noFill/>
          </a:ln>
        </p:spPr>
        <p:txBody>
          <a:bodyPr lIns="0" tIns="0" rIns="0" bIns="0"/>
          <a:lstStyle/>
          <a:p>
            <a:r>
              <a:rPr sz="1350" b="0">
                <a:solidFill>
                  <a:srgbClr val="536375"/>
                </a:solidFill>
                <a:latin typeface="Arial"/>
                <a:ea typeface="Arial"/>
                <a:cs typeface="Arial"/>
              </a:rPr>
              <a:t>Logistic regression • RF • CatBoost</a:t>
            </a:r>
          </a:p>
        </p:txBody>
      </p:sp>
      <p:sp>
        <p:nvSpPr>
          <p:cNvPr id="21" name="矩形 20">
            <a:extLst>
              <a:ext uri="{FF2B5EF4-FFF2-40B4-BE49-F238E27FC236}">
                <a16:creationId xmlns:a16="http://schemas.microsoft.com/office/drawing/2014/main" id="{69403157-74F7-4BBE-98AF-0C76FBD257CB}"/>
              </a:ext>
            </a:extLst>
          </p:cNvPr>
          <p:cNvSpPr>
            <a:spLocks noGrp="1"/>
          </p:cNvSpPr>
          <p:nvPr/>
        </p:nvSpPr>
        <p:spPr>
          <a:xfrm>
            <a:off x="6667500" y="3143250"/>
            <a:ext cx="4286250" cy="781050"/>
          </a:xfrm>
          <a:prstGeom prst="rect">
            <a:avLst/>
          </a:prstGeom>
          <a:solidFill>
            <a:srgbClr val="F8F0F4"/>
          </a:solidFill>
          <a:ln w="0">
            <a:noFill/>
          </a:ln>
        </p:spPr>
      </p:sp>
      <p:sp>
        <p:nvSpPr>
          <p:cNvPr id="22" name="矩形 21">
            <a:extLst>
              <a:ext uri="{FF2B5EF4-FFF2-40B4-BE49-F238E27FC236}">
                <a16:creationId xmlns:a16="http://schemas.microsoft.com/office/drawing/2014/main" id="{2AA11F8E-BA17-4265-B1B6-24A0D6BDA19D}"/>
              </a:ext>
            </a:extLst>
          </p:cNvPr>
          <p:cNvSpPr>
            <a:spLocks noGrp="1"/>
          </p:cNvSpPr>
          <p:nvPr/>
        </p:nvSpPr>
        <p:spPr>
          <a:xfrm>
            <a:off x="6800850" y="3238500"/>
            <a:ext cx="4019550" cy="266700"/>
          </a:xfrm>
          <a:prstGeom prst="rect">
            <a:avLst/>
          </a:prstGeom>
          <a:noFill/>
          <a:ln w="0">
            <a:noFill/>
          </a:ln>
        </p:spPr>
        <p:txBody>
          <a:bodyPr lIns="0" tIns="0" rIns="0" bIns="0"/>
          <a:lstStyle/>
          <a:p>
            <a:r>
              <a:rPr sz="1725" b="1">
                <a:solidFill>
                  <a:srgbClr val="192B40"/>
                </a:solidFill>
                <a:latin typeface="Arial"/>
                <a:ea typeface="Arial"/>
                <a:cs typeface="Arial"/>
              </a:rPr>
              <a:t>Supporting: cluster all customers</a:t>
            </a:r>
          </a:p>
        </p:txBody>
      </p:sp>
      <p:sp>
        <p:nvSpPr>
          <p:cNvPr id="23" name="矩形 22">
            <a:extLst>
              <a:ext uri="{FF2B5EF4-FFF2-40B4-BE49-F238E27FC236}">
                <a16:creationId xmlns:a16="http://schemas.microsoft.com/office/drawing/2014/main" id="{0D67C759-51BD-4331-9DE3-2CAB0C48C29F}"/>
              </a:ext>
            </a:extLst>
          </p:cNvPr>
          <p:cNvSpPr>
            <a:spLocks noGrp="1"/>
          </p:cNvSpPr>
          <p:nvPr/>
        </p:nvSpPr>
        <p:spPr>
          <a:xfrm>
            <a:off x="6800850" y="3552825"/>
            <a:ext cx="4019550" cy="342900"/>
          </a:xfrm>
          <a:prstGeom prst="rect">
            <a:avLst/>
          </a:prstGeom>
          <a:noFill/>
          <a:ln w="0">
            <a:noFill/>
          </a:ln>
        </p:spPr>
        <p:txBody>
          <a:bodyPr lIns="0" tIns="0" rIns="0" bIns="0"/>
          <a:lstStyle/>
          <a:p>
            <a:r>
              <a:rPr sz="1350" b="0">
                <a:solidFill>
                  <a:srgbClr val="536375"/>
                </a:solidFill>
                <a:latin typeface="Arial"/>
                <a:ea typeface="Arial"/>
                <a:cs typeface="Arial"/>
              </a:rPr>
              <a:t>All eligible types; fit on development data</a:t>
            </a:r>
          </a:p>
        </p:txBody>
      </p:sp>
      <p:sp>
        <p:nvSpPr>
          <p:cNvPr id="24" name="箭头: 下 23">
            <a:extLst>
              <a:ext uri="{FF2B5EF4-FFF2-40B4-BE49-F238E27FC236}">
                <a16:creationId xmlns:a16="http://schemas.microsoft.com/office/drawing/2014/main" id="{C845DDAE-1DEA-4198-8F3E-C606F837C449}"/>
              </a:ext>
            </a:extLst>
          </p:cNvPr>
          <p:cNvSpPr>
            <a:spLocks noGrp="1"/>
          </p:cNvSpPr>
          <p:nvPr/>
        </p:nvSpPr>
        <p:spPr>
          <a:xfrm>
            <a:off x="2667000" y="3962400"/>
            <a:ext cx="171450" cy="247650"/>
          </a:xfrm>
          <a:prstGeom prst="downArrow">
            <a:avLst/>
          </a:prstGeom>
          <a:solidFill>
            <a:srgbClr val="536375"/>
          </a:solidFill>
          <a:ln w="0">
            <a:noFill/>
          </a:ln>
        </p:spPr>
      </p:sp>
      <p:sp>
        <p:nvSpPr>
          <p:cNvPr id="25" name="箭头: 下 24">
            <a:extLst>
              <a:ext uri="{FF2B5EF4-FFF2-40B4-BE49-F238E27FC236}">
                <a16:creationId xmlns:a16="http://schemas.microsoft.com/office/drawing/2014/main" id="{2EAED11C-A92D-4835-B14F-984C5F94518A}"/>
              </a:ext>
            </a:extLst>
          </p:cNvPr>
          <p:cNvSpPr>
            <a:spLocks noGrp="1"/>
          </p:cNvSpPr>
          <p:nvPr/>
        </p:nvSpPr>
        <p:spPr>
          <a:xfrm>
            <a:off x="8734425" y="3962400"/>
            <a:ext cx="171450" cy="247650"/>
          </a:xfrm>
          <a:prstGeom prst="downArrow">
            <a:avLst/>
          </a:prstGeom>
          <a:solidFill>
            <a:srgbClr val="536375"/>
          </a:solidFill>
          <a:ln w="0">
            <a:noFill/>
          </a:ln>
        </p:spPr>
      </p:sp>
      <p:sp>
        <p:nvSpPr>
          <p:cNvPr id="26" name="矩形 25">
            <a:extLst>
              <a:ext uri="{FF2B5EF4-FFF2-40B4-BE49-F238E27FC236}">
                <a16:creationId xmlns:a16="http://schemas.microsoft.com/office/drawing/2014/main" id="{B55CD7C1-9CC6-4688-9AF2-4805045F5CBD}"/>
              </a:ext>
            </a:extLst>
          </p:cNvPr>
          <p:cNvSpPr>
            <a:spLocks noGrp="1"/>
          </p:cNvSpPr>
          <p:nvPr/>
        </p:nvSpPr>
        <p:spPr>
          <a:xfrm>
            <a:off x="609600" y="4248150"/>
            <a:ext cx="4286250" cy="781050"/>
          </a:xfrm>
          <a:prstGeom prst="rect">
            <a:avLst/>
          </a:prstGeom>
          <a:solidFill>
            <a:srgbClr val="F3F5F7"/>
          </a:solidFill>
          <a:ln w="0">
            <a:noFill/>
          </a:ln>
        </p:spPr>
      </p:sp>
      <p:sp>
        <p:nvSpPr>
          <p:cNvPr id="27" name="矩形 26">
            <a:extLst>
              <a:ext uri="{FF2B5EF4-FFF2-40B4-BE49-F238E27FC236}">
                <a16:creationId xmlns:a16="http://schemas.microsoft.com/office/drawing/2014/main" id="{81C5F055-0D2D-4D1D-913E-7D45CBCF76C2}"/>
              </a:ext>
            </a:extLst>
          </p:cNvPr>
          <p:cNvSpPr>
            <a:spLocks noGrp="1"/>
          </p:cNvSpPr>
          <p:nvPr/>
        </p:nvSpPr>
        <p:spPr>
          <a:xfrm>
            <a:off x="742950" y="4343400"/>
            <a:ext cx="4019550" cy="266700"/>
          </a:xfrm>
          <a:prstGeom prst="rect">
            <a:avLst/>
          </a:prstGeom>
          <a:noFill/>
          <a:ln w="0">
            <a:noFill/>
          </a:ln>
        </p:spPr>
        <p:txBody>
          <a:bodyPr lIns="0" tIns="0" rIns="0" bIns="0"/>
          <a:lstStyle/>
          <a:p>
            <a:r>
              <a:rPr sz="1725" b="1">
                <a:solidFill>
                  <a:srgbClr val="192B40"/>
                </a:solidFill>
                <a:latin typeface="Arial"/>
                <a:ea typeface="Arial"/>
                <a:cs typeface="Arial"/>
              </a:rPr>
              <a:t>Validate and compare</a:t>
            </a:r>
          </a:p>
        </p:txBody>
      </p:sp>
      <p:sp>
        <p:nvSpPr>
          <p:cNvPr id="28" name="矩形 27">
            <a:extLst>
              <a:ext uri="{FF2B5EF4-FFF2-40B4-BE49-F238E27FC236}">
                <a16:creationId xmlns:a16="http://schemas.microsoft.com/office/drawing/2014/main" id="{1EF6F282-E81E-4C10-8F8D-151C06264BAB}"/>
              </a:ext>
            </a:extLst>
          </p:cNvPr>
          <p:cNvSpPr>
            <a:spLocks noGrp="1"/>
          </p:cNvSpPr>
          <p:nvPr/>
        </p:nvSpPr>
        <p:spPr>
          <a:xfrm>
            <a:off x="742950" y="4657725"/>
            <a:ext cx="4019550" cy="342900"/>
          </a:xfrm>
          <a:prstGeom prst="rect">
            <a:avLst/>
          </a:prstGeom>
          <a:noFill/>
          <a:ln w="0">
            <a:noFill/>
          </a:ln>
        </p:spPr>
        <p:txBody>
          <a:bodyPr lIns="0" tIns="0" rIns="0" bIns="0"/>
          <a:lstStyle/>
          <a:p>
            <a:r>
              <a:rPr sz="1350" b="0">
                <a:solidFill>
                  <a:srgbClr val="536375"/>
                </a:solidFill>
                <a:latin typeface="Arial"/>
                <a:ea typeface="Arial"/>
                <a:cs typeface="Arial"/>
              </a:rPr>
              <a:t>AP • ROC-AUC • Precision / Recall@10%</a:t>
            </a:r>
          </a:p>
        </p:txBody>
      </p:sp>
      <p:sp>
        <p:nvSpPr>
          <p:cNvPr id="29" name="矩形 28">
            <a:extLst>
              <a:ext uri="{FF2B5EF4-FFF2-40B4-BE49-F238E27FC236}">
                <a16:creationId xmlns:a16="http://schemas.microsoft.com/office/drawing/2014/main" id="{157B2879-40FB-424F-BA19-5F7EF31B5EEA}"/>
              </a:ext>
            </a:extLst>
          </p:cNvPr>
          <p:cNvSpPr>
            <a:spLocks noGrp="1"/>
          </p:cNvSpPr>
          <p:nvPr/>
        </p:nvSpPr>
        <p:spPr>
          <a:xfrm>
            <a:off x="6667500" y="4248150"/>
            <a:ext cx="4286250" cy="781050"/>
          </a:xfrm>
          <a:prstGeom prst="rect">
            <a:avLst/>
          </a:prstGeom>
          <a:solidFill>
            <a:srgbClr val="F8F0F4"/>
          </a:solidFill>
          <a:ln w="0">
            <a:noFill/>
          </a:ln>
        </p:spPr>
      </p:sp>
      <p:sp>
        <p:nvSpPr>
          <p:cNvPr id="30" name="矩形 29">
            <a:extLst>
              <a:ext uri="{FF2B5EF4-FFF2-40B4-BE49-F238E27FC236}">
                <a16:creationId xmlns:a16="http://schemas.microsoft.com/office/drawing/2014/main" id="{B3162D9D-82B8-4007-B007-7B7B2A614A6F}"/>
              </a:ext>
            </a:extLst>
          </p:cNvPr>
          <p:cNvSpPr>
            <a:spLocks noGrp="1"/>
          </p:cNvSpPr>
          <p:nvPr/>
        </p:nvSpPr>
        <p:spPr>
          <a:xfrm>
            <a:off x="6800850" y="4343400"/>
            <a:ext cx="4019550" cy="266700"/>
          </a:xfrm>
          <a:prstGeom prst="rect">
            <a:avLst/>
          </a:prstGeom>
          <a:noFill/>
          <a:ln w="0">
            <a:noFill/>
          </a:ln>
        </p:spPr>
        <p:txBody>
          <a:bodyPr lIns="0" tIns="0" rIns="0" bIns="0"/>
          <a:lstStyle/>
          <a:p>
            <a:r>
              <a:rPr sz="1725" b="1">
                <a:solidFill>
                  <a:srgbClr val="192B40"/>
                </a:solidFill>
                <a:latin typeface="Arial"/>
                <a:ea typeface="Arial"/>
                <a:cs typeface="Arial"/>
              </a:rPr>
              <a:t>EDA within each group</a:t>
            </a:r>
          </a:p>
        </p:txBody>
      </p:sp>
      <p:sp>
        <p:nvSpPr>
          <p:cNvPr id="31" name="矩形 30">
            <a:extLst>
              <a:ext uri="{FF2B5EF4-FFF2-40B4-BE49-F238E27FC236}">
                <a16:creationId xmlns:a16="http://schemas.microsoft.com/office/drawing/2014/main" id="{44A7E15A-1A9A-42B8-AB87-773FFC495204}"/>
              </a:ext>
            </a:extLst>
          </p:cNvPr>
          <p:cNvSpPr>
            <a:spLocks noGrp="1"/>
          </p:cNvSpPr>
          <p:nvPr/>
        </p:nvSpPr>
        <p:spPr>
          <a:xfrm>
            <a:off x="6800850" y="4657725"/>
            <a:ext cx="4019550" cy="342900"/>
          </a:xfrm>
          <a:prstGeom prst="rect">
            <a:avLst/>
          </a:prstGeom>
          <a:noFill/>
          <a:ln w="0">
            <a:noFill/>
          </a:ln>
        </p:spPr>
        <p:txBody>
          <a:bodyPr lIns="0" tIns="0" rIns="0" bIns="0"/>
          <a:lstStyle/>
          <a:p>
            <a:r>
              <a:rPr sz="1350" b="0">
                <a:solidFill>
                  <a:srgbClr val="536375"/>
                </a:solidFill>
                <a:latin typeface="Arial"/>
                <a:ea typeface="Arial"/>
                <a:cs typeface="Arial"/>
              </a:rPr>
              <a:t>Behaviour, repurchase and model errors</a:t>
            </a:r>
          </a:p>
        </p:txBody>
      </p:sp>
      <p:sp>
        <p:nvSpPr>
          <p:cNvPr id="32" name="矩形 31">
            <a:extLst>
              <a:ext uri="{FF2B5EF4-FFF2-40B4-BE49-F238E27FC236}">
                <a16:creationId xmlns:a16="http://schemas.microsoft.com/office/drawing/2014/main" id="{95013310-81F8-4A5D-B40D-3B1F9E8014EF}"/>
              </a:ext>
            </a:extLst>
          </p:cNvPr>
          <p:cNvSpPr>
            <a:spLocks noGrp="1"/>
          </p:cNvSpPr>
          <p:nvPr/>
        </p:nvSpPr>
        <p:spPr>
          <a:xfrm>
            <a:off x="5105400" y="4314825"/>
            <a:ext cx="1371600" cy="219075"/>
          </a:xfrm>
          <a:prstGeom prst="rect">
            <a:avLst/>
          </a:prstGeom>
          <a:noFill/>
          <a:ln w="0">
            <a:noFill/>
          </a:ln>
        </p:spPr>
        <p:txBody>
          <a:bodyPr lIns="0" tIns="0" rIns="0" bIns="0"/>
          <a:lstStyle/>
          <a:p>
            <a:r>
              <a:rPr sz="1200" b="0">
                <a:solidFill>
                  <a:srgbClr val="536375"/>
                </a:solidFill>
                <a:latin typeface="Arial"/>
                <a:ea typeface="Arial"/>
                <a:cs typeface="Arial"/>
              </a:rPr>
              <a:t>Group errors</a:t>
            </a:r>
          </a:p>
        </p:txBody>
      </p:sp>
      <p:sp>
        <p:nvSpPr>
          <p:cNvPr id="33" name="箭头: 右 32">
            <a:extLst>
              <a:ext uri="{FF2B5EF4-FFF2-40B4-BE49-F238E27FC236}">
                <a16:creationId xmlns:a16="http://schemas.microsoft.com/office/drawing/2014/main" id="{02D1AD98-56F6-4F57-8144-1947F9523F8F}"/>
              </a:ext>
            </a:extLst>
          </p:cNvPr>
          <p:cNvSpPr>
            <a:spLocks noGrp="1"/>
          </p:cNvSpPr>
          <p:nvPr/>
        </p:nvSpPr>
        <p:spPr>
          <a:xfrm>
            <a:off x="5105400" y="4638675"/>
            <a:ext cx="1371600" cy="142875"/>
          </a:xfrm>
          <a:prstGeom prst="rightArrow">
            <a:avLst/>
          </a:prstGeom>
          <a:solidFill>
            <a:srgbClr val="536375"/>
          </a:solidFill>
          <a:ln w="0">
            <a:noFill/>
          </a:ln>
        </p:spPr>
      </p:sp>
      <p:sp>
        <p:nvSpPr>
          <p:cNvPr id="34" name="矩形 33">
            <a:extLst>
              <a:ext uri="{FF2B5EF4-FFF2-40B4-BE49-F238E27FC236}">
                <a16:creationId xmlns:a16="http://schemas.microsoft.com/office/drawing/2014/main" id="{EA0D2AEF-77B3-4DF7-874B-A317D7D64FE8}"/>
              </a:ext>
            </a:extLst>
          </p:cNvPr>
          <p:cNvSpPr>
            <a:spLocks noGrp="1"/>
          </p:cNvSpPr>
          <p:nvPr/>
        </p:nvSpPr>
        <p:spPr>
          <a:xfrm>
            <a:off x="10953750" y="4610100"/>
            <a:ext cx="666750" cy="19050"/>
          </a:xfrm>
          <a:prstGeom prst="rect">
            <a:avLst/>
          </a:prstGeom>
          <a:solidFill>
            <a:srgbClr val="A82062"/>
          </a:solidFill>
          <a:ln w="0">
            <a:noFill/>
          </a:ln>
        </p:spPr>
      </p:sp>
      <p:sp>
        <p:nvSpPr>
          <p:cNvPr id="35" name="矩形 34">
            <a:extLst>
              <a:ext uri="{FF2B5EF4-FFF2-40B4-BE49-F238E27FC236}">
                <a16:creationId xmlns:a16="http://schemas.microsoft.com/office/drawing/2014/main" id="{8EBB7718-1940-48FB-9B55-B6FA5587318B}"/>
              </a:ext>
            </a:extLst>
          </p:cNvPr>
          <p:cNvSpPr>
            <a:spLocks noGrp="1"/>
          </p:cNvSpPr>
          <p:nvPr/>
        </p:nvSpPr>
        <p:spPr>
          <a:xfrm>
            <a:off x="11601450" y="2190750"/>
            <a:ext cx="19050" cy="2438400"/>
          </a:xfrm>
          <a:prstGeom prst="rect">
            <a:avLst/>
          </a:prstGeom>
          <a:solidFill>
            <a:srgbClr val="A82062"/>
          </a:solidFill>
          <a:ln w="0">
            <a:noFill/>
          </a:ln>
        </p:spPr>
      </p:sp>
      <p:sp>
        <p:nvSpPr>
          <p:cNvPr id="36" name="矩形 35">
            <a:extLst>
              <a:ext uri="{FF2B5EF4-FFF2-40B4-BE49-F238E27FC236}">
                <a16:creationId xmlns:a16="http://schemas.microsoft.com/office/drawing/2014/main" id="{4DE6EF75-403D-40A1-BFB7-626ED5B1B4BF}"/>
              </a:ext>
            </a:extLst>
          </p:cNvPr>
          <p:cNvSpPr>
            <a:spLocks noGrp="1"/>
          </p:cNvSpPr>
          <p:nvPr/>
        </p:nvSpPr>
        <p:spPr>
          <a:xfrm>
            <a:off x="10896600" y="2190750"/>
            <a:ext cx="723900" cy="19050"/>
          </a:xfrm>
          <a:prstGeom prst="rect">
            <a:avLst/>
          </a:prstGeom>
          <a:solidFill>
            <a:srgbClr val="A82062"/>
          </a:solidFill>
          <a:ln w="0">
            <a:noFill/>
          </a:ln>
        </p:spPr>
      </p:sp>
      <p:sp>
        <p:nvSpPr>
          <p:cNvPr id="37" name="箭头: 左 36">
            <a:extLst>
              <a:ext uri="{FF2B5EF4-FFF2-40B4-BE49-F238E27FC236}">
                <a16:creationId xmlns:a16="http://schemas.microsoft.com/office/drawing/2014/main" id="{93464162-340F-430C-B68E-DBC47393BB0C}"/>
              </a:ext>
            </a:extLst>
          </p:cNvPr>
          <p:cNvSpPr>
            <a:spLocks noGrp="1"/>
          </p:cNvSpPr>
          <p:nvPr/>
        </p:nvSpPr>
        <p:spPr>
          <a:xfrm>
            <a:off x="10725150" y="2114550"/>
            <a:ext cx="209550" cy="171450"/>
          </a:xfrm>
          <a:prstGeom prst="leftArrow">
            <a:avLst/>
          </a:prstGeom>
          <a:solidFill>
            <a:srgbClr val="A82062"/>
          </a:solidFill>
          <a:ln w="0">
            <a:noFill/>
          </a:ln>
        </p:spPr>
      </p:sp>
      <p:sp>
        <p:nvSpPr>
          <p:cNvPr id="38" name="矩形 37">
            <a:extLst>
              <a:ext uri="{FF2B5EF4-FFF2-40B4-BE49-F238E27FC236}">
                <a16:creationId xmlns:a16="http://schemas.microsoft.com/office/drawing/2014/main" id="{1C0F51C7-C135-4E4C-864B-0784F688A317}"/>
              </a:ext>
            </a:extLst>
          </p:cNvPr>
          <p:cNvSpPr>
            <a:spLocks noGrp="1"/>
          </p:cNvSpPr>
          <p:nvPr/>
        </p:nvSpPr>
        <p:spPr>
          <a:xfrm>
            <a:off x="11039475" y="3657600"/>
            <a:ext cx="590550" cy="504825"/>
          </a:xfrm>
          <a:prstGeom prst="rect">
            <a:avLst/>
          </a:prstGeom>
          <a:noFill/>
          <a:ln w="0">
            <a:noFill/>
          </a:ln>
        </p:spPr>
        <p:txBody>
          <a:bodyPr lIns="0" tIns="0" rIns="0" bIns="0"/>
          <a:lstStyle/>
          <a:p>
            <a:r>
              <a:rPr sz="1125" b="1">
                <a:solidFill>
                  <a:srgbClr val="A82062"/>
                </a:solidFill>
                <a:latin typeface="Arial"/>
                <a:ea typeface="Arial"/>
                <a:cs typeface="Arial"/>
              </a:rPr>
              <a:t>Feature</a:t>
            </a:r>
          </a:p>
          <a:p>
            <a:r>
              <a:rPr sz="1125" b="1">
                <a:solidFill>
                  <a:srgbClr val="A82062"/>
                </a:solidFill>
                <a:latin typeface="Arial"/>
                <a:ea typeface="Arial"/>
                <a:cs typeface="Arial"/>
              </a:rPr>
              <a:t>ideas</a:t>
            </a:r>
          </a:p>
        </p:txBody>
      </p:sp>
      <p:sp>
        <p:nvSpPr>
          <p:cNvPr id="39" name="箭头: 下 38">
            <a:extLst>
              <a:ext uri="{FF2B5EF4-FFF2-40B4-BE49-F238E27FC236}">
                <a16:creationId xmlns:a16="http://schemas.microsoft.com/office/drawing/2014/main" id="{5AE70D28-8637-4051-B61D-1FD4B42E0FAC}"/>
              </a:ext>
            </a:extLst>
          </p:cNvPr>
          <p:cNvSpPr>
            <a:spLocks noGrp="1"/>
          </p:cNvSpPr>
          <p:nvPr/>
        </p:nvSpPr>
        <p:spPr>
          <a:xfrm>
            <a:off x="2667000" y="5067300"/>
            <a:ext cx="171450" cy="209550"/>
          </a:xfrm>
          <a:prstGeom prst="downArrow">
            <a:avLst/>
          </a:prstGeom>
          <a:solidFill>
            <a:srgbClr val="536375"/>
          </a:solidFill>
          <a:ln w="0">
            <a:noFill/>
          </a:ln>
        </p:spPr>
      </p:sp>
      <p:sp>
        <p:nvSpPr>
          <p:cNvPr id="40" name="箭头: 下 39">
            <a:extLst>
              <a:ext uri="{FF2B5EF4-FFF2-40B4-BE49-F238E27FC236}">
                <a16:creationId xmlns:a16="http://schemas.microsoft.com/office/drawing/2014/main" id="{33AD0BE9-3B99-48A3-8C6D-42414C613EEB}"/>
              </a:ext>
            </a:extLst>
          </p:cNvPr>
          <p:cNvSpPr>
            <a:spLocks noGrp="1"/>
          </p:cNvSpPr>
          <p:nvPr/>
        </p:nvSpPr>
        <p:spPr>
          <a:xfrm>
            <a:off x="8734425" y="5067300"/>
            <a:ext cx="171450" cy="209550"/>
          </a:xfrm>
          <a:prstGeom prst="downArrow">
            <a:avLst/>
          </a:prstGeom>
          <a:solidFill>
            <a:srgbClr val="A82062"/>
          </a:solidFill>
          <a:ln w="0">
            <a:noFill/>
          </a:ln>
        </p:spPr>
      </p:sp>
      <p:sp>
        <p:nvSpPr>
          <p:cNvPr id="41" name="矩形 40">
            <a:extLst>
              <a:ext uri="{FF2B5EF4-FFF2-40B4-BE49-F238E27FC236}">
                <a16:creationId xmlns:a16="http://schemas.microsoft.com/office/drawing/2014/main" id="{7C3DB216-5771-42E9-8046-6FB3C5D2F29B}"/>
              </a:ext>
            </a:extLst>
          </p:cNvPr>
          <p:cNvSpPr>
            <a:spLocks noGrp="1"/>
          </p:cNvSpPr>
          <p:nvPr/>
        </p:nvSpPr>
        <p:spPr>
          <a:xfrm>
            <a:off x="609600" y="5334000"/>
            <a:ext cx="4286250" cy="638175"/>
          </a:xfrm>
          <a:prstGeom prst="rect">
            <a:avLst/>
          </a:prstGeom>
          <a:solidFill>
            <a:srgbClr val="F3F5F7"/>
          </a:solidFill>
          <a:ln w="0">
            <a:noFill/>
          </a:ln>
        </p:spPr>
      </p:sp>
      <p:sp>
        <p:nvSpPr>
          <p:cNvPr id="42" name="矩形 41">
            <a:extLst>
              <a:ext uri="{FF2B5EF4-FFF2-40B4-BE49-F238E27FC236}">
                <a16:creationId xmlns:a16="http://schemas.microsoft.com/office/drawing/2014/main" id="{1263F92A-4415-4428-83BB-F8310362B0E5}"/>
              </a:ext>
            </a:extLst>
          </p:cNvPr>
          <p:cNvSpPr>
            <a:spLocks noGrp="1"/>
          </p:cNvSpPr>
          <p:nvPr/>
        </p:nvSpPr>
        <p:spPr>
          <a:xfrm>
            <a:off x="742950" y="5429250"/>
            <a:ext cx="4019550" cy="266700"/>
          </a:xfrm>
          <a:prstGeom prst="rect">
            <a:avLst/>
          </a:prstGeom>
          <a:noFill/>
          <a:ln w="0">
            <a:noFill/>
          </a:ln>
        </p:spPr>
        <p:txBody>
          <a:bodyPr lIns="0" tIns="0" rIns="0" bIns="0"/>
          <a:lstStyle/>
          <a:p>
            <a:r>
              <a:rPr sz="1725" b="1">
                <a:solidFill>
                  <a:srgbClr val="192B40"/>
                </a:solidFill>
                <a:latin typeface="Arial"/>
                <a:ea typeface="Arial"/>
                <a:cs typeface="Arial"/>
              </a:rPr>
              <a:t>Final held-out prediction results</a:t>
            </a:r>
          </a:p>
        </p:txBody>
      </p:sp>
      <p:sp>
        <p:nvSpPr>
          <p:cNvPr id="43" name="矩形 42">
            <a:extLst>
              <a:ext uri="{FF2B5EF4-FFF2-40B4-BE49-F238E27FC236}">
                <a16:creationId xmlns:a16="http://schemas.microsoft.com/office/drawing/2014/main" id="{3B3469E0-FCAD-4536-9754-DE94A20950EE}"/>
              </a:ext>
            </a:extLst>
          </p:cNvPr>
          <p:cNvSpPr>
            <a:spLocks noGrp="1"/>
          </p:cNvSpPr>
          <p:nvPr/>
        </p:nvSpPr>
        <p:spPr>
          <a:xfrm>
            <a:off x="742950" y="5743575"/>
            <a:ext cx="4019550" cy="200025"/>
          </a:xfrm>
          <a:prstGeom prst="rect">
            <a:avLst/>
          </a:prstGeom>
          <a:noFill/>
          <a:ln w="0">
            <a:noFill/>
          </a:ln>
        </p:spPr>
        <p:txBody>
          <a:bodyPr lIns="0" tIns="0" rIns="0" bIns="0"/>
          <a:lstStyle/>
          <a:p>
            <a:r>
              <a:rPr sz="1350" b="0">
                <a:solidFill>
                  <a:srgbClr val="536375"/>
                </a:solidFill>
                <a:latin typeface="Arial"/>
                <a:ea typeface="Arial"/>
                <a:cs typeface="Arial"/>
              </a:rPr>
              <a:t>Evaluate after development is frozen</a:t>
            </a:r>
          </a:p>
        </p:txBody>
      </p:sp>
      <p:sp>
        <p:nvSpPr>
          <p:cNvPr id="44" name="矩形 43">
            <a:extLst>
              <a:ext uri="{FF2B5EF4-FFF2-40B4-BE49-F238E27FC236}">
                <a16:creationId xmlns:a16="http://schemas.microsoft.com/office/drawing/2014/main" id="{26E39575-6A35-4567-AE84-89F909889EA8}"/>
              </a:ext>
            </a:extLst>
          </p:cNvPr>
          <p:cNvSpPr>
            <a:spLocks noGrp="1"/>
          </p:cNvSpPr>
          <p:nvPr/>
        </p:nvSpPr>
        <p:spPr>
          <a:xfrm>
            <a:off x="6667500" y="5334000"/>
            <a:ext cx="4286250" cy="638175"/>
          </a:xfrm>
          <a:prstGeom prst="rect">
            <a:avLst/>
          </a:prstGeom>
          <a:solidFill>
            <a:srgbClr val="F8F0F4"/>
          </a:solidFill>
          <a:ln w="0">
            <a:noFill/>
          </a:ln>
        </p:spPr>
      </p:sp>
      <p:sp>
        <p:nvSpPr>
          <p:cNvPr id="45" name="矩形 44">
            <a:extLst>
              <a:ext uri="{FF2B5EF4-FFF2-40B4-BE49-F238E27FC236}">
                <a16:creationId xmlns:a16="http://schemas.microsoft.com/office/drawing/2014/main" id="{10D58A4B-FA8A-4194-858E-C0987EEDB020}"/>
              </a:ext>
            </a:extLst>
          </p:cNvPr>
          <p:cNvSpPr>
            <a:spLocks noGrp="1"/>
          </p:cNvSpPr>
          <p:nvPr/>
        </p:nvSpPr>
        <p:spPr>
          <a:xfrm>
            <a:off x="6800850" y="5429250"/>
            <a:ext cx="4019550" cy="266700"/>
          </a:xfrm>
          <a:prstGeom prst="rect">
            <a:avLst/>
          </a:prstGeom>
          <a:noFill/>
          <a:ln w="0">
            <a:noFill/>
          </a:ln>
        </p:spPr>
        <p:txBody>
          <a:bodyPr lIns="0" tIns="0" rIns="0" bIns="0"/>
          <a:lstStyle/>
          <a:p>
            <a:r>
              <a:rPr sz="1725" b="1">
                <a:solidFill>
                  <a:srgbClr val="192B40"/>
                </a:solidFill>
                <a:latin typeface="Arial"/>
                <a:ea typeface="Arial"/>
                <a:cs typeface="Arial"/>
              </a:rPr>
              <a:t>Customer profiles &amp; business insights</a:t>
            </a:r>
          </a:p>
        </p:txBody>
      </p:sp>
      <p:sp>
        <p:nvSpPr>
          <p:cNvPr id="46" name="矩形 45">
            <a:extLst>
              <a:ext uri="{FF2B5EF4-FFF2-40B4-BE49-F238E27FC236}">
                <a16:creationId xmlns:a16="http://schemas.microsoft.com/office/drawing/2014/main" id="{5812F667-908E-4C5F-81A1-AE9A2C7919AC}"/>
              </a:ext>
            </a:extLst>
          </p:cNvPr>
          <p:cNvSpPr>
            <a:spLocks noGrp="1"/>
          </p:cNvSpPr>
          <p:nvPr/>
        </p:nvSpPr>
        <p:spPr>
          <a:xfrm>
            <a:off x="6800850" y="5743575"/>
            <a:ext cx="4019550" cy="200025"/>
          </a:xfrm>
          <a:prstGeom prst="rect">
            <a:avLst/>
          </a:prstGeom>
          <a:noFill/>
          <a:ln w="0">
            <a:noFill/>
          </a:ln>
        </p:spPr>
        <p:txBody>
          <a:bodyPr lIns="0" tIns="0" rIns="0" bIns="0"/>
          <a:lstStyle/>
          <a:p>
            <a:r>
              <a:rPr sz="1350" b="0">
                <a:solidFill>
                  <a:srgbClr val="536375"/>
                </a:solidFill>
                <a:latin typeface="Arial"/>
                <a:ea typeface="Arial"/>
                <a:cs typeface="Arial"/>
              </a:rPr>
              <a:t>Useful even if prediction gains are small</a:t>
            </a:r>
          </a:p>
        </p:txBody>
      </p:sp>
      <p:sp>
        <p:nvSpPr>
          <p:cNvPr id="47" name="箭头: 右 46">
            <a:extLst>
              <a:ext uri="{FF2B5EF4-FFF2-40B4-BE49-F238E27FC236}">
                <a16:creationId xmlns:a16="http://schemas.microsoft.com/office/drawing/2014/main" id="{2F17B6C1-EF97-49C4-BBA1-5B6790914C03}"/>
              </a:ext>
            </a:extLst>
          </p:cNvPr>
          <p:cNvSpPr>
            <a:spLocks noGrp="1"/>
          </p:cNvSpPr>
          <p:nvPr/>
        </p:nvSpPr>
        <p:spPr>
          <a:xfrm>
            <a:off x="5029200" y="5543550"/>
            <a:ext cx="628650" cy="161925"/>
          </a:xfrm>
          <a:prstGeom prst="rightArrow">
            <a:avLst/>
          </a:prstGeom>
          <a:solidFill>
            <a:srgbClr val="536375"/>
          </a:solidFill>
          <a:ln w="0">
            <a:noFill/>
          </a:ln>
        </p:spPr>
      </p:sp>
      <p:sp>
        <p:nvSpPr>
          <p:cNvPr id="48" name="箭头: 左 47">
            <a:extLst>
              <a:ext uri="{FF2B5EF4-FFF2-40B4-BE49-F238E27FC236}">
                <a16:creationId xmlns:a16="http://schemas.microsoft.com/office/drawing/2014/main" id="{765B06D5-5BF7-4C5B-B7F3-F297EA33864A}"/>
              </a:ext>
            </a:extLst>
          </p:cNvPr>
          <p:cNvSpPr>
            <a:spLocks noGrp="1"/>
          </p:cNvSpPr>
          <p:nvPr/>
        </p:nvSpPr>
        <p:spPr>
          <a:xfrm>
            <a:off x="5905500" y="5543550"/>
            <a:ext cx="628650" cy="161925"/>
          </a:xfrm>
          <a:prstGeom prst="leftArrow">
            <a:avLst/>
          </a:prstGeom>
          <a:solidFill>
            <a:srgbClr val="536375"/>
          </a:solidFill>
          <a:ln w="0">
            <a:noFill/>
          </a:ln>
        </p:spPr>
      </p:sp>
      <p:sp>
        <p:nvSpPr>
          <p:cNvPr id="49" name="矩形 48">
            <a:extLst>
              <a:ext uri="{FF2B5EF4-FFF2-40B4-BE49-F238E27FC236}">
                <a16:creationId xmlns:a16="http://schemas.microsoft.com/office/drawing/2014/main" id="{A41AB8E8-F616-4A40-93BC-5E6CAAF133BB}"/>
              </a:ext>
            </a:extLst>
          </p:cNvPr>
          <p:cNvSpPr>
            <a:spLocks noGrp="1"/>
          </p:cNvSpPr>
          <p:nvPr/>
        </p:nvSpPr>
        <p:spPr>
          <a:xfrm>
            <a:off x="5048250" y="5276850"/>
            <a:ext cx="1524000" cy="238125"/>
          </a:xfrm>
          <a:prstGeom prst="rect">
            <a:avLst/>
          </a:prstGeom>
          <a:noFill/>
          <a:ln w="0">
            <a:noFill/>
          </a:ln>
        </p:spPr>
        <p:txBody>
          <a:bodyPr lIns="0" tIns="0" rIns="0" bIns="0"/>
          <a:lstStyle/>
          <a:p>
            <a:r>
              <a:rPr sz="1425" b="1">
                <a:solidFill>
                  <a:srgbClr val="A82062"/>
                </a:solidFill>
                <a:latin typeface="Arial"/>
                <a:ea typeface="Arial"/>
                <a:cs typeface="Arial"/>
              </a:rPr>
              <a:t>Combine</a:t>
            </a:r>
          </a:p>
        </p:txBody>
      </p:sp>
      <p:sp>
        <p:nvSpPr>
          <p:cNvPr id="50" name="矩形 49">
            <a:extLst>
              <a:ext uri="{FF2B5EF4-FFF2-40B4-BE49-F238E27FC236}">
                <a16:creationId xmlns:a16="http://schemas.microsoft.com/office/drawing/2014/main" id="{9322F824-AD07-4A1C-9E9E-C677B43A13F7}"/>
              </a:ext>
            </a:extLst>
          </p:cNvPr>
          <p:cNvSpPr>
            <a:spLocks noGrp="1"/>
          </p:cNvSpPr>
          <p:nvPr/>
        </p:nvSpPr>
        <p:spPr>
          <a:xfrm>
            <a:off x="609600" y="6124575"/>
            <a:ext cx="10972800" cy="219075"/>
          </a:xfrm>
          <a:prstGeom prst="rect">
            <a:avLst/>
          </a:prstGeom>
          <a:noFill/>
          <a:ln w="0">
            <a:noFill/>
          </a:ln>
        </p:spPr>
        <p:txBody>
          <a:bodyPr lIns="0" tIns="0" rIns="0" bIns="0"/>
          <a:lstStyle/>
          <a:p>
            <a:r>
              <a:rPr sz="1200" b="0">
                <a:solidFill>
                  <a:srgbClr val="536375"/>
                </a:solidFill>
                <a:latin typeface="Arial"/>
                <a:ea typeface="Arial"/>
                <a:cs typeface="Arial"/>
              </a:rPr>
              <a:t>Feature feedback uses development / validation data only. Final test outcomes stay outside the loop.</a:t>
            </a:r>
          </a:p>
        </p:txBody>
      </p:sp>
    </p:spTree>
    <p:extLst>
      <p:ext uri="{BB962C8B-B14F-4D97-AF65-F5344CB8AC3E}">
        <p14:creationId xmlns:p14="http://schemas.microsoft.com/office/powerpoint/2010/main" val="27406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3"/>
          <a:stretch/>
        </p:blipFill>
        <p:spPr>
          <a:xfrm>
            <a:off x="0" y="0"/>
            <a:ext cx="12192000" cy="6858000"/>
          </a:xfrm>
          <a:prstGeom prst="rect">
            <a:avLst/>
          </a:prstGeom>
        </p:spPr>
      </p:pic>
      <p:sp>
        <p:nvSpPr>
          <p:cNvPr id="2" name="矩形 1">
            <a:extLst>
              <a:ext uri="{FF2B5EF4-FFF2-40B4-BE49-F238E27FC236}">
                <a16:creationId xmlns:a16="http://schemas.microsoft.com/office/drawing/2014/main" id="{D745230B-AF96-4DB7-8EB6-91D09A84E24F}"/>
              </a:ext>
            </a:extLst>
          </p:cNvPr>
          <p:cNvSpPr>
            <a:spLocks noGrp="1"/>
          </p:cNvSpPr>
          <p:nvPr/>
        </p:nvSpPr>
        <p:spPr>
          <a:xfrm>
            <a:off x="609600" y="466725"/>
            <a:ext cx="9239250" cy="238125"/>
          </a:xfrm>
          <a:prstGeom prst="rect">
            <a:avLst/>
          </a:prstGeom>
          <a:noFill/>
          <a:ln w="0">
            <a:noFill/>
          </a:ln>
        </p:spPr>
        <p:txBody>
          <a:bodyPr lIns="0" tIns="0" rIns="0" bIns="0"/>
          <a:lstStyle/>
          <a:p>
            <a:r>
              <a:rPr sz="1275" b="1">
                <a:solidFill>
                  <a:srgbClr val="A82062"/>
                </a:solidFill>
                <a:latin typeface="Arial"/>
                <a:ea typeface="Arial"/>
                <a:cs typeface="Arial"/>
              </a:rPr>
              <a:t>05  /  POTENTIAL CONTRIBUTION</a:t>
            </a:r>
          </a:p>
        </p:txBody>
      </p:sp>
      <p:sp>
        <p:nvSpPr>
          <p:cNvPr id="3" name="矩形 2">
            <a:extLst>
              <a:ext uri="{FF2B5EF4-FFF2-40B4-BE49-F238E27FC236}">
                <a16:creationId xmlns:a16="http://schemas.microsoft.com/office/drawing/2014/main" id="{D2997322-8807-4F02-8E4E-4039F74FF2CD}"/>
              </a:ext>
            </a:extLst>
          </p:cNvPr>
          <p:cNvSpPr>
            <a:spLocks noGrp="1"/>
          </p:cNvSpPr>
          <p:nvPr/>
        </p:nvSpPr>
        <p:spPr>
          <a:xfrm>
            <a:off x="609600" y="857250"/>
            <a:ext cx="9239250" cy="619125"/>
          </a:xfrm>
          <a:prstGeom prst="rect">
            <a:avLst/>
          </a:prstGeom>
          <a:noFill/>
          <a:ln w="0">
            <a:noFill/>
          </a:ln>
        </p:spPr>
        <p:txBody>
          <a:bodyPr lIns="0" tIns="0" rIns="0" bIns="0"/>
          <a:lstStyle/>
          <a:p>
            <a:r>
              <a:rPr sz="2625" b="1">
                <a:solidFill>
                  <a:srgbClr val="192B40"/>
                </a:solidFill>
                <a:latin typeface="Arial"/>
                <a:ea typeface="Arial"/>
                <a:cs typeface="Arial"/>
              </a:rPr>
              <a:t>Prediction plus explanation, not scores alone</a:t>
            </a:r>
          </a:p>
        </p:txBody>
      </p:sp>
      <p:sp>
        <p:nvSpPr>
          <p:cNvPr id="4" name="矩形 3">
            <a:extLst>
              <a:ext uri="{FF2B5EF4-FFF2-40B4-BE49-F238E27FC236}">
                <a16:creationId xmlns:a16="http://schemas.microsoft.com/office/drawing/2014/main" id="{AF85A62A-B377-4F58-80E3-6583C71136E1}"/>
              </a:ext>
            </a:extLst>
          </p:cNvPr>
          <p:cNvSpPr>
            <a:spLocks noGrp="1"/>
          </p:cNvSpPr>
          <p:nvPr/>
        </p:nvSpPr>
        <p:spPr>
          <a:xfrm>
            <a:off x="609600" y="1590675"/>
            <a:ext cx="10972800" cy="19050"/>
          </a:xfrm>
          <a:prstGeom prst="rect">
            <a:avLst/>
          </a:prstGeom>
          <a:solidFill>
            <a:srgbClr val="DDE3E9"/>
          </a:solidFill>
          <a:ln w="0">
            <a:noFill/>
          </a:ln>
        </p:spPr>
      </p:sp>
      <p:sp>
        <p:nvSpPr>
          <p:cNvPr id="5" name="矩形 4">
            <a:extLst>
              <a:ext uri="{FF2B5EF4-FFF2-40B4-BE49-F238E27FC236}">
                <a16:creationId xmlns:a16="http://schemas.microsoft.com/office/drawing/2014/main" id="{DA0B48CC-2475-4332-8283-9B4D948BC52D}"/>
              </a:ext>
            </a:extLst>
          </p:cNvPr>
          <p:cNvSpPr>
            <a:spLocks noGrp="1"/>
          </p:cNvSpPr>
          <p:nvPr/>
        </p:nvSpPr>
        <p:spPr>
          <a:xfrm>
            <a:off x="609600" y="6429375"/>
            <a:ext cx="9048750" cy="190500"/>
          </a:xfrm>
          <a:prstGeom prst="rect">
            <a:avLst/>
          </a:prstGeom>
          <a:noFill/>
          <a:ln w="0">
            <a:noFill/>
          </a:ln>
        </p:spPr>
        <p:txBody>
          <a:bodyPr lIns="0" tIns="0" rIns="0" bIns="0"/>
          <a:lstStyle/>
          <a:p>
            <a:r>
              <a:rPr sz="1050" b="0">
                <a:solidFill>
                  <a:srgbClr val="536375"/>
                </a:solidFill>
                <a:latin typeface="Arial"/>
                <a:ea typeface="Arial"/>
                <a:cs typeface="Arial"/>
              </a:rPr>
              <a:t>IS6400  •  Repurchase prediction &amp; customer insights</a:t>
            </a:r>
          </a:p>
        </p:txBody>
      </p:sp>
      <p:sp>
        <p:nvSpPr>
          <p:cNvPr id="6" name="矩形 5">
            <a:extLst>
              <a:ext uri="{FF2B5EF4-FFF2-40B4-BE49-F238E27FC236}">
                <a16:creationId xmlns:a16="http://schemas.microsoft.com/office/drawing/2014/main" id="{AD0F9E17-920F-4D49-B0CB-B3D8266F2600}"/>
              </a:ext>
            </a:extLst>
          </p:cNvPr>
          <p:cNvSpPr>
            <a:spLocks noGrp="1"/>
          </p:cNvSpPr>
          <p:nvPr/>
        </p:nvSpPr>
        <p:spPr>
          <a:xfrm>
            <a:off x="10906125" y="6429375"/>
            <a:ext cx="666750" cy="190500"/>
          </a:xfrm>
          <a:prstGeom prst="rect">
            <a:avLst/>
          </a:prstGeom>
          <a:noFill/>
          <a:ln w="0">
            <a:noFill/>
          </a:ln>
        </p:spPr>
        <p:txBody>
          <a:bodyPr lIns="0" tIns="0" rIns="0" bIns="0"/>
          <a:lstStyle/>
          <a:p>
            <a:r>
              <a:rPr sz="1050" b="0">
                <a:solidFill>
                  <a:srgbClr val="536375"/>
                </a:solidFill>
                <a:latin typeface="Arial"/>
                <a:ea typeface="Arial"/>
                <a:cs typeface="Arial"/>
              </a:rPr>
              <a:t>5 / 5</a:t>
            </a:r>
          </a:p>
        </p:txBody>
      </p:sp>
      <p:sp>
        <p:nvSpPr>
          <p:cNvPr id="7" name="矩形 6">
            <a:extLst>
              <a:ext uri="{FF2B5EF4-FFF2-40B4-BE49-F238E27FC236}">
                <a16:creationId xmlns:a16="http://schemas.microsoft.com/office/drawing/2014/main" id="{CBED9FB6-E44E-474C-925C-69EB21115A3F}"/>
              </a:ext>
            </a:extLst>
          </p:cNvPr>
          <p:cNvSpPr>
            <a:spLocks noGrp="1"/>
          </p:cNvSpPr>
          <p:nvPr/>
        </p:nvSpPr>
        <p:spPr>
          <a:xfrm>
            <a:off x="609600" y="2066925"/>
            <a:ext cx="3505200" cy="3019425"/>
          </a:xfrm>
          <a:prstGeom prst="rect">
            <a:avLst/>
          </a:prstGeom>
          <a:solidFill>
            <a:srgbClr val="F3F5F7"/>
          </a:solidFill>
          <a:ln w="0">
            <a:noFill/>
          </a:ln>
        </p:spPr>
      </p:sp>
      <p:sp>
        <p:nvSpPr>
          <p:cNvPr id="8" name="矩形 7">
            <a:extLst>
              <a:ext uri="{FF2B5EF4-FFF2-40B4-BE49-F238E27FC236}">
                <a16:creationId xmlns:a16="http://schemas.microsoft.com/office/drawing/2014/main" id="{D9A7FB42-2A50-4C7C-AF82-52236C82FD9E}"/>
              </a:ext>
            </a:extLst>
          </p:cNvPr>
          <p:cNvSpPr>
            <a:spLocks noGrp="1"/>
          </p:cNvSpPr>
          <p:nvPr/>
        </p:nvSpPr>
        <p:spPr>
          <a:xfrm>
            <a:off x="781050" y="2190750"/>
            <a:ext cx="1047750" cy="419100"/>
          </a:xfrm>
          <a:prstGeom prst="rect">
            <a:avLst/>
          </a:prstGeom>
          <a:noFill/>
          <a:ln w="0">
            <a:noFill/>
          </a:ln>
        </p:spPr>
        <p:txBody>
          <a:bodyPr lIns="0" tIns="0" rIns="0" bIns="0"/>
          <a:lstStyle/>
          <a:p>
            <a:r>
              <a:rPr sz="2475" b="1">
                <a:solidFill>
                  <a:srgbClr val="A82062"/>
                </a:solidFill>
                <a:latin typeface="Arial"/>
                <a:ea typeface="Arial"/>
                <a:cs typeface="Arial"/>
              </a:rPr>
              <a:t>01</a:t>
            </a:r>
          </a:p>
        </p:txBody>
      </p:sp>
      <p:sp>
        <p:nvSpPr>
          <p:cNvPr id="9" name="矩形 8">
            <a:extLst>
              <a:ext uri="{FF2B5EF4-FFF2-40B4-BE49-F238E27FC236}">
                <a16:creationId xmlns:a16="http://schemas.microsoft.com/office/drawing/2014/main" id="{E3C7F414-5F42-4E8F-8B9D-DCF8883AB6C9}"/>
              </a:ext>
            </a:extLst>
          </p:cNvPr>
          <p:cNvSpPr>
            <a:spLocks noGrp="1"/>
          </p:cNvSpPr>
          <p:nvPr/>
        </p:nvSpPr>
        <p:spPr>
          <a:xfrm>
            <a:off x="781050" y="2752725"/>
            <a:ext cx="3162300" cy="590550"/>
          </a:xfrm>
          <a:prstGeom prst="rect">
            <a:avLst/>
          </a:prstGeom>
          <a:noFill/>
          <a:ln w="0">
            <a:noFill/>
          </a:ln>
        </p:spPr>
        <p:txBody>
          <a:bodyPr lIns="0" tIns="0" rIns="0" bIns="0"/>
          <a:lstStyle/>
          <a:p>
            <a:r>
              <a:rPr sz="1875" b="1">
                <a:solidFill>
                  <a:srgbClr val="192B40"/>
                </a:solidFill>
                <a:latin typeface="Arial"/>
                <a:ea typeface="Arial"/>
                <a:cs typeface="Arial"/>
              </a:rPr>
              <a:t>Predictive evidence</a:t>
            </a:r>
          </a:p>
        </p:txBody>
      </p:sp>
      <p:sp>
        <p:nvSpPr>
          <p:cNvPr id="10" name="矩形 9">
            <a:extLst>
              <a:ext uri="{FF2B5EF4-FFF2-40B4-BE49-F238E27FC236}">
                <a16:creationId xmlns:a16="http://schemas.microsoft.com/office/drawing/2014/main" id="{7C1B48CB-868B-46C3-B1E9-8A96A0B91B1B}"/>
              </a:ext>
            </a:extLst>
          </p:cNvPr>
          <p:cNvSpPr>
            <a:spLocks noGrp="1"/>
          </p:cNvSpPr>
          <p:nvPr/>
        </p:nvSpPr>
        <p:spPr>
          <a:xfrm>
            <a:off x="781050" y="3581400"/>
            <a:ext cx="3162300" cy="657225"/>
          </a:xfrm>
          <a:prstGeom prst="rect">
            <a:avLst/>
          </a:prstGeom>
          <a:noFill/>
          <a:ln w="0">
            <a:noFill/>
          </a:ln>
        </p:spPr>
        <p:txBody>
          <a:bodyPr lIns="0" tIns="0" rIns="0" bIns="0"/>
          <a:lstStyle/>
          <a:p>
            <a:r>
              <a:rPr sz="1725" b="0">
                <a:solidFill>
                  <a:srgbClr val="192B40"/>
                </a:solidFill>
                <a:latin typeface="Arial"/>
                <a:ea typeface="Arial"/>
                <a:cs typeface="Arial"/>
              </a:rPr>
              <a:t>Rank customers by</a:t>
            </a:r>
          </a:p>
          <a:p>
            <a:r>
              <a:rPr sz="1725" b="0">
                <a:solidFill>
                  <a:srgbClr val="192B40"/>
                </a:solidFill>
                <a:latin typeface="Arial"/>
                <a:ea typeface="Arial"/>
                <a:cs typeface="Arial"/>
              </a:rPr>
              <a:t>repurchase likelihood.</a:t>
            </a:r>
          </a:p>
        </p:txBody>
      </p:sp>
      <p:sp>
        <p:nvSpPr>
          <p:cNvPr id="11" name="矩形 10">
            <a:extLst>
              <a:ext uri="{FF2B5EF4-FFF2-40B4-BE49-F238E27FC236}">
                <a16:creationId xmlns:a16="http://schemas.microsoft.com/office/drawing/2014/main" id="{430ECF73-AA2B-4A47-B128-97DA2A287357}"/>
              </a:ext>
            </a:extLst>
          </p:cNvPr>
          <p:cNvSpPr>
            <a:spLocks noGrp="1"/>
          </p:cNvSpPr>
          <p:nvPr/>
        </p:nvSpPr>
        <p:spPr>
          <a:xfrm>
            <a:off x="781050" y="4391025"/>
            <a:ext cx="3162300" cy="619125"/>
          </a:xfrm>
          <a:prstGeom prst="rect">
            <a:avLst/>
          </a:prstGeom>
          <a:noFill/>
          <a:ln w="0">
            <a:noFill/>
          </a:ln>
        </p:spPr>
        <p:txBody>
          <a:bodyPr lIns="0" tIns="0" rIns="0" bIns="0"/>
          <a:lstStyle/>
          <a:p>
            <a:r>
              <a:rPr sz="1425" b="0">
                <a:solidFill>
                  <a:srgbClr val="536375"/>
                </a:solidFill>
                <a:latin typeface="Arial"/>
                <a:ea typeface="Arial"/>
                <a:cs typeface="Arial"/>
              </a:rPr>
              <a:t>Compare simple rules, an initial</a:t>
            </a:r>
          </a:p>
          <a:p>
            <a:r>
              <a:rPr sz="1425" b="0">
                <a:solidFill>
                  <a:srgbClr val="536375"/>
                </a:solidFill>
                <a:latin typeface="Arial"/>
                <a:ea typeface="Arial"/>
                <a:cs typeface="Arial"/>
              </a:rPr>
              <a:t>classifier and a revised one.</a:t>
            </a:r>
          </a:p>
        </p:txBody>
      </p:sp>
      <p:sp>
        <p:nvSpPr>
          <p:cNvPr id="12" name="矩形 11">
            <a:extLst>
              <a:ext uri="{FF2B5EF4-FFF2-40B4-BE49-F238E27FC236}">
                <a16:creationId xmlns:a16="http://schemas.microsoft.com/office/drawing/2014/main" id="{6010B491-AA43-4C92-8BB0-9427C96A1B2B}"/>
              </a:ext>
            </a:extLst>
          </p:cNvPr>
          <p:cNvSpPr>
            <a:spLocks noGrp="1"/>
          </p:cNvSpPr>
          <p:nvPr/>
        </p:nvSpPr>
        <p:spPr>
          <a:xfrm>
            <a:off x="4343400" y="2066925"/>
            <a:ext cx="3505200" cy="3019425"/>
          </a:xfrm>
          <a:prstGeom prst="rect">
            <a:avLst/>
          </a:prstGeom>
          <a:solidFill>
            <a:srgbClr val="F8F0F4"/>
          </a:solidFill>
          <a:ln w="0">
            <a:noFill/>
          </a:ln>
        </p:spPr>
      </p:sp>
      <p:sp>
        <p:nvSpPr>
          <p:cNvPr id="13" name="矩形 12">
            <a:extLst>
              <a:ext uri="{FF2B5EF4-FFF2-40B4-BE49-F238E27FC236}">
                <a16:creationId xmlns:a16="http://schemas.microsoft.com/office/drawing/2014/main" id="{7D5D03F2-7F08-4828-B569-1B8BD6F35E7D}"/>
              </a:ext>
            </a:extLst>
          </p:cNvPr>
          <p:cNvSpPr>
            <a:spLocks noGrp="1"/>
          </p:cNvSpPr>
          <p:nvPr/>
        </p:nvSpPr>
        <p:spPr>
          <a:xfrm>
            <a:off x="4514850" y="2190750"/>
            <a:ext cx="1047750" cy="419100"/>
          </a:xfrm>
          <a:prstGeom prst="rect">
            <a:avLst/>
          </a:prstGeom>
          <a:noFill/>
          <a:ln w="0">
            <a:noFill/>
          </a:ln>
        </p:spPr>
        <p:txBody>
          <a:bodyPr lIns="0" tIns="0" rIns="0" bIns="0"/>
          <a:lstStyle/>
          <a:p>
            <a:r>
              <a:rPr sz="2475" b="1">
                <a:solidFill>
                  <a:srgbClr val="A82062"/>
                </a:solidFill>
                <a:latin typeface="Arial"/>
                <a:ea typeface="Arial"/>
                <a:cs typeface="Arial"/>
              </a:rPr>
              <a:t>02</a:t>
            </a:r>
          </a:p>
        </p:txBody>
      </p:sp>
      <p:sp>
        <p:nvSpPr>
          <p:cNvPr id="14" name="矩形 13">
            <a:extLst>
              <a:ext uri="{FF2B5EF4-FFF2-40B4-BE49-F238E27FC236}">
                <a16:creationId xmlns:a16="http://schemas.microsoft.com/office/drawing/2014/main" id="{73B1FBA7-22BB-49A7-A66E-0ACD5FA1FE26}"/>
              </a:ext>
            </a:extLst>
          </p:cNvPr>
          <p:cNvSpPr>
            <a:spLocks noGrp="1"/>
          </p:cNvSpPr>
          <p:nvPr/>
        </p:nvSpPr>
        <p:spPr>
          <a:xfrm>
            <a:off x="4514850" y="2752725"/>
            <a:ext cx="3162300" cy="590550"/>
          </a:xfrm>
          <a:prstGeom prst="rect">
            <a:avLst/>
          </a:prstGeom>
          <a:noFill/>
          <a:ln w="0">
            <a:noFill/>
          </a:ln>
        </p:spPr>
        <p:txBody>
          <a:bodyPr lIns="0" tIns="0" rIns="0" bIns="0"/>
          <a:lstStyle/>
          <a:p>
            <a:r>
              <a:rPr sz="1875" b="1">
                <a:solidFill>
                  <a:srgbClr val="192B40"/>
                </a:solidFill>
                <a:latin typeface="Arial"/>
                <a:ea typeface="Arial"/>
                <a:cs typeface="Arial"/>
              </a:rPr>
              <a:t>Group-level understanding</a:t>
            </a:r>
          </a:p>
        </p:txBody>
      </p:sp>
      <p:sp>
        <p:nvSpPr>
          <p:cNvPr id="15" name="矩形 14">
            <a:extLst>
              <a:ext uri="{FF2B5EF4-FFF2-40B4-BE49-F238E27FC236}">
                <a16:creationId xmlns:a16="http://schemas.microsoft.com/office/drawing/2014/main" id="{D96D3BD7-8370-4F10-B2DE-55A2DF50DA81}"/>
              </a:ext>
            </a:extLst>
          </p:cNvPr>
          <p:cNvSpPr>
            <a:spLocks noGrp="1"/>
          </p:cNvSpPr>
          <p:nvPr/>
        </p:nvSpPr>
        <p:spPr>
          <a:xfrm>
            <a:off x="4514850" y="3581400"/>
            <a:ext cx="3162300" cy="657225"/>
          </a:xfrm>
          <a:prstGeom prst="rect">
            <a:avLst/>
          </a:prstGeom>
          <a:noFill/>
          <a:ln w="0">
            <a:noFill/>
          </a:ln>
        </p:spPr>
        <p:txBody>
          <a:bodyPr lIns="0" tIns="0" rIns="0" bIns="0"/>
          <a:lstStyle/>
          <a:p>
            <a:r>
              <a:rPr sz="1725" b="0">
                <a:solidFill>
                  <a:srgbClr val="192B40"/>
                </a:solidFill>
                <a:latin typeface="Arial"/>
                <a:ea typeface="Arial"/>
                <a:cs typeface="Arial"/>
              </a:rPr>
              <a:t>Explain purchasing patterns</a:t>
            </a:r>
          </a:p>
          <a:p>
            <a:r>
              <a:rPr sz="1725" b="0">
                <a:solidFill>
                  <a:srgbClr val="192B40"/>
                </a:solidFill>
                <a:latin typeface="Arial"/>
                <a:ea typeface="Arial"/>
                <a:cs typeface="Arial"/>
              </a:rPr>
              <a:t>and observed group differences.</a:t>
            </a:r>
          </a:p>
        </p:txBody>
      </p:sp>
      <p:sp>
        <p:nvSpPr>
          <p:cNvPr id="16" name="矩形 15">
            <a:extLst>
              <a:ext uri="{FF2B5EF4-FFF2-40B4-BE49-F238E27FC236}">
                <a16:creationId xmlns:a16="http://schemas.microsoft.com/office/drawing/2014/main" id="{049FFD1D-14C1-4E75-BE86-8E47485FB94B}"/>
              </a:ext>
            </a:extLst>
          </p:cNvPr>
          <p:cNvSpPr>
            <a:spLocks noGrp="1"/>
          </p:cNvSpPr>
          <p:nvPr/>
        </p:nvSpPr>
        <p:spPr>
          <a:xfrm>
            <a:off x="4514850" y="4391025"/>
            <a:ext cx="3162300" cy="619125"/>
          </a:xfrm>
          <a:prstGeom prst="rect">
            <a:avLst/>
          </a:prstGeom>
          <a:noFill/>
          <a:ln w="0">
            <a:noFill/>
          </a:ln>
        </p:spPr>
        <p:txBody>
          <a:bodyPr lIns="0" tIns="0" rIns="0" bIns="0"/>
          <a:lstStyle/>
          <a:p>
            <a:r>
              <a:rPr sz="1425" b="0">
                <a:solidFill>
                  <a:srgbClr val="536375"/>
                </a:solidFill>
                <a:latin typeface="Arial"/>
                <a:ea typeface="Arial"/>
                <a:cs typeface="Arial"/>
              </a:rPr>
              <a:t>Report group size, behaviour,</a:t>
            </a:r>
          </a:p>
          <a:p>
            <a:r>
              <a:rPr sz="1425" b="0">
                <a:solidFill>
                  <a:srgbClr val="536375"/>
                </a:solidFill>
                <a:latin typeface="Arial"/>
                <a:ea typeface="Arial"/>
                <a:cs typeface="Arial"/>
              </a:rPr>
              <a:t>repurchase and error patterns.</a:t>
            </a:r>
          </a:p>
        </p:txBody>
      </p:sp>
      <p:sp>
        <p:nvSpPr>
          <p:cNvPr id="17" name="矩形 16">
            <a:extLst>
              <a:ext uri="{FF2B5EF4-FFF2-40B4-BE49-F238E27FC236}">
                <a16:creationId xmlns:a16="http://schemas.microsoft.com/office/drawing/2014/main" id="{3E067F29-C01C-4900-85E2-742BB85614D2}"/>
              </a:ext>
            </a:extLst>
          </p:cNvPr>
          <p:cNvSpPr>
            <a:spLocks noGrp="1"/>
          </p:cNvSpPr>
          <p:nvPr/>
        </p:nvSpPr>
        <p:spPr>
          <a:xfrm>
            <a:off x="8077200" y="2066925"/>
            <a:ext cx="3505200" cy="3019425"/>
          </a:xfrm>
          <a:prstGeom prst="rect">
            <a:avLst/>
          </a:prstGeom>
          <a:solidFill>
            <a:srgbClr val="F3F5F7"/>
          </a:solidFill>
          <a:ln w="0">
            <a:noFill/>
          </a:ln>
        </p:spPr>
      </p:sp>
      <p:sp>
        <p:nvSpPr>
          <p:cNvPr id="18" name="矩形 17">
            <a:extLst>
              <a:ext uri="{FF2B5EF4-FFF2-40B4-BE49-F238E27FC236}">
                <a16:creationId xmlns:a16="http://schemas.microsoft.com/office/drawing/2014/main" id="{1C5039B7-5D55-4210-AE62-BDD298702A30}"/>
              </a:ext>
            </a:extLst>
          </p:cNvPr>
          <p:cNvSpPr>
            <a:spLocks noGrp="1"/>
          </p:cNvSpPr>
          <p:nvPr/>
        </p:nvSpPr>
        <p:spPr>
          <a:xfrm>
            <a:off x="8248650" y="2190750"/>
            <a:ext cx="1047750" cy="419100"/>
          </a:xfrm>
          <a:prstGeom prst="rect">
            <a:avLst/>
          </a:prstGeom>
          <a:noFill/>
          <a:ln w="0">
            <a:noFill/>
          </a:ln>
        </p:spPr>
        <p:txBody>
          <a:bodyPr lIns="0" tIns="0" rIns="0" bIns="0"/>
          <a:lstStyle/>
          <a:p>
            <a:r>
              <a:rPr sz="2475" b="1">
                <a:solidFill>
                  <a:srgbClr val="A82062"/>
                </a:solidFill>
                <a:latin typeface="Arial"/>
                <a:ea typeface="Arial"/>
                <a:cs typeface="Arial"/>
              </a:rPr>
              <a:t>03</a:t>
            </a:r>
          </a:p>
        </p:txBody>
      </p:sp>
      <p:sp>
        <p:nvSpPr>
          <p:cNvPr id="19" name="矩形 18">
            <a:extLst>
              <a:ext uri="{FF2B5EF4-FFF2-40B4-BE49-F238E27FC236}">
                <a16:creationId xmlns:a16="http://schemas.microsoft.com/office/drawing/2014/main" id="{855D611D-3BD7-49F3-BE9E-BE9CE3CFF2FC}"/>
              </a:ext>
            </a:extLst>
          </p:cNvPr>
          <p:cNvSpPr>
            <a:spLocks noGrp="1"/>
          </p:cNvSpPr>
          <p:nvPr/>
        </p:nvSpPr>
        <p:spPr>
          <a:xfrm>
            <a:off x="8248650" y="2752725"/>
            <a:ext cx="3162300" cy="590550"/>
          </a:xfrm>
          <a:prstGeom prst="rect">
            <a:avLst/>
          </a:prstGeom>
          <a:noFill/>
          <a:ln w="0">
            <a:noFill/>
          </a:ln>
        </p:spPr>
        <p:txBody>
          <a:bodyPr lIns="0" tIns="0" rIns="0" bIns="0"/>
          <a:lstStyle/>
          <a:p>
            <a:r>
              <a:rPr sz="1875" b="1">
                <a:solidFill>
                  <a:srgbClr val="192B40"/>
                </a:solidFill>
                <a:latin typeface="Arial"/>
                <a:ea typeface="Arial"/>
                <a:cs typeface="Arial"/>
              </a:rPr>
              <a:t>Differentiated recommendations</a:t>
            </a:r>
          </a:p>
        </p:txBody>
      </p:sp>
      <p:sp>
        <p:nvSpPr>
          <p:cNvPr id="20" name="矩形 19">
            <a:extLst>
              <a:ext uri="{FF2B5EF4-FFF2-40B4-BE49-F238E27FC236}">
                <a16:creationId xmlns:a16="http://schemas.microsoft.com/office/drawing/2014/main" id="{6746D7D4-E5B0-4198-9889-9E6B56E161AC}"/>
              </a:ext>
            </a:extLst>
          </p:cNvPr>
          <p:cNvSpPr>
            <a:spLocks noGrp="1"/>
          </p:cNvSpPr>
          <p:nvPr/>
        </p:nvSpPr>
        <p:spPr>
          <a:xfrm>
            <a:off x="8248650" y="3581400"/>
            <a:ext cx="3162300" cy="657225"/>
          </a:xfrm>
          <a:prstGeom prst="rect">
            <a:avLst/>
          </a:prstGeom>
          <a:noFill/>
          <a:ln w="0">
            <a:noFill/>
          </a:ln>
        </p:spPr>
        <p:txBody>
          <a:bodyPr lIns="0" tIns="0" rIns="0" bIns="0"/>
          <a:lstStyle/>
          <a:p>
            <a:r>
              <a:rPr sz="1725" b="0">
                <a:solidFill>
                  <a:srgbClr val="192B40"/>
                </a:solidFill>
                <a:latin typeface="Arial"/>
                <a:ea typeface="Arial"/>
                <a:cs typeface="Arial"/>
              </a:rPr>
              <a:t>Combine scores and profiles</a:t>
            </a:r>
          </a:p>
          <a:p>
            <a:r>
              <a:rPr sz="1725" b="0">
                <a:solidFill>
                  <a:srgbClr val="192B40"/>
                </a:solidFill>
                <a:latin typeface="Arial"/>
                <a:ea typeface="Arial"/>
                <a:cs typeface="Arial"/>
              </a:rPr>
              <a:t>to propose targeted actions.</a:t>
            </a:r>
          </a:p>
        </p:txBody>
      </p:sp>
      <p:sp>
        <p:nvSpPr>
          <p:cNvPr id="21" name="矩形 20">
            <a:extLst>
              <a:ext uri="{FF2B5EF4-FFF2-40B4-BE49-F238E27FC236}">
                <a16:creationId xmlns:a16="http://schemas.microsoft.com/office/drawing/2014/main" id="{214F1337-B713-4C0C-A992-7A6D77DB3A37}"/>
              </a:ext>
            </a:extLst>
          </p:cNvPr>
          <p:cNvSpPr>
            <a:spLocks noGrp="1"/>
          </p:cNvSpPr>
          <p:nvPr/>
        </p:nvSpPr>
        <p:spPr>
          <a:xfrm>
            <a:off x="8248650" y="4391025"/>
            <a:ext cx="3162300" cy="619125"/>
          </a:xfrm>
          <a:prstGeom prst="rect">
            <a:avLst/>
          </a:prstGeom>
          <a:noFill/>
          <a:ln w="0">
            <a:noFill/>
          </a:ln>
        </p:spPr>
        <p:txBody>
          <a:bodyPr lIns="0" tIns="0" rIns="0" bIns="0"/>
          <a:lstStyle/>
          <a:p>
            <a:r>
              <a:rPr sz="1425" b="0">
                <a:solidFill>
                  <a:srgbClr val="536375"/>
                </a:solidFill>
                <a:latin typeface="Arial"/>
                <a:ea typeface="Arial"/>
                <a:cs typeface="Arial"/>
              </a:rPr>
              <a:t>State the evidence, action</a:t>
            </a:r>
          </a:p>
          <a:p>
            <a:r>
              <a:rPr sz="1425" b="0">
                <a:solidFill>
                  <a:srgbClr val="536375"/>
                </a:solidFill>
                <a:latin typeface="Arial"/>
                <a:ea typeface="Arial"/>
                <a:cs typeface="Arial"/>
              </a:rPr>
              <a:t>hypothesis and experiment.</a:t>
            </a:r>
          </a:p>
        </p:txBody>
      </p:sp>
      <p:sp>
        <p:nvSpPr>
          <p:cNvPr id="22" name="矩形 21">
            <a:extLst>
              <a:ext uri="{FF2B5EF4-FFF2-40B4-BE49-F238E27FC236}">
                <a16:creationId xmlns:a16="http://schemas.microsoft.com/office/drawing/2014/main" id="{6AC0C2B1-852D-4B6B-B9AA-10E8167F7CF8}"/>
              </a:ext>
            </a:extLst>
          </p:cNvPr>
          <p:cNvSpPr>
            <a:spLocks noGrp="1"/>
          </p:cNvSpPr>
          <p:nvPr/>
        </p:nvSpPr>
        <p:spPr>
          <a:xfrm>
            <a:off x="609600" y="5381625"/>
            <a:ext cx="10972800" cy="638175"/>
          </a:xfrm>
          <a:prstGeom prst="rect">
            <a:avLst/>
          </a:prstGeom>
          <a:solidFill>
            <a:srgbClr val="F8F0F4"/>
          </a:solidFill>
          <a:ln w="0">
            <a:noFill/>
          </a:ln>
        </p:spPr>
      </p:sp>
      <p:sp>
        <p:nvSpPr>
          <p:cNvPr id="23" name="矩形 22">
            <a:extLst>
              <a:ext uri="{FF2B5EF4-FFF2-40B4-BE49-F238E27FC236}">
                <a16:creationId xmlns:a16="http://schemas.microsoft.com/office/drawing/2014/main" id="{2D390172-25DA-44C5-9A0B-9F66A7351A49}"/>
              </a:ext>
            </a:extLst>
          </p:cNvPr>
          <p:cNvSpPr>
            <a:spLocks noGrp="1"/>
          </p:cNvSpPr>
          <p:nvPr/>
        </p:nvSpPr>
        <p:spPr>
          <a:xfrm>
            <a:off x="800100" y="5534025"/>
            <a:ext cx="10572750" cy="400050"/>
          </a:xfrm>
          <a:prstGeom prst="rect">
            <a:avLst/>
          </a:prstGeom>
          <a:noFill/>
          <a:ln w="0">
            <a:noFill/>
          </a:ln>
        </p:spPr>
        <p:txBody>
          <a:bodyPr lIns="0" tIns="0" rIns="0" bIns="0"/>
          <a:lstStyle/>
          <a:p>
            <a:r>
              <a:rPr sz="1950" b="1">
                <a:solidFill>
                  <a:srgbClr val="A82062"/>
                </a:solidFill>
                <a:latin typeface="Arial"/>
                <a:ea typeface="Arial"/>
                <a:cs typeface="Arial"/>
              </a:rPr>
              <a:t>Clustering can add business insight even without a prediction gain.</a:t>
            </a:r>
          </a:p>
        </p:txBody>
      </p:sp>
      <p:sp>
        <p:nvSpPr>
          <p:cNvPr id="24" name="矩形 23">
            <a:extLst>
              <a:ext uri="{FF2B5EF4-FFF2-40B4-BE49-F238E27FC236}">
                <a16:creationId xmlns:a16="http://schemas.microsoft.com/office/drawing/2014/main" id="{ADFF4FA4-F8E5-4F44-A2E1-6F603446B11C}"/>
              </a:ext>
            </a:extLst>
          </p:cNvPr>
          <p:cNvSpPr>
            <a:spLocks noGrp="1"/>
          </p:cNvSpPr>
          <p:nvPr/>
        </p:nvSpPr>
        <p:spPr>
          <a:xfrm>
            <a:off x="609600" y="6105525"/>
            <a:ext cx="10972800" cy="257175"/>
          </a:xfrm>
          <a:prstGeom prst="rect">
            <a:avLst/>
          </a:prstGeom>
          <a:noFill/>
          <a:ln w="0">
            <a:noFill/>
          </a:ln>
        </p:spPr>
        <p:txBody>
          <a:bodyPr lIns="0" tIns="0" rIns="0" bIns="0"/>
          <a:lstStyle/>
          <a:p>
            <a:r>
              <a:rPr sz="1275" b="0">
                <a:solidFill>
                  <a:srgbClr val="536375"/>
                </a:solidFill>
                <a:latin typeface="Arial"/>
                <a:ea typeface="Arial"/>
                <a:cs typeface="Arial"/>
              </a:rPr>
              <a:t>Predicted repurchase is not marketing uplift. Historical records do not reveal every customer purchase.</a:t>
            </a:r>
          </a:p>
        </p:txBody>
      </p:sp>
    </p:spTree>
    <p:extLst>
      <p:ext uri="{BB962C8B-B14F-4D97-AF65-F5344CB8AC3E}">
        <p14:creationId xmlns:p14="http://schemas.microsoft.com/office/powerpoint/2010/main" val="165532771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1444</Words>
  <Application>Microsoft Office PowerPoint</Application>
  <DocSecurity>0</DocSecurity>
  <PresentationFormat>宽屏</PresentationFormat>
  <Paragraphs>156</Paragraphs>
  <Slides>5</Slides>
  <Notes>5</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5</vt:i4>
      </vt:variant>
    </vt:vector>
  </HeadingPairs>
  <TitlesOfParts>
    <vt:vector size="8" baseType="lpstr">
      <vt:lpstr>Arial</vt:lpstr>
      <vt:lpstr>Calibri</vt:lpstr>
      <vt:lpstr>ChatGPT</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宾雄 李</cp:lastModifiedBy>
  <cp:revision>2</cp:revision>
  <dcterms:created xsi:type="dcterms:W3CDTF">2026-10-04T08:19:26Z</dcterms:created>
  <dcterms:modified xsi:type="dcterms:W3CDTF">2026-10-04T08:28:21Z</dcterms:modified>
</cp:coreProperties>
</file>