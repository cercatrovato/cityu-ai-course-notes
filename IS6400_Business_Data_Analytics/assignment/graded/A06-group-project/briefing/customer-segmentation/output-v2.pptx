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0232f3abf645d7" /><Relationship Type="http://schemas.openxmlformats.org/officeDocument/2006/relationships/extended-properties" Target="/docProps/app.xml" Id="Rf10bc69e0e754dc6" /><Relationship Type="http://schemas.openxmlformats.org/officeDocument/2006/relationships/officeDocument" Target="/ppt/presentation.xml" Id="Rb548fa432ac846e4" /></Relationships>
</file>

<file path=ppt/presentation.xml><?xml version="1.0" encoding="utf-8"?>
<p:presentation xmlns:p="http://schemas.openxmlformats.org/presentationml/2006/main">
  <p:sldMasterIdLst>
    <p:sldMasterId xmlns:r="http://schemas.openxmlformats.org/officeDocument/2006/relationships" id="2147483648" r:id="R39b08478600e440e"/>
  </p:sldMasterIdLst>
  <p:notesMasterIdLst>
    <p:notesMasterId xmlns:r="http://schemas.openxmlformats.org/officeDocument/2006/relationships" r:id="R602f4eb770dc4a3e"/>
  </p:notesMasterIdLst>
  <p:sldIdLst>
    <p:sldId xmlns:r="http://schemas.openxmlformats.org/officeDocument/2006/relationships" id="256" r:id="R76e4b3ae1b9047c6"/>
    <p:sldId xmlns:r="http://schemas.openxmlformats.org/officeDocument/2006/relationships" id="257" r:id="R8f8a6099df744ab7"/>
    <p:sldId xmlns:r="http://schemas.openxmlformats.org/officeDocument/2006/relationships" id="258" r:id="R9135178cb3724018"/>
    <p:sldId xmlns:r="http://schemas.openxmlformats.org/officeDocument/2006/relationships" id="259" r:id="Rb67e895229c14b4d"/>
    <p:sldId xmlns:r="http://schemas.openxmlformats.org/officeDocument/2006/relationships" id="260" r:id="R31e680df69d948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c1a485c5fa46bf" /><Relationship Type="http://schemas.openxmlformats.org/officeDocument/2006/relationships/slideMaster" Target="/ppt/slideMasters/slideMaster1.xml" Id="R39b08478600e440e" /><Relationship Type="http://schemas.openxmlformats.org/officeDocument/2006/relationships/notesMaster" Target="/ppt/notesMasters/notesMaster1.xml" Id="R602f4eb770dc4a3e" /><Relationship Type="http://schemas.openxmlformats.org/officeDocument/2006/relationships/presProps" Target="/ppt/presProps.xml" Id="R998b9bff8f474963" /><Relationship Type="http://schemas.openxmlformats.org/officeDocument/2006/relationships/tableStyles" Target="/ppt/tableStyles.xml" Id="R3e81d3fb950a41e4" /><Relationship Type="http://schemas.openxmlformats.org/officeDocument/2006/relationships/slide" Target="/ppt/slides/slide1.xml" Id="R76e4b3ae1b9047c6" /><Relationship Type="http://schemas.openxmlformats.org/officeDocument/2006/relationships/slide" Target="/ppt/slides/slide2.xml" Id="R8f8a6099df744ab7" /><Relationship Type="http://schemas.openxmlformats.org/officeDocument/2006/relationships/slide" Target="/ppt/slides/slide3.xml" Id="R9135178cb3724018" /><Relationship Type="http://schemas.openxmlformats.org/officeDocument/2006/relationships/slide" Target="/ppt/slides/slide4.xml" Id="Rb67e895229c14b4d" /><Relationship Type="http://schemas.openxmlformats.org/officeDocument/2006/relationships/slide" Target="/ppt/slides/slide5.xml" Id="R31e680df69d948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5b5ecde46043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347123d82d406f" /><Relationship Type="http://schemas.openxmlformats.org/officeDocument/2006/relationships/notesMaster" Target="/ppt/notesMasters/notesMaster1.xml" Id="R24db63da24c142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8b56ffd17c4dee" /><Relationship Type="http://schemas.openxmlformats.org/officeDocument/2006/relationships/notesMaster" Target="/ppt/notesMasters/notesMaster1.xml" Id="R780422758a034b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ce4b471a3c4863" /><Relationship Type="http://schemas.openxmlformats.org/officeDocument/2006/relationships/notesMaster" Target="/ppt/notesMasters/notesMaster1.xml" Id="R08304c0d49314d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ba52e3a40e43e7" /><Relationship Type="http://schemas.openxmlformats.org/officeDocument/2006/relationships/notesMaster" Target="/ppt/notesMasters/notesMaster1.xml" Id="Rdc25cb11dd6941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82c097a5ec4cc9" /><Relationship Type="http://schemas.openxmlformats.org/officeDocument/2006/relationships/notesMaster" Target="/ppt/notesMasters/notesMaster1.xml" Id="Rbc0e66be059442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Our project asks whether K-means can identify customer groups that are more stable and informative than simple recency and spending rules. The intended user is a customer operations team deciding whether a more complex grouping approach is worth adopting. We focus on purchase behaviour, rather than dividing customers into repeat and non-repeat buyers. The results will guide marketing experiment proposals, not prove marketing effectiveness.</a:t>
            </a:r>
          </a:p>
          <a:p xmlns:a="http://schemas.openxmlformats.org/drawingml/2006/main">
            <a:r>
              <a:t/>
            </a:r>
          </a:p>
          <a:p xmlns:a="http://schemas.openxmlformats.org/drawingml/2006/main">
            <a:r>
              <a:t>中文讲解</a:t>
            </a:r>
          </a:p>
          <a:p xmlns:a="http://schemas.openxmlformats.org/drawingml/2006/main">
            <a:r>
              <a:t>核心是客户分群及方法是否值得采用。复购是可选辅助，不是二分类目标。不能预先声称客户画像已存在或营销一定有效。组号、六位成员姓名与学号尚未提供，正式提交前请按 Canvas 要求补齐，不虚构。</a:t>
            </a:r>
          </a:p>
          <a:p xmlns:a="http://schemas.openxmlformats.org/drawingml/2006/main">
            <a:r>
              <a:t/>
            </a:r>
          </a:p>
          <a:p xmlns:a="http://schemas.openxmlformats.org/drawingml/2006/main">
            <a:r>
              <a:t>Source: approved revised HTML; IS6400 Project Guideline, pp.1–2. Team proposal draft; no model results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We use three core tables from Olist's historical Brazilian e-commerce data: orders, order items and customers. Their raw row counts have been checked locally. We will first aggregate item amounts to orders, then link orders to unique buyer identifiers. This avoids inflated totals from one-to-many joins. Product metadata can be added for category profiles. The final customer sample will depend on the observation window and valid-order rules.</a:t>
            </a:r>
          </a:p>
          <a:p xmlns:a="http://schemas.openxmlformats.org/drawingml/2006/main">
            <a:r>
              <a:t/>
            </a:r>
          </a:p>
          <a:p xmlns:a="http://schemas.openxmlformats.org/drawingml/2006/main">
            <a:r>
              <a:t>中文讲解</a:t>
            </a:r>
          </a:p>
          <a:p xmlns:a="http://schemas.openxmlformats.org/drawingml/2006/main">
            <a:r>
              <a:t>客户表 99,441 行不是独立买家数；原始 customer_unique_id 有 96,096 个。先聚合明细，再连接订单与客户。不可把取消状态或未来才得知的结果默认为当时有效。若采用时间留出，资格和特征必须遵守时点。暂不纳入支付/评价多表，保留已批准方案的三表核心结构。</a:t>
            </a:r>
          </a:p>
          <a:p xmlns:a="http://schemas.openxmlformats.org/drawingml/2006/main">
            <a:r>
              <a:t/>
            </a:r>
          </a:p>
          <a:p xmlns:a="http://schemas.openxmlformats.org/drawingml/2006/main">
            <a:r>
              <a:t>Sources: https://www.kaggle.com/datasets/olistbr/brazilian-ecommerce ; work/data/source-manifest.json. Raw CSV counts: orders 99,441; items 112,650; customers 99,441. Olist package SHA-256 967e41e04fc306fe604e2a693f488995a8b41e5047418f8a5c8e4abd6deca784. These are source rows, not final modelling samples.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30 seconds.</a:t>
            </a:r>
          </a:p>
          <a:p xmlns:a="http://schemas.openxmlformats.org/drawingml/2006/main">
            <a:r>
              <a:t/>
            </a:r>
          </a:p>
          <a:p xmlns:a="http://schemas.openxmlformats.org/drawingml/2006/main">
            <a:r>
              <a:t>ENGLISH SCRIPT</a:t>
            </a:r>
          </a:p>
          <a:p xmlns:a="http://schemas.openxmlformats.org/drawingml/2006/main">
            <a:r>
              <a:t>Our initial inputs are recency, frequency and monetary value, measured consistently before the analysis date. We will check whether frequency provides enough variation, since most buyers have only one observed order. Average order value, purchased categories and region can help describe the resulting groups. These are observed behaviours, not permanent preferences or lifetime profit. Later purchasing is an optional supplementary check.</a:t>
            </a:r>
          </a:p>
          <a:p xmlns:a="http://schemas.openxmlformats.org/drawingml/2006/main">
            <a:r>
              <a:t/>
            </a:r>
          </a:p>
          <a:p xmlns:a="http://schemas.openxmlformats.org/drawingml/2006/main">
            <a:r>
              <a:t>中文讲解</a:t>
            </a:r>
          </a:p>
          <a:p xmlns:a="http://schemas.openxmlformats.org/drawingml/2006/main">
            <a:r>
              <a:t>R 为距最后有效购买天数，F 是固定窗口内不同订单数，M 是同窗口商品金额，不含运费。日期和有效订单口径先固定。客单价由 M/F 派生，不能作为完全独立的外部证据；品类和地区若未参与聚类，可帮助解释差异。多数买家一次购买不等于流失。若 F 无区分度或与其他特征冗余，先诊断并记录改动，不能事后为了好看反复挑变量。</a:t>
            </a:r>
          </a:p>
          <a:p xmlns:a="http://schemas.openxmlformats.org/drawingml/2006/main">
            <a:r>
              <a:t/>
            </a:r>
          </a:p>
          <a:p xmlns:a="http://schemas.openxmlformats.org/drawingml/2006/main">
            <a:r>
              <a:t>Reference: approved RFM proposal; local raw-file audit. No cluster labels or results have been 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ENGLISH SCRIPT</a:t>
            </a:r>
          </a:p>
          <a:p xmlns:a="http://schemas.openxmlformats.org/drawingml/2006/main">
            <a:r>
              <a:t>We compare two approaches on the same customers and observation window. The baseline crosses recent activity with higher or lower spending. K-means uses transformed and standardised RFM inputs. We will assess separation, group sizes, and stability across seeds and resamples. We will also examine profile variables not used for clustering. A high silhouette score alone is insufficient: the more complex method must provide stable and interpretable information beyond the simple rules.</a:t>
            </a:r>
          </a:p>
          <a:p xmlns:a="http://schemas.openxmlformats.org/drawingml/2006/main">
            <a:r>
              <a:t/>
            </a:r>
          </a:p>
          <a:p xmlns:a="http://schemas.openxmlformats.org/drawingml/2006/main">
            <a:r>
              <a:t>中文讲解</a:t>
            </a:r>
          </a:p>
          <a:p xmlns:a="http://schemas.openxmlformats.org/drawingml/2006/main">
            <a:r>
              <a:t>轮廓系数是内部结构指标，不是业务收益。重抽样稳定性需要在可比的共同客户上比较标签/群中心或画像，并处理群标签置换；简单规则也要采用相同数据与评估口径。阈值和 K 在开发阶段确定，不按保留评估结果反复调参。比较时同时关注 K 不同造成的复杂度差异；必要时用 K=4 与四规则群匹配，再报告其他 K 的敏感性。K-means 多用 F 而基准只用 R/M，若表现不同需检查是新增信息还是分组方法造成，可增加 R/M-only 聚类检查。类别编号不直接计算距离。辅助变量差异只能支持画像信息，不是因果效果。具体指标 Category lift：在统一观察窗口内，该群购买过某品类的客户比例，除以全体分析客户购买过同品类的比例。分子和分母都按去重客户计数，同一客户可购买多个品类，各品类比例不必加总为100%。例如某群30%、整体15%，lift=2，表示该群对该品类的已观察购买倾向是整体的2倍；这是说明口径的假设例子，不是分析结果。需要加入products表；品类不作为聚类输入。两种分群用相同客户、窗口和预先选定品类比较，报告群体人数、购买人数与占比；设最低支持量并作重抽样稳定性检查，避免只挑稀有小群的最大lift。它为推荐内容实验提供依据，不证明偏好长期不变、推荐转化或营销增量。</a:t>
            </a:r>
          </a:p>
          <a:p xmlns:a="http://schemas.openxmlformats.org/drawingml/2006/main">
            <a:r>
              <a:t/>
            </a:r>
          </a:p>
          <a:p xmlns:a="http://schemas.openxmlformats.org/drawingml/2006/main">
            <a:r>
              <a:t>Source: approved revised strategy. Planned methods only; no fitted model, measured silhouette or performance gain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We expect three outputs: a justified choice between rules and clustering, evidence-based customer profiles, and targeted marketing experiment proposals. Each proposed action will include a control group and suitable effect and cost measures. If clustering adds little information, recommending simple rules is still useful. Our data can evaluate segmentation quality, but cannot establish marketing uplift. Repeat purchase remains optional rather than a required success criterion.</a:t>
            </a:r>
          </a:p>
          <a:p xmlns:a="http://schemas.openxmlformats.org/drawingml/2006/main">
            <a:r>
              <a:t/>
            </a:r>
          </a:p>
          <a:p xmlns:a="http://schemas.openxmlformats.org/drawingml/2006/main">
            <a:r>
              <a:t>中文讲解</a:t>
            </a:r>
          </a:p>
          <a:p xmlns:a="http://schemas.openxmlformats.org/drawingml/2006/main">
            <a:r>
              <a:t>预期贡献不是已经发现了高价值群或证明营销有效。方案矩阵按“群体特征—行动假设—实验指标”写，具体群名等待结果。干预实验可将同一群内客户随机分配实验与对照，在控制成本的同时看效果；当前数据没有干预记录，不宣称实施过。数据只能覆盖历史公开样本，不代表当前全市场。</a:t>
            </a:r>
          </a:p>
          <a:p xmlns:a="http://schemas.openxmlformats.org/drawingml/2006/main">
            <a:r>
              <a:t/>
            </a:r>
          </a:p>
          <a:p xmlns:a="http://schemas.openxmlformats.org/drawingml/2006/main">
            <a:r>
              <a:t>Source: approved Potential Contribution section; IS6400 Project Guideline. Submission checklist: confirm current Canvas briefing requirements and team identity details; proposal remains DRAFT until team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a2693ed2804f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afa8e039a44e80" /><Relationship Type="http://schemas.openxmlformats.org/officeDocument/2006/relationships/slideLayout" Target="/ppt/slideLayouts/slideLayout1.xml" Id="R44b21015b04748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b21015b04748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779159d04a4211" /><Relationship Type="http://schemas.openxmlformats.org/officeDocument/2006/relationships/image" Target="/ppt/media/image.png" Id="Rf47bafb48211467c" /><Relationship Type="http://schemas.openxmlformats.org/officeDocument/2006/relationships/notesSlide" Target="/ppt/notesSlides/notesSlide1.xml" Id="R5f0a7e3c1dc847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13c3720ff243b6" /><Relationship Type="http://schemas.openxmlformats.org/officeDocument/2006/relationships/image" Target="/ppt/media/image2.png" Id="Raa5ca9be780d4e31" /><Relationship Type="http://schemas.openxmlformats.org/officeDocument/2006/relationships/notesSlide" Target="/ppt/notesSlides/notesSlide2.xml" Id="R763024cd656147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aa3d53881049ff" /><Relationship Type="http://schemas.openxmlformats.org/officeDocument/2006/relationships/image" Target="/ppt/media/image3.png" Id="Rca5f66f58aef4723" /><Relationship Type="http://schemas.openxmlformats.org/officeDocument/2006/relationships/notesSlide" Target="/ppt/notesSlides/notesSlide3.xml" Id="R6b380305f3464c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2d6f781d4e4124" /><Relationship Type="http://schemas.openxmlformats.org/officeDocument/2006/relationships/image" Target="/ppt/media/image4.png" Id="Rd4e71ab08d574887" /><Relationship Type="http://schemas.openxmlformats.org/officeDocument/2006/relationships/notesSlide" Target="/ppt/notesSlides/notesSlide4.xml" Id="R7bb55050785d4c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9826c9ce0144a8" /><Relationship Type="http://schemas.openxmlformats.org/officeDocument/2006/relationships/image" Target="/ppt/media/image5.png" Id="R3ba464505eaf47ec" /><Relationship Type="http://schemas.openxmlformats.org/officeDocument/2006/relationships/notesSlide" Target="/ppt/notesSlides/notesSlide5.xml" Id="R4bd7311bdd2340b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47bafb48211467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E7A88FFC-43A8-47A6-855F-2EB0F6150CAE}"/>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01  /  BUSINESS PROBLEM</a:t>
            </a:r>
          </a:p>
        </p:txBody>
      </p:sp>
      <p:sp>
        <p:nvSpPr>
          <p:cNvPr id="3" name="headline">
            <a:extLst xmlns:a="http://schemas.openxmlformats.org/drawingml/2006/main">
              <a:ext uri="{FF2B5EF4-FFF2-40B4-BE49-F238E27FC236}">
                <a16:creationId xmlns:a16="http://schemas.microsoft.com/office/drawing/2014/main" id="{A0669330-2C78-47B8-8E64-79F3DAF07920}"/>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Customer groups that support decisions</a:t>
            </a:r>
          </a:p>
        </p:txBody>
      </p:sp>
      <p:sp>
        <p:nvSpPr>
          <p:cNvPr id="4" name="">
            <a:extLst xmlns:a="http://schemas.openxmlformats.org/drawingml/2006/main">
              <a:ext uri="{FF2B5EF4-FFF2-40B4-BE49-F238E27FC236}">
                <a16:creationId xmlns:a16="http://schemas.microsoft.com/office/drawing/2014/main" id="{48699E67-3CB1-4052-ABA7-331E9BD52BFE}"/>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2B80299D-81ED-41DB-8D85-F82094C2039E}"/>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92513617-49E6-4B8C-B9BF-4F568CC37172}"/>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1 / 5</a:t>
            </a:r>
          </a:p>
        </p:txBody>
      </p:sp>
      <p:sp>
        <p:nvSpPr>
          <p:cNvPr id="7" name="project-title">
            <a:extLst xmlns:a="http://schemas.openxmlformats.org/drawingml/2006/main">
              <a:ext uri="{FF2B5EF4-FFF2-40B4-BE49-F238E27FC236}">
                <a16:creationId xmlns:a16="http://schemas.microsoft.com/office/drawing/2014/main" id="{41C2B787-4116-41B3-A18D-E0BAAC644EE4}"/>
              </a:ext>
            </a:extLst>
          </p:cNvPr>
          <p:cNvSpPr>
            <a:spLocks xmlns:a="http://schemas.openxmlformats.org/drawingml/2006/main" noGrp="1"/>
          </p:cNvSpPr>
          <p:nvPr/>
        </p:nvSpPr>
        <p:spPr>
          <a:xfrm xmlns:a="http://schemas.openxmlformats.org/drawingml/2006/main">
            <a:off x="609600" y="19431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Evaluating customer segmentation</a:t>
            </a:r>
          </a:p>
          <a:p xmlns:a="http://schemas.openxmlformats.org/drawingml/2006/main">
            <a:r>
              <a:rPr sz="2550" b="1">
                <a:solidFill>
                  <a:srgbClr val="A82062"/>
                </a:solidFill>
                <a:latin typeface="Arial"/>
                <a:ea typeface="Arial"/>
                <a:cs typeface="Arial"/>
              </a:rPr>
              <a:t>for differentiated marketing</a:t>
            </a:r>
          </a:p>
        </p:txBody>
      </p:sp>
      <p:sp>
        <p:nvSpPr>
          <p:cNvPr id="8" name="question">
            <a:extLst xmlns:a="http://schemas.openxmlformats.org/drawingml/2006/main">
              <a:ext uri="{FF2B5EF4-FFF2-40B4-BE49-F238E27FC236}">
                <a16:creationId xmlns:a16="http://schemas.microsoft.com/office/drawing/2014/main" id="{C7B3220E-46AF-4BAC-A804-52CA110A57FB}"/>
              </a:ext>
            </a:extLst>
          </p:cNvPr>
          <p:cNvSpPr>
            <a:spLocks xmlns:a="http://schemas.openxmlformats.org/drawingml/2006/main" noGrp="1"/>
          </p:cNvSpPr>
          <p:nvPr/>
        </p:nvSpPr>
        <p:spPr>
          <a:xfrm xmlns:a="http://schemas.openxmlformats.org/drawingml/2006/main">
            <a:off x="609600" y="3067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250" b="1">
                <a:solidFill>
                  <a:srgbClr val="192B40"/>
                </a:solidFill>
                <a:latin typeface="Arial"/>
                <a:ea typeface="Arial"/>
                <a:cs typeface="Arial"/>
              </a:rPr>
              <a:t>Does K-means reveal more stable, interpretable groups</a:t>
            </a:r>
          </a:p>
          <a:p xmlns:a="http://schemas.openxmlformats.org/drawingml/2006/main">
            <a:r>
              <a:rPr sz="2250" b="1">
                <a:solidFill>
                  <a:srgbClr val="192B40"/>
                </a:solidFill>
                <a:latin typeface="Arial"/>
                <a:ea typeface="Arial"/>
                <a:cs typeface="Arial"/>
              </a:rPr>
              <a:t>than simple recency-and-spending rules?</a:t>
            </a:r>
          </a:p>
        </p:txBody>
      </p:sp>
      <p:sp>
        <p:nvSpPr>
          <p:cNvPr id="9" name="">
            <a:extLst xmlns:a="http://schemas.openxmlformats.org/drawingml/2006/main">
              <a:ext uri="{FF2B5EF4-FFF2-40B4-BE49-F238E27FC236}">
                <a16:creationId xmlns:a16="http://schemas.microsoft.com/office/drawing/2014/main" id="{39EF7BD6-F762-444E-BC6A-789D0578B059}"/>
              </a:ext>
            </a:extLst>
          </p:cNvPr>
          <p:cNvSpPr>
            <a:spLocks xmlns:a="http://schemas.openxmlformats.org/drawingml/2006/main" noGrp="1"/>
          </p:cNvSpPr>
          <p:nvPr/>
        </p:nvSpPr>
        <p:spPr>
          <a:xfrm xmlns:a="http://schemas.openxmlformats.org/drawingml/2006/main">
            <a:off x="6096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0" name="decision-label-0">
            <a:extLst xmlns:a="http://schemas.openxmlformats.org/drawingml/2006/main">
              <a:ext uri="{FF2B5EF4-FFF2-40B4-BE49-F238E27FC236}">
                <a16:creationId xmlns:a16="http://schemas.microsoft.com/office/drawing/2014/main" id="{A44C8837-58DE-4AC7-8707-F0874E767AB6}"/>
              </a:ext>
            </a:extLst>
          </p:cNvPr>
          <p:cNvSpPr>
            <a:spLocks xmlns:a="http://schemas.openxmlformats.org/drawingml/2006/main" noGrp="1"/>
          </p:cNvSpPr>
          <p:nvPr/>
        </p:nvSpPr>
        <p:spPr>
          <a:xfrm xmlns:a="http://schemas.openxmlformats.org/drawingml/2006/main">
            <a:off x="8001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USER</a:t>
            </a:r>
          </a:p>
        </p:txBody>
      </p:sp>
      <p:sp>
        <p:nvSpPr>
          <p:cNvPr id="11" name="decision-text-0">
            <a:extLst xmlns:a="http://schemas.openxmlformats.org/drawingml/2006/main">
              <a:ext uri="{FF2B5EF4-FFF2-40B4-BE49-F238E27FC236}">
                <a16:creationId xmlns:a16="http://schemas.microsoft.com/office/drawing/2014/main" id="{5CDA30B9-A58E-4586-B3B9-73C86D96CB29}"/>
              </a:ext>
            </a:extLst>
          </p:cNvPr>
          <p:cNvSpPr>
            <a:spLocks xmlns:a="http://schemas.openxmlformats.org/drawingml/2006/main" noGrp="1"/>
          </p:cNvSpPr>
          <p:nvPr/>
        </p:nvSpPr>
        <p:spPr>
          <a:xfrm xmlns:a="http://schemas.openxmlformats.org/drawingml/2006/main">
            <a:off x="8001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Customer operations team</a:t>
            </a:r>
          </a:p>
        </p:txBody>
      </p:sp>
      <p:sp>
        <p:nvSpPr>
          <p:cNvPr id="12" name="">
            <a:extLst xmlns:a="http://schemas.openxmlformats.org/drawingml/2006/main">
              <a:ext uri="{FF2B5EF4-FFF2-40B4-BE49-F238E27FC236}">
                <a16:creationId xmlns:a16="http://schemas.microsoft.com/office/drawing/2014/main" id="{B57ACABE-9ACD-455F-87A2-7D341645CB52}"/>
              </a:ext>
            </a:extLst>
          </p:cNvPr>
          <p:cNvSpPr>
            <a:spLocks xmlns:a="http://schemas.openxmlformats.org/drawingml/2006/main" noGrp="1"/>
          </p:cNvSpPr>
          <p:nvPr/>
        </p:nvSpPr>
        <p:spPr>
          <a:xfrm xmlns:a="http://schemas.openxmlformats.org/drawingml/2006/main">
            <a:off x="43434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3" name="decision-label-1">
            <a:extLst xmlns:a="http://schemas.openxmlformats.org/drawingml/2006/main">
              <a:ext uri="{FF2B5EF4-FFF2-40B4-BE49-F238E27FC236}">
                <a16:creationId xmlns:a16="http://schemas.microsoft.com/office/drawing/2014/main" id="{0BB7921C-C5AB-4CEF-A329-649982C61A87}"/>
              </a:ext>
            </a:extLst>
          </p:cNvPr>
          <p:cNvSpPr>
            <a:spLocks xmlns:a="http://schemas.openxmlformats.org/drawingml/2006/main" noGrp="1"/>
          </p:cNvSpPr>
          <p:nvPr/>
        </p:nvSpPr>
        <p:spPr>
          <a:xfrm xmlns:a="http://schemas.openxmlformats.org/drawingml/2006/main">
            <a:off x="45339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DECISION</a:t>
            </a:r>
          </a:p>
        </p:txBody>
      </p:sp>
      <p:sp>
        <p:nvSpPr>
          <p:cNvPr id="14" name="decision-text-1">
            <a:extLst xmlns:a="http://schemas.openxmlformats.org/drawingml/2006/main">
              <a:ext uri="{FF2B5EF4-FFF2-40B4-BE49-F238E27FC236}">
                <a16:creationId xmlns:a16="http://schemas.microsoft.com/office/drawing/2014/main" id="{B824AEE9-FD62-4552-8FA9-095BD7DDA6B3}"/>
              </a:ext>
            </a:extLst>
          </p:cNvPr>
          <p:cNvSpPr>
            <a:spLocks xmlns:a="http://schemas.openxmlformats.org/drawingml/2006/main" noGrp="1"/>
          </p:cNvSpPr>
          <p:nvPr/>
        </p:nvSpPr>
        <p:spPr>
          <a:xfrm xmlns:a="http://schemas.openxmlformats.org/drawingml/2006/main">
            <a:off x="45339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Which grouping approach</a:t>
            </a:r>
          </a:p>
          <a:p xmlns:a="http://schemas.openxmlformats.org/drawingml/2006/main">
            <a:r>
              <a:rPr sz="1725" b="0">
                <a:solidFill>
                  <a:srgbClr val="192B40"/>
                </a:solidFill>
                <a:latin typeface="Arial"/>
                <a:ea typeface="Arial"/>
                <a:cs typeface="Arial"/>
              </a:rPr>
              <a:t>is worth adopting?</a:t>
            </a:r>
          </a:p>
        </p:txBody>
      </p:sp>
      <p:sp>
        <p:nvSpPr>
          <p:cNvPr id="15" name="">
            <a:extLst xmlns:a="http://schemas.openxmlformats.org/drawingml/2006/main">
              <a:ext uri="{FF2B5EF4-FFF2-40B4-BE49-F238E27FC236}">
                <a16:creationId xmlns:a16="http://schemas.microsoft.com/office/drawing/2014/main" id="{DBF5DFD3-8A7F-44E6-A638-93D781320579}"/>
              </a:ext>
            </a:extLst>
          </p:cNvPr>
          <p:cNvSpPr>
            <a:spLocks xmlns:a="http://schemas.openxmlformats.org/drawingml/2006/main" noGrp="1"/>
          </p:cNvSpPr>
          <p:nvPr/>
        </p:nvSpPr>
        <p:spPr>
          <a:xfrm xmlns:a="http://schemas.openxmlformats.org/drawingml/2006/main">
            <a:off x="80772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decision-label-2">
            <a:extLst xmlns:a="http://schemas.openxmlformats.org/drawingml/2006/main">
              <a:ext uri="{FF2B5EF4-FFF2-40B4-BE49-F238E27FC236}">
                <a16:creationId xmlns:a16="http://schemas.microsoft.com/office/drawing/2014/main" id="{F3FB1662-1669-49EB-A79E-41FAF45314EF}"/>
              </a:ext>
            </a:extLst>
          </p:cNvPr>
          <p:cNvSpPr>
            <a:spLocks xmlns:a="http://schemas.openxmlformats.org/drawingml/2006/main" noGrp="1"/>
          </p:cNvSpPr>
          <p:nvPr/>
        </p:nvSpPr>
        <p:spPr>
          <a:xfrm xmlns:a="http://schemas.openxmlformats.org/drawingml/2006/main">
            <a:off x="82677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PURPOSE</a:t>
            </a:r>
          </a:p>
        </p:txBody>
      </p:sp>
      <p:sp>
        <p:nvSpPr>
          <p:cNvPr id="17" name="decision-text-2">
            <a:extLst xmlns:a="http://schemas.openxmlformats.org/drawingml/2006/main">
              <a:ext uri="{FF2B5EF4-FFF2-40B4-BE49-F238E27FC236}">
                <a16:creationId xmlns:a16="http://schemas.microsoft.com/office/drawing/2014/main" id="{327E225A-84E4-4DB0-9BD7-C512D5D41AFD}"/>
              </a:ext>
            </a:extLst>
          </p:cNvPr>
          <p:cNvSpPr>
            <a:spLocks xmlns:a="http://schemas.openxmlformats.org/drawingml/2006/main" noGrp="1"/>
          </p:cNvSpPr>
          <p:nvPr/>
        </p:nvSpPr>
        <p:spPr>
          <a:xfrm xmlns:a="http://schemas.openxmlformats.org/drawingml/2006/main">
            <a:off x="82677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A basis for differentiated</a:t>
            </a:r>
          </a:p>
          <a:p xmlns:a="http://schemas.openxmlformats.org/drawingml/2006/main">
            <a:r>
              <a:rPr sz="1725" b="0">
                <a:solidFill>
                  <a:srgbClr val="192B40"/>
                </a:solidFill>
                <a:latin typeface="Arial"/>
                <a:ea typeface="Arial"/>
                <a:cs typeface="Arial"/>
              </a:rPr>
              <a:t>marketing experiments</a:t>
            </a:r>
          </a:p>
        </p:txBody>
      </p:sp>
      <p:sp>
        <p:nvSpPr>
          <p:cNvPr id="18" name="scope">
            <a:extLst xmlns:a="http://schemas.openxmlformats.org/drawingml/2006/main">
              <a:ext uri="{FF2B5EF4-FFF2-40B4-BE49-F238E27FC236}">
                <a16:creationId xmlns:a16="http://schemas.microsoft.com/office/drawing/2014/main" id="{554B0379-96A0-4014-96BE-0D52029E75E8}"/>
              </a:ext>
            </a:extLst>
          </p:cNvPr>
          <p:cNvSpPr>
            <a:spLocks xmlns:a="http://schemas.openxmlformats.org/drawingml/2006/main" noGrp="1"/>
          </p:cNvSpPr>
          <p:nvPr/>
        </p:nvSpPr>
        <p:spPr>
          <a:xfrm xmlns:a="http://schemas.openxmlformats.org/drawingml/2006/main">
            <a:off x="609600" y="58293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75" b="0">
                <a:solidFill>
                  <a:srgbClr val="536375"/>
                </a:solidFill>
                <a:latin typeface="Arial"/>
                <a:ea typeface="Arial"/>
                <a:cs typeface="Arial"/>
              </a:rPr>
              <a:t>Purchase-behaviour segmentation; repeat purchase is an optional check.</a:t>
            </a:r>
          </a:p>
        </p:txBody>
      </p:sp>
    </p:spTree>
    <p:extLst>
      <p:ext uri="{BB962C8B-B14F-4D97-AF65-F5344CB8AC3E}">
        <p14:creationId xmlns:p14="http://schemas.microsoft.com/office/powerpoint/2010/main" val="3189072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a5ca9be780d4e3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15BD8EA6-EC40-4A18-B63A-B4CDDE4C5441}"/>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02  /  DATASET DESCRIPTION</a:t>
            </a:r>
          </a:p>
        </p:txBody>
      </p:sp>
      <p:sp>
        <p:nvSpPr>
          <p:cNvPr id="3" name="headline">
            <a:extLst xmlns:a="http://schemas.openxmlformats.org/drawingml/2006/main">
              <a:ext uri="{FF2B5EF4-FFF2-40B4-BE49-F238E27FC236}">
                <a16:creationId xmlns:a16="http://schemas.microsoft.com/office/drawing/2014/main" id="{3137FF90-076D-45F3-9501-8ABB6C6B7C4F}"/>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Three tables, one customer-level view</a:t>
            </a:r>
          </a:p>
        </p:txBody>
      </p:sp>
      <p:sp>
        <p:nvSpPr>
          <p:cNvPr id="4" name="">
            <a:extLst xmlns:a="http://schemas.openxmlformats.org/drawingml/2006/main">
              <a:ext uri="{FF2B5EF4-FFF2-40B4-BE49-F238E27FC236}">
                <a16:creationId xmlns:a16="http://schemas.microsoft.com/office/drawing/2014/main" id="{F22EC6FB-B136-4A78-967E-A8EAEA9106FB}"/>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9BC371B7-5C09-466A-9BBA-BFA97E106536}"/>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B46B8447-7FE9-4169-A7A4-99B529822DAE}"/>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2 / 5</a:t>
            </a:r>
          </a:p>
        </p:txBody>
      </p:sp>
      <p:sp>
        <p:nvSpPr>
          <p:cNvPr id="7" name="dataset-context">
            <a:extLst xmlns:a="http://schemas.openxmlformats.org/drawingml/2006/main">
              <a:ext uri="{FF2B5EF4-FFF2-40B4-BE49-F238E27FC236}">
                <a16:creationId xmlns:a16="http://schemas.microsoft.com/office/drawing/2014/main" id="{D7A337ED-0F59-45B2-BDDF-6B67B04112B4}"/>
              </a:ext>
            </a:extLst>
          </p:cNvPr>
          <p:cNvSpPr>
            <a:spLocks xmlns:a="http://schemas.openxmlformats.org/drawingml/2006/main" noGrp="1"/>
          </p:cNvSpPr>
          <p:nvPr/>
        </p:nvSpPr>
        <p:spPr>
          <a:xfrm xmlns:a="http://schemas.openxmlformats.org/drawingml/2006/main">
            <a:off x="609600" y="1819275"/>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00" b="0">
                <a:solidFill>
                  <a:srgbClr val="536375"/>
                </a:solidFill>
                <a:latin typeface="Arial"/>
                <a:ea typeface="Arial"/>
                <a:cs typeface="Arial"/>
              </a:rPr>
              <a:t>Olist • Brazilian e-commerce • 2016–2018</a:t>
            </a:r>
          </a:p>
        </p:txBody>
      </p:sp>
      <p:sp>
        <p:nvSpPr>
          <p:cNvPr id="8" name="">
            <a:extLst xmlns:a="http://schemas.openxmlformats.org/drawingml/2006/main">
              <a:ext uri="{FF2B5EF4-FFF2-40B4-BE49-F238E27FC236}">
                <a16:creationId xmlns:a16="http://schemas.microsoft.com/office/drawing/2014/main" id="{EB15D1B7-D0F8-4F39-A50D-297A1DBC22BD}"/>
              </a:ext>
            </a:extLst>
          </p:cNvPr>
          <p:cNvSpPr>
            <a:spLocks xmlns:a="http://schemas.openxmlformats.org/drawingml/2006/main" noGrp="1"/>
          </p:cNvSpPr>
          <p:nvPr/>
        </p:nvSpPr>
        <p:spPr>
          <a:xfrm xmlns:a="http://schemas.openxmlformats.org/drawingml/2006/main">
            <a:off x="6096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3CD9993-5DD0-4EE6-A1D7-DF00137ED392}"/>
              </a:ext>
            </a:extLst>
          </p:cNvPr>
          <p:cNvSpPr>
            <a:spLocks xmlns:a="http://schemas.openxmlformats.org/drawingml/2006/main" noGrp="1"/>
          </p:cNvSpPr>
          <p:nvPr/>
        </p:nvSpPr>
        <p:spPr>
          <a:xfrm xmlns:a="http://schemas.openxmlformats.org/drawingml/2006/main">
            <a:off x="6096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10" name="orders-name">
            <a:extLst xmlns:a="http://schemas.openxmlformats.org/drawingml/2006/main">
              <a:ext uri="{FF2B5EF4-FFF2-40B4-BE49-F238E27FC236}">
                <a16:creationId xmlns:a16="http://schemas.microsoft.com/office/drawing/2014/main" id="{32C70CCB-BB89-4AE3-8D0C-ED273601A328}"/>
              </a:ext>
            </a:extLst>
          </p:cNvPr>
          <p:cNvSpPr>
            <a:spLocks xmlns:a="http://schemas.openxmlformats.org/drawingml/2006/main" noGrp="1"/>
          </p:cNvSpPr>
          <p:nvPr/>
        </p:nvSpPr>
        <p:spPr>
          <a:xfrm xmlns:a="http://schemas.openxmlformats.org/drawingml/2006/main">
            <a:off x="8001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orders</a:t>
            </a:r>
          </a:p>
        </p:txBody>
      </p:sp>
      <p:sp>
        <p:nvSpPr>
          <p:cNvPr id="11" name="orders-count">
            <a:extLst xmlns:a="http://schemas.openxmlformats.org/drawingml/2006/main">
              <a:ext uri="{FF2B5EF4-FFF2-40B4-BE49-F238E27FC236}">
                <a16:creationId xmlns:a16="http://schemas.microsoft.com/office/drawing/2014/main" id="{FD49632A-CA77-4587-B2DD-DA8F71A45A1F}"/>
              </a:ext>
            </a:extLst>
          </p:cNvPr>
          <p:cNvSpPr>
            <a:spLocks xmlns:a="http://schemas.openxmlformats.org/drawingml/2006/main" noGrp="1"/>
          </p:cNvSpPr>
          <p:nvPr/>
        </p:nvSpPr>
        <p:spPr>
          <a:xfrm xmlns:a="http://schemas.openxmlformats.org/drawingml/2006/main">
            <a:off x="8001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99,441 rows</a:t>
            </a:r>
          </a:p>
        </p:txBody>
      </p:sp>
      <p:sp>
        <p:nvSpPr>
          <p:cNvPr id="12" name="orders-fields">
            <a:extLst xmlns:a="http://schemas.openxmlformats.org/drawingml/2006/main">
              <a:ext uri="{FF2B5EF4-FFF2-40B4-BE49-F238E27FC236}">
                <a16:creationId xmlns:a16="http://schemas.microsoft.com/office/drawing/2014/main" id="{6811D0F8-3CC7-4403-BA2A-2E29F2C7778A}"/>
              </a:ext>
            </a:extLst>
          </p:cNvPr>
          <p:cNvSpPr>
            <a:spLocks xmlns:a="http://schemas.openxmlformats.org/drawingml/2006/main" noGrp="1"/>
          </p:cNvSpPr>
          <p:nvPr/>
        </p:nvSpPr>
        <p:spPr>
          <a:xfrm xmlns:a="http://schemas.openxmlformats.org/drawingml/2006/main">
            <a:off x="8001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order_id · customer_id</a:t>
            </a:r>
          </a:p>
          <a:p xmlns:a="http://schemas.openxmlformats.org/drawingml/2006/main">
            <a:r>
              <a:rPr sz="1425" b="0">
                <a:solidFill>
                  <a:srgbClr val="192B40"/>
                </a:solidFill>
                <a:latin typeface="Arial"/>
                <a:ea typeface="Arial"/>
                <a:cs typeface="Arial"/>
              </a:rPr>
              <a:t>order_purchase_timestamp</a:t>
            </a:r>
          </a:p>
          <a:p xmlns:a="http://schemas.openxmlformats.org/drawingml/2006/main">
            <a:r>
              <a:rPr sz="1425" b="0">
                <a:solidFill>
                  <a:srgbClr val="192B40"/>
                </a:solidFill>
                <a:latin typeface="Arial"/>
                <a:ea typeface="Arial"/>
                <a:cs typeface="Arial"/>
              </a:rPr>
              <a:t>order_status</a:t>
            </a:r>
          </a:p>
        </p:txBody>
      </p:sp>
      <p:sp>
        <p:nvSpPr>
          <p:cNvPr id="13" name="orders-types">
            <a:extLst xmlns:a="http://schemas.openxmlformats.org/drawingml/2006/main">
              <a:ext uri="{FF2B5EF4-FFF2-40B4-BE49-F238E27FC236}">
                <a16:creationId xmlns:a16="http://schemas.microsoft.com/office/drawing/2014/main" id="{B1F88DDD-A25E-4D87-9124-2AE12FFE52AF}"/>
              </a:ext>
            </a:extLst>
          </p:cNvPr>
          <p:cNvSpPr>
            <a:spLocks xmlns:a="http://schemas.openxmlformats.org/drawingml/2006/main" noGrp="1"/>
          </p:cNvSpPr>
          <p:nvPr/>
        </p:nvSpPr>
        <p:spPr>
          <a:xfrm xmlns:a="http://schemas.openxmlformats.org/drawingml/2006/main">
            <a:off x="8001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 status: categorical</a:t>
            </a:r>
          </a:p>
          <a:p xmlns:a="http://schemas.openxmlformats.org/drawingml/2006/main">
            <a:r>
              <a:rPr sz="1350" b="0">
                <a:solidFill>
                  <a:srgbClr val="536375"/>
                </a:solidFill>
                <a:latin typeface="Arial"/>
                <a:ea typeface="Arial"/>
                <a:cs typeface="Arial"/>
              </a:rPr>
              <a:t>Purchase time: datetime</a:t>
            </a:r>
          </a:p>
        </p:txBody>
      </p:sp>
      <p:sp>
        <p:nvSpPr>
          <p:cNvPr id="14" name="">
            <a:extLst xmlns:a="http://schemas.openxmlformats.org/drawingml/2006/main">
              <a:ext uri="{FF2B5EF4-FFF2-40B4-BE49-F238E27FC236}">
                <a16:creationId xmlns:a16="http://schemas.microsoft.com/office/drawing/2014/main" id="{4E26D16B-C2B6-46BB-A5B0-9BBA946F6076}"/>
              </a:ext>
            </a:extLst>
          </p:cNvPr>
          <p:cNvSpPr>
            <a:spLocks xmlns:a="http://schemas.openxmlformats.org/drawingml/2006/main" noGrp="1"/>
          </p:cNvSpPr>
          <p:nvPr/>
        </p:nvSpPr>
        <p:spPr>
          <a:xfrm xmlns:a="http://schemas.openxmlformats.org/drawingml/2006/main">
            <a:off x="43434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38AEEC9-96FE-4E62-8A94-E87946AC9C22}"/>
              </a:ext>
            </a:extLst>
          </p:cNvPr>
          <p:cNvSpPr>
            <a:spLocks xmlns:a="http://schemas.openxmlformats.org/drawingml/2006/main" noGrp="1"/>
          </p:cNvSpPr>
          <p:nvPr/>
        </p:nvSpPr>
        <p:spPr>
          <a:xfrm xmlns:a="http://schemas.openxmlformats.org/drawingml/2006/main">
            <a:off x="43434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16" name="order_items-name">
            <a:extLst xmlns:a="http://schemas.openxmlformats.org/drawingml/2006/main">
              <a:ext uri="{FF2B5EF4-FFF2-40B4-BE49-F238E27FC236}">
                <a16:creationId xmlns:a16="http://schemas.microsoft.com/office/drawing/2014/main" id="{320356C5-EE91-449D-AD47-4B95E2CC5869}"/>
              </a:ext>
            </a:extLst>
          </p:cNvPr>
          <p:cNvSpPr>
            <a:spLocks xmlns:a="http://schemas.openxmlformats.org/drawingml/2006/main" noGrp="1"/>
          </p:cNvSpPr>
          <p:nvPr/>
        </p:nvSpPr>
        <p:spPr>
          <a:xfrm xmlns:a="http://schemas.openxmlformats.org/drawingml/2006/main">
            <a:off x="45339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order_items</a:t>
            </a:r>
          </a:p>
        </p:txBody>
      </p:sp>
      <p:sp>
        <p:nvSpPr>
          <p:cNvPr id="17" name="order_items-count">
            <a:extLst xmlns:a="http://schemas.openxmlformats.org/drawingml/2006/main">
              <a:ext uri="{FF2B5EF4-FFF2-40B4-BE49-F238E27FC236}">
                <a16:creationId xmlns:a16="http://schemas.microsoft.com/office/drawing/2014/main" id="{8DD1C152-66F1-43BF-A01D-8B5E0347B4CA}"/>
              </a:ext>
            </a:extLst>
          </p:cNvPr>
          <p:cNvSpPr>
            <a:spLocks xmlns:a="http://schemas.openxmlformats.org/drawingml/2006/main" noGrp="1"/>
          </p:cNvSpPr>
          <p:nvPr/>
        </p:nvSpPr>
        <p:spPr>
          <a:xfrm xmlns:a="http://schemas.openxmlformats.org/drawingml/2006/main">
            <a:off x="45339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112,650 rows</a:t>
            </a:r>
          </a:p>
        </p:txBody>
      </p:sp>
      <p:sp>
        <p:nvSpPr>
          <p:cNvPr id="18" name="order_items-fields">
            <a:extLst xmlns:a="http://schemas.openxmlformats.org/drawingml/2006/main">
              <a:ext uri="{FF2B5EF4-FFF2-40B4-BE49-F238E27FC236}">
                <a16:creationId xmlns:a16="http://schemas.microsoft.com/office/drawing/2014/main" id="{34493037-268B-420B-8B68-BA837A9AE888}"/>
              </a:ext>
            </a:extLst>
          </p:cNvPr>
          <p:cNvSpPr>
            <a:spLocks xmlns:a="http://schemas.openxmlformats.org/drawingml/2006/main" noGrp="1"/>
          </p:cNvSpPr>
          <p:nvPr/>
        </p:nvSpPr>
        <p:spPr>
          <a:xfrm xmlns:a="http://schemas.openxmlformats.org/drawingml/2006/main">
            <a:off x="45339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order_id · product_id</a:t>
            </a:r>
          </a:p>
          <a:p xmlns:a="http://schemas.openxmlformats.org/drawingml/2006/main">
            <a:r>
              <a:rPr sz="1425" b="0">
                <a:solidFill>
                  <a:srgbClr val="192B40"/>
                </a:solidFill>
                <a:latin typeface="Arial"/>
                <a:ea typeface="Arial"/>
                <a:cs typeface="Arial"/>
              </a:rPr>
              <a:t>price</a:t>
            </a:r>
          </a:p>
        </p:txBody>
      </p:sp>
      <p:sp>
        <p:nvSpPr>
          <p:cNvPr id="19" name="order_items-types">
            <a:extLst xmlns:a="http://schemas.openxmlformats.org/drawingml/2006/main">
              <a:ext uri="{FF2B5EF4-FFF2-40B4-BE49-F238E27FC236}">
                <a16:creationId xmlns:a16="http://schemas.microsoft.com/office/drawing/2014/main" id="{EA4C5D05-C7F8-4B8A-91EA-810BE6FE742A}"/>
              </a:ext>
            </a:extLst>
          </p:cNvPr>
          <p:cNvSpPr>
            <a:spLocks xmlns:a="http://schemas.openxmlformats.org/drawingml/2006/main" noGrp="1"/>
          </p:cNvSpPr>
          <p:nvPr/>
        </p:nvSpPr>
        <p:spPr>
          <a:xfrm xmlns:a="http://schemas.openxmlformats.org/drawingml/2006/main">
            <a:off x="45339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categorical</a:t>
            </a:r>
          </a:p>
          <a:p xmlns:a="http://schemas.openxmlformats.org/drawingml/2006/main">
            <a:r>
              <a:rPr sz="1350" b="0">
                <a:solidFill>
                  <a:srgbClr val="536375"/>
                </a:solidFill>
                <a:latin typeface="Arial"/>
                <a:ea typeface="Arial"/>
                <a:cs typeface="Arial"/>
              </a:rPr>
              <a:t>Item amount: numeric (BRL)</a:t>
            </a:r>
          </a:p>
        </p:txBody>
      </p:sp>
      <p:sp>
        <p:nvSpPr>
          <p:cNvPr id="20" name="">
            <a:extLst xmlns:a="http://schemas.openxmlformats.org/drawingml/2006/main">
              <a:ext uri="{FF2B5EF4-FFF2-40B4-BE49-F238E27FC236}">
                <a16:creationId xmlns:a16="http://schemas.microsoft.com/office/drawing/2014/main" id="{5C5553B5-23E2-41D0-8CE5-BC54A9491542}"/>
              </a:ext>
            </a:extLst>
          </p:cNvPr>
          <p:cNvSpPr>
            <a:spLocks xmlns:a="http://schemas.openxmlformats.org/drawingml/2006/main" noGrp="1"/>
          </p:cNvSpPr>
          <p:nvPr/>
        </p:nvSpPr>
        <p:spPr>
          <a:xfrm xmlns:a="http://schemas.openxmlformats.org/drawingml/2006/main">
            <a:off x="80772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FA1243F-DB20-4105-B280-D4EC88C3B260}"/>
              </a:ext>
            </a:extLst>
          </p:cNvPr>
          <p:cNvSpPr>
            <a:spLocks xmlns:a="http://schemas.openxmlformats.org/drawingml/2006/main" noGrp="1"/>
          </p:cNvSpPr>
          <p:nvPr/>
        </p:nvSpPr>
        <p:spPr>
          <a:xfrm xmlns:a="http://schemas.openxmlformats.org/drawingml/2006/main">
            <a:off x="80772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22" name="customers-name">
            <a:extLst xmlns:a="http://schemas.openxmlformats.org/drawingml/2006/main">
              <a:ext uri="{FF2B5EF4-FFF2-40B4-BE49-F238E27FC236}">
                <a16:creationId xmlns:a16="http://schemas.microsoft.com/office/drawing/2014/main" id="{CE504179-1FD3-4B6F-B7D9-FFAB6FC02718}"/>
              </a:ext>
            </a:extLst>
          </p:cNvPr>
          <p:cNvSpPr>
            <a:spLocks xmlns:a="http://schemas.openxmlformats.org/drawingml/2006/main" noGrp="1"/>
          </p:cNvSpPr>
          <p:nvPr/>
        </p:nvSpPr>
        <p:spPr>
          <a:xfrm xmlns:a="http://schemas.openxmlformats.org/drawingml/2006/main">
            <a:off x="82677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customers</a:t>
            </a:r>
          </a:p>
        </p:txBody>
      </p:sp>
      <p:sp>
        <p:nvSpPr>
          <p:cNvPr id="23" name="customers-count">
            <a:extLst xmlns:a="http://schemas.openxmlformats.org/drawingml/2006/main">
              <a:ext uri="{FF2B5EF4-FFF2-40B4-BE49-F238E27FC236}">
                <a16:creationId xmlns:a16="http://schemas.microsoft.com/office/drawing/2014/main" id="{07DE050D-0EBA-4E32-8644-C71377869998}"/>
              </a:ext>
            </a:extLst>
          </p:cNvPr>
          <p:cNvSpPr>
            <a:spLocks xmlns:a="http://schemas.openxmlformats.org/drawingml/2006/main" noGrp="1"/>
          </p:cNvSpPr>
          <p:nvPr/>
        </p:nvSpPr>
        <p:spPr>
          <a:xfrm xmlns:a="http://schemas.openxmlformats.org/drawingml/2006/main">
            <a:off x="82677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99,441 rows</a:t>
            </a:r>
          </a:p>
        </p:txBody>
      </p:sp>
      <p:sp>
        <p:nvSpPr>
          <p:cNvPr id="24" name="customers-fields">
            <a:extLst xmlns:a="http://schemas.openxmlformats.org/drawingml/2006/main">
              <a:ext uri="{FF2B5EF4-FFF2-40B4-BE49-F238E27FC236}">
                <a16:creationId xmlns:a16="http://schemas.microsoft.com/office/drawing/2014/main" id="{7493C1D0-DDE3-4C4B-A125-466519EC3736}"/>
              </a:ext>
            </a:extLst>
          </p:cNvPr>
          <p:cNvSpPr>
            <a:spLocks xmlns:a="http://schemas.openxmlformats.org/drawingml/2006/main" noGrp="1"/>
          </p:cNvSpPr>
          <p:nvPr/>
        </p:nvSpPr>
        <p:spPr>
          <a:xfrm xmlns:a="http://schemas.openxmlformats.org/drawingml/2006/main">
            <a:off x="82677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customer_id</a:t>
            </a:r>
          </a:p>
          <a:p xmlns:a="http://schemas.openxmlformats.org/drawingml/2006/main">
            <a:r>
              <a:rPr sz="1425" b="0">
                <a:solidFill>
                  <a:srgbClr val="192B40"/>
                </a:solidFill>
                <a:latin typeface="Arial"/>
                <a:ea typeface="Arial"/>
                <a:cs typeface="Arial"/>
              </a:rPr>
              <a:t>customer_unique_id</a:t>
            </a:r>
          </a:p>
          <a:p xmlns:a="http://schemas.openxmlformats.org/drawingml/2006/main">
            <a:r>
              <a:rPr sz="1425" b="0">
                <a:solidFill>
                  <a:srgbClr val="192B40"/>
                </a:solidFill>
                <a:latin typeface="Arial"/>
                <a:ea typeface="Arial"/>
                <a:cs typeface="Arial"/>
              </a:rPr>
              <a:t>customer_state</a:t>
            </a:r>
          </a:p>
        </p:txBody>
      </p:sp>
      <p:sp>
        <p:nvSpPr>
          <p:cNvPr id="25" name="customers-types">
            <a:extLst xmlns:a="http://schemas.openxmlformats.org/drawingml/2006/main">
              <a:ext uri="{FF2B5EF4-FFF2-40B4-BE49-F238E27FC236}">
                <a16:creationId xmlns:a16="http://schemas.microsoft.com/office/drawing/2014/main" id="{C0F338FC-3B5B-44AA-911E-531613A10A62}"/>
              </a:ext>
            </a:extLst>
          </p:cNvPr>
          <p:cNvSpPr>
            <a:spLocks xmlns:a="http://schemas.openxmlformats.org/drawingml/2006/main" noGrp="1"/>
          </p:cNvSpPr>
          <p:nvPr/>
        </p:nvSpPr>
        <p:spPr>
          <a:xfrm xmlns:a="http://schemas.openxmlformats.org/drawingml/2006/main">
            <a:off x="82677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 state: categorical</a:t>
            </a:r>
          </a:p>
        </p:txBody>
      </p:sp>
      <p:sp>
        <p:nvSpPr>
          <p:cNvPr id="26" name="aggregation">
            <a:extLst xmlns:a="http://schemas.openxmlformats.org/drawingml/2006/main">
              <a:ext uri="{FF2B5EF4-FFF2-40B4-BE49-F238E27FC236}">
                <a16:creationId xmlns:a16="http://schemas.microsoft.com/office/drawing/2014/main" id="{13CC737D-1C58-4A69-A5EB-C581E0239334}"/>
              </a:ext>
            </a:extLst>
          </p:cNvPr>
          <p:cNvSpPr>
            <a:spLocks xmlns:a="http://schemas.openxmlformats.org/drawingml/2006/main" noGrp="1"/>
          </p:cNvSpPr>
          <p:nvPr/>
        </p:nvSpPr>
        <p:spPr>
          <a:xfrm xmlns:a="http://schemas.openxmlformats.org/drawingml/2006/main">
            <a:off x="609600" y="5238750"/>
            <a:ext cx="10972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Item rows  →  Order totals  →  Buyers via customer_unique_id</a:t>
            </a:r>
          </a:p>
        </p:txBody>
      </p:sp>
      <p:sp>
        <p:nvSpPr>
          <p:cNvPr id="27" name="aggregation-limits">
            <a:extLst xmlns:a="http://schemas.openxmlformats.org/drawingml/2006/main">
              <a:ext uri="{FF2B5EF4-FFF2-40B4-BE49-F238E27FC236}">
                <a16:creationId xmlns:a16="http://schemas.microsoft.com/office/drawing/2014/main" id="{59E17AAD-5C63-4BC0-A839-5B665F132CC3}"/>
              </a:ext>
            </a:extLst>
          </p:cNvPr>
          <p:cNvSpPr>
            <a:spLocks xmlns:a="http://schemas.openxmlformats.org/drawingml/2006/main" noGrp="1"/>
          </p:cNvSpPr>
          <p:nvPr/>
        </p:nvSpPr>
        <p:spPr>
          <a:xfrm xmlns:a="http://schemas.openxmlformats.org/drawingml/2006/main">
            <a:off x="609600" y="5715000"/>
            <a:ext cx="1097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75" b="0">
                <a:solidFill>
                  <a:srgbClr val="536375"/>
                </a:solidFill>
                <a:latin typeface="Arial"/>
                <a:ea typeface="Arial"/>
                <a:cs typeface="Arial"/>
              </a:rPr>
              <a:t>Define valid orders; audit joins. Add products only for category profiles.</a:t>
            </a:r>
          </a:p>
        </p:txBody>
      </p:sp>
      <p:sp>
        <p:nvSpPr>
          <p:cNvPr id="28" name="source">
            <a:extLst xmlns:a="http://schemas.openxmlformats.org/drawingml/2006/main">
              <a:ext uri="{FF2B5EF4-FFF2-40B4-BE49-F238E27FC236}">
                <a16:creationId xmlns:a16="http://schemas.microsoft.com/office/drawing/2014/main" id="{4CF2E83A-5354-4555-B369-764A13D48BE0}"/>
              </a:ext>
            </a:extLst>
          </p:cNvPr>
          <p:cNvSpPr>
            <a:spLocks xmlns:a="http://schemas.openxmlformats.org/drawingml/2006/main" noGrp="1"/>
          </p:cNvSpPr>
          <p:nvPr/>
        </p:nvSpPr>
        <p:spPr>
          <a:xfrm xmlns:a="http://schemas.openxmlformats.org/drawingml/2006/main">
            <a:off x="609600" y="6115050"/>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900" b="0">
                <a:solidFill>
                  <a:srgbClr val="536375"/>
                </a:solidFill>
                <a:latin typeface="Arial"/>
                <a:ea typeface="Arial"/>
                <a:cs typeface="Arial"/>
              </a:rPr>
              <a:t>Source: Olist v2; local raw-file audit, 30 Sep 2026.</a:t>
            </a:r>
          </a:p>
        </p:txBody>
      </p:sp>
    </p:spTree>
    <p:extLst>
      <p:ext uri="{BB962C8B-B14F-4D97-AF65-F5344CB8AC3E}">
        <p14:creationId xmlns:p14="http://schemas.microsoft.com/office/powerpoint/2010/main" val="185776048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a5f66f58aef472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C5C62ED3-8BC8-496F-9FC0-6A140B50DAB3}"/>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03  /  KEY VARIABLES</a:t>
            </a:r>
          </a:p>
        </p:txBody>
      </p:sp>
      <p:sp>
        <p:nvSpPr>
          <p:cNvPr id="3" name="headline">
            <a:extLst xmlns:a="http://schemas.openxmlformats.org/drawingml/2006/main">
              <a:ext uri="{FF2B5EF4-FFF2-40B4-BE49-F238E27FC236}">
                <a16:creationId xmlns:a16="http://schemas.microsoft.com/office/drawing/2014/main" id="{789FAC43-4344-4BC8-9DA6-7952BA32C87C}"/>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RFM inputs, with a shared observation window</a:t>
            </a:r>
          </a:p>
        </p:txBody>
      </p:sp>
      <p:sp>
        <p:nvSpPr>
          <p:cNvPr id="4" name="">
            <a:extLst xmlns:a="http://schemas.openxmlformats.org/drawingml/2006/main">
              <a:ext uri="{FF2B5EF4-FFF2-40B4-BE49-F238E27FC236}">
                <a16:creationId xmlns:a16="http://schemas.microsoft.com/office/drawing/2014/main" id="{1CEC1DD9-EE35-48A0-911F-11E77260E5B0}"/>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82268EF0-EC61-4088-9DDC-F04FCAED939E}"/>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27DD358E-811F-4DF5-A682-2D20C79A3165}"/>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3 / 5</a:t>
            </a:r>
          </a:p>
        </p:txBody>
      </p:sp>
      <p:sp>
        <p:nvSpPr>
          <p:cNvPr id="7" name="window">
            <a:extLst xmlns:a="http://schemas.openxmlformats.org/drawingml/2006/main">
              <a:ext uri="{FF2B5EF4-FFF2-40B4-BE49-F238E27FC236}">
                <a16:creationId xmlns:a16="http://schemas.microsoft.com/office/drawing/2014/main" id="{7228C9DD-BF33-4BD9-B7BA-9907E1DBBAF2}"/>
              </a:ext>
            </a:extLst>
          </p:cNvPr>
          <p:cNvSpPr>
            <a:spLocks xmlns:a="http://schemas.openxmlformats.org/drawingml/2006/main" noGrp="1"/>
          </p:cNvSpPr>
          <p:nvPr/>
        </p:nvSpPr>
        <p:spPr>
          <a:xfrm xmlns:a="http://schemas.openxmlformats.org/drawingml/2006/main">
            <a:off x="609600" y="1828800"/>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00" b="0">
                <a:solidFill>
                  <a:srgbClr val="536375"/>
                </a:solidFill>
                <a:latin typeface="Arial"/>
                <a:ea typeface="Arial"/>
                <a:cs typeface="Arial"/>
              </a:rPr>
              <a:t>Use information available before the analysis date.</a:t>
            </a:r>
          </a:p>
        </p:txBody>
      </p:sp>
      <p:sp>
        <p:nvSpPr>
          <p:cNvPr id="8" name="">
            <a:extLst xmlns:a="http://schemas.openxmlformats.org/drawingml/2006/main">
              <a:ext uri="{FF2B5EF4-FFF2-40B4-BE49-F238E27FC236}">
                <a16:creationId xmlns:a16="http://schemas.microsoft.com/office/drawing/2014/main" id="{25289D36-2BDA-4A25-A91D-1BDA195461FD}"/>
              </a:ext>
            </a:extLst>
          </p:cNvPr>
          <p:cNvSpPr>
            <a:spLocks xmlns:a="http://schemas.openxmlformats.org/drawingml/2006/main" noGrp="1"/>
          </p:cNvSpPr>
          <p:nvPr/>
        </p:nvSpPr>
        <p:spPr>
          <a:xfrm xmlns:a="http://schemas.openxmlformats.org/drawingml/2006/main">
            <a:off x="6096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9" name="rfm-letter-0">
            <a:extLst xmlns:a="http://schemas.openxmlformats.org/drawingml/2006/main">
              <a:ext uri="{FF2B5EF4-FFF2-40B4-BE49-F238E27FC236}">
                <a16:creationId xmlns:a16="http://schemas.microsoft.com/office/drawing/2014/main" id="{A413DBA7-5A74-478B-8555-1045053DC684}"/>
              </a:ext>
            </a:extLst>
          </p:cNvPr>
          <p:cNvSpPr>
            <a:spLocks xmlns:a="http://schemas.openxmlformats.org/drawingml/2006/main" noGrp="1"/>
          </p:cNvSpPr>
          <p:nvPr/>
        </p:nvSpPr>
        <p:spPr>
          <a:xfrm xmlns:a="http://schemas.openxmlformats.org/drawingml/2006/main">
            <a:off x="8001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R</a:t>
            </a:r>
          </a:p>
        </p:txBody>
      </p:sp>
      <p:sp>
        <p:nvSpPr>
          <p:cNvPr id="10" name="rfm-name-0">
            <a:extLst xmlns:a="http://schemas.openxmlformats.org/drawingml/2006/main">
              <a:ext uri="{FF2B5EF4-FFF2-40B4-BE49-F238E27FC236}">
                <a16:creationId xmlns:a16="http://schemas.microsoft.com/office/drawing/2014/main" id="{07B98DF3-50FB-4C8B-AEEF-58DF49AE03DB}"/>
              </a:ext>
            </a:extLst>
          </p:cNvPr>
          <p:cNvSpPr>
            <a:spLocks xmlns:a="http://schemas.openxmlformats.org/drawingml/2006/main" noGrp="1"/>
          </p:cNvSpPr>
          <p:nvPr/>
        </p:nvSpPr>
        <p:spPr>
          <a:xfrm xmlns:a="http://schemas.openxmlformats.org/drawingml/2006/main">
            <a:off x="15430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Recency</a:t>
            </a:r>
          </a:p>
        </p:txBody>
      </p:sp>
      <p:sp>
        <p:nvSpPr>
          <p:cNvPr id="11" name="rfm-def-0">
            <a:extLst xmlns:a="http://schemas.openxmlformats.org/drawingml/2006/main">
              <a:ext uri="{FF2B5EF4-FFF2-40B4-BE49-F238E27FC236}">
                <a16:creationId xmlns:a16="http://schemas.microsoft.com/office/drawing/2014/main" id="{A917E072-F3EE-4800-97B6-C664E2023036}"/>
              </a:ext>
            </a:extLst>
          </p:cNvPr>
          <p:cNvSpPr>
            <a:spLocks xmlns:a="http://schemas.openxmlformats.org/drawingml/2006/main" noGrp="1"/>
          </p:cNvSpPr>
          <p:nvPr/>
        </p:nvSpPr>
        <p:spPr>
          <a:xfrm xmlns:a="http://schemas.openxmlformats.org/drawingml/2006/main">
            <a:off x="8001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Days since the most</a:t>
            </a:r>
          </a:p>
          <a:p xmlns:a="http://schemas.openxmlformats.org/drawingml/2006/main">
            <a:r>
              <a:rPr sz="1875" b="0">
                <a:solidFill>
                  <a:srgbClr val="192B40"/>
                </a:solidFill>
                <a:latin typeface="Arial"/>
                <a:ea typeface="Arial"/>
                <a:cs typeface="Arial"/>
              </a:rPr>
              <a:t>recent valid purchase</a:t>
            </a:r>
          </a:p>
        </p:txBody>
      </p:sp>
      <p:sp>
        <p:nvSpPr>
          <p:cNvPr id="12" name="">
            <a:extLst xmlns:a="http://schemas.openxmlformats.org/drawingml/2006/main">
              <a:ext uri="{FF2B5EF4-FFF2-40B4-BE49-F238E27FC236}">
                <a16:creationId xmlns:a16="http://schemas.microsoft.com/office/drawing/2014/main" id="{D8853A47-14E7-4E21-B057-F98E54085FBC}"/>
              </a:ext>
            </a:extLst>
          </p:cNvPr>
          <p:cNvSpPr>
            <a:spLocks xmlns:a="http://schemas.openxmlformats.org/drawingml/2006/main" noGrp="1"/>
          </p:cNvSpPr>
          <p:nvPr/>
        </p:nvSpPr>
        <p:spPr>
          <a:xfrm xmlns:a="http://schemas.openxmlformats.org/drawingml/2006/main">
            <a:off x="43434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3" name="rfm-letter-1">
            <a:extLst xmlns:a="http://schemas.openxmlformats.org/drawingml/2006/main">
              <a:ext uri="{FF2B5EF4-FFF2-40B4-BE49-F238E27FC236}">
                <a16:creationId xmlns:a16="http://schemas.microsoft.com/office/drawing/2014/main" id="{7F718B89-C11C-4587-A7DB-0BE797BE96D8}"/>
              </a:ext>
            </a:extLst>
          </p:cNvPr>
          <p:cNvSpPr>
            <a:spLocks xmlns:a="http://schemas.openxmlformats.org/drawingml/2006/main" noGrp="1"/>
          </p:cNvSpPr>
          <p:nvPr/>
        </p:nvSpPr>
        <p:spPr>
          <a:xfrm xmlns:a="http://schemas.openxmlformats.org/drawingml/2006/main">
            <a:off x="45339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F</a:t>
            </a:r>
          </a:p>
        </p:txBody>
      </p:sp>
      <p:sp>
        <p:nvSpPr>
          <p:cNvPr id="14" name="rfm-name-1">
            <a:extLst xmlns:a="http://schemas.openxmlformats.org/drawingml/2006/main">
              <a:ext uri="{FF2B5EF4-FFF2-40B4-BE49-F238E27FC236}">
                <a16:creationId xmlns:a16="http://schemas.microsoft.com/office/drawing/2014/main" id="{170B7166-C5A8-4718-9DF3-CEBD243BE4CF}"/>
              </a:ext>
            </a:extLst>
          </p:cNvPr>
          <p:cNvSpPr>
            <a:spLocks xmlns:a="http://schemas.openxmlformats.org/drawingml/2006/main" noGrp="1"/>
          </p:cNvSpPr>
          <p:nvPr/>
        </p:nvSpPr>
        <p:spPr>
          <a:xfrm xmlns:a="http://schemas.openxmlformats.org/drawingml/2006/main">
            <a:off x="52768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Frequency</a:t>
            </a:r>
          </a:p>
        </p:txBody>
      </p:sp>
      <p:sp>
        <p:nvSpPr>
          <p:cNvPr id="15" name="rfm-def-1">
            <a:extLst xmlns:a="http://schemas.openxmlformats.org/drawingml/2006/main">
              <a:ext uri="{FF2B5EF4-FFF2-40B4-BE49-F238E27FC236}">
                <a16:creationId xmlns:a16="http://schemas.microsoft.com/office/drawing/2014/main" id="{B2EE6BAD-A0F4-42D5-9108-503DFAE10649}"/>
              </a:ext>
            </a:extLst>
          </p:cNvPr>
          <p:cNvSpPr>
            <a:spLocks xmlns:a="http://schemas.openxmlformats.org/drawingml/2006/main" noGrp="1"/>
          </p:cNvSpPr>
          <p:nvPr/>
        </p:nvSpPr>
        <p:spPr>
          <a:xfrm xmlns:a="http://schemas.openxmlformats.org/drawingml/2006/main">
            <a:off x="45339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Distinct valid orders</a:t>
            </a:r>
          </a:p>
          <a:p xmlns:a="http://schemas.openxmlformats.org/drawingml/2006/main">
            <a:r>
              <a:rPr sz="1875" b="0">
                <a:solidFill>
                  <a:srgbClr val="192B40"/>
                </a:solidFill>
                <a:latin typeface="Arial"/>
                <a:ea typeface="Arial"/>
                <a:cs typeface="Arial"/>
              </a:rPr>
              <a:t>within the fixed window</a:t>
            </a:r>
          </a:p>
        </p:txBody>
      </p:sp>
      <p:sp>
        <p:nvSpPr>
          <p:cNvPr id="16" name="">
            <a:extLst xmlns:a="http://schemas.openxmlformats.org/drawingml/2006/main">
              <a:ext uri="{FF2B5EF4-FFF2-40B4-BE49-F238E27FC236}">
                <a16:creationId xmlns:a16="http://schemas.microsoft.com/office/drawing/2014/main" id="{A11A3EF3-C87D-4692-8F34-6E6E1FD4AD3F}"/>
              </a:ext>
            </a:extLst>
          </p:cNvPr>
          <p:cNvSpPr>
            <a:spLocks xmlns:a="http://schemas.openxmlformats.org/drawingml/2006/main" noGrp="1"/>
          </p:cNvSpPr>
          <p:nvPr/>
        </p:nvSpPr>
        <p:spPr>
          <a:xfrm xmlns:a="http://schemas.openxmlformats.org/drawingml/2006/main">
            <a:off x="80772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7" name="rfm-letter-2">
            <a:extLst xmlns:a="http://schemas.openxmlformats.org/drawingml/2006/main">
              <a:ext uri="{FF2B5EF4-FFF2-40B4-BE49-F238E27FC236}">
                <a16:creationId xmlns:a16="http://schemas.microsoft.com/office/drawing/2014/main" id="{795861B0-2BBC-4ACA-862F-16B981B9DBB7}"/>
              </a:ext>
            </a:extLst>
          </p:cNvPr>
          <p:cNvSpPr>
            <a:spLocks xmlns:a="http://schemas.openxmlformats.org/drawingml/2006/main" noGrp="1"/>
          </p:cNvSpPr>
          <p:nvPr/>
        </p:nvSpPr>
        <p:spPr>
          <a:xfrm xmlns:a="http://schemas.openxmlformats.org/drawingml/2006/main">
            <a:off x="82677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M</a:t>
            </a:r>
          </a:p>
        </p:txBody>
      </p:sp>
      <p:sp>
        <p:nvSpPr>
          <p:cNvPr id="18" name="rfm-name-2">
            <a:extLst xmlns:a="http://schemas.openxmlformats.org/drawingml/2006/main">
              <a:ext uri="{FF2B5EF4-FFF2-40B4-BE49-F238E27FC236}">
                <a16:creationId xmlns:a16="http://schemas.microsoft.com/office/drawing/2014/main" id="{ECFC1976-9D55-4F10-AE5D-6A9238575CF9}"/>
              </a:ext>
            </a:extLst>
          </p:cNvPr>
          <p:cNvSpPr>
            <a:spLocks xmlns:a="http://schemas.openxmlformats.org/drawingml/2006/main" noGrp="1"/>
          </p:cNvSpPr>
          <p:nvPr/>
        </p:nvSpPr>
        <p:spPr>
          <a:xfrm xmlns:a="http://schemas.openxmlformats.org/drawingml/2006/main">
            <a:off x="90106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Monetary</a:t>
            </a:r>
          </a:p>
        </p:txBody>
      </p:sp>
      <p:sp>
        <p:nvSpPr>
          <p:cNvPr id="19" name="rfm-def-2">
            <a:extLst xmlns:a="http://schemas.openxmlformats.org/drawingml/2006/main">
              <a:ext uri="{FF2B5EF4-FFF2-40B4-BE49-F238E27FC236}">
                <a16:creationId xmlns:a16="http://schemas.microsoft.com/office/drawing/2014/main" id="{E38FB563-2278-42CD-A913-3D5C9515C371}"/>
              </a:ext>
            </a:extLst>
          </p:cNvPr>
          <p:cNvSpPr>
            <a:spLocks xmlns:a="http://schemas.openxmlformats.org/drawingml/2006/main" noGrp="1"/>
          </p:cNvSpPr>
          <p:nvPr/>
        </p:nvSpPr>
        <p:spPr>
          <a:xfrm xmlns:a="http://schemas.openxmlformats.org/drawingml/2006/main">
            <a:off x="82677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Total item spending</a:t>
            </a:r>
          </a:p>
          <a:p xmlns:a="http://schemas.openxmlformats.org/drawingml/2006/main">
            <a:r>
              <a:rPr sz="1875" b="0">
                <a:solidFill>
                  <a:srgbClr val="192B40"/>
                </a:solidFill>
                <a:latin typeface="Arial"/>
                <a:ea typeface="Arial"/>
                <a:cs typeface="Arial"/>
              </a:rPr>
              <a:t>in the same window</a:t>
            </a:r>
          </a:p>
        </p:txBody>
      </p:sp>
      <p:sp>
        <p:nvSpPr>
          <p:cNvPr id="20" name="support-title">
            <a:extLst xmlns:a="http://schemas.openxmlformats.org/drawingml/2006/main">
              <a:ext uri="{FF2B5EF4-FFF2-40B4-BE49-F238E27FC236}">
                <a16:creationId xmlns:a16="http://schemas.microsoft.com/office/drawing/2014/main" id="{8EFABEAC-A89F-4749-BF89-0181CE214260}"/>
              </a:ext>
            </a:extLst>
          </p:cNvPr>
          <p:cNvSpPr>
            <a:spLocks xmlns:a="http://schemas.openxmlformats.org/drawingml/2006/main" noGrp="1"/>
          </p:cNvSpPr>
          <p:nvPr/>
        </p:nvSpPr>
        <p:spPr>
          <a:xfrm xmlns:a="http://schemas.openxmlformats.org/drawingml/2006/main">
            <a:off x="609600" y="46672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950" b="1">
                <a:solidFill>
                  <a:srgbClr val="192B40"/>
                </a:solidFill>
                <a:latin typeface="Arial"/>
                <a:ea typeface="Arial"/>
                <a:cs typeface="Arial"/>
              </a:rPr>
              <a:t>Profile separately</a:t>
            </a:r>
          </a:p>
        </p:txBody>
      </p:sp>
      <p:sp>
        <p:nvSpPr>
          <p:cNvPr id="21" name="support">
            <a:extLst xmlns:a="http://schemas.openxmlformats.org/drawingml/2006/main">
              <a:ext uri="{FF2B5EF4-FFF2-40B4-BE49-F238E27FC236}">
                <a16:creationId xmlns:a16="http://schemas.microsoft.com/office/drawing/2014/main" id="{FB97DF33-5948-49A3-8D69-1C22AC9A63EA}"/>
              </a:ext>
            </a:extLst>
          </p:cNvPr>
          <p:cNvSpPr>
            <a:spLocks xmlns:a="http://schemas.openxmlformats.org/drawingml/2006/main" noGrp="1"/>
          </p:cNvSpPr>
          <p:nvPr/>
        </p:nvSpPr>
        <p:spPr>
          <a:xfrm xmlns:a="http://schemas.openxmlformats.org/drawingml/2006/main">
            <a:off x="609600" y="510540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536375"/>
                </a:solidFill>
                <a:latin typeface="Arial"/>
                <a:ea typeface="Arial"/>
                <a:cs typeface="Arial"/>
              </a:rPr>
              <a:t>Average order value • Purchased categories • Region</a:t>
            </a:r>
          </a:p>
        </p:txBody>
      </p:sp>
      <p:sp>
        <p:nvSpPr>
          <p:cNvPr id="22" name="caution">
            <a:extLst xmlns:a="http://schemas.openxmlformats.org/drawingml/2006/main">
              <a:ext uri="{FF2B5EF4-FFF2-40B4-BE49-F238E27FC236}">
                <a16:creationId xmlns:a16="http://schemas.microsoft.com/office/drawing/2014/main" id="{6DBB013D-4EDC-4146-BC52-3A850E9449FB}"/>
              </a:ext>
            </a:extLst>
          </p:cNvPr>
          <p:cNvSpPr>
            <a:spLocks xmlns:a="http://schemas.openxmlformats.org/drawingml/2006/main" noGrp="1"/>
          </p:cNvSpPr>
          <p:nvPr/>
        </p:nvSpPr>
        <p:spPr>
          <a:xfrm xmlns:a="http://schemas.openxmlformats.org/drawingml/2006/main">
            <a:off x="609600" y="5610225"/>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Check whether F separates customers. Spending is not lifetime profit.</a:t>
            </a:r>
          </a:p>
        </p:txBody>
      </p:sp>
      <p:sp>
        <p:nvSpPr>
          <p:cNvPr id="23" name="optional">
            <a:extLst xmlns:a="http://schemas.openxmlformats.org/drawingml/2006/main">
              <a:ext uri="{FF2B5EF4-FFF2-40B4-BE49-F238E27FC236}">
                <a16:creationId xmlns:a16="http://schemas.microsoft.com/office/drawing/2014/main" id="{4E2D1728-56CC-41B2-8ED9-F9EF029E671F}"/>
              </a:ext>
            </a:extLst>
          </p:cNvPr>
          <p:cNvSpPr>
            <a:spLocks xmlns:a="http://schemas.openxmlformats.org/drawingml/2006/main" noGrp="1"/>
          </p:cNvSpPr>
          <p:nvPr/>
        </p:nvSpPr>
        <p:spPr>
          <a:xfrm xmlns:a="http://schemas.openxmlformats.org/drawingml/2006/main">
            <a:off x="609600" y="60198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Later spending or repeat purchase: optional, if data coverage allows.</a:t>
            </a:r>
          </a:p>
        </p:txBody>
      </p:sp>
    </p:spTree>
    <p:extLst>
      <p:ext uri="{BB962C8B-B14F-4D97-AF65-F5344CB8AC3E}">
        <p14:creationId xmlns:p14="http://schemas.microsoft.com/office/powerpoint/2010/main" val="4162111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4e71ab08d57488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06AB5974-EB5F-40B9-B77F-2A4E0E99099D}"/>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04  /  BDA METHODS</a:t>
            </a:r>
          </a:p>
        </p:txBody>
      </p:sp>
      <p:sp>
        <p:nvSpPr>
          <p:cNvPr id="3" name="headline">
            <a:extLst xmlns:a="http://schemas.openxmlformats.org/drawingml/2006/main">
              <a:ext uri="{FF2B5EF4-FFF2-40B4-BE49-F238E27FC236}">
                <a16:creationId xmlns:a16="http://schemas.microsoft.com/office/drawing/2014/main" id="{1BC1CECA-2BB3-4093-975C-8A7CA3FC8A64}"/>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Compare simple rules with K-means</a:t>
            </a:r>
          </a:p>
        </p:txBody>
      </p:sp>
      <p:sp>
        <p:nvSpPr>
          <p:cNvPr id="4" name="">
            <a:extLst xmlns:a="http://schemas.openxmlformats.org/drawingml/2006/main">
              <a:ext uri="{FF2B5EF4-FFF2-40B4-BE49-F238E27FC236}">
                <a16:creationId xmlns:a16="http://schemas.microsoft.com/office/drawing/2014/main" id="{1D57176E-93AB-4D37-9431-03B1ED76E162}"/>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347FD8F5-A064-418C-BC2D-1F616A4EF2A1}"/>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4D63B249-E242-41A3-AD94-B84E5CE3DE20}"/>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4 / 5</a:t>
            </a:r>
          </a:p>
        </p:txBody>
      </p:sp>
      <p:sp>
        <p:nvSpPr>
          <p:cNvPr id="7" name="fair-input">
            <a:extLst xmlns:a="http://schemas.openxmlformats.org/drawingml/2006/main">
              <a:ext uri="{FF2B5EF4-FFF2-40B4-BE49-F238E27FC236}">
                <a16:creationId xmlns:a16="http://schemas.microsoft.com/office/drawing/2014/main" id="{5D39A6E2-84AA-4038-9C0D-4AFBBAC3C7FF}"/>
              </a:ext>
            </a:extLst>
          </p:cNvPr>
          <p:cNvSpPr>
            <a:spLocks xmlns:a="http://schemas.openxmlformats.org/drawingml/2006/main" noGrp="1"/>
          </p:cNvSpPr>
          <p:nvPr/>
        </p:nvSpPr>
        <p:spPr>
          <a:xfrm xmlns:a="http://schemas.openxmlformats.org/drawingml/2006/main">
            <a:off x="609600" y="1838325"/>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536375"/>
                </a:solidFill>
                <a:latin typeface="Arial"/>
                <a:ea typeface="Arial"/>
                <a:cs typeface="Arial"/>
              </a:rPr>
              <a:t>Same customers. Same observation window. Thresholds set in advance.</a:t>
            </a:r>
          </a:p>
        </p:txBody>
      </p:sp>
      <p:sp>
        <p:nvSpPr>
          <p:cNvPr id="8" name="">
            <a:extLst xmlns:a="http://schemas.openxmlformats.org/drawingml/2006/main">
              <a:ext uri="{FF2B5EF4-FFF2-40B4-BE49-F238E27FC236}">
                <a16:creationId xmlns:a16="http://schemas.microsoft.com/office/drawing/2014/main" id="{E55E9CE8-A07E-46C8-BE4C-F726B815E6B3}"/>
              </a:ext>
            </a:extLst>
          </p:cNvPr>
          <p:cNvSpPr>
            <a:spLocks xmlns:a="http://schemas.openxmlformats.org/drawingml/2006/main" noGrp="1"/>
          </p:cNvSpPr>
          <p:nvPr/>
        </p:nvSpPr>
        <p:spPr>
          <a:xfrm xmlns:a="http://schemas.openxmlformats.org/drawingml/2006/main">
            <a:off x="609600" y="2362200"/>
            <a:ext cx="5257800" cy="189547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BB76E93-9F60-48DA-BBC9-4E380FD4DFAE}"/>
              </a:ext>
            </a:extLst>
          </p:cNvPr>
          <p:cNvSpPr>
            <a:spLocks xmlns:a="http://schemas.openxmlformats.org/drawingml/2006/main" noGrp="1"/>
          </p:cNvSpPr>
          <p:nvPr/>
        </p:nvSpPr>
        <p:spPr>
          <a:xfrm xmlns:a="http://schemas.openxmlformats.org/drawingml/2006/main">
            <a:off x="6096000" y="2362200"/>
            <a:ext cx="5486400" cy="1895475"/>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0" name="baseline-title">
            <a:extLst xmlns:a="http://schemas.openxmlformats.org/drawingml/2006/main">
              <a:ext uri="{FF2B5EF4-FFF2-40B4-BE49-F238E27FC236}">
                <a16:creationId xmlns:a16="http://schemas.microsoft.com/office/drawing/2014/main" id="{0D649DFB-ADB9-4F9D-9094-8CA69477AC2B}"/>
              </a:ext>
            </a:extLst>
          </p:cNvPr>
          <p:cNvSpPr>
            <a:spLocks xmlns:a="http://schemas.openxmlformats.org/drawingml/2006/main" noGrp="1"/>
          </p:cNvSpPr>
          <p:nvPr/>
        </p:nvSpPr>
        <p:spPr>
          <a:xfrm xmlns:a="http://schemas.openxmlformats.org/drawingml/2006/main">
            <a:off x="819150" y="2543175"/>
            <a:ext cx="4810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192B40"/>
                </a:solidFill>
                <a:latin typeface="Arial"/>
                <a:ea typeface="Arial"/>
                <a:cs typeface="Arial"/>
              </a:rPr>
              <a:t>A  /  Simple rules</a:t>
            </a:r>
          </a:p>
        </p:txBody>
      </p:sp>
      <p:sp>
        <p:nvSpPr>
          <p:cNvPr id="11" name="baseline-body">
            <a:extLst xmlns:a="http://schemas.openxmlformats.org/drawingml/2006/main">
              <a:ext uri="{FF2B5EF4-FFF2-40B4-BE49-F238E27FC236}">
                <a16:creationId xmlns:a16="http://schemas.microsoft.com/office/drawing/2014/main" id="{52A267BA-4D0A-4411-B0D2-377BAAB203A1}"/>
              </a:ext>
            </a:extLst>
          </p:cNvPr>
          <p:cNvSpPr>
            <a:spLocks xmlns:a="http://schemas.openxmlformats.org/drawingml/2006/main" noGrp="1"/>
          </p:cNvSpPr>
          <p:nvPr/>
        </p:nvSpPr>
        <p:spPr>
          <a:xfrm xmlns:a="http://schemas.openxmlformats.org/drawingml/2006/main">
            <a:off x="819150" y="3114675"/>
            <a:ext cx="47910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Recent / less recent</a:t>
            </a:r>
          </a:p>
          <a:p xmlns:a="http://schemas.openxmlformats.org/drawingml/2006/main">
            <a:r>
              <a:rPr sz="1875" b="0">
                <a:solidFill>
                  <a:srgbClr val="192B40"/>
                </a:solidFill>
                <a:latin typeface="Arial"/>
                <a:ea typeface="Arial"/>
                <a:cs typeface="Arial"/>
              </a:rPr>
              <a:t>× Higher / lower spending</a:t>
            </a:r>
          </a:p>
          <a:p xmlns:a="http://schemas.openxmlformats.org/drawingml/2006/main">
            <a:r>
              <a:rPr sz="1875" b="0">
                <a:solidFill>
                  <a:srgbClr val="192B40"/>
                </a:solidFill>
                <a:latin typeface="Arial"/>
                <a:ea typeface="Arial"/>
                <a:cs typeface="Arial"/>
              </a:rPr>
              <a:t>Four transparent groups</a:t>
            </a:r>
          </a:p>
        </p:txBody>
      </p:sp>
      <p:sp>
        <p:nvSpPr>
          <p:cNvPr id="12" name="cluster-title">
            <a:extLst xmlns:a="http://schemas.openxmlformats.org/drawingml/2006/main">
              <a:ext uri="{FF2B5EF4-FFF2-40B4-BE49-F238E27FC236}">
                <a16:creationId xmlns:a16="http://schemas.microsoft.com/office/drawing/2014/main" id="{750B0743-99AA-4DDD-9BB0-FC25A0394AD0}"/>
              </a:ext>
            </a:extLst>
          </p:cNvPr>
          <p:cNvSpPr>
            <a:spLocks xmlns:a="http://schemas.openxmlformats.org/drawingml/2006/main" noGrp="1"/>
          </p:cNvSpPr>
          <p:nvPr/>
        </p:nvSpPr>
        <p:spPr>
          <a:xfrm xmlns:a="http://schemas.openxmlformats.org/drawingml/2006/main">
            <a:off x="6305550" y="2543175"/>
            <a:ext cx="504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B  /  K-means</a:t>
            </a:r>
          </a:p>
        </p:txBody>
      </p:sp>
      <p:sp>
        <p:nvSpPr>
          <p:cNvPr id="13" name="cluster-body">
            <a:extLst xmlns:a="http://schemas.openxmlformats.org/drawingml/2006/main">
              <a:ext uri="{FF2B5EF4-FFF2-40B4-BE49-F238E27FC236}">
                <a16:creationId xmlns:a16="http://schemas.microsoft.com/office/drawing/2014/main" id="{54241903-296B-454F-9703-56B9B0CD9533}"/>
              </a:ext>
            </a:extLst>
          </p:cNvPr>
          <p:cNvSpPr>
            <a:spLocks xmlns:a="http://schemas.openxmlformats.org/drawingml/2006/main" noGrp="1"/>
          </p:cNvSpPr>
          <p:nvPr/>
        </p:nvSpPr>
        <p:spPr>
          <a:xfrm xmlns:a="http://schemas.openxmlformats.org/drawingml/2006/main">
            <a:off x="6305550" y="3114675"/>
            <a:ext cx="5048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Transform and standardise RFM</a:t>
            </a:r>
          </a:p>
          <a:p xmlns:a="http://schemas.openxmlformats.org/drawingml/2006/main">
            <a:r>
              <a:rPr sz="1875" b="0">
                <a:solidFill>
                  <a:srgbClr val="192B40"/>
                </a:solidFill>
                <a:latin typeface="Arial"/>
                <a:ea typeface="Arial"/>
                <a:cs typeface="Arial"/>
              </a:rPr>
              <a:t>Choose K on development data</a:t>
            </a:r>
          </a:p>
          <a:p xmlns:a="http://schemas.openxmlformats.org/drawingml/2006/main">
            <a:r>
              <a:rPr sz="1875" b="0">
                <a:solidFill>
                  <a:srgbClr val="192B40"/>
                </a:solidFill>
                <a:latin typeface="Arial"/>
                <a:ea typeface="Arial"/>
                <a:cs typeface="Arial"/>
              </a:rPr>
              <a:t>Check seeds and resamples</a:t>
            </a:r>
          </a:p>
        </p:txBody>
      </p:sp>
      <p:sp>
        <p:nvSpPr>
          <p:cNvPr id="14" name="validation-heading">
            <a:extLst xmlns:a="http://schemas.openxmlformats.org/drawingml/2006/main">
              <a:ext uri="{FF2B5EF4-FFF2-40B4-BE49-F238E27FC236}">
                <a16:creationId xmlns:a16="http://schemas.microsoft.com/office/drawing/2014/main" id="{11D6F727-4F24-418A-8ED6-DA02C39539A2}"/>
              </a:ext>
            </a:extLst>
          </p:cNvPr>
          <p:cNvSpPr>
            <a:spLocks xmlns:a="http://schemas.openxmlformats.org/drawingml/2006/main" noGrp="1"/>
          </p:cNvSpPr>
          <p:nvPr/>
        </p:nvSpPr>
        <p:spPr>
          <a:xfrm xmlns:a="http://schemas.openxmlformats.org/drawingml/2006/main">
            <a:off x="609600" y="4524375"/>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00" b="1">
                <a:solidFill>
                  <a:srgbClr val="192B40"/>
                </a:solidFill>
                <a:latin typeface="Arial"/>
                <a:ea typeface="Arial"/>
                <a:cs typeface="Arial"/>
              </a:rPr>
              <a:t>Evaluate more than a silhouette score</a:t>
            </a:r>
          </a:p>
        </p:txBody>
      </p:sp>
      <p:sp>
        <p:nvSpPr>
          <p:cNvPr id="15" name="">
            <a:extLst xmlns:a="http://schemas.openxmlformats.org/drawingml/2006/main">
              <a:ext uri="{FF2B5EF4-FFF2-40B4-BE49-F238E27FC236}">
                <a16:creationId xmlns:a16="http://schemas.microsoft.com/office/drawing/2014/main" id="{04409272-BA88-44B5-813D-836B21EE35B1}"/>
              </a:ext>
            </a:extLst>
          </p:cNvPr>
          <p:cNvSpPr>
            <a:spLocks xmlns:a="http://schemas.openxmlformats.org/drawingml/2006/main" noGrp="1"/>
          </p:cNvSpPr>
          <p:nvPr/>
        </p:nvSpPr>
        <p:spPr>
          <a:xfrm xmlns:a="http://schemas.openxmlformats.org/drawingml/2006/main">
            <a:off x="609600" y="5086350"/>
            <a:ext cx="3505200" cy="8382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criterion-0">
            <a:extLst xmlns:a="http://schemas.openxmlformats.org/drawingml/2006/main">
              <a:ext uri="{FF2B5EF4-FFF2-40B4-BE49-F238E27FC236}">
                <a16:creationId xmlns:a16="http://schemas.microsoft.com/office/drawing/2014/main" id="{6E22FFB5-6BE2-4E05-9531-16AB3C6AF86E}"/>
              </a:ext>
            </a:extLst>
          </p:cNvPr>
          <p:cNvSpPr>
            <a:spLocks xmlns:a="http://schemas.openxmlformats.org/drawingml/2006/main" noGrp="1"/>
          </p:cNvSpPr>
          <p:nvPr/>
        </p:nvSpPr>
        <p:spPr>
          <a:xfrm xmlns:a="http://schemas.openxmlformats.org/drawingml/2006/main">
            <a:off x="762000" y="51816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Structure</a:t>
            </a:r>
          </a:p>
        </p:txBody>
      </p:sp>
      <p:sp>
        <p:nvSpPr>
          <p:cNvPr id="17" name="criterion-detail-0">
            <a:extLst xmlns:a="http://schemas.openxmlformats.org/drawingml/2006/main">
              <a:ext uri="{FF2B5EF4-FFF2-40B4-BE49-F238E27FC236}">
                <a16:creationId xmlns:a16="http://schemas.microsoft.com/office/drawing/2014/main" id="{E5250FDE-2310-4524-AD08-98B3398EE8B9}"/>
              </a:ext>
            </a:extLst>
          </p:cNvPr>
          <p:cNvSpPr>
            <a:spLocks xmlns:a="http://schemas.openxmlformats.org/drawingml/2006/main" noGrp="1"/>
          </p:cNvSpPr>
          <p:nvPr/>
        </p:nvSpPr>
        <p:spPr>
          <a:xfrm xmlns:a="http://schemas.openxmlformats.org/drawingml/2006/main">
            <a:off x="762000" y="55245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Separation + group size</a:t>
            </a:r>
          </a:p>
        </p:txBody>
      </p:sp>
      <p:sp>
        <p:nvSpPr>
          <p:cNvPr id="18" name="">
            <a:extLst xmlns:a="http://schemas.openxmlformats.org/drawingml/2006/main">
              <a:ext uri="{FF2B5EF4-FFF2-40B4-BE49-F238E27FC236}">
                <a16:creationId xmlns:a16="http://schemas.microsoft.com/office/drawing/2014/main" id="{254E28BE-D02D-4801-9CEB-353FE74BAE9A}"/>
              </a:ext>
            </a:extLst>
          </p:cNvPr>
          <p:cNvSpPr>
            <a:spLocks xmlns:a="http://schemas.openxmlformats.org/drawingml/2006/main" noGrp="1"/>
          </p:cNvSpPr>
          <p:nvPr/>
        </p:nvSpPr>
        <p:spPr>
          <a:xfrm xmlns:a="http://schemas.openxmlformats.org/drawingml/2006/main">
            <a:off x="4343400" y="5086350"/>
            <a:ext cx="3505200" cy="8382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9" name="criterion-1">
            <a:extLst xmlns:a="http://schemas.openxmlformats.org/drawingml/2006/main">
              <a:ext uri="{FF2B5EF4-FFF2-40B4-BE49-F238E27FC236}">
                <a16:creationId xmlns:a16="http://schemas.microsoft.com/office/drawing/2014/main" id="{E276FDEA-1E79-4E30-BF81-CF5DB99DD578}"/>
              </a:ext>
            </a:extLst>
          </p:cNvPr>
          <p:cNvSpPr>
            <a:spLocks xmlns:a="http://schemas.openxmlformats.org/drawingml/2006/main" noGrp="1"/>
          </p:cNvSpPr>
          <p:nvPr/>
        </p:nvSpPr>
        <p:spPr>
          <a:xfrm xmlns:a="http://schemas.openxmlformats.org/drawingml/2006/main">
            <a:off x="4495800" y="51816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Stability</a:t>
            </a:r>
          </a:p>
        </p:txBody>
      </p:sp>
      <p:sp>
        <p:nvSpPr>
          <p:cNvPr id="20" name="criterion-detail-1">
            <a:extLst xmlns:a="http://schemas.openxmlformats.org/drawingml/2006/main">
              <a:ext uri="{FF2B5EF4-FFF2-40B4-BE49-F238E27FC236}">
                <a16:creationId xmlns:a16="http://schemas.microsoft.com/office/drawing/2014/main" id="{E62477CF-EFE5-4FAD-A349-B1C9678D5F3E}"/>
              </a:ext>
            </a:extLst>
          </p:cNvPr>
          <p:cNvSpPr>
            <a:spLocks xmlns:a="http://schemas.openxmlformats.org/drawingml/2006/main" noGrp="1"/>
          </p:cNvSpPr>
          <p:nvPr/>
        </p:nvSpPr>
        <p:spPr>
          <a:xfrm xmlns:a="http://schemas.openxmlformats.org/drawingml/2006/main">
            <a:off x="4495800" y="55245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Seeds + resampling</a:t>
            </a:r>
          </a:p>
        </p:txBody>
      </p:sp>
      <p:sp>
        <p:nvSpPr>
          <p:cNvPr id="21" name="">
            <a:extLst xmlns:a="http://schemas.openxmlformats.org/drawingml/2006/main">
              <a:ext uri="{FF2B5EF4-FFF2-40B4-BE49-F238E27FC236}">
                <a16:creationId xmlns:a16="http://schemas.microsoft.com/office/drawing/2014/main" id="{5A76FC81-5C23-4EE2-B5CF-A37E15F9A5EB}"/>
              </a:ext>
            </a:extLst>
          </p:cNvPr>
          <p:cNvSpPr>
            <a:spLocks xmlns:a="http://schemas.openxmlformats.org/drawingml/2006/main" noGrp="1"/>
          </p:cNvSpPr>
          <p:nvPr/>
        </p:nvSpPr>
        <p:spPr>
          <a:xfrm xmlns:a="http://schemas.openxmlformats.org/drawingml/2006/main">
            <a:off x="8077200" y="5086350"/>
            <a:ext cx="3505200" cy="8382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2" name="criterion-2">
            <a:extLst xmlns:a="http://schemas.openxmlformats.org/drawingml/2006/main">
              <a:ext uri="{FF2B5EF4-FFF2-40B4-BE49-F238E27FC236}">
                <a16:creationId xmlns:a16="http://schemas.microsoft.com/office/drawing/2014/main" id="{39B5A958-0EF0-4A04-AB6F-DE26CCDAFDE4}"/>
              </a:ext>
            </a:extLst>
          </p:cNvPr>
          <p:cNvSpPr>
            <a:spLocks xmlns:a="http://schemas.openxmlformats.org/drawingml/2006/main" noGrp="1"/>
          </p:cNvSpPr>
          <p:nvPr/>
        </p:nvSpPr>
        <p:spPr>
          <a:xfrm xmlns:a="http://schemas.openxmlformats.org/drawingml/2006/main">
            <a:off x="8229600" y="51816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Business profiles</a:t>
            </a:r>
          </a:p>
        </p:txBody>
      </p:sp>
      <p:sp>
        <p:nvSpPr>
          <p:cNvPr id="23" name="criterion-detail-2">
            <a:extLst xmlns:a="http://schemas.openxmlformats.org/drawingml/2006/main">
              <a:ext uri="{FF2B5EF4-FFF2-40B4-BE49-F238E27FC236}">
                <a16:creationId xmlns:a16="http://schemas.microsoft.com/office/drawing/2014/main" id="{4D6A49BB-8130-411B-AFDD-8A1C76C61FB2}"/>
              </a:ext>
            </a:extLst>
          </p:cNvPr>
          <p:cNvSpPr>
            <a:spLocks xmlns:a="http://schemas.openxmlformats.org/drawingml/2006/main" noGrp="1"/>
          </p:cNvSpPr>
          <p:nvPr/>
        </p:nvSpPr>
        <p:spPr>
          <a:xfrm xmlns:a="http://schemas.openxmlformats.org/drawingml/2006/main">
            <a:off x="8229600" y="55245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Category lift vs overall</a:t>
            </a:r>
          </a:p>
        </p:txBody>
      </p:sp>
      <p:sp>
        <p:nvSpPr>
          <p:cNvPr id="24" name="validation-caution">
            <a:extLst xmlns:a="http://schemas.openxmlformats.org/drawingml/2006/main">
              <a:ext uri="{FF2B5EF4-FFF2-40B4-BE49-F238E27FC236}">
                <a16:creationId xmlns:a16="http://schemas.microsoft.com/office/drawing/2014/main" id="{7182D225-77A5-4414-8166-F8EA9745D6AB}"/>
              </a:ext>
            </a:extLst>
          </p:cNvPr>
          <p:cNvSpPr>
            <a:spLocks xmlns:a="http://schemas.openxmlformats.org/drawingml/2006/main" noGrp="1"/>
          </p:cNvSpPr>
          <p:nvPr/>
        </p:nvSpPr>
        <p:spPr>
          <a:xfrm xmlns:a="http://schemas.openxmlformats.org/drawingml/2006/main">
            <a:off x="609600" y="60864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Input differences alone do not establish business value.</a:t>
            </a:r>
          </a:p>
        </p:txBody>
      </p:sp>
    </p:spTree>
    <p:extLst>
      <p:ext uri="{BB962C8B-B14F-4D97-AF65-F5344CB8AC3E}">
        <p14:creationId xmlns:p14="http://schemas.microsoft.com/office/powerpoint/2010/main" val="4921827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ba464505eaf47e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2D27F409-0337-48A7-A667-AE81FAFCC973}"/>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05  /  POTENTIAL CONTRIBUTION</a:t>
            </a:r>
          </a:p>
        </p:txBody>
      </p:sp>
      <p:sp>
        <p:nvSpPr>
          <p:cNvPr id="3" name="headline">
            <a:extLst xmlns:a="http://schemas.openxmlformats.org/drawingml/2006/main">
              <a:ext uri="{FF2B5EF4-FFF2-40B4-BE49-F238E27FC236}">
                <a16:creationId xmlns:a16="http://schemas.microsoft.com/office/drawing/2014/main" id="{8EFA62EC-C405-4294-8506-6424281DFB67}"/>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From customer profiles to testable actions</a:t>
            </a:r>
          </a:p>
        </p:txBody>
      </p:sp>
      <p:sp>
        <p:nvSpPr>
          <p:cNvPr id="4" name="">
            <a:extLst xmlns:a="http://schemas.openxmlformats.org/drawingml/2006/main">
              <a:ext uri="{FF2B5EF4-FFF2-40B4-BE49-F238E27FC236}">
                <a16:creationId xmlns:a16="http://schemas.microsoft.com/office/drawing/2014/main" id="{FA7C3937-076E-41FF-BF31-B41EEE270FEC}"/>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89244DC5-3712-4F1D-AD6A-F3BBFBEDA2EC}"/>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115F2668-9462-41E8-A856-0C4A459D4BF3}"/>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5 / 5</a:t>
            </a:r>
          </a:p>
        </p:txBody>
      </p:sp>
      <p:sp>
        <p:nvSpPr>
          <p:cNvPr id="7" name="">
            <a:extLst xmlns:a="http://schemas.openxmlformats.org/drawingml/2006/main">
              <a:ext uri="{FF2B5EF4-FFF2-40B4-BE49-F238E27FC236}">
                <a16:creationId xmlns:a16="http://schemas.microsoft.com/office/drawing/2014/main" id="{565DA574-E057-4F1D-8754-C16DE4C723F1}"/>
              </a:ext>
            </a:extLst>
          </p:cNvPr>
          <p:cNvSpPr>
            <a:spLocks xmlns:a="http://schemas.openxmlformats.org/drawingml/2006/main" noGrp="1"/>
          </p:cNvSpPr>
          <p:nvPr/>
        </p:nvSpPr>
        <p:spPr>
          <a:xfrm xmlns:a="http://schemas.openxmlformats.org/drawingml/2006/main">
            <a:off x="6096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8" name="result-num-0">
            <a:extLst xmlns:a="http://schemas.openxmlformats.org/drawingml/2006/main">
              <a:ext uri="{FF2B5EF4-FFF2-40B4-BE49-F238E27FC236}">
                <a16:creationId xmlns:a16="http://schemas.microsoft.com/office/drawing/2014/main" id="{714978A2-2FCC-47AC-A91D-8EE14D1091D3}"/>
              </a:ext>
            </a:extLst>
          </p:cNvPr>
          <p:cNvSpPr>
            <a:spLocks xmlns:a="http://schemas.openxmlformats.org/drawingml/2006/main" noGrp="1"/>
          </p:cNvSpPr>
          <p:nvPr/>
        </p:nvSpPr>
        <p:spPr>
          <a:xfrm xmlns:a="http://schemas.openxmlformats.org/drawingml/2006/main">
            <a:off x="8001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01</a:t>
            </a:r>
          </a:p>
        </p:txBody>
      </p:sp>
      <p:sp>
        <p:nvSpPr>
          <p:cNvPr id="9" name="result-title-0">
            <a:extLst xmlns:a="http://schemas.openxmlformats.org/drawingml/2006/main">
              <a:ext uri="{FF2B5EF4-FFF2-40B4-BE49-F238E27FC236}">
                <a16:creationId xmlns:a16="http://schemas.microsoft.com/office/drawing/2014/main" id="{1832F365-7801-4503-8EE2-0DC72A4E6A9B}"/>
              </a:ext>
            </a:extLst>
          </p:cNvPr>
          <p:cNvSpPr>
            <a:spLocks xmlns:a="http://schemas.openxmlformats.org/drawingml/2006/main" noGrp="1"/>
          </p:cNvSpPr>
          <p:nvPr/>
        </p:nvSpPr>
        <p:spPr>
          <a:xfrm xmlns:a="http://schemas.openxmlformats.org/drawingml/2006/main">
            <a:off x="8001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Choose a usable method</a:t>
            </a:r>
          </a:p>
        </p:txBody>
      </p:sp>
      <p:sp>
        <p:nvSpPr>
          <p:cNvPr id="10" name="result-body-0">
            <a:extLst xmlns:a="http://schemas.openxmlformats.org/drawingml/2006/main">
              <a:ext uri="{FF2B5EF4-FFF2-40B4-BE49-F238E27FC236}">
                <a16:creationId xmlns:a16="http://schemas.microsoft.com/office/drawing/2014/main" id="{A6503F4C-6B5E-4168-80E1-2D43479B907A}"/>
              </a:ext>
            </a:extLst>
          </p:cNvPr>
          <p:cNvSpPr>
            <a:spLocks xmlns:a="http://schemas.openxmlformats.org/drawingml/2006/main" noGrp="1"/>
          </p:cNvSpPr>
          <p:nvPr/>
        </p:nvSpPr>
        <p:spPr>
          <a:xfrm xmlns:a="http://schemas.openxmlformats.org/drawingml/2006/main">
            <a:off x="8001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Does clustering add useful</a:t>
            </a:r>
          </a:p>
          <a:p xmlns:a="http://schemas.openxmlformats.org/drawingml/2006/main">
            <a:r>
              <a:rPr sz="1725" b="0">
                <a:solidFill>
                  <a:srgbClr val="192B40"/>
                </a:solidFill>
                <a:latin typeface="Arial"/>
                <a:ea typeface="Arial"/>
                <a:cs typeface="Arial"/>
              </a:rPr>
              <a:t>information beyond rules?</a:t>
            </a:r>
          </a:p>
        </p:txBody>
      </p:sp>
      <p:sp>
        <p:nvSpPr>
          <p:cNvPr id="11" name="result-detail-0">
            <a:extLst xmlns:a="http://schemas.openxmlformats.org/drawingml/2006/main">
              <a:ext uri="{FF2B5EF4-FFF2-40B4-BE49-F238E27FC236}">
                <a16:creationId xmlns:a16="http://schemas.microsoft.com/office/drawing/2014/main" id="{5CECD4D6-6D94-4979-9D49-0E6A22E42BC9}"/>
              </a:ext>
            </a:extLst>
          </p:cNvPr>
          <p:cNvSpPr>
            <a:spLocks xmlns:a="http://schemas.openxmlformats.org/drawingml/2006/main" noGrp="1"/>
          </p:cNvSpPr>
          <p:nvPr/>
        </p:nvSpPr>
        <p:spPr>
          <a:xfrm xmlns:a="http://schemas.openxmlformats.org/drawingml/2006/main">
            <a:off x="8001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Keep the simpler approach</a:t>
            </a:r>
          </a:p>
          <a:p xmlns:a="http://schemas.openxmlformats.org/drawingml/2006/main">
            <a:r>
              <a:rPr sz="1500" b="0">
                <a:solidFill>
                  <a:srgbClr val="536375"/>
                </a:solidFill>
                <a:latin typeface="Arial"/>
                <a:ea typeface="Arial"/>
                <a:cs typeface="Arial"/>
              </a:rPr>
              <a:t>if added value is weak.</a:t>
            </a:r>
          </a:p>
        </p:txBody>
      </p:sp>
      <p:sp>
        <p:nvSpPr>
          <p:cNvPr id="12" name="">
            <a:extLst xmlns:a="http://schemas.openxmlformats.org/drawingml/2006/main">
              <a:ext uri="{FF2B5EF4-FFF2-40B4-BE49-F238E27FC236}">
                <a16:creationId xmlns:a16="http://schemas.microsoft.com/office/drawing/2014/main" id="{A604273B-E83F-4A2D-A619-FC178B62778E}"/>
              </a:ext>
            </a:extLst>
          </p:cNvPr>
          <p:cNvSpPr>
            <a:spLocks xmlns:a="http://schemas.openxmlformats.org/drawingml/2006/main" noGrp="1"/>
          </p:cNvSpPr>
          <p:nvPr/>
        </p:nvSpPr>
        <p:spPr>
          <a:xfrm xmlns:a="http://schemas.openxmlformats.org/drawingml/2006/main">
            <a:off x="43434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3" name="result-num-1">
            <a:extLst xmlns:a="http://schemas.openxmlformats.org/drawingml/2006/main">
              <a:ext uri="{FF2B5EF4-FFF2-40B4-BE49-F238E27FC236}">
                <a16:creationId xmlns:a16="http://schemas.microsoft.com/office/drawing/2014/main" id="{8C34C409-DDB8-4B06-98FE-D58953C06B6A}"/>
              </a:ext>
            </a:extLst>
          </p:cNvPr>
          <p:cNvSpPr>
            <a:spLocks xmlns:a="http://schemas.openxmlformats.org/drawingml/2006/main" noGrp="1"/>
          </p:cNvSpPr>
          <p:nvPr/>
        </p:nvSpPr>
        <p:spPr>
          <a:xfrm xmlns:a="http://schemas.openxmlformats.org/drawingml/2006/main">
            <a:off x="45339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02</a:t>
            </a:r>
          </a:p>
        </p:txBody>
      </p:sp>
      <p:sp>
        <p:nvSpPr>
          <p:cNvPr id="14" name="result-title-1">
            <a:extLst xmlns:a="http://schemas.openxmlformats.org/drawingml/2006/main">
              <a:ext uri="{FF2B5EF4-FFF2-40B4-BE49-F238E27FC236}">
                <a16:creationId xmlns:a16="http://schemas.microsoft.com/office/drawing/2014/main" id="{AB07BE71-11FB-474D-B903-7E76A1E38F9D}"/>
              </a:ext>
            </a:extLst>
          </p:cNvPr>
          <p:cNvSpPr>
            <a:spLocks xmlns:a="http://schemas.openxmlformats.org/drawingml/2006/main" noGrp="1"/>
          </p:cNvSpPr>
          <p:nvPr/>
        </p:nvSpPr>
        <p:spPr>
          <a:xfrm xmlns:a="http://schemas.openxmlformats.org/drawingml/2006/main">
            <a:off x="45339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Build grounded profiles</a:t>
            </a:r>
          </a:p>
        </p:txBody>
      </p:sp>
      <p:sp>
        <p:nvSpPr>
          <p:cNvPr id="15" name="result-body-1">
            <a:extLst xmlns:a="http://schemas.openxmlformats.org/drawingml/2006/main">
              <a:ext uri="{FF2B5EF4-FFF2-40B4-BE49-F238E27FC236}">
                <a16:creationId xmlns:a16="http://schemas.microsoft.com/office/drawing/2014/main" id="{E3F8416F-1721-40E5-8304-E25024449270}"/>
              </a:ext>
            </a:extLst>
          </p:cNvPr>
          <p:cNvSpPr>
            <a:spLocks xmlns:a="http://schemas.openxmlformats.org/drawingml/2006/main" noGrp="1"/>
          </p:cNvSpPr>
          <p:nvPr/>
        </p:nvSpPr>
        <p:spPr>
          <a:xfrm xmlns:a="http://schemas.openxmlformats.org/drawingml/2006/main">
            <a:off x="45339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Report group size, purchase</a:t>
            </a:r>
          </a:p>
          <a:p xmlns:a="http://schemas.openxmlformats.org/drawingml/2006/main">
            <a:r>
              <a:rPr sz="1725" b="0">
                <a:solidFill>
                  <a:srgbClr val="192B40"/>
                </a:solidFill>
                <a:latin typeface="Arial"/>
                <a:ea typeface="Arial"/>
                <a:cs typeface="Arial"/>
              </a:rPr>
              <a:t>features and auxiliary traits.</a:t>
            </a:r>
          </a:p>
        </p:txBody>
      </p:sp>
      <p:sp>
        <p:nvSpPr>
          <p:cNvPr id="16" name="result-detail-1">
            <a:extLst xmlns:a="http://schemas.openxmlformats.org/drawingml/2006/main">
              <a:ext uri="{FF2B5EF4-FFF2-40B4-BE49-F238E27FC236}">
                <a16:creationId xmlns:a16="http://schemas.microsoft.com/office/drawing/2014/main" id="{F0E6D8F7-A981-4504-9664-137FE0C99C4C}"/>
              </a:ext>
            </a:extLst>
          </p:cNvPr>
          <p:cNvSpPr>
            <a:spLocks xmlns:a="http://schemas.openxmlformats.org/drawingml/2006/main" noGrp="1"/>
          </p:cNvSpPr>
          <p:nvPr/>
        </p:nvSpPr>
        <p:spPr>
          <a:xfrm xmlns:a="http://schemas.openxmlformats.org/drawingml/2006/main">
            <a:off x="45339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Name groups from evidence,</a:t>
            </a:r>
          </a:p>
          <a:p xmlns:a="http://schemas.openxmlformats.org/drawingml/2006/main">
            <a:r>
              <a:rPr sz="1500" b="0">
                <a:solidFill>
                  <a:srgbClr val="536375"/>
                </a:solidFill>
                <a:latin typeface="Arial"/>
                <a:ea typeface="Arial"/>
                <a:cs typeface="Arial"/>
              </a:rPr>
              <a:t>not assumed customer value.</a:t>
            </a:r>
          </a:p>
        </p:txBody>
      </p:sp>
      <p:sp>
        <p:nvSpPr>
          <p:cNvPr id="17" name="">
            <a:extLst xmlns:a="http://schemas.openxmlformats.org/drawingml/2006/main">
              <a:ext uri="{FF2B5EF4-FFF2-40B4-BE49-F238E27FC236}">
                <a16:creationId xmlns:a16="http://schemas.microsoft.com/office/drawing/2014/main" id="{6B78C4A9-A5F1-4F75-84ED-0E71552879C7}"/>
              </a:ext>
            </a:extLst>
          </p:cNvPr>
          <p:cNvSpPr>
            <a:spLocks xmlns:a="http://schemas.openxmlformats.org/drawingml/2006/main" noGrp="1"/>
          </p:cNvSpPr>
          <p:nvPr/>
        </p:nvSpPr>
        <p:spPr>
          <a:xfrm xmlns:a="http://schemas.openxmlformats.org/drawingml/2006/main">
            <a:off x="80772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8" name="result-num-2">
            <a:extLst xmlns:a="http://schemas.openxmlformats.org/drawingml/2006/main">
              <a:ext uri="{FF2B5EF4-FFF2-40B4-BE49-F238E27FC236}">
                <a16:creationId xmlns:a16="http://schemas.microsoft.com/office/drawing/2014/main" id="{BED210B8-83A2-4A0A-8503-22DC1A8E1999}"/>
              </a:ext>
            </a:extLst>
          </p:cNvPr>
          <p:cNvSpPr>
            <a:spLocks xmlns:a="http://schemas.openxmlformats.org/drawingml/2006/main" noGrp="1"/>
          </p:cNvSpPr>
          <p:nvPr/>
        </p:nvSpPr>
        <p:spPr>
          <a:xfrm xmlns:a="http://schemas.openxmlformats.org/drawingml/2006/main">
            <a:off x="82677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03</a:t>
            </a:r>
          </a:p>
        </p:txBody>
      </p:sp>
      <p:sp>
        <p:nvSpPr>
          <p:cNvPr id="19" name="result-title-2">
            <a:extLst xmlns:a="http://schemas.openxmlformats.org/drawingml/2006/main">
              <a:ext uri="{FF2B5EF4-FFF2-40B4-BE49-F238E27FC236}">
                <a16:creationId xmlns:a16="http://schemas.microsoft.com/office/drawing/2014/main" id="{3230210B-7203-4087-AF5A-50DB52159603}"/>
              </a:ext>
            </a:extLst>
          </p:cNvPr>
          <p:cNvSpPr>
            <a:spLocks xmlns:a="http://schemas.openxmlformats.org/drawingml/2006/main" noGrp="1"/>
          </p:cNvSpPr>
          <p:nvPr/>
        </p:nvSpPr>
        <p:spPr>
          <a:xfrm xmlns:a="http://schemas.openxmlformats.org/drawingml/2006/main">
            <a:off x="82677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Propose experiments</a:t>
            </a:r>
          </a:p>
        </p:txBody>
      </p:sp>
      <p:sp>
        <p:nvSpPr>
          <p:cNvPr id="20" name="result-body-2">
            <a:extLst xmlns:a="http://schemas.openxmlformats.org/drawingml/2006/main">
              <a:ext uri="{FF2B5EF4-FFF2-40B4-BE49-F238E27FC236}">
                <a16:creationId xmlns:a16="http://schemas.microsoft.com/office/drawing/2014/main" id="{E07809B6-3F37-46F5-BF4E-035D1AB8AC91}"/>
              </a:ext>
            </a:extLst>
          </p:cNvPr>
          <p:cNvSpPr>
            <a:spLocks xmlns:a="http://schemas.openxmlformats.org/drawingml/2006/main" noGrp="1"/>
          </p:cNvSpPr>
          <p:nvPr/>
        </p:nvSpPr>
        <p:spPr>
          <a:xfrm xmlns:a="http://schemas.openxmlformats.org/drawingml/2006/main">
            <a:off x="82677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Link profiles to messages,</a:t>
            </a:r>
          </a:p>
          <a:p xmlns:a="http://schemas.openxmlformats.org/drawingml/2006/main">
            <a:r>
              <a:rPr sz="1725" b="0">
                <a:solidFill>
                  <a:srgbClr val="192B40"/>
                </a:solidFill>
                <a:latin typeface="Arial"/>
                <a:ea typeface="Arial"/>
                <a:cs typeface="Arial"/>
              </a:rPr>
              <a:t>offers or service hypotheses.</a:t>
            </a:r>
          </a:p>
        </p:txBody>
      </p:sp>
      <p:sp>
        <p:nvSpPr>
          <p:cNvPr id="21" name="result-detail-2">
            <a:extLst xmlns:a="http://schemas.openxmlformats.org/drawingml/2006/main">
              <a:ext uri="{FF2B5EF4-FFF2-40B4-BE49-F238E27FC236}">
                <a16:creationId xmlns:a16="http://schemas.microsoft.com/office/drawing/2014/main" id="{403B9810-43F7-42BC-A586-E93A7C0E9DB6}"/>
              </a:ext>
            </a:extLst>
          </p:cNvPr>
          <p:cNvSpPr>
            <a:spLocks xmlns:a="http://schemas.openxmlformats.org/drawingml/2006/main" noGrp="1"/>
          </p:cNvSpPr>
          <p:nvPr/>
        </p:nvSpPr>
        <p:spPr>
          <a:xfrm xmlns:a="http://schemas.openxmlformats.org/drawingml/2006/main">
            <a:off x="82677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Specify a control group</a:t>
            </a:r>
          </a:p>
          <a:p xmlns:a="http://schemas.openxmlformats.org/drawingml/2006/main">
            <a:r>
              <a:rPr sz="1500" b="0">
                <a:solidFill>
                  <a:srgbClr val="536375"/>
                </a:solidFill>
                <a:latin typeface="Arial"/>
                <a:ea typeface="Arial"/>
                <a:cs typeface="Arial"/>
              </a:rPr>
              <a:t>and effect / cost measures.</a:t>
            </a:r>
          </a:p>
        </p:txBody>
      </p:sp>
      <p:sp>
        <p:nvSpPr>
          <p:cNvPr id="22" name="">
            <a:extLst xmlns:a="http://schemas.openxmlformats.org/drawingml/2006/main">
              <a:ext uri="{FF2B5EF4-FFF2-40B4-BE49-F238E27FC236}">
                <a16:creationId xmlns:a16="http://schemas.microsoft.com/office/drawing/2014/main" id="{E4C886BB-DC1E-45A6-A1BF-850782EB082E}"/>
              </a:ext>
            </a:extLst>
          </p:cNvPr>
          <p:cNvSpPr>
            <a:spLocks xmlns:a="http://schemas.openxmlformats.org/drawingml/2006/main" noGrp="1"/>
          </p:cNvSpPr>
          <p:nvPr/>
        </p:nvSpPr>
        <p:spPr>
          <a:xfrm xmlns:a="http://schemas.openxmlformats.org/drawingml/2006/main">
            <a:off x="609600" y="5438775"/>
            <a:ext cx="10972800" cy="561975"/>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23" name="boundary">
            <a:extLst xmlns:a="http://schemas.openxmlformats.org/drawingml/2006/main">
              <a:ext uri="{FF2B5EF4-FFF2-40B4-BE49-F238E27FC236}">
                <a16:creationId xmlns:a16="http://schemas.microsoft.com/office/drawing/2014/main" id="{37C3673C-F1E0-41C0-8588-73687B52FCC1}"/>
              </a:ext>
            </a:extLst>
          </p:cNvPr>
          <p:cNvSpPr>
            <a:spLocks xmlns:a="http://schemas.openxmlformats.org/drawingml/2006/main" noGrp="1"/>
          </p:cNvSpPr>
          <p:nvPr/>
        </p:nvSpPr>
        <p:spPr>
          <a:xfrm xmlns:a="http://schemas.openxmlformats.org/drawingml/2006/main">
            <a:off x="809625" y="5572125"/>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A82062"/>
                </a:solidFill>
                <a:latin typeface="Arial"/>
                <a:ea typeface="Arial"/>
                <a:cs typeface="Arial"/>
              </a:rPr>
              <a:t>Validate segments now. Test marketing effects later.</a:t>
            </a:r>
          </a:p>
        </p:txBody>
      </p:sp>
      <p:sp>
        <p:nvSpPr>
          <p:cNvPr id="24" name="limitations">
            <a:extLst xmlns:a="http://schemas.openxmlformats.org/drawingml/2006/main">
              <a:ext uri="{FF2B5EF4-FFF2-40B4-BE49-F238E27FC236}">
                <a16:creationId xmlns:a16="http://schemas.microsoft.com/office/drawing/2014/main" id="{F7E97BF4-E569-4664-AB14-D651A1CC8BD5}"/>
              </a:ext>
            </a:extLst>
          </p:cNvPr>
          <p:cNvSpPr>
            <a:spLocks xmlns:a="http://schemas.openxmlformats.org/drawingml/2006/main" noGrp="1"/>
          </p:cNvSpPr>
          <p:nvPr/>
        </p:nvSpPr>
        <p:spPr>
          <a:xfrm xmlns:a="http://schemas.openxmlformats.org/drawingml/2006/main">
            <a:off x="609600" y="6134100"/>
            <a:ext cx="10972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Limits: historical coverage, sparse buyer histories, no intervention records.</a:t>
            </a:r>
          </a:p>
        </p:txBody>
      </p:sp>
    </p:spTree>
    <p:extLst>
      <p:ext uri="{BB962C8B-B14F-4D97-AF65-F5344CB8AC3E}">
        <p14:creationId xmlns:p14="http://schemas.microsoft.com/office/powerpoint/2010/main" val="2071352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2026-10-02T09:05:43.8150000Z</dcterms:created>
  <dcterms:modified xsi:type="dcterms:W3CDTF">2026-10-02T09:05:43.8150000Z</dcterms:modified>
</coreProperties>
</file>