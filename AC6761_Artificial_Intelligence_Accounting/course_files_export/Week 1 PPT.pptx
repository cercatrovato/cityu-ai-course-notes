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5721" r:id="rId1"/>
  </p:sldMasterIdLst>
  <p:notesMasterIdLst>
    <p:notesMasterId r:id="rId85"/>
  </p:notesMasterIdLst>
  <p:handoutMasterIdLst>
    <p:handoutMasterId r:id="rId86"/>
  </p:handoutMasterIdLst>
  <p:sldIdLst>
    <p:sldId id="397" r:id="rId2"/>
    <p:sldId id="422" r:id="rId3"/>
    <p:sldId id="510" r:id="rId4"/>
    <p:sldId id="511" r:id="rId5"/>
    <p:sldId id="512" r:id="rId6"/>
    <p:sldId id="513" r:id="rId7"/>
    <p:sldId id="514" r:id="rId8"/>
    <p:sldId id="515" r:id="rId9"/>
    <p:sldId id="431" r:id="rId10"/>
    <p:sldId id="465" r:id="rId11"/>
    <p:sldId id="335" r:id="rId12"/>
    <p:sldId id="466" r:id="rId13"/>
    <p:sldId id="467" r:id="rId14"/>
    <p:sldId id="432" r:id="rId15"/>
    <p:sldId id="370" r:id="rId16"/>
    <p:sldId id="468" r:id="rId17"/>
    <p:sldId id="469" r:id="rId18"/>
    <p:sldId id="470" r:id="rId19"/>
    <p:sldId id="414" r:id="rId20"/>
    <p:sldId id="472" r:id="rId21"/>
    <p:sldId id="341" r:id="rId22"/>
    <p:sldId id="474" r:id="rId23"/>
    <p:sldId id="475" r:id="rId24"/>
    <p:sldId id="477" r:id="rId25"/>
    <p:sldId id="478" r:id="rId26"/>
    <p:sldId id="353" r:id="rId27"/>
    <p:sldId id="416" r:id="rId28"/>
    <p:sldId id="342" r:id="rId29"/>
    <p:sldId id="481" r:id="rId30"/>
    <p:sldId id="390" r:id="rId31"/>
    <p:sldId id="345" r:id="rId32"/>
    <p:sldId id="350" r:id="rId33"/>
    <p:sldId id="391" r:id="rId34"/>
    <p:sldId id="392" r:id="rId35"/>
    <p:sldId id="482" r:id="rId36"/>
    <p:sldId id="434" r:id="rId37"/>
    <p:sldId id="436" r:id="rId38"/>
    <p:sldId id="483" r:id="rId39"/>
    <p:sldId id="484" r:id="rId40"/>
    <p:sldId id="485" r:id="rId41"/>
    <p:sldId id="486" r:id="rId42"/>
    <p:sldId id="487" r:id="rId43"/>
    <p:sldId id="488" r:id="rId44"/>
    <p:sldId id="489" r:id="rId45"/>
    <p:sldId id="490" r:id="rId46"/>
    <p:sldId id="491" r:id="rId47"/>
    <p:sldId id="509" r:id="rId48"/>
    <p:sldId id="492" r:id="rId49"/>
    <p:sldId id="355" r:id="rId50"/>
    <p:sldId id="437" r:id="rId51"/>
    <p:sldId id="493" r:id="rId52"/>
    <p:sldId id="494" r:id="rId53"/>
    <p:sldId id="495" r:id="rId54"/>
    <p:sldId id="496" r:id="rId55"/>
    <p:sldId id="438" r:id="rId56"/>
    <p:sldId id="439" r:id="rId57"/>
    <p:sldId id="440" r:id="rId58"/>
    <p:sldId id="441" r:id="rId59"/>
    <p:sldId id="442" r:id="rId60"/>
    <p:sldId id="443" r:id="rId61"/>
    <p:sldId id="444" r:id="rId62"/>
    <p:sldId id="445" r:id="rId63"/>
    <p:sldId id="446" r:id="rId64"/>
    <p:sldId id="447" r:id="rId65"/>
    <p:sldId id="448" r:id="rId66"/>
    <p:sldId id="449" r:id="rId67"/>
    <p:sldId id="450" r:id="rId68"/>
    <p:sldId id="451" r:id="rId69"/>
    <p:sldId id="452" r:id="rId70"/>
    <p:sldId id="453" r:id="rId71"/>
    <p:sldId id="454" r:id="rId72"/>
    <p:sldId id="455" r:id="rId73"/>
    <p:sldId id="456" r:id="rId74"/>
    <p:sldId id="457" r:id="rId75"/>
    <p:sldId id="458" r:id="rId76"/>
    <p:sldId id="464" r:id="rId77"/>
    <p:sldId id="459" r:id="rId78"/>
    <p:sldId id="507" r:id="rId79"/>
    <p:sldId id="498" r:id="rId80"/>
    <p:sldId id="499" r:id="rId81"/>
    <p:sldId id="500" r:id="rId82"/>
    <p:sldId id="501" r:id="rId83"/>
    <p:sldId id="502" r:id="rId84"/>
  </p:sldIdLst>
  <p:sldSz cx="9144000" cy="6858000" type="screen4x3"/>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8" name="Auth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2D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61" autoAdjust="0"/>
    <p:restoredTop sz="92494" autoAdjust="0"/>
  </p:normalViewPr>
  <p:slideViewPr>
    <p:cSldViewPr>
      <p:cViewPr varScale="1">
        <p:scale>
          <a:sx n="59" d="100"/>
          <a:sy n="59" d="100"/>
        </p:scale>
        <p:origin x="2000" y="44"/>
      </p:cViewPr>
      <p:guideLst>
        <p:guide orient="horz" pos="2160"/>
        <p:guide pos="2880"/>
      </p:guideLst>
    </p:cSldViewPr>
  </p:slideViewPr>
  <p:outlineViewPr>
    <p:cViewPr>
      <p:scale>
        <a:sx n="33" d="100"/>
        <a:sy n="33" d="100"/>
      </p:scale>
      <p:origin x="0" y="-731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2885" y="67"/>
      </p:cViewPr>
      <p:guideLst>
        <p:guide orient="horz" pos="3128"/>
        <p:guide pos="214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commentAuthors" Target="commen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wmf"/><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966849" y="0"/>
            <a:ext cx="829254" cy="298240"/>
          </a:xfrm>
          <a:prstGeom prst="rect">
            <a:avLst/>
          </a:prstGeom>
        </p:spPr>
        <p:txBody>
          <a:bodyPr vert="horz" wrap="square" lIns="93164" tIns="46582" rIns="93164" bIns="46582" numCol="1" anchor="b" anchorCtr="0" compatLnSpc="1">
            <a:prstTxWarp prst="textNoShape">
              <a:avLst/>
            </a:prstTxWarp>
          </a:bodyPr>
          <a:lstStyle>
            <a:lvl1pPr algn="r">
              <a:defRPr sz="1200"/>
            </a:lvl1pPr>
          </a:lstStyle>
          <a:p>
            <a:pPr>
              <a:defRPr/>
            </a:pPr>
            <a:r>
              <a:rPr lang="en-US" dirty="0"/>
              <a:t>1-</a:t>
            </a:r>
            <a:fld id="{4FC70F1E-A9CF-4725-BA99-5BD9E946C6F2}" type="slidenum">
              <a:rPr lang="en-US"/>
              <a:pPr>
                <a:defRPr/>
              </a:pPr>
              <a:t>‹#›</a:t>
            </a:fld>
            <a:endParaRPr lang="en-US" dirty="0"/>
          </a:p>
        </p:txBody>
      </p:sp>
    </p:spTree>
    <p:extLst>
      <p:ext uri="{BB962C8B-B14F-4D97-AF65-F5344CB8AC3E}">
        <p14:creationId xmlns:p14="http://schemas.microsoft.com/office/powerpoint/2010/main" val="131622212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wrap="square" lIns="93164" tIns="46582" rIns="93164" bIns="46582"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79768" y="4716664"/>
            <a:ext cx="5438140" cy="4468416"/>
          </a:xfrm>
          <a:prstGeom prst="rect">
            <a:avLst/>
          </a:prstGeom>
          <a:ln>
            <a:noFill/>
          </a:ln>
        </p:spPr>
        <p:txBody>
          <a:bodyPr vert="horz" wrap="square" lIns="93164" tIns="46582" rIns="93164" bIns="4658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Slide Number Placeholder 4"/>
          <p:cNvSpPr txBox="1">
            <a:spLocks/>
          </p:cNvSpPr>
          <p:nvPr/>
        </p:nvSpPr>
        <p:spPr>
          <a:xfrm>
            <a:off x="5287087" y="2"/>
            <a:ext cx="1510595" cy="330995"/>
          </a:xfrm>
          <a:prstGeom prst="rect">
            <a:avLst/>
          </a:prstGeom>
        </p:spPr>
        <p:txBody>
          <a:bodyPr lIns="93164" tIns="46582" rIns="93164" bIns="46582" anchor="b"/>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r" eaLnBrk="1" hangingPunct="1">
              <a:defRPr/>
            </a:pPr>
            <a:r>
              <a:rPr lang="en-US" sz="1200" dirty="0">
                <a:latin typeface="Calibri" pitchFamily="-107" charset="0"/>
              </a:rPr>
              <a:t>1 - </a:t>
            </a:r>
            <a:fld id="{E8754586-748E-423B-B46D-321A01942A47}" type="slidenum">
              <a:rPr lang="en-US" sz="1200" smtClean="0">
                <a:latin typeface="Calibri" pitchFamily="-107" charset="0"/>
              </a:rPr>
              <a:pPr algn="r" eaLnBrk="1" hangingPunct="1">
                <a:defRPr/>
              </a:pPr>
              <a:t>‹#›</a:t>
            </a:fld>
            <a:endParaRPr lang="en-US" sz="1200" dirty="0">
              <a:latin typeface="Calibri" pitchFamily="-107" charset="0"/>
            </a:endParaRPr>
          </a:p>
        </p:txBody>
      </p:sp>
    </p:spTree>
    <p:extLst>
      <p:ext uri="{BB962C8B-B14F-4D97-AF65-F5344CB8AC3E}">
        <p14:creationId xmlns:p14="http://schemas.microsoft.com/office/powerpoint/2010/main" val="83702605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S PGothic" pitchFamily="34" charset="-128"/>
        <a:cs typeface="ＭＳ Ｐゴシック" pitchFamily="-107" charset="-128"/>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p:cNvSpPr>
            <a:spLocks noGrp="1" noRot="1" noChangeAspect="1" noTextEdit="1"/>
          </p:cNvSpPr>
          <p:nvPr>
            <p:ph type="sldImg"/>
          </p:nvPr>
        </p:nvSpPr>
        <p:spPr bwMode="auto">
          <a:noFill/>
          <a:ln>
            <a:solidFill>
              <a:srgbClr val="000000"/>
            </a:solidFill>
            <a:miter lim="800000"/>
            <a:headEnd/>
            <a:tailEnd/>
          </a:ln>
        </p:spPr>
      </p:sp>
      <p:sp>
        <p:nvSpPr>
          <p:cNvPr id="167939" name="Notes Placeholder 2"/>
          <p:cNvSpPr>
            <a:spLocks noGrp="1"/>
          </p:cNvSpPr>
          <p:nvPr>
            <p:ph type="body" idx="1"/>
          </p:nvPr>
        </p:nvSpPr>
        <p:spPr bwMode="auto">
          <a:noFill/>
        </p:spPr>
        <p:txBody>
          <a:bodyPr/>
          <a:lstStyle/>
          <a:p>
            <a:pPr eaLnBrk="1" hangingPunct="1">
              <a:spcBef>
                <a:spcPct val="0"/>
              </a:spcBef>
            </a:pPr>
            <a:endParaRPr lang="en-US" altLang="en-US" dirty="0"/>
          </a:p>
        </p:txBody>
      </p:sp>
    </p:spTree>
    <p:extLst>
      <p:ext uri="{BB962C8B-B14F-4D97-AF65-F5344CB8AC3E}">
        <p14:creationId xmlns:p14="http://schemas.microsoft.com/office/powerpoint/2010/main" val="3198462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4235915-29BE-4891-BBA0-EEE99D323DC7}" type="slidenum">
              <a:rPr lang="en-US" smtClean="0"/>
              <a:pPr>
                <a:defRPr/>
              </a:pPr>
              <a:t>2</a:t>
            </a:fld>
            <a:endParaRPr lang="en-US"/>
          </a:p>
        </p:txBody>
      </p:sp>
    </p:spTree>
    <p:extLst>
      <p:ext uri="{BB962C8B-B14F-4D97-AF65-F5344CB8AC3E}">
        <p14:creationId xmlns:p14="http://schemas.microsoft.com/office/powerpoint/2010/main" val="2227208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1618313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1690105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69987"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69988"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69989"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69990"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69991"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69992"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69993" name="Rectangle 11"/>
          <p:cNvSpPr>
            <a:spLocks noGrp="1" noChangeArrowheads="1"/>
          </p:cNvSpPr>
          <p:nvPr>
            <p:ph type="body" idx="1"/>
          </p:nvPr>
        </p:nvSpPr>
        <p:spPr bwMode="auto">
          <a:xfrm>
            <a:off x="906357" y="4716664"/>
            <a:ext cx="4984962" cy="4468416"/>
          </a:xfrm>
          <a:noFill/>
        </p:spPr>
        <p:txBody>
          <a:bodyPr lIns="92189" tIns="45286" rIns="92189" bIns="45286"/>
          <a:lstStyle/>
          <a:p>
            <a:endParaRPr lang="en-US" altLang="en-US" dirty="0"/>
          </a:p>
        </p:txBody>
      </p:sp>
    </p:spTree>
    <p:extLst>
      <p:ext uri="{BB962C8B-B14F-4D97-AF65-F5344CB8AC3E}">
        <p14:creationId xmlns:p14="http://schemas.microsoft.com/office/powerpoint/2010/main" val="583570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1150668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1011"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1012"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1013"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1014"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1015"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1016"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71017" name="Rectangle 11"/>
          <p:cNvSpPr>
            <a:spLocks noGrp="1" noChangeArrowheads="1"/>
          </p:cNvSpPr>
          <p:nvPr>
            <p:ph type="body" idx="1"/>
          </p:nvPr>
        </p:nvSpPr>
        <p:spPr bwMode="auto">
          <a:xfrm>
            <a:off x="906357" y="4716664"/>
            <a:ext cx="4984962" cy="4468416"/>
          </a:xfrm>
          <a:noFill/>
        </p:spPr>
        <p:txBody>
          <a:bodyPr lIns="92189" tIns="45286" rIns="92189" bIns="45286"/>
          <a:lstStyle/>
          <a:p>
            <a:endParaRPr lang="en-US" altLang="en-US" dirty="0"/>
          </a:p>
        </p:txBody>
      </p:sp>
    </p:spTree>
    <p:extLst>
      <p:ext uri="{BB962C8B-B14F-4D97-AF65-F5344CB8AC3E}">
        <p14:creationId xmlns:p14="http://schemas.microsoft.com/office/powerpoint/2010/main" val="1125995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bwMode="auto">
          <a:xfrm>
            <a:off x="884238" y="763588"/>
            <a:ext cx="5030787" cy="37734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Rectangle 3"/>
          <p:cNvSpPr>
            <a:spLocks noGrp="1"/>
          </p:cNvSpPr>
          <p:nvPr>
            <p:ph type="body" idx="1"/>
          </p:nvPr>
        </p:nvSpPr>
        <p:spPr>
          <a:xfrm>
            <a:off x="904788" y="4795963"/>
            <a:ext cx="4988109" cy="4540820"/>
          </a:xfrm>
          <a:noFill/>
          <a:extLst>
            <a:ext uri="{909E8E84-426E-40DD-AFC4-6F175D3DCCD1}">
              <a14:hiddenFill xmlns:a14="http://schemas.microsoft.com/office/drawing/2010/main">
                <a:solidFill>
                  <a:srgbClr val="FFFFFF"/>
                </a:solidFill>
              </a14:hiddenFill>
            </a:ext>
          </a:extLst>
        </p:spPr>
        <p:txBody>
          <a:bodyPr/>
          <a:lstStyle/>
          <a:p>
            <a:endParaRPr lang="en-US" altLang="zh-TW">
              <a:ea typeface="PMingLiU" panose="02020500000000000000" pitchFamily="18" charset="-120"/>
            </a:endParaRPr>
          </a:p>
        </p:txBody>
      </p:sp>
    </p:spTree>
    <p:extLst>
      <p:ext uri="{BB962C8B-B14F-4D97-AF65-F5344CB8AC3E}">
        <p14:creationId xmlns:p14="http://schemas.microsoft.com/office/powerpoint/2010/main" val="3836991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3027608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638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443111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4083"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4084"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4085"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4086"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4087"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4088"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74089" name="Rectangle 11"/>
          <p:cNvSpPr>
            <a:spLocks noGrp="1" noChangeArrowheads="1"/>
          </p:cNvSpPr>
          <p:nvPr>
            <p:ph type="body" idx="1"/>
          </p:nvPr>
        </p:nvSpPr>
        <p:spPr bwMode="auto">
          <a:xfrm>
            <a:off x="906357" y="4716664"/>
            <a:ext cx="4984962" cy="4468416"/>
          </a:xfrm>
          <a:noFill/>
        </p:spPr>
        <p:txBody>
          <a:bodyPr lIns="92189" tIns="45286" rIns="92189" bIns="45286"/>
          <a:lstStyle/>
          <a:p>
            <a:endParaRPr lang="en-US" altLang="en-US" dirty="0"/>
          </a:p>
        </p:txBody>
      </p:sp>
    </p:spTree>
    <p:extLst>
      <p:ext uri="{BB962C8B-B14F-4D97-AF65-F5344CB8AC3E}">
        <p14:creationId xmlns:p14="http://schemas.microsoft.com/office/powerpoint/2010/main" val="1778252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zh-TW" dirty="0"/>
          </a:p>
        </p:txBody>
      </p:sp>
    </p:spTree>
    <p:extLst>
      <p:ext uri="{BB962C8B-B14F-4D97-AF65-F5344CB8AC3E}">
        <p14:creationId xmlns:p14="http://schemas.microsoft.com/office/powerpoint/2010/main" val="608203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bwMode="auto">
          <a:xfrm>
            <a:off x="884238" y="763588"/>
            <a:ext cx="5029200" cy="37719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zh-CN" altLang="en-US" dirty="0"/>
          </a:p>
        </p:txBody>
      </p:sp>
    </p:spTree>
    <p:extLst>
      <p:ext uri="{BB962C8B-B14F-4D97-AF65-F5344CB8AC3E}">
        <p14:creationId xmlns:p14="http://schemas.microsoft.com/office/powerpoint/2010/main" val="2945104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dirty="0"/>
          </a:p>
        </p:txBody>
      </p:sp>
    </p:spTree>
    <p:extLst>
      <p:ext uri="{BB962C8B-B14F-4D97-AF65-F5344CB8AC3E}">
        <p14:creationId xmlns:p14="http://schemas.microsoft.com/office/powerpoint/2010/main" val="2384179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7395"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7396"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7397"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7398"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7399"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7400"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87401" name="Rectangle 11"/>
          <p:cNvSpPr>
            <a:spLocks noGrp="1" noChangeArrowheads="1"/>
          </p:cNvSpPr>
          <p:nvPr>
            <p:ph type="body" idx="1"/>
          </p:nvPr>
        </p:nvSpPr>
        <p:spPr bwMode="auto">
          <a:xfrm>
            <a:off x="226594" y="4716662"/>
            <a:ext cx="6268967" cy="5213152"/>
          </a:xfrm>
          <a:noFill/>
        </p:spPr>
        <p:txBody>
          <a:bodyPr lIns="92189" tIns="45286" rIns="92189" bIns="45286"/>
          <a:lstStyle/>
          <a:p>
            <a:endParaRPr lang="en-US" altLang="en-US" dirty="0"/>
          </a:p>
        </p:txBody>
      </p:sp>
    </p:spTree>
    <p:extLst>
      <p:ext uri="{BB962C8B-B14F-4D97-AF65-F5344CB8AC3E}">
        <p14:creationId xmlns:p14="http://schemas.microsoft.com/office/powerpoint/2010/main" val="12432066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539642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6131"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6132"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6133"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6134"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6135"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6136"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76137" name="Rectangle 11"/>
          <p:cNvSpPr>
            <a:spLocks noGrp="1" noChangeArrowheads="1"/>
          </p:cNvSpPr>
          <p:nvPr>
            <p:ph type="body" idx="1"/>
          </p:nvPr>
        </p:nvSpPr>
        <p:spPr bwMode="auto">
          <a:xfrm>
            <a:off x="906357" y="4716664"/>
            <a:ext cx="4984962" cy="4468416"/>
          </a:xfrm>
          <a:noFill/>
        </p:spPr>
        <p:txBody>
          <a:bodyPr lIns="92189" tIns="45286" rIns="92189" bIns="45286"/>
          <a:lstStyle/>
          <a:p>
            <a:endParaRPr lang="en-US" altLang="en-US" dirty="0"/>
          </a:p>
        </p:txBody>
      </p:sp>
    </p:spTree>
    <p:extLst>
      <p:ext uri="{BB962C8B-B14F-4D97-AF65-F5344CB8AC3E}">
        <p14:creationId xmlns:p14="http://schemas.microsoft.com/office/powerpoint/2010/main" val="27028251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marL="223237" indent="-223237">
              <a:defRPr/>
            </a:pPr>
            <a:endParaRPr lang="en-US" altLang="zh-TW" dirty="0"/>
          </a:p>
        </p:txBody>
      </p:sp>
      <p:sp>
        <p:nvSpPr>
          <p:cNvPr id="73732" name="Slide Number Placeholder 3"/>
          <p:cNvSpPr>
            <a:spLocks noGrp="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A1525990-B662-495B-96E4-648A03BA692F}" type="slidenum">
              <a:rPr lang="en-US" altLang="zh-TW"/>
              <a:pPr eaLnBrk="1" hangingPunct="1">
                <a:spcBef>
                  <a:spcPct val="0"/>
                </a:spcBef>
              </a:pPr>
              <a:t>29</a:t>
            </a:fld>
            <a:endParaRPr lang="en-US" altLang="zh-TW"/>
          </a:p>
        </p:txBody>
      </p:sp>
    </p:spTree>
    <p:extLst>
      <p:ext uri="{BB962C8B-B14F-4D97-AF65-F5344CB8AC3E}">
        <p14:creationId xmlns:p14="http://schemas.microsoft.com/office/powerpoint/2010/main" val="4157012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7155"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7156"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7157"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7158"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7159"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7160"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77161" name="Rectangle 11"/>
          <p:cNvSpPr>
            <a:spLocks noGrp="1" noChangeArrowheads="1"/>
          </p:cNvSpPr>
          <p:nvPr>
            <p:ph type="body" idx="1"/>
          </p:nvPr>
        </p:nvSpPr>
        <p:spPr bwMode="auto">
          <a:xfrm>
            <a:off x="302119" y="4716662"/>
            <a:ext cx="6193438" cy="5213152"/>
          </a:xfrm>
          <a:noFill/>
        </p:spPr>
        <p:txBody>
          <a:bodyPr lIns="92189" tIns="45286" rIns="92189" bIns="45286"/>
          <a:lstStyle/>
          <a:p>
            <a:endParaRPr lang="en-US" altLang="en-US" dirty="0"/>
          </a:p>
        </p:txBody>
      </p:sp>
    </p:spTree>
    <p:extLst>
      <p:ext uri="{BB962C8B-B14F-4D97-AF65-F5344CB8AC3E}">
        <p14:creationId xmlns:p14="http://schemas.microsoft.com/office/powerpoint/2010/main" val="790740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8179"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8180"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8181"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8182"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8183"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8184"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78185" name="Rectangle 11"/>
          <p:cNvSpPr>
            <a:spLocks noGrp="1" noChangeArrowheads="1"/>
          </p:cNvSpPr>
          <p:nvPr>
            <p:ph type="body" idx="1"/>
          </p:nvPr>
        </p:nvSpPr>
        <p:spPr bwMode="auto">
          <a:xfrm>
            <a:off x="906357" y="4716664"/>
            <a:ext cx="4984962" cy="4468416"/>
          </a:xfrm>
          <a:noFill/>
        </p:spPr>
        <p:txBody>
          <a:bodyPr lIns="92189" tIns="45286" rIns="92189" bIns="45286"/>
          <a:lstStyle/>
          <a:p>
            <a:endParaRPr lang="en-US" altLang="en-US" dirty="0"/>
          </a:p>
        </p:txBody>
      </p:sp>
    </p:spTree>
    <p:extLst>
      <p:ext uri="{BB962C8B-B14F-4D97-AF65-F5344CB8AC3E}">
        <p14:creationId xmlns:p14="http://schemas.microsoft.com/office/powerpoint/2010/main" val="25799946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9203"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9204"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9205"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9206"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9207"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79208"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79209" name="Rectangle 11"/>
          <p:cNvSpPr>
            <a:spLocks noGrp="1" noChangeArrowheads="1"/>
          </p:cNvSpPr>
          <p:nvPr>
            <p:ph type="body" idx="1"/>
          </p:nvPr>
        </p:nvSpPr>
        <p:spPr bwMode="auto">
          <a:xfrm>
            <a:off x="906357" y="4716664"/>
            <a:ext cx="4984962" cy="4468416"/>
          </a:xfrm>
          <a:noFill/>
        </p:spPr>
        <p:txBody>
          <a:bodyPr lIns="92189" tIns="45286" rIns="92189" bIns="45286"/>
          <a:lstStyle/>
          <a:p>
            <a:pPr defTabSz="906889">
              <a:lnSpc>
                <a:spcPct val="80000"/>
              </a:lnSpc>
              <a:defRPr/>
            </a:pPr>
            <a:endParaRPr lang="en-US" altLang="en-US" dirty="0"/>
          </a:p>
        </p:txBody>
      </p:sp>
    </p:spTree>
    <p:extLst>
      <p:ext uri="{BB962C8B-B14F-4D97-AF65-F5344CB8AC3E}">
        <p14:creationId xmlns:p14="http://schemas.microsoft.com/office/powerpoint/2010/main" val="3170637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0227" name="Rectangle 4"/>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0228" name="Rectangle 5"/>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0229" name="Rectangle 6"/>
          <p:cNvSpPr>
            <a:spLocks noChangeArrowheads="1"/>
          </p:cNvSpPr>
          <p:nvPr/>
        </p:nvSpPr>
        <p:spPr bwMode="auto">
          <a:xfrm>
            <a:off x="3852016"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0230" name="Rectangle 8"/>
          <p:cNvSpPr>
            <a:spLocks noChangeArrowheads="1"/>
          </p:cNvSpPr>
          <p:nvPr/>
        </p:nvSpPr>
        <p:spPr bwMode="auto">
          <a:xfrm>
            <a:off x="1" y="9433324"/>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0231" name="Rectangle 9"/>
          <p:cNvSpPr>
            <a:spLocks noChangeArrowheads="1"/>
          </p:cNvSpPr>
          <p:nvPr/>
        </p:nvSpPr>
        <p:spPr bwMode="auto">
          <a:xfrm>
            <a:off x="1" y="0"/>
            <a:ext cx="2945660" cy="496491"/>
          </a:xfrm>
          <a:prstGeom prst="rect">
            <a:avLst/>
          </a:prstGeom>
          <a:noFill/>
          <a:ln w="12700">
            <a:noFill/>
            <a:miter lim="800000"/>
            <a:headEnd/>
            <a:tailEnd/>
          </a:ln>
        </p:spPr>
        <p:txBody>
          <a:bodyPr wrap="none" lIns="93159" tIns="46580" rIns="93159" bIns="46580" anchor="ctr"/>
          <a:lstStyle/>
          <a:p>
            <a:endParaRPr lang="en-US" altLang="en-US" dirty="0">
              <a:ea typeface="MS PGothic" pitchFamily="34" charset="-128"/>
            </a:endParaRPr>
          </a:p>
        </p:txBody>
      </p:sp>
      <p:sp>
        <p:nvSpPr>
          <p:cNvPr id="180232" name="Rectangle 10"/>
          <p:cNvSpPr>
            <a:spLocks noGrp="1" noRot="1" noChangeAspect="1" noChangeArrowheads="1" noTextEdit="1"/>
          </p:cNvSpPr>
          <p:nvPr>
            <p:ph type="sldImg"/>
          </p:nvPr>
        </p:nvSpPr>
        <p:spPr bwMode="auto">
          <a:xfrm>
            <a:off x="927100" y="750888"/>
            <a:ext cx="4945063" cy="3709987"/>
          </a:xfrm>
          <a:noFill/>
          <a:ln cap="flat">
            <a:solidFill>
              <a:schemeClr val="tx1"/>
            </a:solidFill>
            <a:miter lim="800000"/>
            <a:headEnd/>
            <a:tailEnd/>
          </a:ln>
        </p:spPr>
      </p:sp>
      <p:sp>
        <p:nvSpPr>
          <p:cNvPr id="180233" name="Rectangle 11"/>
          <p:cNvSpPr>
            <a:spLocks noGrp="1" noChangeArrowheads="1"/>
          </p:cNvSpPr>
          <p:nvPr>
            <p:ph type="body" idx="1"/>
          </p:nvPr>
        </p:nvSpPr>
        <p:spPr bwMode="auto">
          <a:xfrm>
            <a:off x="906357" y="4716664"/>
            <a:ext cx="4984962" cy="4468416"/>
          </a:xfrm>
          <a:noFill/>
        </p:spPr>
        <p:txBody>
          <a:bodyPr lIns="92189" tIns="45286" rIns="92189" bIns="45286">
            <a:normAutofit/>
          </a:bodyPr>
          <a:lstStyle/>
          <a:p>
            <a:pPr>
              <a:lnSpc>
                <a:spcPct val="80000"/>
              </a:lnSpc>
            </a:pPr>
            <a:endParaRPr lang="en-US" altLang="en-US" dirty="0"/>
          </a:p>
        </p:txBody>
      </p:sp>
    </p:spTree>
    <p:extLst>
      <p:ext uri="{BB962C8B-B14F-4D97-AF65-F5344CB8AC3E}">
        <p14:creationId xmlns:p14="http://schemas.microsoft.com/office/powerpoint/2010/main" val="33401466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1251" name="Rectangle 3"/>
          <p:cNvSpPr>
            <a:spLocks noGrp="1" noChangeArrowheads="1"/>
          </p:cNvSpPr>
          <p:nvPr>
            <p:ph type="body" idx="1"/>
          </p:nvPr>
        </p:nvSpPr>
        <p:spPr bwMode="auto">
          <a:noFill/>
        </p:spPr>
        <p:txBody>
          <a:bodyPr/>
          <a:lstStyle/>
          <a:p>
            <a:endParaRPr lang="en-US" altLang="en-US" dirty="0"/>
          </a:p>
        </p:txBody>
      </p:sp>
    </p:spTree>
    <p:extLst>
      <p:ext uri="{BB962C8B-B14F-4D97-AF65-F5344CB8AC3E}">
        <p14:creationId xmlns:p14="http://schemas.microsoft.com/office/powerpoint/2010/main" val="1953875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2097436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81251" name="Rectangle 3"/>
          <p:cNvSpPr>
            <a:spLocks noGrp="1" noChangeArrowheads="1"/>
          </p:cNvSpPr>
          <p:nvPr>
            <p:ph type="body" idx="1"/>
          </p:nvPr>
        </p:nvSpPr>
        <p:spPr bwMode="auto">
          <a:noFill/>
        </p:spPr>
        <p:txBody>
          <a:bodyPr/>
          <a:lstStyle/>
          <a:p>
            <a:pPr defTabSz="906889">
              <a:defRPr/>
            </a:pPr>
            <a:endParaRPr lang="en-US" altLang="en-US" dirty="0"/>
          </a:p>
        </p:txBody>
      </p:sp>
    </p:spTree>
    <p:extLst>
      <p:ext uri="{BB962C8B-B14F-4D97-AF65-F5344CB8AC3E}">
        <p14:creationId xmlns:p14="http://schemas.microsoft.com/office/powerpoint/2010/main" val="37889374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1806708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zh-TW" altLang="en-US"/>
          </a:p>
        </p:txBody>
      </p:sp>
    </p:spTree>
    <p:extLst>
      <p:ext uri="{BB962C8B-B14F-4D97-AF65-F5344CB8AC3E}">
        <p14:creationId xmlns:p14="http://schemas.microsoft.com/office/powerpoint/2010/main" val="23070380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891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18467575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096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p>
        </p:txBody>
      </p:sp>
    </p:spTree>
    <p:extLst>
      <p:ext uri="{BB962C8B-B14F-4D97-AF65-F5344CB8AC3E}">
        <p14:creationId xmlns:p14="http://schemas.microsoft.com/office/powerpoint/2010/main" val="10788217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cxnSp>
        <p:nvCxnSpPr>
          <p:cNvPr id="43011" name="AutoShape 4"/>
          <p:cNvCxnSpPr>
            <a:cxnSpLocks noChangeShapeType="1"/>
            <a:stCxn id="43010" idx="0"/>
          </p:cNvCxnSpPr>
          <p:nvPr/>
        </p:nvCxnSpPr>
        <p:spPr bwMode="auto">
          <a:xfrm rot="-5400000" flipH="1" flipV="1">
            <a:off x="-915577" y="402248"/>
            <a:ext cx="1979067" cy="6649763"/>
          </a:xfrm>
          <a:prstGeom prst="bentConnector4">
            <a:avLst>
              <a:gd name="adj1" fmla="val -12000"/>
              <a:gd name="adj2" fmla="val 6956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9002476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4B84E125-EABF-4F4D-A3CE-9FAEADD00EEB}" type="slidenum">
              <a:rPr lang="en-US" altLang="zh-TW"/>
              <a:pPr eaLnBrk="1" hangingPunct="1">
                <a:spcBef>
                  <a:spcPct val="0"/>
                </a:spcBef>
              </a:pPr>
              <a:t>42</a:t>
            </a:fld>
            <a:endParaRPr lang="en-US" altLang="zh-TW"/>
          </a:p>
        </p:txBody>
      </p:sp>
      <p:sp>
        <p:nvSpPr>
          <p:cNvPr id="839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zh-TW"/>
          </a:p>
        </p:txBody>
      </p:sp>
    </p:spTree>
    <p:extLst>
      <p:ext uri="{BB962C8B-B14F-4D97-AF65-F5344CB8AC3E}">
        <p14:creationId xmlns:p14="http://schemas.microsoft.com/office/powerpoint/2010/main" val="7695065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30156"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30156"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30156"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30156"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D105C695-C396-49AD-81CD-A2EBFDE5ECAB}" type="slidenum">
              <a:rPr lang="zh-TW" altLang="en-US">
                <a:latin typeface="Times New Roman" panose="02020603050405020304" pitchFamily="18" charset="0"/>
                <a:ea typeface="PMingLiU" panose="02020500000000000000" pitchFamily="18" charset="-120"/>
              </a:rPr>
              <a:pPr eaLnBrk="1" hangingPunct="1">
                <a:spcBef>
                  <a:spcPct val="0"/>
                </a:spcBef>
              </a:pPr>
              <a:t>43</a:t>
            </a:fld>
            <a:endParaRPr lang="en-US" altLang="zh-TW">
              <a:latin typeface="Times New Roman" panose="02020603050405020304" pitchFamily="18" charset="0"/>
              <a:ea typeface="PMingLiU" panose="02020500000000000000" pitchFamily="18" charset="-120"/>
            </a:endParaRPr>
          </a:p>
        </p:txBody>
      </p:sp>
      <p:sp>
        <p:nvSpPr>
          <p:cNvPr id="84995" name="Rectangle 2"/>
          <p:cNvSpPr>
            <a:spLocks noGrp="1" noRot="1" noChangeAspect="1" noChangeArrowheads="1" noTextEdit="1"/>
          </p:cNvSpPr>
          <p:nvPr>
            <p:ph type="sldImg"/>
          </p:nvPr>
        </p:nvSpPr>
        <p:spPr bwMode="auto">
          <a:noFill/>
          <a:ln w="12699"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84996" name="Rectangle 3"/>
          <p:cNvSpPr>
            <a:spLocks noGrp="1" noChangeArrowheads="1"/>
          </p:cNvSpPr>
          <p:nvPr>
            <p:ph type="body"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87" tIns="45285" rIns="92187" bIns="45285"/>
          <a:lstStyle/>
          <a:p>
            <a:pPr eaLnBrk="1" hangingPunct="1"/>
            <a:endParaRPr lang="zh-TW"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9045767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30156"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30156"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30156"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30156"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30156"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3DD39EA0-B273-4FF1-A97F-29EACDE82D65}" type="slidenum">
              <a:rPr lang="zh-TW" altLang="en-US">
                <a:latin typeface="Times New Roman" panose="02020603050405020304" pitchFamily="18" charset="0"/>
                <a:ea typeface="PMingLiU" panose="02020500000000000000" pitchFamily="18" charset="-120"/>
              </a:rPr>
              <a:pPr eaLnBrk="1" hangingPunct="1">
                <a:spcBef>
                  <a:spcPct val="0"/>
                </a:spcBef>
              </a:pPr>
              <a:t>44</a:t>
            </a:fld>
            <a:endParaRPr lang="en-US" altLang="zh-TW">
              <a:latin typeface="Times New Roman" panose="02020603050405020304" pitchFamily="18" charset="0"/>
              <a:ea typeface="PMingLiU" panose="02020500000000000000" pitchFamily="18" charset="-120"/>
            </a:endParaRPr>
          </a:p>
        </p:txBody>
      </p:sp>
      <p:sp>
        <p:nvSpPr>
          <p:cNvPr id="86019" name="Rectangle 2"/>
          <p:cNvSpPr>
            <a:spLocks noGrp="1" noRot="1" noChangeAspect="1" noChangeArrowheads="1" noTextEdit="1"/>
          </p:cNvSpPr>
          <p:nvPr>
            <p:ph type="sldImg"/>
          </p:nvPr>
        </p:nvSpPr>
        <p:spPr bwMode="auto">
          <a:xfrm>
            <a:off x="719138" y="596900"/>
            <a:ext cx="5362575" cy="40227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86020" name="Rectangle 3"/>
          <p:cNvSpPr>
            <a:spLocks noGrp="1" noChangeArrowheads="1"/>
          </p:cNvSpPr>
          <p:nvPr>
            <p:ph type="body" idx="1"/>
          </p:nvPr>
        </p:nvSpPr>
        <p:spPr>
          <a:xfrm>
            <a:off x="911078" y="4794241"/>
            <a:ext cx="4973946" cy="452875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346" tIns="47327" rIns="96346" bIns="47327"/>
          <a:lstStyle/>
          <a:p>
            <a:pPr eaLnBrk="1" hangingPunct="1"/>
            <a:endParaRPr lang="zh-TW" altLang="en-US">
              <a:latin typeface="Times New Roman" panose="02020603050405020304" pitchFamily="18" charset="0"/>
              <a:ea typeface="ＭＳ Ｐゴシック" panose="020B0600070205080204" pitchFamily="34" charset="-128"/>
            </a:endParaRPr>
          </a:p>
        </p:txBody>
      </p:sp>
    </p:spTree>
    <p:extLst>
      <p:ext uri="{BB962C8B-B14F-4D97-AF65-F5344CB8AC3E}">
        <p14:creationId xmlns:p14="http://schemas.microsoft.com/office/powerpoint/2010/main" val="36368323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lIns="93168" tIns="46584" rIns="93168" bIns="46584"/>
          <a:lstStyle/>
          <a:p>
            <a:endParaRPr lang="en-US" altLang="zh-TW">
              <a:ea typeface="ＭＳ Ｐゴシック" panose="020B0600070205080204" pitchFamily="34" charset="-128"/>
            </a:endParaRPr>
          </a:p>
        </p:txBody>
      </p:sp>
    </p:spTree>
    <p:extLst>
      <p:ext uri="{BB962C8B-B14F-4D97-AF65-F5344CB8AC3E}">
        <p14:creationId xmlns:p14="http://schemas.microsoft.com/office/powerpoint/2010/main" val="95897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p:spPr>
      </p:sp>
      <p:sp>
        <p:nvSpPr>
          <p:cNvPr id="189443" name="Notes Placeholder 2"/>
          <p:cNvSpPr>
            <a:spLocks noGrp="1"/>
          </p:cNvSpPr>
          <p:nvPr>
            <p:ph type="body" idx="1"/>
          </p:nvPr>
        </p:nvSpPr>
        <p:spPr bwMode="auto">
          <a:noFill/>
        </p:spPr>
        <p:txBody>
          <a:bodyPr>
            <a:normAutofit/>
          </a:bodyPr>
          <a:lstStyle/>
          <a:p>
            <a:endParaRPr lang="en-US" altLang="en-US" dirty="0"/>
          </a:p>
        </p:txBody>
      </p:sp>
    </p:spTree>
    <p:extLst>
      <p:ext uri="{BB962C8B-B14F-4D97-AF65-F5344CB8AC3E}">
        <p14:creationId xmlns:p14="http://schemas.microsoft.com/office/powerpoint/2010/main" val="1301740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15680244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31774">
              <a:defRPr/>
            </a:pPr>
            <a:endParaRPr lang="en-US" dirty="0"/>
          </a:p>
        </p:txBody>
      </p:sp>
    </p:spTree>
    <p:extLst>
      <p:ext uri="{BB962C8B-B14F-4D97-AF65-F5344CB8AC3E}">
        <p14:creationId xmlns:p14="http://schemas.microsoft.com/office/powerpoint/2010/main" val="20631319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04C103C0-FF1B-4498-A274-1C17471DC244}" type="slidenum">
              <a:rPr lang="en-US" altLang="zh-TW"/>
              <a:pPr eaLnBrk="1" hangingPunct="1">
                <a:spcBef>
                  <a:spcPct val="0"/>
                </a:spcBef>
              </a:pPr>
              <a:t>52</a:t>
            </a:fld>
            <a:endParaRPr lang="en-US" altLang="zh-TW"/>
          </a:p>
        </p:txBody>
      </p:sp>
      <p:sp>
        <p:nvSpPr>
          <p:cNvPr id="88067" name="Rectangle 2"/>
          <p:cNvSpPr>
            <a:spLocks noGrp="1" noChangeArrowheads="1"/>
          </p:cNvSpPr>
          <p:nvPr>
            <p:ph type="body" idx="1"/>
          </p:nvPr>
        </p:nvSpPr>
        <p:spPr>
          <a:xfrm>
            <a:off x="906357" y="4795962"/>
            <a:ext cx="4984962" cy="4542546"/>
          </a:xfrm>
          <a:noFill/>
          <a:extLst>
            <a:ext uri="{909E8E84-426E-40DD-AFC4-6F175D3DCCD1}">
              <a14:hiddenFill xmlns:a14="http://schemas.microsoft.com/office/drawing/2010/main">
                <a:solidFill>
                  <a:srgbClr val="FFFFFF"/>
                </a:solidFill>
              </a14:hiddenFill>
            </a:ext>
          </a:extLst>
        </p:spPr>
        <p:txBody>
          <a:bodyPr lIns="93947" tIns="46149" rIns="93947" bIns="46149"/>
          <a:lstStyle/>
          <a:p>
            <a:endParaRPr lang="en-US" altLang="zh-TW"/>
          </a:p>
        </p:txBody>
      </p:sp>
      <p:sp>
        <p:nvSpPr>
          <p:cNvPr id="88068" name="Rectangle 3"/>
          <p:cNvSpPr>
            <a:spLocks noGrp="1" noRot="1" noChangeAspect="1" noChangeArrowheads="1" noTextEdit="1"/>
          </p:cNvSpPr>
          <p:nvPr>
            <p:ph type="sldImg"/>
          </p:nvPr>
        </p:nvSpPr>
        <p:spPr bwMode="auto">
          <a:xfrm>
            <a:off x="885825" y="763588"/>
            <a:ext cx="5027613" cy="37719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29525757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305927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CB681F95-C8D0-4EEC-9090-553421F6D9D0}" type="slidenum">
              <a:rPr lang="en-US">
                <a:solidFill>
                  <a:prstClr val="black"/>
                </a:solidFill>
              </a:rPr>
              <a:pPr/>
              <a:t>55</a:t>
            </a:fld>
            <a:endParaRPr lang="en-US" dirty="0">
              <a:solidFill>
                <a:prstClr val="black"/>
              </a:solidFill>
            </a:endParaRPr>
          </a:p>
        </p:txBody>
      </p:sp>
      <p:sp>
        <p:nvSpPr>
          <p:cNvPr id="35842"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5843"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21</a:t>
            </a:r>
          </a:p>
        </p:txBody>
      </p:sp>
      <p:sp>
        <p:nvSpPr>
          <p:cNvPr id="35844"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5845"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5846"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35847"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674897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4AF86AA3-4531-412E-95D2-4D1D12B83400}" type="slidenum">
              <a:rPr lang="en-US">
                <a:solidFill>
                  <a:prstClr val="black"/>
                </a:solidFill>
              </a:rPr>
              <a:pPr/>
              <a:t>56</a:t>
            </a:fld>
            <a:endParaRPr lang="en-US" dirty="0">
              <a:solidFill>
                <a:prstClr val="black"/>
              </a:solidFill>
            </a:endParaRPr>
          </a:p>
        </p:txBody>
      </p:sp>
      <p:sp>
        <p:nvSpPr>
          <p:cNvPr id="37890"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7891"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21</a:t>
            </a:r>
          </a:p>
        </p:txBody>
      </p:sp>
      <p:sp>
        <p:nvSpPr>
          <p:cNvPr id="37892"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7893"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7894"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37895"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7225999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84A6F9AF-166E-4E10-A15E-F1DDB9958392}" type="slidenum">
              <a:rPr lang="en-US">
                <a:solidFill>
                  <a:prstClr val="black"/>
                </a:solidFill>
              </a:rPr>
              <a:pPr/>
              <a:t>57</a:t>
            </a:fld>
            <a:endParaRPr lang="en-US" dirty="0">
              <a:solidFill>
                <a:prstClr val="black"/>
              </a:solidFill>
            </a:endParaRPr>
          </a:p>
        </p:txBody>
      </p:sp>
      <p:sp>
        <p:nvSpPr>
          <p:cNvPr id="39938"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9939"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25</a:t>
            </a:r>
          </a:p>
        </p:txBody>
      </p:sp>
      <p:sp>
        <p:nvSpPr>
          <p:cNvPr id="39940"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9941"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39942"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39943"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31727104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DBCC338C-6FC9-4736-8B96-55D7E3220BF9}" type="slidenum">
              <a:rPr lang="en-US">
                <a:solidFill>
                  <a:prstClr val="black"/>
                </a:solidFill>
              </a:rPr>
              <a:pPr/>
              <a:t>58</a:t>
            </a:fld>
            <a:endParaRPr lang="en-US" dirty="0">
              <a:solidFill>
                <a:prstClr val="black"/>
              </a:solidFill>
            </a:endParaRPr>
          </a:p>
        </p:txBody>
      </p:sp>
      <p:sp>
        <p:nvSpPr>
          <p:cNvPr id="41986"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1987"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25</a:t>
            </a:r>
          </a:p>
        </p:txBody>
      </p:sp>
      <p:sp>
        <p:nvSpPr>
          <p:cNvPr id="41988"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1989"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1990"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41991"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40093257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2EC2C032-4AFC-4804-A934-A227D9335BAD}" type="slidenum">
              <a:rPr lang="en-US">
                <a:solidFill>
                  <a:prstClr val="black"/>
                </a:solidFill>
              </a:rPr>
              <a:pPr/>
              <a:t>59</a:t>
            </a:fld>
            <a:endParaRPr lang="en-US" dirty="0">
              <a:solidFill>
                <a:prstClr val="black"/>
              </a:solidFill>
            </a:endParaRPr>
          </a:p>
        </p:txBody>
      </p:sp>
      <p:sp>
        <p:nvSpPr>
          <p:cNvPr id="44034"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4035"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29</a:t>
            </a:r>
          </a:p>
        </p:txBody>
      </p:sp>
      <p:sp>
        <p:nvSpPr>
          <p:cNvPr id="44036"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4037"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4038"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44039"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35644015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347A7524-8965-452C-B663-3C8E58E1A964}" type="slidenum">
              <a:rPr lang="en-US">
                <a:solidFill>
                  <a:prstClr val="black"/>
                </a:solidFill>
              </a:rPr>
              <a:pPr/>
              <a:t>60</a:t>
            </a:fld>
            <a:endParaRPr lang="en-US" dirty="0">
              <a:solidFill>
                <a:prstClr val="black"/>
              </a:solidFill>
            </a:endParaRPr>
          </a:p>
        </p:txBody>
      </p:sp>
      <p:sp>
        <p:nvSpPr>
          <p:cNvPr id="46082"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6083"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29</a:t>
            </a:r>
          </a:p>
        </p:txBody>
      </p:sp>
      <p:sp>
        <p:nvSpPr>
          <p:cNvPr id="46084"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6085"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6086"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46087"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14386420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AC2B4F37-C574-4FEE-8631-E4B248CB365A}" type="slidenum">
              <a:rPr lang="en-US">
                <a:solidFill>
                  <a:prstClr val="black"/>
                </a:solidFill>
              </a:rPr>
              <a:pPr/>
              <a:t>61</a:t>
            </a:fld>
            <a:endParaRPr lang="en-US" dirty="0">
              <a:solidFill>
                <a:prstClr val="black"/>
              </a:solidFill>
            </a:endParaRPr>
          </a:p>
        </p:txBody>
      </p:sp>
      <p:sp>
        <p:nvSpPr>
          <p:cNvPr id="48130"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8131"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30</a:t>
            </a:r>
          </a:p>
        </p:txBody>
      </p:sp>
      <p:sp>
        <p:nvSpPr>
          <p:cNvPr id="48132"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8133"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48134"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48135"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21997309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AFCCF0AF-1267-4501-BE63-272FB6969487}" type="slidenum">
              <a:rPr lang="en-US">
                <a:solidFill>
                  <a:prstClr val="black"/>
                </a:solidFill>
              </a:rPr>
              <a:pPr/>
              <a:t>62</a:t>
            </a:fld>
            <a:endParaRPr lang="en-US" dirty="0">
              <a:solidFill>
                <a:prstClr val="black"/>
              </a:solidFill>
            </a:endParaRPr>
          </a:p>
        </p:txBody>
      </p:sp>
      <p:sp>
        <p:nvSpPr>
          <p:cNvPr id="50178"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0179"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30</a:t>
            </a:r>
          </a:p>
        </p:txBody>
      </p:sp>
      <p:sp>
        <p:nvSpPr>
          <p:cNvPr id="50180"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0181"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0182"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50183"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36254116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542CDF1B-302F-4914-BDC8-840EFFF8FD08}" type="slidenum">
              <a:rPr lang="en-US">
                <a:solidFill>
                  <a:prstClr val="black"/>
                </a:solidFill>
              </a:rPr>
              <a:pPr/>
              <a:t>63</a:t>
            </a:fld>
            <a:endParaRPr lang="en-US" dirty="0">
              <a:solidFill>
                <a:prstClr val="black"/>
              </a:solidFill>
            </a:endParaRPr>
          </a:p>
        </p:txBody>
      </p:sp>
      <p:sp>
        <p:nvSpPr>
          <p:cNvPr id="224258" name="Rectangle 2"/>
          <p:cNvSpPr>
            <a:spLocks noGrp="1" noRot="1" noChangeAspect="1" noChangeArrowheads="1" noTextEdit="1"/>
          </p:cNvSpPr>
          <p:nvPr>
            <p:ph type="sldImg"/>
          </p:nvPr>
        </p:nvSpPr>
        <p:spPr>
          <a:ln/>
        </p:spPr>
      </p:sp>
      <p:sp>
        <p:nvSpPr>
          <p:cNvPr id="22425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9395177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0EE8AE1B-67E7-4C7C-BEBE-72B00207484B}" type="slidenum">
              <a:rPr lang="en-US">
                <a:solidFill>
                  <a:prstClr val="black"/>
                </a:solidFill>
              </a:rPr>
              <a:pPr/>
              <a:t>64</a:t>
            </a:fld>
            <a:endParaRPr lang="en-US" dirty="0">
              <a:solidFill>
                <a:prstClr val="black"/>
              </a:solidFill>
            </a:endParaRPr>
          </a:p>
        </p:txBody>
      </p:sp>
      <p:sp>
        <p:nvSpPr>
          <p:cNvPr id="56322"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3"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32</a:t>
            </a:r>
          </a:p>
        </p:txBody>
      </p:sp>
      <p:sp>
        <p:nvSpPr>
          <p:cNvPr id="56324"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5"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6"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56327"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21668300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DEBE4679-75A6-4450-8488-9B541106F82C}" type="slidenum">
              <a:rPr lang="en-US">
                <a:solidFill>
                  <a:prstClr val="black"/>
                </a:solidFill>
              </a:rPr>
              <a:pPr/>
              <a:t>65</a:t>
            </a:fld>
            <a:endParaRPr lang="en-US" dirty="0">
              <a:solidFill>
                <a:prstClr val="black"/>
              </a:solidFill>
            </a:endParaRPr>
          </a:p>
        </p:txBody>
      </p:sp>
      <p:sp>
        <p:nvSpPr>
          <p:cNvPr id="58370"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8371"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32</a:t>
            </a:r>
          </a:p>
        </p:txBody>
      </p:sp>
      <p:sp>
        <p:nvSpPr>
          <p:cNvPr id="58372"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8373"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8374"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58375"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38860843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DBF7B6AA-1142-4EC3-BE71-8540D1721B1B}" type="slidenum">
              <a:rPr lang="en-US">
                <a:solidFill>
                  <a:prstClr val="black"/>
                </a:solidFill>
              </a:rPr>
              <a:pPr/>
              <a:t>66</a:t>
            </a:fld>
            <a:endParaRPr lang="en-US" dirty="0">
              <a:solidFill>
                <a:prstClr val="black"/>
              </a:solidFill>
            </a:endParaRPr>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48788065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630935A1-E054-4F86-85A4-5F295583C696}" type="slidenum">
              <a:rPr lang="en-US">
                <a:solidFill>
                  <a:prstClr val="black"/>
                </a:solidFill>
              </a:rPr>
              <a:pPr/>
              <a:t>67</a:t>
            </a:fld>
            <a:endParaRPr lang="en-US" dirty="0">
              <a:solidFill>
                <a:prstClr val="black"/>
              </a:solidFill>
            </a:endParaRPr>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87503299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0EE8AE1B-67E7-4C7C-BEBE-72B00207484B}" type="slidenum">
              <a:rPr lang="en-US">
                <a:solidFill>
                  <a:prstClr val="black"/>
                </a:solidFill>
              </a:rPr>
              <a:pPr/>
              <a:t>68</a:t>
            </a:fld>
            <a:endParaRPr lang="en-US" dirty="0">
              <a:solidFill>
                <a:prstClr val="black"/>
              </a:solidFill>
            </a:endParaRPr>
          </a:p>
        </p:txBody>
      </p:sp>
      <p:sp>
        <p:nvSpPr>
          <p:cNvPr id="56322"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3"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32</a:t>
            </a:r>
          </a:p>
        </p:txBody>
      </p:sp>
      <p:sp>
        <p:nvSpPr>
          <p:cNvPr id="56324"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5"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6"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56327"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40142914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630935A1-E054-4F86-85A4-5F295583C696}" type="slidenum">
              <a:rPr lang="en-US">
                <a:solidFill>
                  <a:prstClr val="black"/>
                </a:solidFill>
              </a:rPr>
              <a:pPr/>
              <a:t>69</a:t>
            </a:fld>
            <a:endParaRPr lang="en-US" dirty="0">
              <a:solidFill>
                <a:prstClr val="black"/>
              </a:solidFill>
            </a:endParaRPr>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4910857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0EE8AE1B-67E7-4C7C-BEBE-72B00207484B}" type="slidenum">
              <a:rPr lang="en-US">
                <a:solidFill>
                  <a:prstClr val="black"/>
                </a:solidFill>
              </a:rPr>
              <a:pPr/>
              <a:t>70</a:t>
            </a:fld>
            <a:endParaRPr lang="en-US" dirty="0">
              <a:solidFill>
                <a:prstClr val="black"/>
              </a:solidFill>
            </a:endParaRPr>
          </a:p>
        </p:txBody>
      </p:sp>
      <p:sp>
        <p:nvSpPr>
          <p:cNvPr id="56322"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3"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32</a:t>
            </a:r>
          </a:p>
        </p:txBody>
      </p:sp>
      <p:sp>
        <p:nvSpPr>
          <p:cNvPr id="56324"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5"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6"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56327"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endParaRPr lang="en-US" dirty="0"/>
          </a:p>
        </p:txBody>
      </p:sp>
    </p:spTree>
    <p:extLst>
      <p:ext uri="{BB962C8B-B14F-4D97-AF65-F5344CB8AC3E}">
        <p14:creationId xmlns:p14="http://schemas.microsoft.com/office/powerpoint/2010/main" val="36325095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630935A1-E054-4F86-85A4-5F295583C696}" type="slidenum">
              <a:rPr lang="en-US">
                <a:solidFill>
                  <a:prstClr val="black"/>
                </a:solidFill>
              </a:rPr>
              <a:pPr/>
              <a:t>71</a:t>
            </a:fld>
            <a:endParaRPr lang="en-US" dirty="0">
              <a:solidFill>
                <a:prstClr val="black"/>
              </a:solidFill>
            </a:endParaRPr>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4649834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0EE8AE1B-67E7-4C7C-BEBE-72B00207484B}" type="slidenum">
              <a:rPr lang="en-US">
                <a:solidFill>
                  <a:prstClr val="black"/>
                </a:solidFill>
              </a:rPr>
              <a:pPr/>
              <a:t>72</a:t>
            </a:fld>
            <a:endParaRPr lang="en-US" dirty="0">
              <a:solidFill>
                <a:prstClr val="black"/>
              </a:solidFill>
            </a:endParaRPr>
          </a:p>
        </p:txBody>
      </p:sp>
      <p:sp>
        <p:nvSpPr>
          <p:cNvPr id="56322" name="Rectangle 2"/>
          <p:cNvSpPr>
            <a:spLocks noChangeArrowheads="1"/>
          </p:cNvSpPr>
          <p:nvPr/>
        </p:nvSpPr>
        <p:spPr bwMode="auto">
          <a:xfrm>
            <a:off x="3815116"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3" name="Rectangle 3"/>
          <p:cNvSpPr>
            <a:spLocks noChangeArrowheads="1"/>
          </p:cNvSpPr>
          <p:nvPr/>
        </p:nvSpPr>
        <p:spPr bwMode="auto">
          <a:xfrm>
            <a:off x="3815116"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19371" tIns="0" rIns="19371" bIns="0" anchor="b"/>
          <a:lstStyle>
            <a:lvl1pPr defTabSz="938213">
              <a:defRPr sz="2400">
                <a:solidFill>
                  <a:schemeClr val="tx1"/>
                </a:solidFill>
                <a:latin typeface="Times" panose="02020603050405020304" pitchFamily="18" charset="0"/>
              </a:defRPr>
            </a:lvl1pPr>
            <a:lvl2pPr marL="468313" defTabSz="938213">
              <a:defRPr sz="2400">
                <a:solidFill>
                  <a:schemeClr val="tx1"/>
                </a:solidFill>
                <a:latin typeface="Times" panose="02020603050405020304" pitchFamily="18" charset="0"/>
              </a:defRPr>
            </a:lvl2pPr>
            <a:lvl3pPr marL="938213" defTabSz="938213">
              <a:defRPr sz="2400">
                <a:solidFill>
                  <a:schemeClr val="tx1"/>
                </a:solidFill>
                <a:latin typeface="Times" panose="02020603050405020304" pitchFamily="18" charset="0"/>
              </a:defRPr>
            </a:lvl3pPr>
            <a:lvl4pPr marL="1406525" defTabSz="938213">
              <a:defRPr sz="2400">
                <a:solidFill>
                  <a:schemeClr val="tx1"/>
                </a:solidFill>
                <a:latin typeface="Times" panose="02020603050405020304" pitchFamily="18" charset="0"/>
              </a:defRPr>
            </a:lvl4pPr>
            <a:lvl5pPr marL="1874838" defTabSz="938213">
              <a:defRPr sz="2400">
                <a:solidFill>
                  <a:schemeClr val="tx1"/>
                </a:solidFill>
                <a:latin typeface="Times" panose="02020603050405020304" pitchFamily="18" charset="0"/>
              </a:defRPr>
            </a:lvl5pPr>
            <a:lvl6pPr marL="2332038" defTabSz="938213" eaLnBrk="0" fontAlgn="base" hangingPunct="0">
              <a:spcBef>
                <a:spcPct val="0"/>
              </a:spcBef>
              <a:spcAft>
                <a:spcPct val="0"/>
              </a:spcAft>
              <a:defRPr sz="2400">
                <a:solidFill>
                  <a:schemeClr val="tx1"/>
                </a:solidFill>
                <a:latin typeface="Times" panose="02020603050405020304" pitchFamily="18" charset="0"/>
              </a:defRPr>
            </a:lvl6pPr>
            <a:lvl7pPr marL="2789238" defTabSz="938213" eaLnBrk="0" fontAlgn="base" hangingPunct="0">
              <a:spcBef>
                <a:spcPct val="0"/>
              </a:spcBef>
              <a:spcAft>
                <a:spcPct val="0"/>
              </a:spcAft>
              <a:defRPr sz="2400">
                <a:solidFill>
                  <a:schemeClr val="tx1"/>
                </a:solidFill>
                <a:latin typeface="Times" panose="02020603050405020304" pitchFamily="18" charset="0"/>
              </a:defRPr>
            </a:lvl7pPr>
            <a:lvl8pPr marL="3246438" defTabSz="938213" eaLnBrk="0" fontAlgn="base" hangingPunct="0">
              <a:spcBef>
                <a:spcPct val="0"/>
              </a:spcBef>
              <a:spcAft>
                <a:spcPct val="0"/>
              </a:spcAft>
              <a:defRPr sz="2400">
                <a:solidFill>
                  <a:schemeClr val="tx1"/>
                </a:solidFill>
                <a:latin typeface="Times" panose="02020603050405020304" pitchFamily="18" charset="0"/>
              </a:defRPr>
            </a:lvl8pPr>
            <a:lvl9pPr marL="3703638" defTabSz="938213" eaLnBrk="0" fontAlgn="base" hangingPunct="0">
              <a:spcBef>
                <a:spcPct val="0"/>
              </a:spcBef>
              <a:spcAft>
                <a:spcPct val="0"/>
              </a:spcAft>
              <a:defRPr sz="2400">
                <a:solidFill>
                  <a:schemeClr val="tx1"/>
                </a:solidFill>
                <a:latin typeface="Times" panose="02020603050405020304" pitchFamily="18" charset="0"/>
              </a:defRPr>
            </a:lvl9pPr>
          </a:lstStyle>
          <a:p>
            <a:pPr algn="r"/>
            <a:r>
              <a:rPr lang="en-US" sz="1000" i="1" dirty="0">
                <a:solidFill>
                  <a:prstClr val="black"/>
                </a:solidFill>
                <a:latin typeface="Times New Roman" panose="02020603050405020304" pitchFamily="18" charset="0"/>
              </a:rPr>
              <a:t>32</a:t>
            </a:r>
          </a:p>
        </p:txBody>
      </p:sp>
      <p:sp>
        <p:nvSpPr>
          <p:cNvPr id="56324" name="Rectangle 4"/>
          <p:cNvSpPr>
            <a:spLocks noChangeArrowheads="1"/>
          </p:cNvSpPr>
          <p:nvPr/>
        </p:nvSpPr>
        <p:spPr bwMode="auto">
          <a:xfrm>
            <a:off x="0" y="946851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5" name="Rectangle 5"/>
          <p:cNvSpPr>
            <a:spLocks noChangeArrowheads="1"/>
          </p:cNvSpPr>
          <p:nvPr/>
        </p:nvSpPr>
        <p:spPr bwMode="auto">
          <a:xfrm>
            <a:off x="0" y="0"/>
            <a:ext cx="2918518" cy="498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689" tIns="45344" rIns="90689" bIns="45344" anchor="ctr"/>
          <a:lstStyle/>
          <a:p>
            <a:endParaRPr lang="en-US" dirty="0">
              <a:solidFill>
                <a:prstClr val="black"/>
              </a:solidFill>
            </a:endParaRPr>
          </a:p>
        </p:txBody>
      </p:sp>
      <p:sp>
        <p:nvSpPr>
          <p:cNvPr id="56326" name="Rectangle 6"/>
          <p:cNvSpPr>
            <a:spLocks noGrp="1" noRot="1" noChangeAspect="1" noChangeArrowheads="1" noTextEdit="1"/>
          </p:cNvSpPr>
          <p:nvPr>
            <p:ph type="sldImg"/>
          </p:nvPr>
        </p:nvSpPr>
        <p:spPr>
          <a:xfrm>
            <a:off x="884238" y="754063"/>
            <a:ext cx="4964112" cy="3724275"/>
          </a:xfrm>
          <a:ln w="12700" cap="flat">
            <a:solidFill>
              <a:schemeClr val="tx1"/>
            </a:solidFill>
          </a:ln>
          <a:extLst>
            <a:ext uri="{909E8E84-426E-40dd-AFC4-6F175D3DCCD1}">
              <a14:hiddenFill xmlns:a14="http://schemas.microsoft.com/office/drawing/2010/main" xmlns="">
                <a:noFill/>
              </a14:hiddenFill>
            </a:ext>
          </a:extLst>
        </p:spPr>
      </p:sp>
      <p:sp>
        <p:nvSpPr>
          <p:cNvPr id="56327" name="Rectangle 7"/>
          <p:cNvSpPr>
            <a:spLocks noGrp="1" noChangeArrowheads="1"/>
          </p:cNvSpPr>
          <p:nvPr>
            <p:ph type="body" idx="1"/>
          </p:nvPr>
        </p:nvSpPr>
        <p:spPr>
          <a:xfrm>
            <a:off x="898124" y="4734258"/>
            <a:ext cx="4937386" cy="4485084"/>
          </a:xfrm>
          <a:noFill/>
          <a:ln/>
          <a:extLst>
            <a:ext uri="{91240B29-F687-4f45-9708-019B960494DF}">
              <a14:hiddenLine xmlns:a14="http://schemas.microsoft.com/office/drawing/2010/main" xmlns="" w="12700">
                <a:solidFill>
                  <a:schemeClr val="tx1"/>
                </a:solidFill>
                <a:miter lim="800000"/>
                <a:headEnd/>
                <a:tailEnd/>
              </a14:hiddenLine>
            </a:ext>
          </a:extLst>
        </p:spPr>
        <p:txBody>
          <a:bodyPr lIns="92015" tIns="45201" rIns="92015" bIns="45201"/>
          <a:lstStyle/>
          <a:p>
            <a:pPr algn="l"/>
            <a:endParaRPr lang="en-US" dirty="0"/>
          </a:p>
        </p:txBody>
      </p:sp>
    </p:spTree>
    <p:extLst>
      <p:ext uri="{BB962C8B-B14F-4D97-AF65-F5344CB8AC3E}">
        <p14:creationId xmlns:p14="http://schemas.microsoft.com/office/powerpoint/2010/main" val="38734228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630935A1-E054-4F86-85A4-5F295583C696}" type="slidenum">
              <a:rPr lang="en-US">
                <a:solidFill>
                  <a:prstClr val="black"/>
                </a:solidFill>
              </a:rPr>
              <a:pPr/>
              <a:t>73</a:t>
            </a:fld>
            <a:endParaRPr lang="en-US" dirty="0">
              <a:solidFill>
                <a:prstClr val="black"/>
              </a:solidFill>
            </a:endParaRPr>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pPr algn="l"/>
            <a:endParaRPr lang="en-US" dirty="0"/>
          </a:p>
        </p:txBody>
      </p:sp>
    </p:spTree>
    <p:extLst>
      <p:ext uri="{BB962C8B-B14F-4D97-AF65-F5344CB8AC3E}">
        <p14:creationId xmlns:p14="http://schemas.microsoft.com/office/powerpoint/2010/main" val="36129807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F6A1F5AB-8272-437C-BDF9-09F79DBCF5EF}" type="slidenum">
              <a:rPr lang="en-US">
                <a:solidFill>
                  <a:prstClr val="black"/>
                </a:solidFill>
              </a:rPr>
              <a:pPr/>
              <a:t>74</a:t>
            </a:fld>
            <a:endParaRPr lang="en-US" dirty="0">
              <a:solidFill>
                <a:prstClr val="black"/>
              </a:solidFill>
            </a:endParaRPr>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8336368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13593" y="9466828"/>
            <a:ext cx="2918518" cy="498342"/>
          </a:xfrm>
          <a:prstGeom prst="rect">
            <a:avLst/>
          </a:prstGeom>
          <a:ln/>
        </p:spPr>
        <p:txBody>
          <a:bodyPr lIns="90689" tIns="45344" rIns="90689" bIns="45344"/>
          <a:lstStyle/>
          <a:p>
            <a:fld id="{630935A1-E054-4F86-85A4-5F295583C696}" type="slidenum">
              <a:rPr lang="en-US">
                <a:solidFill>
                  <a:prstClr val="black"/>
                </a:solidFill>
              </a:rPr>
              <a:pPr/>
              <a:t>75</a:t>
            </a:fld>
            <a:endParaRPr lang="en-US" dirty="0">
              <a:solidFill>
                <a:prstClr val="black"/>
              </a:solidFill>
            </a:endParaRPr>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0894337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441899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68747864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3852020" y="2"/>
            <a:ext cx="2945659" cy="505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861" tIns="45430" rIns="90861" bIns="45430" anchor="ctr"/>
          <a:lstStyle>
            <a:lvl1pPr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endParaRPr lang="zh-HK" altLang="zh-HK" sz="1800">
              <a:latin typeface="Arial" panose="020B0604020202020204" pitchFamily="34" charset="0"/>
            </a:endParaRPr>
          </a:p>
        </p:txBody>
      </p:sp>
      <p:sp>
        <p:nvSpPr>
          <p:cNvPr id="90115" name="Rectangle 4"/>
          <p:cNvSpPr>
            <a:spLocks noChangeArrowheads="1"/>
          </p:cNvSpPr>
          <p:nvPr/>
        </p:nvSpPr>
        <p:spPr bwMode="auto">
          <a:xfrm>
            <a:off x="4" y="9590203"/>
            <a:ext cx="2945659" cy="505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861" tIns="45430" rIns="90861" bIns="45430" anchor="ctr"/>
          <a:lstStyle>
            <a:lvl1pPr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endParaRPr lang="zh-HK" altLang="zh-HK" sz="1800">
              <a:latin typeface="Arial" panose="020B0604020202020204" pitchFamily="34" charset="0"/>
            </a:endParaRPr>
          </a:p>
        </p:txBody>
      </p:sp>
      <p:sp>
        <p:nvSpPr>
          <p:cNvPr id="90116" name="Rectangle 5"/>
          <p:cNvSpPr>
            <a:spLocks noChangeArrowheads="1"/>
          </p:cNvSpPr>
          <p:nvPr/>
        </p:nvSpPr>
        <p:spPr bwMode="auto">
          <a:xfrm>
            <a:off x="4" y="2"/>
            <a:ext cx="2945659" cy="505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861" tIns="45430" rIns="90861" bIns="45430" anchor="ctr"/>
          <a:lstStyle>
            <a:lvl1pPr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endParaRPr lang="zh-HK" altLang="zh-HK" sz="1800">
              <a:latin typeface="Arial" panose="020B0604020202020204" pitchFamily="34" charset="0"/>
            </a:endParaRPr>
          </a:p>
        </p:txBody>
      </p:sp>
      <p:sp>
        <p:nvSpPr>
          <p:cNvPr id="90117" name="Rectangle 6"/>
          <p:cNvSpPr>
            <a:spLocks noGrp="1" noRot="1" noChangeAspect="1" noChangeArrowheads="1" noTextEdit="1"/>
          </p:cNvSpPr>
          <p:nvPr>
            <p:ph type="sldImg"/>
          </p:nvPr>
        </p:nvSpPr>
        <p:spPr bwMode="auto">
          <a:xfrm>
            <a:off x="884238" y="763588"/>
            <a:ext cx="5030787" cy="3773487"/>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90118" name="Rectangle 7"/>
          <p:cNvSpPr>
            <a:spLocks noGrp="1" noChangeArrowheads="1"/>
          </p:cNvSpPr>
          <p:nvPr>
            <p:ph type="body" idx="1"/>
          </p:nvPr>
        </p:nvSpPr>
        <p:spPr>
          <a:xfrm>
            <a:off x="906357" y="4794239"/>
            <a:ext cx="4984962" cy="4544268"/>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90" tIns="45286" rIns="92190" bIns="45286"/>
          <a:lstStyle/>
          <a:p>
            <a:endParaRPr lang="en-US" altLang="zh-HK"/>
          </a:p>
        </p:txBody>
      </p:sp>
    </p:spTree>
    <p:extLst>
      <p:ext uri="{BB962C8B-B14F-4D97-AF65-F5344CB8AC3E}">
        <p14:creationId xmlns:p14="http://schemas.microsoft.com/office/powerpoint/2010/main" val="15149388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87E5ACCE-4F16-402B-9880-25D17C3D5B38}" type="slidenum">
              <a:rPr lang="en-US" altLang="zh-TW"/>
              <a:pPr eaLnBrk="1" hangingPunct="1">
                <a:spcBef>
                  <a:spcPct val="0"/>
                </a:spcBef>
              </a:pPr>
              <a:t>79</a:t>
            </a:fld>
            <a:endParaRPr lang="en-US" altLang="zh-TW"/>
          </a:p>
        </p:txBody>
      </p:sp>
      <p:sp>
        <p:nvSpPr>
          <p:cNvPr id="9113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zh-TW"/>
          </a:p>
        </p:txBody>
      </p:sp>
    </p:spTree>
    <p:extLst>
      <p:ext uri="{BB962C8B-B14F-4D97-AF65-F5344CB8AC3E}">
        <p14:creationId xmlns:p14="http://schemas.microsoft.com/office/powerpoint/2010/main" val="33064960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08E3F5D5-AC81-43A3-8F11-561A48749E08}" type="slidenum">
              <a:rPr lang="en-US" altLang="zh-TW"/>
              <a:pPr eaLnBrk="1" hangingPunct="1">
                <a:spcBef>
                  <a:spcPct val="0"/>
                </a:spcBef>
              </a:pPr>
              <a:t>80</a:t>
            </a:fld>
            <a:endParaRPr lang="en-US" altLang="zh-TW"/>
          </a:p>
        </p:txBody>
      </p:sp>
      <p:sp>
        <p:nvSpPr>
          <p:cNvPr id="921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zh-TW"/>
          </a:p>
        </p:txBody>
      </p:sp>
    </p:spTree>
    <p:extLst>
      <p:ext uri="{BB962C8B-B14F-4D97-AF65-F5344CB8AC3E}">
        <p14:creationId xmlns:p14="http://schemas.microsoft.com/office/powerpoint/2010/main" val="3918131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2735A662-A9A2-4A76-B648-79D3ED7D817B}" type="slidenum">
              <a:rPr lang="en-US" altLang="zh-TW"/>
              <a:pPr eaLnBrk="1" hangingPunct="1">
                <a:spcBef>
                  <a:spcPct val="0"/>
                </a:spcBef>
              </a:pPr>
              <a:t>81</a:t>
            </a:fld>
            <a:endParaRPr lang="en-US" altLang="zh-TW"/>
          </a:p>
        </p:txBody>
      </p:sp>
      <p:sp>
        <p:nvSpPr>
          <p:cNvPr id="9318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zh-TW"/>
          </a:p>
        </p:txBody>
      </p:sp>
    </p:spTree>
    <p:extLst>
      <p:ext uri="{BB962C8B-B14F-4D97-AF65-F5344CB8AC3E}">
        <p14:creationId xmlns:p14="http://schemas.microsoft.com/office/powerpoint/2010/main" val="10014003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xfrm>
            <a:off x="3850447" y="9588475"/>
            <a:ext cx="2945659" cy="5051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lstStyle>
            <a:lvl1pPr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57066" indent="-291179"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64717"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30604"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96491" indent="-232943" defTabSz="949568" eaLnBrk="0" hangingPunct="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62377"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3028264"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94151"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960038" indent="-232943" defTabSz="949568"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pPr>
            <a:fld id="{DF959835-11E6-41DD-B5AC-C9EA2B40AA33}" type="slidenum">
              <a:rPr lang="en-US" altLang="zh-TW"/>
              <a:pPr eaLnBrk="1" hangingPunct="1">
                <a:spcBef>
                  <a:spcPct val="0"/>
                </a:spcBef>
              </a:pPr>
              <a:t>82</a:t>
            </a:fld>
            <a:endParaRPr lang="en-US" altLang="zh-TW"/>
          </a:p>
        </p:txBody>
      </p:sp>
      <p:sp>
        <p:nvSpPr>
          <p:cNvPr id="942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zh-TW"/>
          </a:p>
        </p:txBody>
      </p:sp>
    </p:spTree>
    <p:extLst>
      <p:ext uri="{BB962C8B-B14F-4D97-AF65-F5344CB8AC3E}">
        <p14:creationId xmlns:p14="http://schemas.microsoft.com/office/powerpoint/2010/main" val="3428858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6FB42-E70C-4FA6-B141-9BD8E6020B3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HK"/>
          </a:p>
        </p:txBody>
      </p:sp>
      <p:sp>
        <p:nvSpPr>
          <p:cNvPr id="3" name="Subtitle 2">
            <a:extLst>
              <a:ext uri="{FF2B5EF4-FFF2-40B4-BE49-F238E27FC236}">
                <a16:creationId xmlns:a16="http://schemas.microsoft.com/office/drawing/2014/main" id="{C154AD63-5068-4E4E-A3E7-F90521A24E3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HK"/>
          </a:p>
        </p:txBody>
      </p:sp>
      <p:sp>
        <p:nvSpPr>
          <p:cNvPr id="4" name="Date Placeholder 3">
            <a:extLst>
              <a:ext uri="{FF2B5EF4-FFF2-40B4-BE49-F238E27FC236}">
                <a16:creationId xmlns:a16="http://schemas.microsoft.com/office/drawing/2014/main" id="{6F106812-10C8-433B-B6CA-EEC7F43376CF}"/>
              </a:ext>
            </a:extLst>
          </p:cNvPr>
          <p:cNvSpPr>
            <a:spLocks noGrp="1"/>
          </p:cNvSpPr>
          <p:nvPr>
            <p:ph type="dt" sz="half" idx="10"/>
          </p:nvPr>
        </p:nvSpPr>
        <p:spPr/>
        <p:txBody>
          <a:bodyPr/>
          <a:lstStyle/>
          <a:p>
            <a:pPr>
              <a:defRPr/>
            </a:pPr>
            <a:fld id="{5D29925E-EED2-44FE-A088-00640B77843B}" type="datetime1">
              <a:rPr lang="en-US" smtClean="0"/>
              <a:pPr>
                <a:defRPr/>
              </a:pPr>
              <a:t>8/24/2026</a:t>
            </a:fld>
            <a:endParaRPr lang="en-US" dirty="0"/>
          </a:p>
        </p:txBody>
      </p:sp>
      <p:sp>
        <p:nvSpPr>
          <p:cNvPr id="5" name="Footer Placeholder 4">
            <a:extLst>
              <a:ext uri="{FF2B5EF4-FFF2-40B4-BE49-F238E27FC236}">
                <a16:creationId xmlns:a16="http://schemas.microsoft.com/office/drawing/2014/main" id="{7F628831-A964-419A-8F9B-E13A6AC9D22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4BCD5A45-30F2-4BA8-A795-B19884B2D3EE}"/>
              </a:ext>
            </a:extLst>
          </p:cNvPr>
          <p:cNvSpPr>
            <a:spLocks noGrp="1"/>
          </p:cNvSpPr>
          <p:nvPr>
            <p:ph type="sldNum" sz="quarter" idx="12"/>
          </p:nvPr>
        </p:nvSpPr>
        <p:spPr/>
        <p:txBody>
          <a:bodyPr/>
          <a:lstStyle/>
          <a:p>
            <a:pPr>
              <a:defRPr/>
            </a:pPr>
            <a:fld id="{D326DA46-A0C8-43DB-B9C0-C1581C69E33E}" type="slidenum">
              <a:rPr lang="en-US" smtClean="0"/>
              <a:pPr>
                <a:defRPr/>
              </a:pPr>
              <a:t>‹#›</a:t>
            </a:fld>
            <a:endParaRPr lang="en-US" dirty="0"/>
          </a:p>
        </p:txBody>
      </p:sp>
    </p:spTree>
    <p:extLst>
      <p:ext uri="{BB962C8B-B14F-4D97-AF65-F5344CB8AC3E}">
        <p14:creationId xmlns:p14="http://schemas.microsoft.com/office/powerpoint/2010/main" val="2430746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9A0F-11F4-468A-92A1-C983B748FF94}"/>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E9CBAD7F-CA6D-45BF-B764-72E47621BFD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E3137278-C858-4DC0-AFCD-3C6A68D3C186}"/>
              </a:ext>
            </a:extLst>
          </p:cNvPr>
          <p:cNvSpPr>
            <a:spLocks noGrp="1"/>
          </p:cNvSpPr>
          <p:nvPr>
            <p:ph type="dt" sz="half" idx="10"/>
          </p:nvPr>
        </p:nvSpPr>
        <p:spPr/>
        <p:txBody>
          <a:bodyPr/>
          <a:lstStyle/>
          <a:p>
            <a:pPr>
              <a:defRPr/>
            </a:pPr>
            <a:fld id="{F432F547-B0D0-4CB8-8543-44DCD76FB919}" type="datetime1">
              <a:rPr lang="en-US" smtClean="0"/>
              <a:pPr>
                <a:defRPr/>
              </a:pPr>
              <a:t>8/24/2026</a:t>
            </a:fld>
            <a:endParaRPr lang="en-US" dirty="0"/>
          </a:p>
        </p:txBody>
      </p:sp>
      <p:sp>
        <p:nvSpPr>
          <p:cNvPr id="5" name="Footer Placeholder 4">
            <a:extLst>
              <a:ext uri="{FF2B5EF4-FFF2-40B4-BE49-F238E27FC236}">
                <a16:creationId xmlns:a16="http://schemas.microsoft.com/office/drawing/2014/main" id="{1BAC488E-4D8B-43F6-9EB5-45796484B24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31C8EFFA-FE3F-4B63-A363-A60D6A346D0C}"/>
              </a:ext>
            </a:extLst>
          </p:cNvPr>
          <p:cNvSpPr>
            <a:spLocks noGrp="1"/>
          </p:cNvSpPr>
          <p:nvPr>
            <p:ph type="sldNum" sz="quarter" idx="12"/>
          </p:nvPr>
        </p:nvSpPr>
        <p:spPr/>
        <p:txBody>
          <a:bodyPr/>
          <a:lstStyle/>
          <a:p>
            <a:pPr>
              <a:defRPr/>
            </a:pPr>
            <a:fld id="{4D43F197-C583-4294-BD21-B6AE0DDD46C4}" type="slidenum">
              <a:rPr lang="en-US" smtClean="0"/>
              <a:pPr>
                <a:defRPr/>
              </a:pPr>
              <a:t>‹#›</a:t>
            </a:fld>
            <a:endParaRPr lang="en-US" dirty="0"/>
          </a:p>
        </p:txBody>
      </p:sp>
    </p:spTree>
    <p:extLst>
      <p:ext uri="{BB962C8B-B14F-4D97-AF65-F5344CB8AC3E}">
        <p14:creationId xmlns:p14="http://schemas.microsoft.com/office/powerpoint/2010/main" val="3415552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26687-01E3-4EFA-AAF4-3B4BB497AA8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HK"/>
          </a:p>
        </p:txBody>
      </p:sp>
      <p:sp>
        <p:nvSpPr>
          <p:cNvPr id="3" name="Text Placeholder 2">
            <a:extLst>
              <a:ext uri="{FF2B5EF4-FFF2-40B4-BE49-F238E27FC236}">
                <a16:creationId xmlns:a16="http://schemas.microsoft.com/office/drawing/2014/main" id="{BADF4309-F76B-4BB7-B6F9-72503B85108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A4824F7-8986-499F-A6D6-173E38F03D7D}"/>
              </a:ext>
            </a:extLst>
          </p:cNvPr>
          <p:cNvSpPr>
            <a:spLocks noGrp="1"/>
          </p:cNvSpPr>
          <p:nvPr>
            <p:ph type="dt" sz="half" idx="10"/>
          </p:nvPr>
        </p:nvSpPr>
        <p:spPr/>
        <p:txBody>
          <a:bodyPr/>
          <a:lstStyle/>
          <a:p>
            <a:pPr>
              <a:defRPr/>
            </a:pPr>
            <a:fld id="{45180D1F-64D5-4D03-86A8-B0C78FB9D084}" type="datetime1">
              <a:rPr lang="en-US" smtClean="0"/>
              <a:pPr>
                <a:defRPr/>
              </a:pPr>
              <a:t>8/24/2026</a:t>
            </a:fld>
            <a:endParaRPr lang="en-US" dirty="0"/>
          </a:p>
        </p:txBody>
      </p:sp>
      <p:sp>
        <p:nvSpPr>
          <p:cNvPr id="5" name="Footer Placeholder 4">
            <a:extLst>
              <a:ext uri="{FF2B5EF4-FFF2-40B4-BE49-F238E27FC236}">
                <a16:creationId xmlns:a16="http://schemas.microsoft.com/office/drawing/2014/main" id="{1EA8C674-1E77-404C-A67C-7EEBBF9AB08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D82BAFC3-E5CC-4C2D-9F40-7AC36D99BDC0}"/>
              </a:ext>
            </a:extLst>
          </p:cNvPr>
          <p:cNvSpPr>
            <a:spLocks noGrp="1"/>
          </p:cNvSpPr>
          <p:nvPr>
            <p:ph type="sldNum" sz="quarter" idx="12"/>
          </p:nvPr>
        </p:nvSpPr>
        <p:spPr/>
        <p:txBody>
          <a:bodyPr/>
          <a:lstStyle/>
          <a:p>
            <a:pPr>
              <a:defRPr/>
            </a:pPr>
            <a:fld id="{CE116888-0E84-4000-8C9A-DF22FF321353}" type="slidenum">
              <a:rPr lang="en-US" smtClean="0"/>
              <a:pPr>
                <a:defRPr/>
              </a:pPr>
              <a:t>‹#›</a:t>
            </a:fld>
            <a:endParaRPr lang="en-US" dirty="0"/>
          </a:p>
        </p:txBody>
      </p:sp>
    </p:spTree>
    <p:extLst>
      <p:ext uri="{BB962C8B-B14F-4D97-AF65-F5344CB8AC3E}">
        <p14:creationId xmlns:p14="http://schemas.microsoft.com/office/powerpoint/2010/main" val="1716667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6322-B5D5-4209-90AD-C2E4307513A1}"/>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A55F3636-E557-4BF5-BDB8-7608D671E6D1}"/>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Content Placeholder 3">
            <a:extLst>
              <a:ext uri="{FF2B5EF4-FFF2-40B4-BE49-F238E27FC236}">
                <a16:creationId xmlns:a16="http://schemas.microsoft.com/office/drawing/2014/main" id="{4541DEDD-0FE5-4DE5-8D0C-0BF6BF334DEC}"/>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Date Placeholder 4">
            <a:extLst>
              <a:ext uri="{FF2B5EF4-FFF2-40B4-BE49-F238E27FC236}">
                <a16:creationId xmlns:a16="http://schemas.microsoft.com/office/drawing/2014/main" id="{8684DEA4-5D2C-45AC-A09E-EA1426FF5322}"/>
              </a:ext>
            </a:extLst>
          </p:cNvPr>
          <p:cNvSpPr>
            <a:spLocks noGrp="1"/>
          </p:cNvSpPr>
          <p:nvPr>
            <p:ph type="dt" sz="half" idx="10"/>
          </p:nvPr>
        </p:nvSpPr>
        <p:spPr/>
        <p:txBody>
          <a:bodyPr/>
          <a:lstStyle/>
          <a:p>
            <a:pPr>
              <a:defRPr/>
            </a:pPr>
            <a:fld id="{6A607C7E-F4F5-4B77-8CDC-90CC78F38487}" type="datetime1">
              <a:rPr lang="en-US" smtClean="0"/>
              <a:pPr>
                <a:defRPr/>
              </a:pPr>
              <a:t>8/24/2026</a:t>
            </a:fld>
            <a:endParaRPr lang="en-US" dirty="0"/>
          </a:p>
        </p:txBody>
      </p:sp>
      <p:sp>
        <p:nvSpPr>
          <p:cNvPr id="6" name="Footer Placeholder 5">
            <a:extLst>
              <a:ext uri="{FF2B5EF4-FFF2-40B4-BE49-F238E27FC236}">
                <a16:creationId xmlns:a16="http://schemas.microsoft.com/office/drawing/2014/main" id="{2A2A3584-A3FD-4926-AF2B-BA4A2209746B}"/>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EADF32EB-F0E7-4396-94E9-D3172F1D0D50}"/>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6422752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68068-C533-471D-B504-99206ADAC47E}"/>
              </a:ext>
            </a:extLst>
          </p:cNvPr>
          <p:cNvSpPr>
            <a:spLocks noGrp="1"/>
          </p:cNvSpPr>
          <p:nvPr>
            <p:ph type="title"/>
          </p:nvPr>
        </p:nvSpPr>
        <p:spPr>
          <a:xfrm>
            <a:off x="629841" y="365126"/>
            <a:ext cx="7886700" cy="1325563"/>
          </a:xfrm>
        </p:spPr>
        <p:txBody>
          <a:bodyPr/>
          <a:lstStyle/>
          <a:p>
            <a:r>
              <a:rPr lang="en-US"/>
              <a:t>Click to edit Master title style</a:t>
            </a:r>
            <a:endParaRPr lang="en-HK"/>
          </a:p>
        </p:txBody>
      </p:sp>
      <p:sp>
        <p:nvSpPr>
          <p:cNvPr id="3" name="Text Placeholder 2">
            <a:extLst>
              <a:ext uri="{FF2B5EF4-FFF2-40B4-BE49-F238E27FC236}">
                <a16:creationId xmlns:a16="http://schemas.microsoft.com/office/drawing/2014/main" id="{870A985D-5BF7-4CB5-A92B-4A6FDFBB42C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001B07C4-7F34-446A-9E2E-1B83A53EA1AD}"/>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Text Placeholder 4">
            <a:extLst>
              <a:ext uri="{FF2B5EF4-FFF2-40B4-BE49-F238E27FC236}">
                <a16:creationId xmlns:a16="http://schemas.microsoft.com/office/drawing/2014/main" id="{AFC32C3C-0143-494D-9F52-9E04ECF3F6F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E306F971-95B4-46A0-91C2-A0AFD49D1487}"/>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7" name="Date Placeholder 6">
            <a:extLst>
              <a:ext uri="{FF2B5EF4-FFF2-40B4-BE49-F238E27FC236}">
                <a16:creationId xmlns:a16="http://schemas.microsoft.com/office/drawing/2014/main" id="{30C71DDC-BE93-430E-B7EA-CDF6C2BE70F6}"/>
              </a:ext>
            </a:extLst>
          </p:cNvPr>
          <p:cNvSpPr>
            <a:spLocks noGrp="1"/>
          </p:cNvSpPr>
          <p:nvPr>
            <p:ph type="dt" sz="half" idx="10"/>
          </p:nvPr>
        </p:nvSpPr>
        <p:spPr/>
        <p:txBody>
          <a:bodyPr/>
          <a:lstStyle/>
          <a:p>
            <a:pPr>
              <a:defRPr/>
            </a:pPr>
            <a:fld id="{6A607C7E-F4F5-4B77-8CDC-90CC78F38487}" type="datetime1">
              <a:rPr lang="en-US" smtClean="0"/>
              <a:pPr>
                <a:defRPr/>
              </a:pPr>
              <a:t>8/24/2026</a:t>
            </a:fld>
            <a:endParaRPr lang="en-US" dirty="0"/>
          </a:p>
        </p:txBody>
      </p:sp>
      <p:sp>
        <p:nvSpPr>
          <p:cNvPr id="8" name="Footer Placeholder 7">
            <a:extLst>
              <a:ext uri="{FF2B5EF4-FFF2-40B4-BE49-F238E27FC236}">
                <a16:creationId xmlns:a16="http://schemas.microsoft.com/office/drawing/2014/main" id="{A7D57A58-19C6-42DB-9019-46F96D1CD12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9" name="Slide Number Placeholder 8">
            <a:extLst>
              <a:ext uri="{FF2B5EF4-FFF2-40B4-BE49-F238E27FC236}">
                <a16:creationId xmlns:a16="http://schemas.microsoft.com/office/drawing/2014/main" id="{62CBDDE3-F8EA-46B4-9C1F-FFEAFED26B91}"/>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54793755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699D1-45FB-49A6-A72B-39DFBA7983D3}"/>
              </a:ext>
            </a:extLst>
          </p:cNvPr>
          <p:cNvSpPr>
            <a:spLocks noGrp="1"/>
          </p:cNvSpPr>
          <p:nvPr>
            <p:ph type="title"/>
          </p:nvPr>
        </p:nvSpPr>
        <p:spPr/>
        <p:txBody>
          <a:bodyPr/>
          <a:lstStyle/>
          <a:p>
            <a:r>
              <a:rPr lang="en-US"/>
              <a:t>Click to edit Master title style</a:t>
            </a:r>
            <a:endParaRPr lang="en-HK"/>
          </a:p>
        </p:txBody>
      </p:sp>
      <p:sp>
        <p:nvSpPr>
          <p:cNvPr id="3" name="Date Placeholder 2">
            <a:extLst>
              <a:ext uri="{FF2B5EF4-FFF2-40B4-BE49-F238E27FC236}">
                <a16:creationId xmlns:a16="http://schemas.microsoft.com/office/drawing/2014/main" id="{A31AEA5B-B844-499C-BA2B-C67C65D26DBB}"/>
              </a:ext>
            </a:extLst>
          </p:cNvPr>
          <p:cNvSpPr>
            <a:spLocks noGrp="1"/>
          </p:cNvSpPr>
          <p:nvPr>
            <p:ph type="dt" sz="half" idx="10"/>
          </p:nvPr>
        </p:nvSpPr>
        <p:spPr/>
        <p:txBody>
          <a:bodyPr/>
          <a:lstStyle/>
          <a:p>
            <a:pPr>
              <a:defRPr/>
            </a:pPr>
            <a:fld id="{3F12F0C6-B5C0-45E6-85FD-C21AB31A1A95}" type="datetime1">
              <a:rPr lang="en-US" smtClean="0"/>
              <a:pPr>
                <a:defRPr/>
              </a:pPr>
              <a:t>8/24/2026</a:t>
            </a:fld>
            <a:endParaRPr lang="en-US" dirty="0"/>
          </a:p>
        </p:txBody>
      </p:sp>
      <p:sp>
        <p:nvSpPr>
          <p:cNvPr id="4" name="Footer Placeholder 3">
            <a:extLst>
              <a:ext uri="{FF2B5EF4-FFF2-40B4-BE49-F238E27FC236}">
                <a16:creationId xmlns:a16="http://schemas.microsoft.com/office/drawing/2014/main" id="{9F7586E5-DF4D-41FD-939D-D5906457C7F1}"/>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5" name="Slide Number Placeholder 4">
            <a:extLst>
              <a:ext uri="{FF2B5EF4-FFF2-40B4-BE49-F238E27FC236}">
                <a16:creationId xmlns:a16="http://schemas.microsoft.com/office/drawing/2014/main" id="{3568673F-6F56-412B-8D53-B5B5D1D6A606}"/>
              </a:ext>
            </a:extLst>
          </p:cNvPr>
          <p:cNvSpPr>
            <a:spLocks noGrp="1"/>
          </p:cNvSpPr>
          <p:nvPr>
            <p:ph type="sldNum" sz="quarter" idx="12"/>
          </p:nvPr>
        </p:nvSpPr>
        <p:spPr/>
        <p:txBody>
          <a:bodyPr/>
          <a:lstStyle/>
          <a:p>
            <a:pPr>
              <a:defRPr/>
            </a:pPr>
            <a:fld id="{738B8CC1-C7B3-4BC4-BEEE-A4A95954513D}" type="slidenum">
              <a:rPr lang="en-US" smtClean="0"/>
              <a:pPr>
                <a:defRPr/>
              </a:pPr>
              <a:t>‹#›</a:t>
            </a:fld>
            <a:endParaRPr lang="en-US" dirty="0"/>
          </a:p>
        </p:txBody>
      </p:sp>
    </p:spTree>
    <p:extLst>
      <p:ext uri="{BB962C8B-B14F-4D97-AF65-F5344CB8AC3E}">
        <p14:creationId xmlns:p14="http://schemas.microsoft.com/office/powerpoint/2010/main" val="2115705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B17015-38ED-4E49-B354-BF1208BF6C66}"/>
              </a:ext>
            </a:extLst>
          </p:cNvPr>
          <p:cNvSpPr>
            <a:spLocks noGrp="1"/>
          </p:cNvSpPr>
          <p:nvPr>
            <p:ph type="dt" sz="half" idx="10"/>
          </p:nvPr>
        </p:nvSpPr>
        <p:spPr/>
        <p:txBody>
          <a:bodyPr/>
          <a:lstStyle/>
          <a:p>
            <a:pPr>
              <a:defRPr/>
            </a:pPr>
            <a:fld id="{C8224EFF-F9F8-496A-8AFF-0F456197E8B5}" type="datetime1">
              <a:rPr lang="en-US" smtClean="0"/>
              <a:pPr>
                <a:defRPr/>
              </a:pPr>
              <a:t>8/24/2026</a:t>
            </a:fld>
            <a:endParaRPr lang="en-US" dirty="0"/>
          </a:p>
        </p:txBody>
      </p:sp>
      <p:sp>
        <p:nvSpPr>
          <p:cNvPr id="3" name="Footer Placeholder 2">
            <a:extLst>
              <a:ext uri="{FF2B5EF4-FFF2-40B4-BE49-F238E27FC236}">
                <a16:creationId xmlns:a16="http://schemas.microsoft.com/office/drawing/2014/main" id="{4BFED087-1CA0-4D1D-A5B0-CA6A37061CA7}"/>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4" name="Slide Number Placeholder 3">
            <a:extLst>
              <a:ext uri="{FF2B5EF4-FFF2-40B4-BE49-F238E27FC236}">
                <a16:creationId xmlns:a16="http://schemas.microsoft.com/office/drawing/2014/main" id="{705E9A89-0D3C-4EB6-BC78-A5673BA3818B}"/>
              </a:ext>
            </a:extLst>
          </p:cNvPr>
          <p:cNvSpPr>
            <a:spLocks noGrp="1"/>
          </p:cNvSpPr>
          <p:nvPr>
            <p:ph type="sldNum" sz="quarter" idx="12"/>
          </p:nvPr>
        </p:nvSpPr>
        <p:spPr/>
        <p:txBody>
          <a:bodyPr/>
          <a:lstStyle/>
          <a:p>
            <a:pPr>
              <a:defRPr/>
            </a:pPr>
            <a:fld id="{AA019379-17AD-4E0D-9610-E34AD365F0A3}" type="slidenum">
              <a:rPr lang="en-US" smtClean="0"/>
              <a:pPr>
                <a:defRPr/>
              </a:pPr>
              <a:t>‹#›</a:t>
            </a:fld>
            <a:endParaRPr lang="en-US" dirty="0"/>
          </a:p>
        </p:txBody>
      </p:sp>
    </p:spTree>
    <p:extLst>
      <p:ext uri="{BB962C8B-B14F-4D97-AF65-F5344CB8AC3E}">
        <p14:creationId xmlns:p14="http://schemas.microsoft.com/office/powerpoint/2010/main" val="171718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C35F3-02F6-4359-A8DD-7118AD1E85E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Content Placeholder 2">
            <a:extLst>
              <a:ext uri="{FF2B5EF4-FFF2-40B4-BE49-F238E27FC236}">
                <a16:creationId xmlns:a16="http://schemas.microsoft.com/office/drawing/2014/main" id="{FD9C6DA7-C41C-4B1D-821B-A34DDED7DFB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Text Placeholder 3">
            <a:extLst>
              <a:ext uri="{FF2B5EF4-FFF2-40B4-BE49-F238E27FC236}">
                <a16:creationId xmlns:a16="http://schemas.microsoft.com/office/drawing/2014/main" id="{1B6F4FC8-0644-4504-8FD0-62DFC733C5B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320DD565-4EB8-457E-B8A9-509B3DCE9EDB}"/>
              </a:ext>
            </a:extLst>
          </p:cNvPr>
          <p:cNvSpPr>
            <a:spLocks noGrp="1"/>
          </p:cNvSpPr>
          <p:nvPr>
            <p:ph type="dt" sz="half" idx="10"/>
          </p:nvPr>
        </p:nvSpPr>
        <p:spPr/>
        <p:txBody>
          <a:bodyPr/>
          <a:lstStyle/>
          <a:p>
            <a:pPr>
              <a:defRPr/>
            </a:pPr>
            <a:fld id="{ED88E37B-CCA0-4BF7-B7AF-2BF4EC7610D2}" type="datetime1">
              <a:rPr lang="en-US" smtClean="0"/>
              <a:pPr>
                <a:defRPr/>
              </a:pPr>
              <a:t>8/24/2026</a:t>
            </a:fld>
            <a:endParaRPr lang="en-US" dirty="0"/>
          </a:p>
        </p:txBody>
      </p:sp>
      <p:sp>
        <p:nvSpPr>
          <p:cNvPr id="6" name="Footer Placeholder 5">
            <a:extLst>
              <a:ext uri="{FF2B5EF4-FFF2-40B4-BE49-F238E27FC236}">
                <a16:creationId xmlns:a16="http://schemas.microsoft.com/office/drawing/2014/main" id="{CE79D874-3E53-419D-8C82-3E772F73DA12}"/>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44EB5090-F9E3-4FA5-B32F-54204C780AAF}"/>
              </a:ext>
            </a:extLst>
          </p:cNvPr>
          <p:cNvSpPr>
            <a:spLocks noGrp="1"/>
          </p:cNvSpPr>
          <p:nvPr>
            <p:ph type="sldNum" sz="quarter" idx="12"/>
          </p:nvPr>
        </p:nvSpPr>
        <p:spPr/>
        <p:txBody>
          <a:bodyPr/>
          <a:lstStyle/>
          <a:p>
            <a:pPr>
              <a:defRPr/>
            </a:pPr>
            <a:fld id="{759EE4FC-2A91-409C-B8D2-F3728F9891D1}" type="slidenum">
              <a:rPr lang="en-US" smtClean="0"/>
              <a:pPr>
                <a:defRPr/>
              </a:pPr>
              <a:t>‹#›</a:t>
            </a:fld>
            <a:endParaRPr lang="en-US" dirty="0"/>
          </a:p>
        </p:txBody>
      </p:sp>
    </p:spTree>
    <p:extLst>
      <p:ext uri="{BB962C8B-B14F-4D97-AF65-F5344CB8AC3E}">
        <p14:creationId xmlns:p14="http://schemas.microsoft.com/office/powerpoint/2010/main" val="40215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7437F-279B-4932-9EF7-FFD910F0FF2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HK"/>
          </a:p>
        </p:txBody>
      </p:sp>
      <p:sp>
        <p:nvSpPr>
          <p:cNvPr id="3" name="Picture Placeholder 2">
            <a:extLst>
              <a:ext uri="{FF2B5EF4-FFF2-40B4-BE49-F238E27FC236}">
                <a16:creationId xmlns:a16="http://schemas.microsoft.com/office/drawing/2014/main" id="{D68E7D60-0F4E-4BE9-B09F-E7246F9691B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HK"/>
          </a:p>
        </p:txBody>
      </p:sp>
      <p:sp>
        <p:nvSpPr>
          <p:cNvPr id="4" name="Text Placeholder 3">
            <a:extLst>
              <a:ext uri="{FF2B5EF4-FFF2-40B4-BE49-F238E27FC236}">
                <a16:creationId xmlns:a16="http://schemas.microsoft.com/office/drawing/2014/main" id="{6FF00D92-3484-4528-A351-19165E1E60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C47D33E0-CCF8-4FEC-A987-DCEDD3193901}"/>
              </a:ext>
            </a:extLst>
          </p:cNvPr>
          <p:cNvSpPr>
            <a:spLocks noGrp="1"/>
          </p:cNvSpPr>
          <p:nvPr>
            <p:ph type="dt" sz="half" idx="10"/>
          </p:nvPr>
        </p:nvSpPr>
        <p:spPr/>
        <p:txBody>
          <a:bodyPr/>
          <a:lstStyle/>
          <a:p>
            <a:pPr>
              <a:defRPr/>
            </a:pPr>
            <a:fld id="{6A607C7E-F4F5-4B77-8CDC-90CC78F38487}" type="datetime1">
              <a:rPr lang="en-US" smtClean="0"/>
              <a:pPr>
                <a:defRPr/>
              </a:pPr>
              <a:t>8/24/2026</a:t>
            </a:fld>
            <a:endParaRPr lang="en-US" dirty="0"/>
          </a:p>
        </p:txBody>
      </p:sp>
      <p:sp>
        <p:nvSpPr>
          <p:cNvPr id="6" name="Footer Placeholder 5">
            <a:extLst>
              <a:ext uri="{FF2B5EF4-FFF2-40B4-BE49-F238E27FC236}">
                <a16:creationId xmlns:a16="http://schemas.microsoft.com/office/drawing/2014/main" id="{D8A906EF-43E0-4C73-8925-C4A8189FB145}"/>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7" name="Slide Number Placeholder 6">
            <a:extLst>
              <a:ext uri="{FF2B5EF4-FFF2-40B4-BE49-F238E27FC236}">
                <a16:creationId xmlns:a16="http://schemas.microsoft.com/office/drawing/2014/main" id="{35C2ED9E-B863-4067-A92B-B18B62177CC5}"/>
              </a:ext>
            </a:extLst>
          </p:cNvPr>
          <p:cNvSpPr>
            <a:spLocks noGrp="1"/>
          </p:cNvSpPr>
          <p:nvPr>
            <p:ph type="sldNum" sz="quarter" idx="12"/>
          </p:nvPr>
        </p:nvSpPr>
        <p:spPr/>
        <p:txBody>
          <a:body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387335032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C477-2B1A-4487-9A1A-D9D3C01F65C3}"/>
              </a:ext>
            </a:extLst>
          </p:cNvPr>
          <p:cNvSpPr>
            <a:spLocks noGrp="1"/>
          </p:cNvSpPr>
          <p:nvPr>
            <p:ph type="title"/>
          </p:nvPr>
        </p:nvSpPr>
        <p:spPr/>
        <p:txBody>
          <a:bodyPr/>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95AA2816-85E2-44D9-878A-B0F1465BB90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8C3A877E-BE39-43C8-9EE8-D621A9D0EDB7}"/>
              </a:ext>
            </a:extLst>
          </p:cNvPr>
          <p:cNvSpPr>
            <a:spLocks noGrp="1"/>
          </p:cNvSpPr>
          <p:nvPr>
            <p:ph type="dt" sz="half" idx="10"/>
          </p:nvPr>
        </p:nvSpPr>
        <p:spPr/>
        <p:txBody>
          <a:bodyPr/>
          <a:lstStyle/>
          <a:p>
            <a:pPr>
              <a:defRPr/>
            </a:pPr>
            <a:fld id="{7103DD5F-3ADD-4550-807E-1C58669018A4}" type="datetime1">
              <a:rPr lang="en-US" smtClean="0"/>
              <a:pPr>
                <a:defRPr/>
              </a:pPr>
              <a:t>8/24/2026</a:t>
            </a:fld>
            <a:endParaRPr lang="en-US" dirty="0"/>
          </a:p>
        </p:txBody>
      </p:sp>
      <p:sp>
        <p:nvSpPr>
          <p:cNvPr id="5" name="Footer Placeholder 4">
            <a:extLst>
              <a:ext uri="{FF2B5EF4-FFF2-40B4-BE49-F238E27FC236}">
                <a16:creationId xmlns:a16="http://schemas.microsoft.com/office/drawing/2014/main" id="{F0429F1C-DBE1-4824-91C7-103FAFC42734}"/>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7487950F-2711-4E12-8356-E605F7485B5E}"/>
              </a:ext>
            </a:extLst>
          </p:cNvPr>
          <p:cNvSpPr>
            <a:spLocks noGrp="1"/>
          </p:cNvSpPr>
          <p:nvPr>
            <p:ph type="sldNum" sz="quarter" idx="12"/>
          </p:nvPr>
        </p:nvSpPr>
        <p:spPr/>
        <p:txBody>
          <a:bodyPr/>
          <a:lstStyle/>
          <a:p>
            <a:pPr>
              <a:defRPr/>
            </a:pPr>
            <a:fld id="{A3AD7A4F-0B31-4615-9C11-A8677BAFCAEB}" type="slidenum">
              <a:rPr lang="en-US" smtClean="0"/>
              <a:pPr>
                <a:defRPr/>
              </a:pPr>
              <a:t>‹#›</a:t>
            </a:fld>
            <a:endParaRPr lang="en-US" dirty="0"/>
          </a:p>
        </p:txBody>
      </p:sp>
    </p:spTree>
    <p:extLst>
      <p:ext uri="{BB962C8B-B14F-4D97-AF65-F5344CB8AC3E}">
        <p14:creationId xmlns:p14="http://schemas.microsoft.com/office/powerpoint/2010/main" val="34913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2CA952-B5B7-4257-8694-84F3A9F9044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HK"/>
          </a:p>
        </p:txBody>
      </p:sp>
      <p:sp>
        <p:nvSpPr>
          <p:cNvPr id="3" name="Vertical Text Placeholder 2">
            <a:extLst>
              <a:ext uri="{FF2B5EF4-FFF2-40B4-BE49-F238E27FC236}">
                <a16:creationId xmlns:a16="http://schemas.microsoft.com/office/drawing/2014/main" id="{57EB2DB1-6CAB-4906-8B39-FB4DED0A89BF}"/>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3FB8120D-AC6D-4553-9834-55272B2AA92D}"/>
              </a:ext>
            </a:extLst>
          </p:cNvPr>
          <p:cNvSpPr>
            <a:spLocks noGrp="1"/>
          </p:cNvSpPr>
          <p:nvPr>
            <p:ph type="dt" sz="half" idx="10"/>
          </p:nvPr>
        </p:nvSpPr>
        <p:spPr/>
        <p:txBody>
          <a:bodyPr/>
          <a:lstStyle/>
          <a:p>
            <a:pPr>
              <a:defRPr/>
            </a:pPr>
            <a:fld id="{6281D123-9B63-43A4-93F3-FBB2E34B51D6}" type="datetime1">
              <a:rPr lang="en-US" smtClean="0"/>
              <a:pPr>
                <a:defRPr/>
              </a:pPr>
              <a:t>8/24/2026</a:t>
            </a:fld>
            <a:endParaRPr lang="en-US" dirty="0"/>
          </a:p>
        </p:txBody>
      </p:sp>
      <p:sp>
        <p:nvSpPr>
          <p:cNvPr id="5" name="Footer Placeholder 4">
            <a:extLst>
              <a:ext uri="{FF2B5EF4-FFF2-40B4-BE49-F238E27FC236}">
                <a16:creationId xmlns:a16="http://schemas.microsoft.com/office/drawing/2014/main" id="{38426FC3-224D-4426-B73C-2AA0B48F55CA}"/>
              </a:ext>
            </a:extLst>
          </p:cNvPr>
          <p:cNvSpPr>
            <a:spLocks noGrp="1"/>
          </p:cNvSpPr>
          <p:nvPr>
            <p:ph type="ftr" sz="quarter" idx="11"/>
          </p:nvPr>
        </p:nvSpPr>
        <p:spPr/>
        <p:txBody>
          <a:body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EEEE764-C080-4BE3-AFC3-EA929A6EE48D}"/>
              </a:ext>
            </a:extLst>
          </p:cNvPr>
          <p:cNvSpPr>
            <a:spLocks noGrp="1"/>
          </p:cNvSpPr>
          <p:nvPr>
            <p:ph type="sldNum" sz="quarter" idx="12"/>
          </p:nvPr>
        </p:nvSpPr>
        <p:spPr/>
        <p:txBody>
          <a:bodyPr/>
          <a:lstStyle/>
          <a:p>
            <a:pPr>
              <a:defRPr/>
            </a:pPr>
            <a:fld id="{9B01C260-B825-4CE8-9DDA-33D812275B3B}" type="slidenum">
              <a:rPr lang="en-US" smtClean="0"/>
              <a:pPr>
                <a:defRPr/>
              </a:pPr>
              <a:t>‹#›</a:t>
            </a:fld>
            <a:endParaRPr lang="en-US" dirty="0"/>
          </a:p>
        </p:txBody>
      </p:sp>
    </p:spTree>
    <p:extLst>
      <p:ext uri="{BB962C8B-B14F-4D97-AF65-F5344CB8AC3E}">
        <p14:creationId xmlns:p14="http://schemas.microsoft.com/office/powerpoint/2010/main" val="333628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257" y="273050"/>
            <a:ext cx="8001000" cy="1143000"/>
          </a:xfrm>
        </p:spPr>
        <p:txBody>
          <a:bodyPr/>
          <a:lstStyle>
            <a:lvl1pPr algn="ctr">
              <a:defRPr/>
            </a:lvl1pPr>
          </a:lstStyle>
          <a:p>
            <a:r>
              <a:rPr lang="en-US"/>
              <a:t>Click to edit Master title style</a:t>
            </a:r>
          </a:p>
        </p:txBody>
      </p:sp>
      <p:sp>
        <p:nvSpPr>
          <p:cNvPr id="11" name="Content Placeholder 10"/>
          <p:cNvSpPr>
            <a:spLocks noGrp="1"/>
          </p:cNvSpPr>
          <p:nvPr>
            <p:ph sz="quarter" idx="2"/>
          </p:nvPr>
        </p:nvSpPr>
        <p:spPr>
          <a:xfrm>
            <a:off x="73342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220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E64F96-0661-4ECF-9982-9B197F1FD6C4}"/>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HK"/>
          </a:p>
        </p:txBody>
      </p:sp>
      <p:sp>
        <p:nvSpPr>
          <p:cNvPr id="3" name="Text Placeholder 2">
            <a:extLst>
              <a:ext uri="{FF2B5EF4-FFF2-40B4-BE49-F238E27FC236}">
                <a16:creationId xmlns:a16="http://schemas.microsoft.com/office/drawing/2014/main" id="{DAD15EEC-6249-47C2-8057-6D2EEB8EAC4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Date Placeholder 3">
            <a:extLst>
              <a:ext uri="{FF2B5EF4-FFF2-40B4-BE49-F238E27FC236}">
                <a16:creationId xmlns:a16="http://schemas.microsoft.com/office/drawing/2014/main" id="{2FFA0C48-B9DE-4CE6-A788-912657533B7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6A607C7E-F4F5-4B77-8CDC-90CC78F38487}" type="datetime1">
              <a:rPr lang="en-US" smtClean="0"/>
              <a:pPr>
                <a:defRPr/>
              </a:pPr>
              <a:t>8/24/2026</a:t>
            </a:fld>
            <a:endParaRPr lang="en-US" dirty="0"/>
          </a:p>
        </p:txBody>
      </p:sp>
      <p:sp>
        <p:nvSpPr>
          <p:cNvPr id="5" name="Footer Placeholder 4">
            <a:extLst>
              <a:ext uri="{FF2B5EF4-FFF2-40B4-BE49-F238E27FC236}">
                <a16:creationId xmlns:a16="http://schemas.microsoft.com/office/drawing/2014/main" id="{F3B3B9AB-B01B-4609-977B-94A63EF8D5A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Copyright © 2015 McGraw-Hill Education</a:t>
            </a:r>
            <a:endParaRPr lang="en-US" dirty="0"/>
          </a:p>
        </p:txBody>
      </p:sp>
      <p:sp>
        <p:nvSpPr>
          <p:cNvPr id="6" name="Slide Number Placeholder 5">
            <a:extLst>
              <a:ext uri="{FF2B5EF4-FFF2-40B4-BE49-F238E27FC236}">
                <a16:creationId xmlns:a16="http://schemas.microsoft.com/office/drawing/2014/main" id="{B2444386-A281-4CF3-A02F-A34096AE11C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FAA990F-E072-4953-8691-83ED6C82154B}" type="slidenum">
              <a:rPr lang="en-US" smtClean="0"/>
              <a:pPr>
                <a:defRPr/>
              </a:pPr>
              <a:t>‹#›</a:t>
            </a:fld>
            <a:endParaRPr lang="en-US" dirty="0"/>
          </a:p>
        </p:txBody>
      </p:sp>
    </p:spTree>
    <p:extLst>
      <p:ext uri="{BB962C8B-B14F-4D97-AF65-F5344CB8AC3E}">
        <p14:creationId xmlns:p14="http://schemas.microsoft.com/office/powerpoint/2010/main" val="4252344573"/>
      </p:ext>
    </p:extLst>
  </p:cSld>
  <p:clrMap bg1="lt1" tx1="dk1" bg2="lt2" tx2="dk2" accent1="accent1" accent2="accent2" accent3="accent3" accent4="accent4" accent5="accent5" accent6="accent6" hlink="hlink" folHlink="folHlink"/>
  <p:sldLayoutIdLst>
    <p:sldLayoutId id="2147485722" r:id="rId1"/>
    <p:sldLayoutId id="2147485723" r:id="rId2"/>
    <p:sldLayoutId id="2147485724" r:id="rId3"/>
    <p:sldLayoutId id="2147485725" r:id="rId4"/>
    <p:sldLayoutId id="2147485726" r:id="rId5"/>
    <p:sldLayoutId id="2147485727" r:id="rId6"/>
    <p:sldLayoutId id="2147485728" r:id="rId7"/>
    <p:sldLayoutId id="2147485729" r:id="rId8"/>
    <p:sldLayoutId id="2147485730" r:id="rId9"/>
    <p:sldLayoutId id="2147485731" r:id="rId10"/>
    <p:sldLayoutId id="2147485732" r:id="rId11"/>
    <p:sldLayoutId id="2147484929" r:id="rId12"/>
    <p:sldLayoutId id="2147484917" r:id="rId13"/>
    <p:sldLayoutId id="2147485054" r:id="rId14"/>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com/imgres?imgurl=https://miro.medium.com/max/1200/1*oUqIjw8wHvQtGfcKL9DQWw.jpeg&amp;imgrefurl=https://towardsdatascience.com/small-bakery-data-driven-management-90b887c36b97&amp;docid=CgoCdQ-oA8QFEM&amp;tbnid=QnAdm2II_wnD6M:&amp;vet=10ahUKEwjO46issq_kAhXCM94KHZc7A5YQMwhMKAIwAg..i&amp;w=1200&amp;h=442&amp;safe=strict&amp;bih=779&amp;biw=1600&amp;q=bakery&amp;ved=0ahUKEwjO46issq_kAhXCM94KHZc7A5YQMwhMKAIwAg&amp;iact=mrc&amp;uact=8"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www.google.com/imgres?imgurl=https://azcd.harveynorman.com.au/media/catalog/product/cache/21/image/992x558/9df78eab33525d08d6e5fb8d27136e95/t/s/ts09.jpg&amp;imgrefurl=https://www.harveynorman.com.au/t-s-everyday-9l-toaster-oven-black.html&amp;docid=JwtwQNeNbD7t-M&amp;tbnid=wI4AmqgdEpN7mM:&amp;vet=10ahUKEwjG8JXNsq_kAhVYPHAKHRxIA-wQMwhUKAMwAw..i&amp;w=992&amp;h=558&amp;safe=strict&amp;bih=779&amp;biw=1600&amp;q=oven&amp;ved=0ahUKEwjG8JXNsq_kAhVYPHAKHRxIA-wQMwhUKAMwAw&amp;iact=mrc&amp;uact=8"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professional.wsj.com/article/SB10001424052970203899504577129863418959828.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investopedia.com/terms/s/sarbanesoxleyact.asp" TargetMode="Externa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4.jpe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oleObject" Target="../embeddings/oleObject1.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34.xml"/><Relationship Id="rId7" Type="http://schemas.openxmlformats.org/officeDocument/2006/relationships/image" Target="../media/image20.w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9.wmf"/><Relationship Id="rId4" Type="http://schemas.openxmlformats.org/officeDocument/2006/relationships/oleObject" Target="../embeddings/oleObject2.bin"/><Relationship Id="rId9" Type="http://schemas.openxmlformats.org/officeDocument/2006/relationships/image" Target="../media/image21.e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23.wmf"/><Relationship Id="rId5" Type="http://schemas.openxmlformats.org/officeDocument/2006/relationships/oleObject" Target="../embeddings/oleObject5.bin"/><Relationship Id="rId4" Type="http://schemas.openxmlformats.org/officeDocument/2006/relationships/image" Target="../media/image17.jpe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6.xml"/><Relationship Id="rId1" Type="http://schemas.openxmlformats.org/officeDocument/2006/relationships/vmlDrawing" Target="../drawings/vmlDrawing4.vml"/><Relationship Id="rId5" Type="http://schemas.openxmlformats.org/officeDocument/2006/relationships/image" Target="../media/image24.emf"/><Relationship Id="rId4" Type="http://schemas.openxmlformats.org/officeDocument/2006/relationships/oleObject" Target="../embeddings/oleObject6.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xml"/><Relationship Id="rId1" Type="http://schemas.openxmlformats.org/officeDocument/2006/relationships/vmlDrawing" Target="../drawings/vmlDrawing5.vml"/><Relationship Id="rId5" Type="http://schemas.openxmlformats.org/officeDocument/2006/relationships/image" Target="../media/image25.emf"/><Relationship Id="rId4" Type="http://schemas.openxmlformats.org/officeDocument/2006/relationships/oleObject" Target="../embeddings/oleObject7.bin"/></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6.xml"/><Relationship Id="rId1" Type="http://schemas.openxmlformats.org/officeDocument/2006/relationships/vmlDrawing" Target="../drawings/vmlDrawing6.vml"/><Relationship Id="rId5" Type="http://schemas.openxmlformats.org/officeDocument/2006/relationships/image" Target="../media/image26.emf"/><Relationship Id="rId4" Type="http://schemas.openxmlformats.org/officeDocument/2006/relationships/oleObject" Target="../embeddings/oleObject8.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vmlDrawing" Target="../drawings/vmlDrawing7.vml"/><Relationship Id="rId5" Type="http://schemas.openxmlformats.org/officeDocument/2006/relationships/image" Target="../media/image27.emf"/><Relationship Id="rId4" Type="http://schemas.openxmlformats.org/officeDocument/2006/relationships/oleObject" Target="../embeddings/oleObject9.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vmlDrawing" Target="../drawings/vmlDrawing8.vml"/><Relationship Id="rId5" Type="http://schemas.openxmlformats.org/officeDocument/2006/relationships/image" Target="../media/image28.emf"/><Relationship Id="rId4" Type="http://schemas.openxmlformats.org/officeDocument/2006/relationships/oleObject" Target="../embeddings/oleObject10.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6.xml"/><Relationship Id="rId1" Type="http://schemas.openxmlformats.org/officeDocument/2006/relationships/vmlDrawing" Target="../drawings/vmlDrawing9.vml"/><Relationship Id="rId5" Type="http://schemas.openxmlformats.org/officeDocument/2006/relationships/image" Target="../media/image29.emf"/><Relationship Id="rId4" Type="http://schemas.openxmlformats.org/officeDocument/2006/relationships/oleObject" Target="../embeddings/oleObject11.bin"/></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6.xml"/><Relationship Id="rId1" Type="http://schemas.openxmlformats.org/officeDocument/2006/relationships/vmlDrawing" Target="../drawings/vmlDrawing10.vml"/><Relationship Id="rId5" Type="http://schemas.openxmlformats.org/officeDocument/2006/relationships/image" Target="../media/image30.emf"/><Relationship Id="rId4" Type="http://schemas.openxmlformats.org/officeDocument/2006/relationships/oleObject" Target="../embeddings/oleObject12.bin"/></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6.xml"/><Relationship Id="rId1" Type="http://schemas.openxmlformats.org/officeDocument/2006/relationships/vmlDrawing" Target="../drawings/vmlDrawing11.vml"/><Relationship Id="rId5" Type="http://schemas.openxmlformats.org/officeDocument/2006/relationships/image" Target="../media/image31.emf"/><Relationship Id="rId4" Type="http://schemas.openxmlformats.org/officeDocument/2006/relationships/oleObject" Target="../embeddings/oleObject13.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6.xml"/><Relationship Id="rId1" Type="http://schemas.openxmlformats.org/officeDocument/2006/relationships/vmlDrawing" Target="../drawings/vmlDrawing12.vml"/><Relationship Id="rId5" Type="http://schemas.openxmlformats.org/officeDocument/2006/relationships/image" Target="../media/image32.emf"/><Relationship Id="rId4" Type="http://schemas.openxmlformats.org/officeDocument/2006/relationships/oleObject" Target="../embeddings/oleObject14.bin"/></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6.xml"/><Relationship Id="rId1" Type="http://schemas.openxmlformats.org/officeDocument/2006/relationships/vmlDrawing" Target="../drawings/vmlDrawing13.vml"/><Relationship Id="rId5" Type="http://schemas.openxmlformats.org/officeDocument/2006/relationships/image" Target="../media/image33.emf"/><Relationship Id="rId4" Type="http://schemas.openxmlformats.org/officeDocument/2006/relationships/oleObject" Target="../embeddings/oleObject15.bin"/></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6.xml"/><Relationship Id="rId1" Type="http://schemas.openxmlformats.org/officeDocument/2006/relationships/vmlDrawing" Target="../drawings/vmlDrawing14.vml"/><Relationship Id="rId5" Type="http://schemas.openxmlformats.org/officeDocument/2006/relationships/image" Target="../media/image35.emf"/><Relationship Id="rId4" Type="http://schemas.openxmlformats.org/officeDocument/2006/relationships/oleObject" Target="../embeddings/oleObject16.bin"/></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6.emf"/><Relationship Id="rId4" Type="http://schemas.openxmlformats.org/officeDocument/2006/relationships/oleObject" Target="../embeddings/oleObject17.bin"/></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6.xml"/><Relationship Id="rId1" Type="http://schemas.openxmlformats.org/officeDocument/2006/relationships/vmlDrawing" Target="../drawings/vmlDrawing16.vml"/><Relationship Id="rId5" Type="http://schemas.openxmlformats.org/officeDocument/2006/relationships/image" Target="../media/image37.emf"/><Relationship Id="rId4" Type="http://schemas.openxmlformats.org/officeDocument/2006/relationships/oleObject" Target="../embeddings/oleObject18.bin"/></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6.xml"/><Relationship Id="rId1" Type="http://schemas.openxmlformats.org/officeDocument/2006/relationships/vmlDrawing" Target="../drawings/vmlDrawing17.vml"/><Relationship Id="rId5" Type="http://schemas.openxmlformats.org/officeDocument/2006/relationships/image" Target="../media/image38.emf"/><Relationship Id="rId4" Type="http://schemas.openxmlformats.org/officeDocument/2006/relationships/oleObject" Target="../embeddings/oleObject19.bin"/></Relationships>
</file>

<file path=ppt/slides/_rels/slide8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3"/>
          <p:cNvSpPr>
            <a:spLocks noGrp="1"/>
          </p:cNvSpPr>
          <p:nvPr>
            <p:ph type="ctrTitle"/>
          </p:nvPr>
        </p:nvSpPr>
        <p:spPr>
          <a:xfrm>
            <a:off x="533400" y="782311"/>
            <a:ext cx="8305800" cy="1718936"/>
          </a:xfrm>
        </p:spPr>
        <p:txBody>
          <a:bodyPr>
            <a:normAutofit/>
          </a:bodyPr>
          <a:lstStyle/>
          <a:p>
            <a:pPr algn="l" eaLnBrk="1" hangingPunct="1"/>
            <a:r>
              <a:rPr lang="en-US" altLang="en-US" b="1" dirty="0"/>
              <a:t>AC6761 Artificial Intelligence Accounting</a:t>
            </a:r>
          </a:p>
        </p:txBody>
      </p:sp>
      <p:sp>
        <p:nvSpPr>
          <p:cNvPr id="129027" name="Subtitle 2"/>
          <p:cNvSpPr>
            <a:spLocks noGrp="1"/>
          </p:cNvSpPr>
          <p:nvPr>
            <p:ph type="subTitle" idx="1"/>
          </p:nvPr>
        </p:nvSpPr>
        <p:spPr>
          <a:xfrm>
            <a:off x="1143000" y="2941429"/>
            <a:ext cx="6400800" cy="857212"/>
          </a:xfrm>
        </p:spPr>
        <p:txBody>
          <a:bodyPr>
            <a:normAutofit/>
          </a:bodyPr>
          <a:lstStyle/>
          <a:p>
            <a:pPr algn="l" eaLnBrk="1" hangingPunct="1">
              <a:buFont typeface="Wingdings" pitchFamily="-107" charset="2"/>
              <a:buNone/>
            </a:pPr>
            <a:r>
              <a:rPr lang="en-US" altLang="en-US" sz="3600" dirty="0">
                <a:solidFill>
                  <a:srgbClr val="898989"/>
                </a:solidFill>
              </a:rPr>
              <a:t>Chapter 1 Accounting in Business</a:t>
            </a:r>
          </a:p>
        </p:txBody>
      </p:sp>
      <p:sp>
        <p:nvSpPr>
          <p:cNvPr id="10" name="Rectangle 9"/>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
        <p:nvSpPr>
          <p:cNvPr id="6" name="Rectangle 3"/>
          <p:cNvSpPr txBox="1">
            <a:spLocks noChangeArrowheads="1"/>
          </p:cNvSpPr>
          <p:nvPr/>
        </p:nvSpPr>
        <p:spPr bwMode="auto">
          <a:xfrm>
            <a:off x="1104900" y="3916571"/>
            <a:ext cx="6934200" cy="2183094"/>
          </a:xfrm>
          <a:prstGeom prst="rect">
            <a:avLst/>
          </a:prstGeom>
          <a:noFill/>
          <a:ln w="9525">
            <a:noFill/>
            <a:miter lim="800000"/>
            <a:headEnd/>
            <a:tailEnd/>
          </a:ln>
          <a:effectLst>
            <a:outerShdw dist="17961" dir="2700000" algn="ctr" rotWithShape="0">
              <a:schemeClr val="bg2"/>
            </a:outerShdw>
          </a:effec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Font typeface="Arial" charset="0"/>
              <a:buNone/>
              <a:defRPr sz="3200" kern="1200">
                <a:solidFill>
                  <a:schemeClr val="tx1">
                    <a:tint val="75000"/>
                  </a:schemeClr>
                </a:solidFill>
                <a:latin typeface="+mn-lt"/>
                <a:ea typeface="+mn-ea"/>
                <a:cs typeface="+mn-cs"/>
              </a:defRPr>
            </a:lvl1pPr>
            <a:lvl2pPr marL="457200" indent="0" algn="ctr" rtl="0" eaLnBrk="0" fontAlgn="base" hangingPunct="0">
              <a:spcBef>
                <a:spcPct val="20000"/>
              </a:spcBef>
              <a:spcAft>
                <a:spcPct val="0"/>
              </a:spcAft>
              <a:buFont typeface="Arial" charset="0"/>
              <a:buNone/>
              <a:defRPr sz="2800" kern="1200">
                <a:solidFill>
                  <a:schemeClr val="tx1">
                    <a:tint val="75000"/>
                  </a:schemeClr>
                </a:solidFill>
                <a:latin typeface="+mn-lt"/>
                <a:ea typeface="+mn-ea"/>
                <a:cs typeface="+mn-cs"/>
              </a:defRPr>
            </a:lvl2pPr>
            <a:lvl3pPr marL="914400" indent="0" algn="ctr" rtl="0" eaLnBrk="0" fontAlgn="base" hangingPunct="0">
              <a:spcBef>
                <a:spcPct val="20000"/>
              </a:spcBef>
              <a:spcAft>
                <a:spcPct val="0"/>
              </a:spcAft>
              <a:buFont typeface="Arial" charset="0"/>
              <a:buNone/>
              <a:defRPr sz="2400" kern="1200">
                <a:solidFill>
                  <a:schemeClr val="tx1">
                    <a:tint val="75000"/>
                  </a:schemeClr>
                </a:solidFill>
                <a:latin typeface="+mn-lt"/>
                <a:ea typeface="+mn-ea"/>
                <a:cs typeface="+mn-cs"/>
              </a:defRPr>
            </a:lvl3pPr>
            <a:lvl4pPr marL="13716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4pPr>
            <a:lvl5pPr marL="1828800" indent="0" algn="ctr" rtl="0" eaLnBrk="0" fontAlgn="base" hangingPunct="0">
              <a:spcBef>
                <a:spcPct val="20000"/>
              </a:spcBef>
              <a:spcAft>
                <a:spcPct val="0"/>
              </a:spcAft>
              <a:buFont typeface="Arial"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eaLnBrk="1" hangingPunct="1"/>
            <a:r>
              <a:rPr lang="en-US" sz="2800" b="1" dirty="0">
                <a:solidFill>
                  <a:schemeClr val="tx1"/>
                </a:solidFill>
              </a:rPr>
              <a:t>Dr. </a:t>
            </a:r>
            <a:r>
              <a:rPr lang="en-US" sz="2800" b="1" dirty="0"/>
              <a:t>Kevin ZHU</a:t>
            </a:r>
            <a:endParaRPr lang="en-US" sz="2800" b="1" dirty="0">
              <a:solidFill>
                <a:schemeClr val="tx1"/>
              </a:solidFill>
            </a:endParaRPr>
          </a:p>
          <a:p>
            <a:pPr eaLnBrk="1" hangingPunct="1"/>
            <a:r>
              <a:rPr lang="en-US" sz="2800" b="1" dirty="0">
                <a:solidFill>
                  <a:schemeClr val="tx1"/>
                </a:solidFill>
              </a:rPr>
              <a:t>Office: </a:t>
            </a:r>
            <a:r>
              <a:rPr lang="en-US" sz="2800" b="1" dirty="0"/>
              <a:t>AC3 13-218</a:t>
            </a:r>
            <a:endParaRPr lang="en-US" sz="2800" b="1" dirty="0">
              <a:solidFill>
                <a:schemeClr val="tx1"/>
              </a:solidFill>
            </a:endParaRPr>
          </a:p>
          <a:p>
            <a:pPr eaLnBrk="1" hangingPunct="1"/>
            <a:r>
              <a:rPr lang="en-US" sz="2800" b="1" dirty="0">
                <a:solidFill>
                  <a:schemeClr val="tx1"/>
                </a:solidFill>
              </a:rPr>
              <a:t>Phone: 3442 4763</a:t>
            </a:r>
          </a:p>
          <a:p>
            <a:pPr eaLnBrk="1" hangingPunct="1"/>
            <a:r>
              <a:rPr lang="en-US" sz="2800" b="1" dirty="0">
                <a:solidFill>
                  <a:schemeClr val="tx1"/>
                </a:solidFill>
              </a:rPr>
              <a:t>Email: </a:t>
            </a:r>
            <a:r>
              <a:rPr lang="en-US" sz="2800" b="1" dirty="0"/>
              <a:t>xindozhu</a:t>
            </a:r>
            <a:r>
              <a:rPr lang="en-US" sz="2800" b="1" dirty="0">
                <a:solidFill>
                  <a:schemeClr val="tx1"/>
                </a:solidFill>
              </a:rPr>
              <a:t>@cityu.edu.hk</a:t>
            </a:r>
          </a:p>
          <a:p>
            <a:pPr eaLnBrk="1" hangingPunct="1">
              <a:defRPr/>
            </a:pPr>
            <a:r>
              <a:rPr lang="en-US" sz="3900" b="1" dirty="0">
                <a:solidFill>
                  <a:srgbClr val="002060"/>
                </a:solidFill>
                <a:ea typeface="ＭＳ Ｐゴシック" pitchFamily="34" charset="-128"/>
              </a:rPr>
              <a:t> 	</a:t>
            </a:r>
            <a:endParaRPr lang="en-US" b="1" dirty="0">
              <a:solidFill>
                <a:srgbClr val="002060"/>
              </a:solidFill>
              <a:ea typeface="ＭＳ Ｐゴシック" pitchFamily="34" charset="-128"/>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469900"/>
            <a:ext cx="8229600" cy="596900"/>
          </a:xfrm>
        </p:spPr>
        <p:txBody>
          <a:bodyPr/>
          <a:lstStyle/>
          <a:p>
            <a:pPr eaLnBrk="1" hangingPunct="1"/>
            <a:r>
              <a:rPr lang="en-US" dirty="0"/>
              <a:t>Assessment</a:t>
            </a:r>
          </a:p>
        </p:txBody>
      </p:sp>
      <p:sp>
        <p:nvSpPr>
          <p:cNvPr id="3" name="Content Placeholder 2"/>
          <p:cNvSpPr>
            <a:spLocks noGrp="1"/>
          </p:cNvSpPr>
          <p:nvPr>
            <p:ph idx="1"/>
          </p:nvPr>
        </p:nvSpPr>
        <p:spPr>
          <a:xfrm>
            <a:off x="381000" y="1295400"/>
            <a:ext cx="8305800" cy="5105400"/>
          </a:xfrm>
        </p:spPr>
        <p:txBody>
          <a:bodyPr rtlCol="0">
            <a:normAutofit fontScale="92500" lnSpcReduction="20000"/>
          </a:bodyPr>
          <a:lstStyle/>
          <a:p>
            <a:pPr marL="0" indent="0" eaLnBrk="1" fontAlgn="auto" hangingPunct="1">
              <a:spcAft>
                <a:spcPts val="0"/>
              </a:spcAft>
              <a:buNone/>
              <a:defRPr/>
            </a:pPr>
            <a:r>
              <a:rPr lang="en-US" b="1" dirty="0"/>
              <a:t>Group project (20%) </a:t>
            </a:r>
          </a:p>
          <a:p>
            <a:pPr marL="0" indent="0" eaLnBrk="1" fontAlgn="auto" hangingPunct="1">
              <a:spcAft>
                <a:spcPts val="0"/>
              </a:spcAft>
              <a:buNone/>
              <a:defRPr/>
            </a:pPr>
            <a:r>
              <a:rPr lang="en-US" i="1" dirty="0"/>
              <a:t>requirement: </a:t>
            </a:r>
          </a:p>
          <a:p>
            <a:pPr marL="514350" indent="-514350" eaLnBrk="1" fontAlgn="auto" hangingPunct="1">
              <a:spcAft>
                <a:spcPts val="0"/>
              </a:spcAft>
              <a:buAutoNum type="alphaLcPeriod"/>
              <a:defRPr/>
            </a:pPr>
            <a:r>
              <a:rPr lang="en-US" dirty="0"/>
              <a:t>3-5 students per group </a:t>
            </a:r>
          </a:p>
          <a:p>
            <a:pPr marL="514350" indent="-514350" eaLnBrk="1" fontAlgn="auto" hangingPunct="1">
              <a:spcAft>
                <a:spcPts val="0"/>
              </a:spcAft>
              <a:buAutoNum type="alphaLcPeriod"/>
              <a:defRPr/>
            </a:pPr>
            <a:r>
              <a:rPr lang="en-US" dirty="0"/>
              <a:t>Name list should be submitted before </a:t>
            </a:r>
            <a:r>
              <a:rPr lang="en-HK" dirty="0"/>
              <a:t>the end of </a:t>
            </a:r>
            <a:r>
              <a:rPr lang="en-US" dirty="0"/>
              <a:t>week 3</a:t>
            </a:r>
          </a:p>
          <a:p>
            <a:pPr marL="514350" indent="-514350" eaLnBrk="1" fontAlgn="auto" hangingPunct="1">
              <a:spcAft>
                <a:spcPts val="0"/>
              </a:spcAft>
              <a:buAutoNum type="alphaLcPeriod"/>
              <a:defRPr/>
            </a:pPr>
            <a:r>
              <a:rPr lang="en-US" dirty="0"/>
              <a:t>The written report (10%) should be submitted at the end of week 13</a:t>
            </a:r>
          </a:p>
          <a:p>
            <a:pPr marL="514350" indent="-514350" eaLnBrk="1" fontAlgn="auto" hangingPunct="1">
              <a:spcAft>
                <a:spcPts val="0"/>
              </a:spcAft>
              <a:buAutoNum type="alphaLcPeriod"/>
              <a:defRPr/>
            </a:pPr>
            <a:r>
              <a:rPr lang="en-US" dirty="0"/>
              <a:t>Each of team member has to participate in group presentation (around 25-30 minutes; 10%)</a:t>
            </a:r>
          </a:p>
          <a:p>
            <a:pPr marL="514350" indent="-514350" eaLnBrk="1" fontAlgn="auto" hangingPunct="1">
              <a:spcAft>
                <a:spcPts val="0"/>
              </a:spcAft>
              <a:buAutoNum type="alphaLcPeriod"/>
              <a:defRPr/>
            </a:pPr>
            <a:endParaRPr lang="en-US" dirty="0"/>
          </a:p>
          <a:p>
            <a:pPr marL="0" indent="0" eaLnBrk="1" fontAlgn="auto" hangingPunct="1">
              <a:spcAft>
                <a:spcPts val="0"/>
              </a:spcAft>
              <a:buNone/>
              <a:defRPr/>
            </a:pPr>
            <a:r>
              <a:rPr lang="en-US" b="1" dirty="0"/>
              <a:t>Class participation (10%) </a:t>
            </a:r>
            <a:r>
              <a:rPr lang="en-US" dirty="0"/>
              <a:t>– In class discussion, individual assignment or case solution </a:t>
            </a:r>
          </a:p>
          <a:p>
            <a:pPr eaLnBrk="1" fontAlgn="auto" hangingPunct="1">
              <a:spcAft>
                <a:spcPts val="0"/>
              </a:spcAft>
              <a:buFont typeface="Arial" pitchFamily="34" charset="0"/>
              <a:buChar char="•"/>
              <a:defRPr/>
            </a:pPr>
            <a:endParaRPr lang="en-US" dirty="0"/>
          </a:p>
          <a:p>
            <a:pPr marL="0" indent="0" eaLnBrk="1" fontAlgn="auto" hangingPunct="1">
              <a:spcAft>
                <a:spcPts val="0"/>
              </a:spcAft>
              <a:buNone/>
              <a:defRPr/>
            </a:pPr>
            <a:r>
              <a:rPr lang="en-US" b="1" dirty="0"/>
              <a:t>Midterm (20%) </a:t>
            </a:r>
            <a:r>
              <a:rPr lang="en-US" dirty="0"/>
              <a:t>– Closed book (Week 7, Oct 14, 19:30-21:30; AC1 (Yeung) – Y4302 &amp; Y4702)</a:t>
            </a:r>
          </a:p>
          <a:p>
            <a:pPr eaLnBrk="1" fontAlgn="auto" hangingPunct="1">
              <a:spcAft>
                <a:spcPts val="0"/>
              </a:spcAft>
              <a:buFont typeface="Arial" pitchFamily="34" charset="0"/>
              <a:buChar char="•"/>
              <a:defRPr/>
            </a:pPr>
            <a:endParaRPr lang="en-US" dirty="0"/>
          </a:p>
          <a:p>
            <a:pPr marL="0" indent="0" eaLnBrk="1" fontAlgn="auto" hangingPunct="1">
              <a:spcAft>
                <a:spcPts val="0"/>
              </a:spcAft>
              <a:buNone/>
              <a:defRPr/>
            </a:pPr>
            <a:r>
              <a:rPr lang="en-US" b="1" dirty="0"/>
              <a:t>Final (50%) </a:t>
            </a:r>
            <a:r>
              <a:rPr lang="en-US" dirty="0"/>
              <a:t>– Closed book</a:t>
            </a:r>
          </a:p>
          <a:p>
            <a:pPr eaLnBrk="1" fontAlgn="auto" hangingPunct="1">
              <a:spcAft>
                <a:spcPts val="0"/>
              </a:spcAft>
              <a:buFont typeface="Arial" pitchFamily="34" charset="0"/>
              <a:buChar char="•"/>
              <a:defRPr/>
            </a:pPr>
            <a:endParaRPr lang="en-US" dirty="0"/>
          </a:p>
          <a:p>
            <a:pPr eaLnBrk="1" fontAlgn="auto" hangingPunct="1">
              <a:spcAft>
                <a:spcPts val="0"/>
              </a:spcAft>
              <a:buFont typeface="Arial" pitchFamily="34" charset="0"/>
              <a:buChar char="•"/>
              <a:defRPr/>
            </a:pPr>
            <a:r>
              <a:rPr lang="en-US" dirty="0"/>
              <a:t>You must pass both the </a:t>
            </a:r>
            <a:r>
              <a:rPr lang="en-US" b="1" dirty="0"/>
              <a:t>Coursework</a:t>
            </a:r>
            <a:r>
              <a:rPr lang="en-US" dirty="0"/>
              <a:t> (including group project, class participation and Midterm) and the </a:t>
            </a:r>
            <a:r>
              <a:rPr lang="en-US" b="1" dirty="0"/>
              <a:t>Final</a:t>
            </a:r>
            <a:r>
              <a:rPr lang="en-US" dirty="0"/>
              <a:t> in order to pass the course.</a:t>
            </a:r>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A586122E-C366-4AB0-9E10-C6D3AAA596D6}" type="slidenum">
              <a:rPr lang="en-US" altLang="zh-TW" smtClean="0">
                <a:solidFill>
                  <a:srgbClr val="898989"/>
                </a:solidFill>
              </a:rPr>
              <a:pPr eaLnBrk="1" hangingPunct="1"/>
              <a:t>2</a:t>
            </a:fld>
            <a:endParaRPr lang="en-US" altLang="zh-TW" dirty="0">
              <a:solidFill>
                <a:srgbClr val="898989"/>
              </a:solidFill>
            </a:endParaRPr>
          </a:p>
        </p:txBody>
      </p:sp>
    </p:spTree>
    <p:extLst>
      <p:ext uri="{BB962C8B-B14F-4D97-AF65-F5344CB8AC3E}">
        <p14:creationId xmlns:p14="http://schemas.microsoft.com/office/powerpoint/2010/main" val="2017807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B32B-2989-4F6F-A01F-5404B44D5855}"/>
              </a:ext>
            </a:extLst>
          </p:cNvPr>
          <p:cNvSpPr>
            <a:spLocks noGrp="1"/>
          </p:cNvSpPr>
          <p:nvPr>
            <p:ph type="title"/>
          </p:nvPr>
        </p:nvSpPr>
        <p:spPr/>
        <p:txBody>
          <a:bodyPr/>
          <a:lstStyle/>
          <a:p>
            <a:r>
              <a:rPr lang="en-HK" dirty="0"/>
              <a:t>Course structure</a:t>
            </a:r>
          </a:p>
        </p:txBody>
      </p:sp>
      <p:sp>
        <p:nvSpPr>
          <p:cNvPr id="3" name="Content Placeholder 2">
            <a:extLst>
              <a:ext uri="{FF2B5EF4-FFF2-40B4-BE49-F238E27FC236}">
                <a16:creationId xmlns:a16="http://schemas.microsoft.com/office/drawing/2014/main" id="{E4E695F7-66D3-4E27-AC7B-940CD8D9108E}"/>
              </a:ext>
            </a:extLst>
          </p:cNvPr>
          <p:cNvSpPr>
            <a:spLocks noGrp="1"/>
          </p:cNvSpPr>
          <p:nvPr>
            <p:ph idx="1"/>
          </p:nvPr>
        </p:nvSpPr>
        <p:spPr/>
        <p:txBody>
          <a:bodyPr/>
          <a:lstStyle/>
          <a:p>
            <a:r>
              <a:rPr lang="en-HK" dirty="0">
                <a:solidFill>
                  <a:srgbClr val="FF0000"/>
                </a:solidFill>
              </a:rPr>
              <a:t>Traditional financial reporting system </a:t>
            </a:r>
            <a:r>
              <a:rPr lang="en-HK" dirty="0"/>
              <a:t>– Double-entry bookkeeping system (Mainstream)</a:t>
            </a:r>
          </a:p>
          <a:p>
            <a:endParaRPr lang="en-HK" dirty="0"/>
          </a:p>
          <a:p>
            <a:r>
              <a:rPr lang="en-HK" dirty="0">
                <a:solidFill>
                  <a:srgbClr val="FF0000"/>
                </a:solidFill>
              </a:rPr>
              <a:t>Integrated enterprise information system </a:t>
            </a:r>
            <a:r>
              <a:rPr lang="en-HK" dirty="0"/>
              <a:t>– REA model (Another perspective)</a:t>
            </a:r>
          </a:p>
          <a:p>
            <a:endParaRPr lang="en-HK" dirty="0"/>
          </a:p>
          <a:p>
            <a:r>
              <a:rPr lang="en-HK" dirty="0">
                <a:solidFill>
                  <a:srgbClr val="FF0000"/>
                </a:solidFill>
              </a:rPr>
              <a:t>Applications of AI in accounting </a:t>
            </a:r>
            <a:r>
              <a:rPr lang="en-HK" dirty="0"/>
              <a:t>(Financial statement / Annual report analyses)</a:t>
            </a:r>
          </a:p>
        </p:txBody>
      </p:sp>
      <p:sp>
        <p:nvSpPr>
          <p:cNvPr id="4" name="Slide Number Placeholder 3">
            <a:extLst>
              <a:ext uri="{FF2B5EF4-FFF2-40B4-BE49-F238E27FC236}">
                <a16:creationId xmlns:a16="http://schemas.microsoft.com/office/drawing/2014/main" id="{5A6AB75C-F3C2-44FD-A2BC-F4BA933B9AFF}"/>
              </a:ext>
            </a:extLst>
          </p:cNvPr>
          <p:cNvSpPr>
            <a:spLocks noGrp="1"/>
          </p:cNvSpPr>
          <p:nvPr>
            <p:ph type="sldNum" sz="quarter" idx="12"/>
          </p:nvPr>
        </p:nvSpPr>
        <p:spPr/>
        <p:txBody>
          <a:bodyPr/>
          <a:lstStyle/>
          <a:p>
            <a:pPr>
              <a:defRPr/>
            </a:pPr>
            <a:fld id="{4D43F197-C583-4294-BD21-B6AE0DDD46C4}" type="slidenum">
              <a:rPr lang="en-US" smtClean="0"/>
              <a:pPr>
                <a:defRPr/>
              </a:pPr>
              <a:t>3</a:t>
            </a:fld>
            <a:endParaRPr lang="en-US" dirty="0"/>
          </a:p>
        </p:txBody>
      </p:sp>
    </p:spTree>
    <p:extLst>
      <p:ext uri="{BB962C8B-B14F-4D97-AF65-F5344CB8AC3E}">
        <p14:creationId xmlns:p14="http://schemas.microsoft.com/office/powerpoint/2010/main" val="1776742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ACF49-01EC-49CA-A996-31D585FFBD38}"/>
              </a:ext>
            </a:extLst>
          </p:cNvPr>
          <p:cNvSpPr>
            <a:spLocks noGrp="1"/>
          </p:cNvSpPr>
          <p:nvPr>
            <p:ph type="title"/>
          </p:nvPr>
        </p:nvSpPr>
        <p:spPr/>
        <p:txBody>
          <a:bodyPr/>
          <a:lstStyle/>
          <a:p>
            <a:r>
              <a:rPr lang="en-HK" dirty="0"/>
              <a:t>Schedule</a:t>
            </a:r>
          </a:p>
        </p:txBody>
      </p:sp>
      <p:sp>
        <p:nvSpPr>
          <p:cNvPr id="3" name="Content Placeholder 2">
            <a:extLst>
              <a:ext uri="{FF2B5EF4-FFF2-40B4-BE49-F238E27FC236}">
                <a16:creationId xmlns:a16="http://schemas.microsoft.com/office/drawing/2014/main" id="{DF4347ED-0D79-4C69-A5BC-1CC1D5421842}"/>
              </a:ext>
            </a:extLst>
          </p:cNvPr>
          <p:cNvSpPr>
            <a:spLocks noGrp="1"/>
          </p:cNvSpPr>
          <p:nvPr>
            <p:ph idx="1"/>
          </p:nvPr>
        </p:nvSpPr>
        <p:spPr>
          <a:xfrm>
            <a:off x="628650" y="1690689"/>
            <a:ext cx="7886700" cy="4486274"/>
          </a:xfrm>
        </p:spPr>
        <p:txBody>
          <a:bodyPr/>
          <a:lstStyle/>
          <a:p>
            <a:r>
              <a:rPr lang="en-HK" dirty="0"/>
              <a:t>Introduction of Double-Entry Bookkeeping system (Week 1 – Week 3)</a:t>
            </a:r>
          </a:p>
          <a:p>
            <a:r>
              <a:rPr lang="en-HK" dirty="0"/>
              <a:t>Introduction of REA model (Week 4 – Week 5)</a:t>
            </a:r>
          </a:p>
          <a:p>
            <a:r>
              <a:rPr lang="en-HK" dirty="0"/>
              <a:t>Database design and query with ACCESS (Week 6)</a:t>
            </a:r>
          </a:p>
          <a:p>
            <a:r>
              <a:rPr lang="en-HK" dirty="0"/>
              <a:t>Mid-term test (Week 7)</a:t>
            </a:r>
          </a:p>
          <a:p>
            <a:r>
              <a:rPr lang="en-HK" dirty="0"/>
              <a:t>Introduction of Artificial Intelligence (Week 8)</a:t>
            </a:r>
          </a:p>
          <a:p>
            <a:r>
              <a:rPr lang="en-HK" dirty="0"/>
              <a:t>AI in financial statement / annual report analyses (Week 9 – Week 10)</a:t>
            </a:r>
          </a:p>
          <a:p>
            <a:r>
              <a:rPr lang="en-HK" dirty="0"/>
              <a:t>Hands-on AI application, ethical considerations and future trends of AI (Week 11)</a:t>
            </a:r>
          </a:p>
          <a:p>
            <a:r>
              <a:rPr lang="en-HK" dirty="0"/>
              <a:t>Group presentations (Week 12 – Week 13) </a:t>
            </a:r>
          </a:p>
        </p:txBody>
      </p:sp>
      <p:sp>
        <p:nvSpPr>
          <p:cNvPr id="4" name="Slide Number Placeholder 3">
            <a:extLst>
              <a:ext uri="{FF2B5EF4-FFF2-40B4-BE49-F238E27FC236}">
                <a16:creationId xmlns:a16="http://schemas.microsoft.com/office/drawing/2014/main" id="{2FBAA752-43E1-4B53-817F-C566B2C1487C}"/>
              </a:ext>
            </a:extLst>
          </p:cNvPr>
          <p:cNvSpPr>
            <a:spLocks noGrp="1"/>
          </p:cNvSpPr>
          <p:nvPr>
            <p:ph type="sldNum" sz="quarter" idx="12"/>
          </p:nvPr>
        </p:nvSpPr>
        <p:spPr/>
        <p:txBody>
          <a:bodyPr/>
          <a:lstStyle/>
          <a:p>
            <a:pPr>
              <a:defRPr/>
            </a:pPr>
            <a:fld id="{4D43F197-C583-4294-BD21-B6AE0DDD46C4}" type="slidenum">
              <a:rPr lang="en-US" smtClean="0"/>
              <a:pPr>
                <a:defRPr/>
              </a:pPr>
              <a:t>4</a:t>
            </a:fld>
            <a:endParaRPr lang="en-US" dirty="0"/>
          </a:p>
        </p:txBody>
      </p:sp>
    </p:spTree>
    <p:extLst>
      <p:ext uri="{BB962C8B-B14F-4D97-AF65-F5344CB8AC3E}">
        <p14:creationId xmlns:p14="http://schemas.microsoft.com/office/powerpoint/2010/main" val="2015281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4"/>
          <p:cNvSpPr>
            <a:spLocks noGrp="1"/>
          </p:cNvSpPr>
          <p:nvPr>
            <p:ph type="ctrTitle"/>
          </p:nvPr>
        </p:nvSpPr>
        <p:spPr>
          <a:xfrm>
            <a:off x="914400" y="1828800"/>
            <a:ext cx="7315200" cy="3124200"/>
          </a:xfrm>
        </p:spPr>
        <p:txBody>
          <a:bodyPr>
            <a:normAutofit fontScale="90000"/>
          </a:bodyPr>
          <a:lstStyle/>
          <a:p>
            <a:br>
              <a:rPr lang="en-US" altLang="en-US" dirty="0"/>
            </a:br>
            <a:br>
              <a:rPr lang="en-US" altLang="en-US" dirty="0"/>
            </a:br>
            <a:r>
              <a:rPr lang="en-US" altLang="en-US" dirty="0"/>
              <a:t>AI Accounting</a:t>
            </a:r>
            <a:br>
              <a:rPr lang="en-US" altLang="en-US" dirty="0"/>
            </a:br>
            <a:br>
              <a:rPr lang="en-US" altLang="en-US" dirty="0"/>
            </a:br>
            <a:endParaRPr lang="en-US" altLang="en-US" dirty="0"/>
          </a:p>
        </p:txBody>
      </p:sp>
      <p:sp>
        <p:nvSpPr>
          <p:cNvPr id="130051" name="Slide Number Placeholder 3"/>
          <p:cNvSpPr>
            <a:spLocks noGrp="1"/>
          </p:cNvSpPr>
          <p:nvPr>
            <p:ph type="sldNum" sz="quarter" idx="12"/>
          </p:nvPr>
        </p:nvSpPr>
        <p:spPr bwMode="auto">
          <a:noFill/>
          <a:ln>
            <a:miter lim="800000"/>
            <a:headEnd/>
            <a:tailEnd/>
          </a:ln>
        </p:spPr>
        <p:txBody>
          <a:bodyPr wrap="square" numCol="1" anchorCtr="0" compatLnSpc="1">
            <a:prstTxWarp prst="textNoShape">
              <a:avLst/>
            </a:prstTxWarp>
          </a:bodyPr>
          <a:lstStyle/>
          <a:p>
            <a:fld id="{B119A4F8-1B21-44AA-97CF-B3BE3340BA9F}" type="slidenum">
              <a:rPr lang="en-US" altLang="en-US" smtClean="0">
                <a:solidFill>
                  <a:srgbClr val="898989"/>
                </a:solidFill>
              </a:rPr>
              <a:pPr/>
              <a:t>5</a:t>
            </a:fld>
            <a:endParaRPr lang="en-US" altLang="en-US" dirty="0">
              <a:solidFill>
                <a:srgbClr val="898989"/>
              </a:solidFill>
            </a:endParaRPr>
          </a:p>
        </p:txBody>
      </p:sp>
      <p:pic>
        <p:nvPicPr>
          <p:cNvPr id="130053" name="Picture 2"/>
          <p:cNvPicPr>
            <a:picLocks noChangeAspect="1" noChangeArrowheads="1"/>
          </p:cNvPicPr>
          <p:nvPr/>
        </p:nvPicPr>
        <p:blipFill>
          <a:blip r:embed="rId3" cstate="print"/>
          <a:srcRect/>
          <a:stretch>
            <a:fillRect/>
          </a:stretch>
        </p:blipFill>
        <p:spPr bwMode="auto">
          <a:xfrm>
            <a:off x="897228" y="1936750"/>
            <a:ext cx="7315200" cy="87312"/>
          </a:xfrm>
          <a:prstGeom prst="rect">
            <a:avLst/>
          </a:prstGeom>
          <a:noFill/>
          <a:ln w="9525">
            <a:noFill/>
            <a:miter lim="800000"/>
            <a:headEnd/>
            <a:tailEnd/>
          </a:ln>
        </p:spPr>
      </p:pic>
      <p:pic>
        <p:nvPicPr>
          <p:cNvPr id="130054" name="Picture 2"/>
          <p:cNvPicPr>
            <a:picLocks noChangeAspect="1" noChangeArrowheads="1"/>
          </p:cNvPicPr>
          <p:nvPr/>
        </p:nvPicPr>
        <p:blipFill>
          <a:blip r:embed="rId3" cstate="print"/>
          <a:srcRect/>
          <a:stretch>
            <a:fillRect/>
          </a:stretch>
        </p:blipFill>
        <p:spPr bwMode="auto">
          <a:xfrm>
            <a:off x="914400" y="4724400"/>
            <a:ext cx="7315200" cy="87313"/>
          </a:xfrm>
          <a:prstGeom prst="rect">
            <a:avLst/>
          </a:prstGeom>
          <a:noFill/>
          <a:ln w="9525">
            <a:noFill/>
            <a:miter lim="800000"/>
            <a:headEnd/>
            <a:tailEnd/>
          </a:ln>
        </p:spPr>
      </p:pic>
      <p:sp>
        <p:nvSpPr>
          <p:cNvPr id="9" name="Rectangle 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rgbClr val="FFFF00"/>
              </a:solidFill>
              <a:latin typeface="Palatino Linotype"/>
              <a:cs typeface="+mn-cs"/>
            </a:endParaRPr>
          </a:p>
        </p:txBody>
      </p:sp>
    </p:spTree>
    <p:extLst>
      <p:ext uri="{BB962C8B-B14F-4D97-AF65-F5344CB8AC3E}">
        <p14:creationId xmlns:p14="http://schemas.microsoft.com/office/powerpoint/2010/main" val="4067913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96872-ABFD-4899-B90A-937CAFC297BF}"/>
              </a:ext>
            </a:extLst>
          </p:cNvPr>
          <p:cNvSpPr>
            <a:spLocks noGrp="1"/>
          </p:cNvSpPr>
          <p:nvPr>
            <p:ph type="title"/>
          </p:nvPr>
        </p:nvSpPr>
        <p:spPr/>
        <p:txBody>
          <a:bodyPr/>
          <a:lstStyle/>
          <a:p>
            <a:r>
              <a:rPr lang="en-HK" dirty="0"/>
              <a:t>A common misconception</a:t>
            </a:r>
          </a:p>
        </p:txBody>
      </p:sp>
      <p:sp>
        <p:nvSpPr>
          <p:cNvPr id="3" name="Content Placeholder 2">
            <a:extLst>
              <a:ext uri="{FF2B5EF4-FFF2-40B4-BE49-F238E27FC236}">
                <a16:creationId xmlns:a16="http://schemas.microsoft.com/office/drawing/2014/main" id="{4732AE23-A8A0-4276-91E7-CA714058D88B}"/>
              </a:ext>
            </a:extLst>
          </p:cNvPr>
          <p:cNvSpPr>
            <a:spLocks noGrp="1"/>
          </p:cNvSpPr>
          <p:nvPr>
            <p:ph idx="1"/>
          </p:nvPr>
        </p:nvSpPr>
        <p:spPr/>
        <p:txBody>
          <a:bodyPr/>
          <a:lstStyle/>
          <a:p>
            <a:r>
              <a:rPr lang="en-HK" sz="2800" dirty="0"/>
              <a:t>Just throw the financial statements at AI and let it analyse them.</a:t>
            </a:r>
          </a:p>
          <a:p>
            <a:endParaRPr lang="en-HK" sz="2800" dirty="0"/>
          </a:p>
          <a:p>
            <a:r>
              <a:rPr lang="en-HK" sz="2800" dirty="0"/>
              <a:t>AI is a powerful amplifier, but only when you already understand the numbers.</a:t>
            </a:r>
          </a:p>
          <a:p>
            <a:endParaRPr lang="en-HK" dirty="0"/>
          </a:p>
        </p:txBody>
      </p:sp>
      <p:sp>
        <p:nvSpPr>
          <p:cNvPr id="4" name="Slide Number Placeholder 3">
            <a:extLst>
              <a:ext uri="{FF2B5EF4-FFF2-40B4-BE49-F238E27FC236}">
                <a16:creationId xmlns:a16="http://schemas.microsoft.com/office/drawing/2014/main" id="{A5BEDDC6-B618-4E0C-8F8C-0FEBDED41677}"/>
              </a:ext>
            </a:extLst>
          </p:cNvPr>
          <p:cNvSpPr>
            <a:spLocks noGrp="1"/>
          </p:cNvSpPr>
          <p:nvPr>
            <p:ph type="sldNum" sz="quarter" idx="12"/>
          </p:nvPr>
        </p:nvSpPr>
        <p:spPr/>
        <p:txBody>
          <a:bodyPr/>
          <a:lstStyle/>
          <a:p>
            <a:pPr>
              <a:defRPr/>
            </a:pPr>
            <a:fld id="{4D43F197-C583-4294-BD21-B6AE0DDD46C4}" type="slidenum">
              <a:rPr lang="en-US" smtClean="0"/>
              <a:pPr>
                <a:defRPr/>
              </a:pPr>
              <a:t>6</a:t>
            </a:fld>
            <a:endParaRPr lang="en-US" dirty="0"/>
          </a:p>
        </p:txBody>
      </p:sp>
    </p:spTree>
    <p:extLst>
      <p:ext uri="{BB962C8B-B14F-4D97-AF65-F5344CB8AC3E}">
        <p14:creationId xmlns:p14="http://schemas.microsoft.com/office/powerpoint/2010/main" val="394919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B2ABC-720C-4559-803C-B5CD1EB231E8}"/>
              </a:ext>
            </a:extLst>
          </p:cNvPr>
          <p:cNvSpPr>
            <a:spLocks noGrp="1"/>
          </p:cNvSpPr>
          <p:nvPr>
            <p:ph type="title"/>
          </p:nvPr>
        </p:nvSpPr>
        <p:spPr>
          <a:xfrm>
            <a:off x="628650" y="40820"/>
            <a:ext cx="7886700" cy="1325563"/>
          </a:xfrm>
        </p:spPr>
        <p:txBody>
          <a:bodyPr/>
          <a:lstStyle/>
          <a:p>
            <a:r>
              <a:rPr lang="en-HK" dirty="0"/>
              <a:t>Why accounting fundamentals come first</a:t>
            </a:r>
          </a:p>
        </p:txBody>
      </p:sp>
      <p:sp>
        <p:nvSpPr>
          <p:cNvPr id="3" name="Content Placeholder 2">
            <a:extLst>
              <a:ext uri="{FF2B5EF4-FFF2-40B4-BE49-F238E27FC236}">
                <a16:creationId xmlns:a16="http://schemas.microsoft.com/office/drawing/2014/main" id="{E1AFFC22-DE83-4CE7-94C3-A4513BBD777A}"/>
              </a:ext>
            </a:extLst>
          </p:cNvPr>
          <p:cNvSpPr>
            <a:spLocks noGrp="1"/>
          </p:cNvSpPr>
          <p:nvPr>
            <p:ph idx="1"/>
          </p:nvPr>
        </p:nvSpPr>
        <p:spPr>
          <a:xfrm>
            <a:off x="628650" y="1219200"/>
            <a:ext cx="7886700" cy="4957763"/>
          </a:xfrm>
        </p:spPr>
        <p:txBody>
          <a:bodyPr>
            <a:normAutofit fontScale="92500" lnSpcReduction="20000"/>
          </a:bodyPr>
          <a:lstStyle/>
          <a:p>
            <a:r>
              <a:rPr lang="en-HK" sz="2800" dirty="0"/>
              <a:t>You must speak the language. </a:t>
            </a:r>
            <a:r>
              <a:rPr lang="en-US" sz="2800" dirty="0">
                <a:solidFill>
                  <a:srgbClr val="2B2B2B"/>
                </a:solidFill>
                <a:latin typeface="Calibri" pitchFamily="34" charset="0"/>
                <a:ea typeface="Calibri" pitchFamily="34" charset="-122"/>
                <a:cs typeface="Calibri" pitchFamily="34" charset="-120"/>
              </a:rPr>
              <a:t>Revenue recognition, accruals, depreciation, working capital, leverage — AI uses these terms. You need to know what they actually mean.</a:t>
            </a:r>
          </a:p>
          <a:p>
            <a:endParaRPr lang="en-HK" sz="2800" dirty="0"/>
          </a:p>
          <a:p>
            <a:r>
              <a:rPr lang="en-HK" sz="2800" dirty="0"/>
              <a:t>Statements are interconnected. </a:t>
            </a:r>
            <a:r>
              <a:rPr lang="en-US" sz="2800" dirty="0">
                <a:solidFill>
                  <a:srgbClr val="2B2B2B"/>
                </a:solidFill>
                <a:latin typeface="Calibri" pitchFamily="34" charset="0"/>
                <a:ea typeface="Calibri" pitchFamily="34" charset="-122"/>
                <a:cs typeface="Calibri" pitchFamily="34" charset="-120"/>
              </a:rPr>
              <a:t>Income Statement, Balance Sheet, Cash Flow. A change in one place must reconcile elsewhere. AI can miss or invent these links.</a:t>
            </a:r>
          </a:p>
          <a:p>
            <a:endParaRPr lang="en-HK" sz="2800" dirty="0"/>
          </a:p>
          <a:p>
            <a:r>
              <a:rPr lang="en-HK" sz="2800" dirty="0"/>
              <a:t>Judgment is still human. </a:t>
            </a:r>
            <a:r>
              <a:rPr lang="en-US" sz="2800" dirty="0">
                <a:solidFill>
                  <a:srgbClr val="2B2B2B"/>
                </a:solidFill>
                <a:latin typeface="Calibri" pitchFamily="34" charset="0"/>
                <a:ea typeface="Calibri" pitchFamily="34" charset="-122"/>
                <a:cs typeface="Calibri" pitchFamily="34" charset="-120"/>
              </a:rPr>
              <a:t>Accounting estimates, aggressive policies, off-balance-sheet items, and creative presentation require professional skepticism.</a:t>
            </a:r>
          </a:p>
          <a:p>
            <a:endParaRPr lang="en-HK" sz="2800" dirty="0"/>
          </a:p>
          <a:p>
            <a:r>
              <a:rPr lang="en-HK" sz="2800" dirty="0"/>
              <a:t>You become the quality filter. </a:t>
            </a:r>
            <a:r>
              <a:rPr lang="en-US" sz="2800" dirty="0">
                <a:solidFill>
                  <a:srgbClr val="2B2B2B"/>
                </a:solidFill>
                <a:latin typeface="Calibri" pitchFamily="34" charset="0"/>
                <a:ea typeface="Calibri" pitchFamily="34" charset="-122"/>
                <a:cs typeface="Calibri" pitchFamily="34" charset="-120"/>
              </a:rPr>
              <a:t>AI can hallucinate ratios, invent trends, or overlook footnotes. </a:t>
            </a:r>
            <a:endParaRPr lang="en-HK" sz="2800" dirty="0"/>
          </a:p>
          <a:p>
            <a:endParaRPr lang="en-HK" dirty="0"/>
          </a:p>
        </p:txBody>
      </p:sp>
      <p:sp>
        <p:nvSpPr>
          <p:cNvPr id="4" name="Slide Number Placeholder 3">
            <a:extLst>
              <a:ext uri="{FF2B5EF4-FFF2-40B4-BE49-F238E27FC236}">
                <a16:creationId xmlns:a16="http://schemas.microsoft.com/office/drawing/2014/main" id="{D9C797AA-7D68-4455-88DA-7D871BB5D834}"/>
              </a:ext>
            </a:extLst>
          </p:cNvPr>
          <p:cNvSpPr>
            <a:spLocks noGrp="1"/>
          </p:cNvSpPr>
          <p:nvPr>
            <p:ph type="sldNum" sz="quarter" idx="12"/>
          </p:nvPr>
        </p:nvSpPr>
        <p:spPr/>
        <p:txBody>
          <a:bodyPr/>
          <a:lstStyle/>
          <a:p>
            <a:pPr>
              <a:defRPr/>
            </a:pPr>
            <a:fld id="{4D43F197-C583-4294-BD21-B6AE0DDD46C4}" type="slidenum">
              <a:rPr lang="en-US" smtClean="0"/>
              <a:pPr>
                <a:defRPr/>
              </a:pPr>
              <a:t>7</a:t>
            </a:fld>
            <a:endParaRPr lang="en-US" dirty="0"/>
          </a:p>
        </p:txBody>
      </p:sp>
    </p:spTree>
    <p:extLst>
      <p:ext uri="{BB962C8B-B14F-4D97-AF65-F5344CB8AC3E}">
        <p14:creationId xmlns:p14="http://schemas.microsoft.com/office/powerpoint/2010/main" val="1315102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55FE8-0B1A-49C3-806D-4992ECF88F71}"/>
              </a:ext>
            </a:extLst>
          </p:cNvPr>
          <p:cNvSpPr>
            <a:spLocks noGrp="1"/>
          </p:cNvSpPr>
          <p:nvPr>
            <p:ph type="title"/>
          </p:nvPr>
        </p:nvSpPr>
        <p:spPr/>
        <p:txBody>
          <a:bodyPr/>
          <a:lstStyle/>
          <a:p>
            <a:r>
              <a:rPr lang="en-HK" dirty="0"/>
              <a:t>What you must be able to do before AI helps</a:t>
            </a:r>
          </a:p>
        </p:txBody>
      </p:sp>
      <p:sp>
        <p:nvSpPr>
          <p:cNvPr id="3" name="Content Placeholder 2">
            <a:extLst>
              <a:ext uri="{FF2B5EF4-FFF2-40B4-BE49-F238E27FC236}">
                <a16:creationId xmlns:a16="http://schemas.microsoft.com/office/drawing/2014/main" id="{BC3B005D-6720-414E-B4D2-2D142631CA92}"/>
              </a:ext>
            </a:extLst>
          </p:cNvPr>
          <p:cNvSpPr>
            <a:spLocks noGrp="1"/>
          </p:cNvSpPr>
          <p:nvPr>
            <p:ph idx="1"/>
          </p:nvPr>
        </p:nvSpPr>
        <p:spPr/>
        <p:txBody>
          <a:bodyPr>
            <a:normAutofit/>
          </a:bodyPr>
          <a:lstStyle/>
          <a:p>
            <a:r>
              <a:rPr lang="en-HK" sz="2800" dirty="0"/>
              <a:t>Read the financial statements.</a:t>
            </a:r>
          </a:p>
          <a:p>
            <a:r>
              <a:rPr lang="en-HK" sz="2800" dirty="0"/>
              <a:t>Compute and interpret key ratios.</a:t>
            </a:r>
          </a:p>
          <a:p>
            <a:r>
              <a:rPr lang="en-HK" sz="2800" dirty="0"/>
              <a:t>Trace the story across industries or years.</a:t>
            </a:r>
          </a:p>
          <a:p>
            <a:r>
              <a:rPr lang="en-HK" sz="2800" dirty="0"/>
              <a:t>Read the footnote and MD&amp;A.</a:t>
            </a:r>
          </a:p>
          <a:p>
            <a:r>
              <a:rPr lang="en-HK" sz="2800" dirty="0"/>
              <a:t>Spot red flags.</a:t>
            </a:r>
          </a:p>
          <a:p>
            <a:r>
              <a:rPr lang="en-HK" sz="2800" dirty="0"/>
              <a:t>Form a view, then test it. </a:t>
            </a:r>
          </a:p>
        </p:txBody>
      </p:sp>
      <p:sp>
        <p:nvSpPr>
          <p:cNvPr id="4" name="Slide Number Placeholder 3">
            <a:extLst>
              <a:ext uri="{FF2B5EF4-FFF2-40B4-BE49-F238E27FC236}">
                <a16:creationId xmlns:a16="http://schemas.microsoft.com/office/drawing/2014/main" id="{975B96A1-EA83-4DF9-BDED-6952EE1DA257}"/>
              </a:ext>
            </a:extLst>
          </p:cNvPr>
          <p:cNvSpPr>
            <a:spLocks noGrp="1"/>
          </p:cNvSpPr>
          <p:nvPr>
            <p:ph type="sldNum" sz="quarter" idx="12"/>
          </p:nvPr>
        </p:nvSpPr>
        <p:spPr/>
        <p:txBody>
          <a:bodyPr/>
          <a:lstStyle/>
          <a:p>
            <a:pPr>
              <a:defRPr/>
            </a:pPr>
            <a:fld id="{4D43F197-C583-4294-BD21-B6AE0DDD46C4}" type="slidenum">
              <a:rPr lang="en-US" smtClean="0"/>
              <a:pPr>
                <a:defRPr/>
              </a:pPr>
              <a:t>8</a:t>
            </a:fld>
            <a:endParaRPr lang="en-US" dirty="0"/>
          </a:p>
        </p:txBody>
      </p:sp>
    </p:spTree>
    <p:extLst>
      <p:ext uri="{BB962C8B-B14F-4D97-AF65-F5344CB8AC3E}">
        <p14:creationId xmlns:p14="http://schemas.microsoft.com/office/powerpoint/2010/main" val="3027977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4"/>
          <p:cNvSpPr>
            <a:spLocks noGrp="1"/>
          </p:cNvSpPr>
          <p:nvPr>
            <p:ph type="ctrTitle"/>
          </p:nvPr>
        </p:nvSpPr>
        <p:spPr>
          <a:xfrm>
            <a:off x="914400" y="1828800"/>
            <a:ext cx="7315200" cy="3124200"/>
          </a:xfrm>
        </p:spPr>
        <p:txBody>
          <a:bodyPr>
            <a:normAutofit fontScale="90000"/>
          </a:bodyPr>
          <a:lstStyle/>
          <a:p>
            <a:br>
              <a:rPr lang="en-US" altLang="en-US" dirty="0"/>
            </a:br>
            <a:br>
              <a:rPr lang="en-US" altLang="en-US" dirty="0"/>
            </a:br>
            <a:r>
              <a:rPr lang="en-US" dirty="0"/>
              <a:t>Explain the purpose and importance of accounting.</a:t>
            </a:r>
            <a:br>
              <a:rPr lang="en-US" altLang="en-US" dirty="0"/>
            </a:br>
            <a:br>
              <a:rPr lang="en-US" altLang="en-US" dirty="0"/>
            </a:br>
            <a:endParaRPr lang="en-US" altLang="en-US" dirty="0"/>
          </a:p>
        </p:txBody>
      </p:sp>
      <p:sp>
        <p:nvSpPr>
          <p:cNvPr id="130051" name="Slide Number Placeholder 3"/>
          <p:cNvSpPr>
            <a:spLocks noGrp="1"/>
          </p:cNvSpPr>
          <p:nvPr>
            <p:ph type="sldNum" sz="quarter" idx="12"/>
          </p:nvPr>
        </p:nvSpPr>
        <p:spPr bwMode="auto">
          <a:noFill/>
          <a:ln>
            <a:miter lim="800000"/>
            <a:headEnd/>
            <a:tailEnd/>
          </a:ln>
        </p:spPr>
        <p:txBody>
          <a:bodyPr wrap="square" numCol="1" anchorCtr="0" compatLnSpc="1">
            <a:prstTxWarp prst="textNoShape">
              <a:avLst/>
            </a:prstTxWarp>
          </a:bodyPr>
          <a:lstStyle/>
          <a:p>
            <a:fld id="{B119A4F8-1B21-44AA-97CF-B3BE3340BA9F}" type="slidenum">
              <a:rPr lang="en-US" altLang="en-US" smtClean="0">
                <a:solidFill>
                  <a:srgbClr val="898989"/>
                </a:solidFill>
              </a:rPr>
              <a:pPr/>
              <a:t>9</a:t>
            </a:fld>
            <a:endParaRPr lang="en-US" altLang="en-US" dirty="0">
              <a:solidFill>
                <a:srgbClr val="898989"/>
              </a:solidFill>
            </a:endParaRPr>
          </a:p>
        </p:txBody>
      </p:sp>
      <p:pic>
        <p:nvPicPr>
          <p:cNvPr id="130053" name="Picture 2"/>
          <p:cNvPicPr>
            <a:picLocks noChangeAspect="1" noChangeArrowheads="1"/>
          </p:cNvPicPr>
          <p:nvPr/>
        </p:nvPicPr>
        <p:blipFill>
          <a:blip r:embed="rId3" cstate="print"/>
          <a:srcRect/>
          <a:stretch>
            <a:fillRect/>
          </a:stretch>
        </p:blipFill>
        <p:spPr bwMode="auto">
          <a:xfrm>
            <a:off x="897228" y="1936750"/>
            <a:ext cx="7315200" cy="87312"/>
          </a:xfrm>
          <a:prstGeom prst="rect">
            <a:avLst/>
          </a:prstGeom>
          <a:noFill/>
          <a:ln w="9525">
            <a:noFill/>
            <a:miter lim="800000"/>
            <a:headEnd/>
            <a:tailEnd/>
          </a:ln>
        </p:spPr>
      </p:pic>
      <p:pic>
        <p:nvPicPr>
          <p:cNvPr id="130054" name="Picture 2"/>
          <p:cNvPicPr>
            <a:picLocks noChangeAspect="1" noChangeArrowheads="1"/>
          </p:cNvPicPr>
          <p:nvPr/>
        </p:nvPicPr>
        <p:blipFill>
          <a:blip r:embed="rId3" cstate="print"/>
          <a:srcRect/>
          <a:stretch>
            <a:fillRect/>
          </a:stretch>
        </p:blipFill>
        <p:spPr bwMode="auto">
          <a:xfrm>
            <a:off x="914400" y="4724400"/>
            <a:ext cx="7315200" cy="87313"/>
          </a:xfrm>
          <a:prstGeom prst="rect">
            <a:avLst/>
          </a:prstGeom>
          <a:noFill/>
          <a:ln w="9525">
            <a:noFill/>
            <a:miter lim="800000"/>
            <a:headEnd/>
            <a:tailEnd/>
          </a:ln>
        </p:spPr>
      </p:pic>
      <p:sp>
        <p:nvSpPr>
          <p:cNvPr id="9" name="Rectangle 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rgbClr val="FFFF00"/>
              </a:solidFill>
              <a:latin typeface="Palatino Linotype"/>
              <a:cs typeface="+mn-cs"/>
            </a:endParaRPr>
          </a:p>
        </p:txBody>
      </p:sp>
    </p:spTree>
    <p:extLst>
      <p:ext uri="{BB962C8B-B14F-4D97-AF65-F5344CB8AC3E}">
        <p14:creationId xmlns:p14="http://schemas.microsoft.com/office/powerpoint/2010/main" val="1373286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p:cNvSpPr>
          <p:nvPr>
            <p:ph type="title"/>
          </p:nvPr>
        </p:nvSpPr>
        <p:spPr bwMode="auto"/>
        <p:txBody>
          <a:bodyPr/>
          <a:lstStyle/>
          <a:p>
            <a:pPr algn="ctr">
              <a:defRPr/>
            </a:pPr>
            <a:r>
              <a:rPr lang="en-US" altLang="zh-TW" sz="3600" dirty="0">
                <a:latin typeface="Arial" charset="0"/>
                <a:ea typeface="PMingLiU" pitchFamily="18" charset="-120"/>
                <a:cs typeface="Arial" charset="0"/>
              </a:rPr>
              <a:t>What is Accounting</a:t>
            </a:r>
          </a:p>
        </p:txBody>
      </p:sp>
      <p:sp>
        <p:nvSpPr>
          <p:cNvPr id="25603" name="Rectangle 3"/>
          <p:cNvSpPr>
            <a:spLocks noGrp="1"/>
          </p:cNvSpPr>
          <p:nvPr>
            <p:ph idx="1"/>
          </p:nvPr>
        </p:nvSpPr>
        <p:spPr>
          <a:xfrm>
            <a:off x="457200" y="1600200"/>
            <a:ext cx="8305800" cy="4873625"/>
          </a:xfrm>
        </p:spPr>
        <p:txBody>
          <a:bodyPr>
            <a:normAutofit/>
          </a:bodyPr>
          <a:lstStyle/>
          <a:p>
            <a:pPr>
              <a:buFontTx/>
              <a:buChar char="-"/>
              <a:defRPr/>
            </a:pPr>
            <a:r>
              <a:rPr lang="en-US" altLang="zh-TW" sz="4000" dirty="0">
                <a:solidFill>
                  <a:srgbClr val="008000"/>
                </a:solidFill>
                <a:latin typeface="Arial" charset="0"/>
                <a:ea typeface="PMingLiU" pitchFamily="18" charset="-120"/>
                <a:cs typeface="Arial" charset="0"/>
              </a:rPr>
              <a:t>Language of Business</a:t>
            </a:r>
          </a:p>
          <a:p>
            <a:pPr marL="0" indent="0">
              <a:buFont typeface="Wingdings" panose="05000000000000000000" pitchFamily="2" charset="2"/>
              <a:buNone/>
              <a:defRPr/>
            </a:pPr>
            <a:endParaRPr lang="en-US" altLang="zh-TW" sz="4000" dirty="0">
              <a:solidFill>
                <a:srgbClr val="008000"/>
              </a:solidFill>
              <a:latin typeface="Arial" charset="0"/>
              <a:ea typeface="PMingLiU" pitchFamily="18" charset="-120"/>
              <a:cs typeface="Arial" charset="0"/>
            </a:endParaRPr>
          </a:p>
          <a:p>
            <a:pPr>
              <a:buFontTx/>
              <a:buChar char="-"/>
              <a:defRPr/>
            </a:pPr>
            <a:r>
              <a:rPr lang="en-US" altLang="zh-TW" sz="4000" dirty="0">
                <a:solidFill>
                  <a:srgbClr val="008000"/>
                </a:solidFill>
                <a:latin typeface="Arial" charset="0"/>
                <a:ea typeface="PMingLiU" pitchFamily="18" charset="-120"/>
                <a:cs typeface="Arial" charset="0"/>
              </a:rPr>
              <a:t>An information and measurement system that...</a:t>
            </a:r>
          </a:p>
          <a:p>
            <a:pPr lvl="1">
              <a:defRPr/>
            </a:pPr>
            <a:r>
              <a:rPr lang="en-US" altLang="zh-TW" sz="3200" dirty="0">
                <a:ea typeface="PMingLiU" pitchFamily="18" charset="-120"/>
              </a:rPr>
              <a:t>Identifies, records and communicates</a:t>
            </a:r>
          </a:p>
          <a:p>
            <a:pPr lvl="1">
              <a:defRPr/>
            </a:pPr>
            <a:r>
              <a:rPr lang="en-US" altLang="zh-TW" sz="3200" dirty="0">
                <a:ea typeface="PMingLiU" pitchFamily="18" charset="-120"/>
              </a:rPr>
              <a:t>relevant, reliable, and comparable information </a:t>
            </a:r>
          </a:p>
          <a:p>
            <a:pPr lvl="1">
              <a:defRPr/>
            </a:pPr>
            <a:r>
              <a:rPr lang="en-US" altLang="zh-TW" sz="3200" dirty="0">
                <a:ea typeface="PMingLiU" pitchFamily="18" charset="-120"/>
              </a:rPr>
              <a:t>about an organization’s business activities</a:t>
            </a:r>
            <a:endParaRPr lang="en-US" altLang="zh-TW" sz="4000" dirty="0">
              <a:solidFill>
                <a:srgbClr val="008000"/>
              </a:solidFill>
              <a:latin typeface="Arial" charset="0"/>
              <a:ea typeface="PMingLiU" pitchFamily="18" charset="-120"/>
              <a:cs typeface="Arial" charset="0"/>
            </a:endParaRPr>
          </a:p>
          <a:p>
            <a:pPr algn="ctr">
              <a:buFont typeface="Wingdings" panose="05000000000000000000" pitchFamily="2" charset="2"/>
              <a:buNone/>
              <a:defRPr/>
            </a:pPr>
            <a:endParaRPr lang="en-US" altLang="zh-TW" sz="4000" dirty="0">
              <a:solidFill>
                <a:srgbClr val="008000"/>
              </a:solidFill>
              <a:latin typeface="Arial" charset="0"/>
              <a:ea typeface="PMingLiU" pitchFamily="18" charset="-120"/>
              <a:cs typeface="Arial" charset="0"/>
            </a:endParaRPr>
          </a:p>
        </p:txBody>
      </p:sp>
    </p:spTree>
    <p:extLst>
      <p:ext uri="{BB962C8B-B14F-4D97-AF65-F5344CB8AC3E}">
        <p14:creationId xmlns:p14="http://schemas.microsoft.com/office/powerpoint/2010/main" val="16554229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436562" y="381000"/>
            <a:ext cx="8229600" cy="1143000"/>
          </a:xfrm>
        </p:spPr>
        <p:txBody>
          <a:bodyPr/>
          <a:lstStyle/>
          <a:p>
            <a:pPr eaLnBrk="1" hangingPunct="1"/>
            <a:r>
              <a:rPr lang="en-US" altLang="en-US" b="1" dirty="0"/>
              <a:t>Importance of Accounting</a:t>
            </a:r>
          </a:p>
        </p:txBody>
      </p:sp>
      <p:sp>
        <p:nvSpPr>
          <p:cNvPr id="3" name="Slide Number Placeholder 2"/>
          <p:cNvSpPr>
            <a:spLocks noGrp="1"/>
          </p:cNvSpPr>
          <p:nvPr>
            <p:ph type="sldNum" sz="quarter" idx="12"/>
          </p:nvPr>
        </p:nvSpPr>
        <p:spPr/>
        <p:txBody>
          <a:bodyPr/>
          <a:lstStyle/>
          <a:p>
            <a:pPr>
              <a:defRPr/>
            </a:pPr>
            <a:fld id="{8BFDED57-353D-48DB-AA91-A9EB7B5353E7}" type="slidenum">
              <a:rPr lang="en-US"/>
              <a:pPr>
                <a:defRPr/>
              </a:pPr>
              <a:t>11</a:t>
            </a:fld>
            <a:endParaRPr lang="en-US" dirty="0"/>
          </a:p>
        </p:txBody>
      </p:sp>
      <p:sp>
        <p:nvSpPr>
          <p:cNvPr id="132101" name="TextBox 4"/>
          <p:cNvSpPr txBox="1">
            <a:spLocks noChangeArrowheads="1"/>
          </p:cNvSpPr>
          <p:nvPr/>
        </p:nvSpPr>
        <p:spPr bwMode="auto">
          <a:xfrm>
            <a:off x="643480" y="4594051"/>
            <a:ext cx="2514600" cy="646113"/>
          </a:xfrm>
          <a:prstGeom prst="rect">
            <a:avLst/>
          </a:prstGeom>
          <a:noFill/>
          <a:ln w="9525">
            <a:noFill/>
            <a:miter lim="800000"/>
            <a:headEnd/>
            <a:tailEnd/>
          </a:ln>
        </p:spPr>
        <p:txBody>
          <a:bodyPr>
            <a:spAutoFit/>
          </a:bodyPr>
          <a:lstStyle/>
          <a:p>
            <a:pPr algn="ctr"/>
            <a:r>
              <a:rPr lang="en-US" altLang="en-US" dirty="0">
                <a:solidFill>
                  <a:srgbClr val="984807"/>
                </a:solidFill>
              </a:rPr>
              <a:t>For example, the sale by Apple of an iPhone.</a:t>
            </a:r>
          </a:p>
        </p:txBody>
      </p:sp>
      <p:sp>
        <p:nvSpPr>
          <p:cNvPr id="132102" name="TextBox 15"/>
          <p:cNvSpPr txBox="1">
            <a:spLocks noChangeArrowheads="1"/>
          </p:cNvSpPr>
          <p:nvPr/>
        </p:nvSpPr>
        <p:spPr bwMode="auto">
          <a:xfrm>
            <a:off x="3288641" y="4661710"/>
            <a:ext cx="2514600" cy="646113"/>
          </a:xfrm>
          <a:prstGeom prst="rect">
            <a:avLst/>
          </a:prstGeom>
          <a:noFill/>
          <a:ln w="9525">
            <a:noFill/>
            <a:miter lim="800000"/>
            <a:headEnd/>
            <a:tailEnd/>
          </a:ln>
        </p:spPr>
        <p:txBody>
          <a:bodyPr>
            <a:spAutoFit/>
          </a:bodyPr>
          <a:lstStyle/>
          <a:p>
            <a:pPr algn="ctr"/>
            <a:r>
              <a:rPr lang="en-US" altLang="en-US" dirty="0">
                <a:solidFill>
                  <a:srgbClr val="984807"/>
                </a:solidFill>
              </a:rPr>
              <a:t>Keep a log of transactions.</a:t>
            </a:r>
          </a:p>
        </p:txBody>
      </p:sp>
      <p:sp>
        <p:nvSpPr>
          <p:cNvPr id="132103" name="TextBox 16"/>
          <p:cNvSpPr txBox="1">
            <a:spLocks noChangeArrowheads="1"/>
          </p:cNvSpPr>
          <p:nvPr/>
        </p:nvSpPr>
        <p:spPr bwMode="auto">
          <a:xfrm>
            <a:off x="5916263" y="4662140"/>
            <a:ext cx="2743200" cy="646113"/>
          </a:xfrm>
          <a:prstGeom prst="rect">
            <a:avLst/>
          </a:prstGeom>
          <a:noFill/>
          <a:ln w="9525">
            <a:noFill/>
            <a:miter lim="800000"/>
            <a:headEnd/>
            <a:tailEnd/>
          </a:ln>
        </p:spPr>
        <p:txBody>
          <a:bodyPr>
            <a:spAutoFit/>
          </a:bodyPr>
          <a:lstStyle/>
          <a:p>
            <a:pPr algn="ctr"/>
            <a:r>
              <a:rPr lang="en-US" altLang="en-US" dirty="0">
                <a:solidFill>
                  <a:srgbClr val="984807"/>
                </a:solidFill>
              </a:rPr>
              <a:t>Prepare reports such as financial statements.</a:t>
            </a:r>
          </a:p>
        </p:txBody>
      </p:sp>
      <p:sp>
        <p:nvSpPr>
          <p:cNvPr id="9" name="Rectangle 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pic>
        <p:nvPicPr>
          <p:cNvPr id="2" name="Picture 1"/>
          <p:cNvPicPr>
            <a:picLocks noChangeAspect="1"/>
          </p:cNvPicPr>
          <p:nvPr/>
        </p:nvPicPr>
        <p:blipFill>
          <a:blip r:embed="rId3"/>
          <a:stretch>
            <a:fillRect/>
          </a:stretch>
        </p:blipFill>
        <p:spPr>
          <a:xfrm>
            <a:off x="643480" y="1191228"/>
            <a:ext cx="7263082" cy="330457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BF557-2446-436D-B7CA-0DF19D56D115}"/>
              </a:ext>
            </a:extLst>
          </p:cNvPr>
          <p:cNvSpPr>
            <a:spLocks noGrp="1"/>
          </p:cNvSpPr>
          <p:nvPr>
            <p:ph type="title"/>
          </p:nvPr>
        </p:nvSpPr>
        <p:spPr/>
        <p:txBody>
          <a:bodyPr/>
          <a:lstStyle/>
          <a:p>
            <a:r>
              <a:rPr lang="en-HK" dirty="0"/>
              <a:t>For example</a:t>
            </a:r>
          </a:p>
        </p:txBody>
      </p:sp>
      <p:sp>
        <p:nvSpPr>
          <p:cNvPr id="3" name="Content Placeholder 2">
            <a:extLst>
              <a:ext uri="{FF2B5EF4-FFF2-40B4-BE49-F238E27FC236}">
                <a16:creationId xmlns:a16="http://schemas.microsoft.com/office/drawing/2014/main" id="{40D7C345-CDC9-4262-858E-CCAF7468F9E8}"/>
              </a:ext>
            </a:extLst>
          </p:cNvPr>
          <p:cNvSpPr>
            <a:spLocks noGrp="1"/>
          </p:cNvSpPr>
          <p:nvPr>
            <p:ph idx="1"/>
          </p:nvPr>
        </p:nvSpPr>
        <p:spPr/>
        <p:txBody>
          <a:bodyPr/>
          <a:lstStyle/>
          <a:p>
            <a:pPr marL="0" indent="0">
              <a:buNone/>
            </a:pPr>
            <a:r>
              <a:rPr lang="en-HK" dirty="0"/>
              <a:t>Tom wants to run a bakery.</a:t>
            </a:r>
          </a:p>
          <a:p>
            <a:pPr marL="0" indent="0">
              <a:buNone/>
            </a:pPr>
            <a:r>
              <a:rPr lang="en-HK" dirty="0"/>
              <a:t>He borrows money from friends as capital.</a:t>
            </a:r>
          </a:p>
        </p:txBody>
      </p:sp>
      <p:pic>
        <p:nvPicPr>
          <p:cNvPr id="46083" name="Picture 3" descr="bakery的圖片搜尋結果">
            <a:hlinkClick r:id="rId2"/>
            <a:extLst>
              <a:ext uri="{FF2B5EF4-FFF2-40B4-BE49-F238E27FC236}">
                <a16:creationId xmlns:a16="http://schemas.microsoft.com/office/drawing/2014/main" id="{B5DC4F00-7338-4BC9-9F05-253B7BCC7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971800"/>
            <a:ext cx="6944846" cy="255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9455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BF557-2446-436D-B7CA-0DF19D56D115}"/>
              </a:ext>
            </a:extLst>
          </p:cNvPr>
          <p:cNvSpPr>
            <a:spLocks noGrp="1"/>
          </p:cNvSpPr>
          <p:nvPr>
            <p:ph type="title"/>
          </p:nvPr>
        </p:nvSpPr>
        <p:spPr/>
        <p:txBody>
          <a:bodyPr/>
          <a:lstStyle/>
          <a:p>
            <a:r>
              <a:rPr lang="en-HK" dirty="0"/>
              <a:t>For example</a:t>
            </a:r>
          </a:p>
        </p:txBody>
      </p:sp>
      <p:sp>
        <p:nvSpPr>
          <p:cNvPr id="3" name="Content Placeholder 2">
            <a:extLst>
              <a:ext uri="{FF2B5EF4-FFF2-40B4-BE49-F238E27FC236}">
                <a16:creationId xmlns:a16="http://schemas.microsoft.com/office/drawing/2014/main" id="{40D7C345-CDC9-4262-858E-CCAF7468F9E8}"/>
              </a:ext>
            </a:extLst>
          </p:cNvPr>
          <p:cNvSpPr>
            <a:spLocks noGrp="1"/>
          </p:cNvSpPr>
          <p:nvPr>
            <p:ph idx="1"/>
          </p:nvPr>
        </p:nvSpPr>
        <p:spPr>
          <a:xfrm>
            <a:off x="457200" y="1600200"/>
            <a:ext cx="6172200" cy="4873752"/>
          </a:xfrm>
        </p:spPr>
        <p:txBody>
          <a:bodyPr/>
          <a:lstStyle/>
          <a:p>
            <a:r>
              <a:rPr lang="en-HK" b="1" dirty="0"/>
              <a:t>Identifies the asset</a:t>
            </a:r>
          </a:p>
          <a:p>
            <a:pPr lvl="1"/>
            <a:r>
              <a:rPr lang="en-HK" sz="2400" dirty="0"/>
              <a:t>oven</a:t>
            </a:r>
          </a:p>
          <a:p>
            <a:r>
              <a:rPr lang="en-HK" b="1" dirty="0"/>
              <a:t>Record the asset</a:t>
            </a:r>
          </a:p>
          <a:p>
            <a:pPr lvl="1"/>
            <a:r>
              <a:rPr lang="en-HK" sz="2400" dirty="0"/>
              <a:t>Equipment– oven, $1200</a:t>
            </a:r>
          </a:p>
          <a:p>
            <a:r>
              <a:rPr lang="en-HK" b="1" dirty="0"/>
              <a:t>Communicate</a:t>
            </a:r>
          </a:p>
          <a:p>
            <a:pPr lvl="1"/>
            <a:r>
              <a:rPr lang="en-HK" sz="2400" dirty="0"/>
              <a:t>provide financial information to friends </a:t>
            </a:r>
          </a:p>
          <a:p>
            <a:pPr lvl="1"/>
            <a:r>
              <a:rPr lang="en-HK" sz="2400" dirty="0"/>
              <a:t>How many assets at hand? </a:t>
            </a:r>
          </a:p>
          <a:p>
            <a:pPr lvl="1"/>
            <a:r>
              <a:rPr lang="en-HK" sz="2400" dirty="0"/>
              <a:t>How much I earn during the past one year?</a:t>
            </a:r>
          </a:p>
          <a:p>
            <a:pPr marL="0" indent="0">
              <a:buNone/>
            </a:pPr>
            <a:endParaRPr lang="en-HK" dirty="0"/>
          </a:p>
        </p:txBody>
      </p:sp>
      <p:pic>
        <p:nvPicPr>
          <p:cNvPr id="47107" name="Picture 3" descr="oven的圖片搜尋結果">
            <a:hlinkClick r:id="rId2"/>
            <a:extLst>
              <a:ext uri="{FF2B5EF4-FFF2-40B4-BE49-F238E27FC236}">
                <a16:creationId xmlns:a16="http://schemas.microsoft.com/office/drawing/2014/main" id="{E0595B39-21D7-40BA-A8E4-1E796F2C86E2}"/>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291943" y="1828800"/>
            <a:ext cx="2394857" cy="1341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640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897228" y="2253456"/>
            <a:ext cx="7315200" cy="2514600"/>
          </a:xfrm>
        </p:spPr>
        <p:txBody>
          <a:bodyPr>
            <a:normAutofit fontScale="90000"/>
          </a:bodyPr>
          <a:lstStyle/>
          <a:p>
            <a:br>
              <a:rPr lang="en-US" altLang="en-US" dirty="0"/>
            </a:br>
            <a:br>
              <a:rPr lang="en-US" altLang="en-US" dirty="0"/>
            </a:br>
            <a:r>
              <a:rPr lang="en-US" altLang="en-US" dirty="0"/>
              <a:t>I</a:t>
            </a:r>
            <a:r>
              <a:rPr lang="en-US" dirty="0"/>
              <a:t>dentify users and uses of accounting.</a:t>
            </a:r>
            <a:br>
              <a:rPr lang="en-US" altLang="en-US" dirty="0"/>
            </a:br>
            <a:br>
              <a:rPr lang="en-US" altLang="en-US" dirty="0"/>
            </a:br>
            <a:endParaRPr lang="en-US" altLang="en-US" dirty="0"/>
          </a:p>
        </p:txBody>
      </p:sp>
      <p:sp>
        <p:nvSpPr>
          <p:cNvPr id="130051" name="Slide Number Placeholder 3"/>
          <p:cNvSpPr>
            <a:spLocks noGrp="1"/>
          </p:cNvSpPr>
          <p:nvPr>
            <p:ph type="sldNum" sz="quarter" idx="12"/>
          </p:nvPr>
        </p:nvSpPr>
        <p:spPr bwMode="auto">
          <a:noFill/>
          <a:ln>
            <a:miter lim="800000"/>
            <a:headEnd/>
            <a:tailEnd/>
          </a:ln>
        </p:spPr>
        <p:txBody>
          <a:bodyPr wrap="square" numCol="1" anchorCtr="0" compatLnSpc="1">
            <a:prstTxWarp prst="textNoShape">
              <a:avLst/>
            </a:prstTxWarp>
          </a:bodyPr>
          <a:lstStyle/>
          <a:p>
            <a:fld id="{B119A4F8-1B21-44AA-97CF-B3BE3340BA9F}" type="slidenum">
              <a:rPr lang="en-US" altLang="en-US" smtClean="0">
                <a:solidFill>
                  <a:srgbClr val="898989"/>
                </a:solidFill>
              </a:rPr>
              <a:pPr/>
              <a:t>14</a:t>
            </a:fld>
            <a:endParaRPr lang="en-US" altLang="en-US" dirty="0">
              <a:solidFill>
                <a:srgbClr val="898989"/>
              </a:solidFill>
            </a:endParaRPr>
          </a:p>
        </p:txBody>
      </p:sp>
      <p:pic>
        <p:nvPicPr>
          <p:cNvPr id="130053" name="Picture 2"/>
          <p:cNvPicPr>
            <a:picLocks noChangeAspect="1" noChangeArrowheads="1"/>
          </p:cNvPicPr>
          <p:nvPr/>
        </p:nvPicPr>
        <p:blipFill>
          <a:blip r:embed="rId3" cstate="print"/>
          <a:srcRect/>
          <a:stretch>
            <a:fillRect/>
          </a:stretch>
        </p:blipFill>
        <p:spPr bwMode="auto">
          <a:xfrm>
            <a:off x="897228" y="1936750"/>
            <a:ext cx="7315200" cy="87312"/>
          </a:xfrm>
          <a:prstGeom prst="rect">
            <a:avLst/>
          </a:prstGeom>
          <a:noFill/>
          <a:ln w="9525">
            <a:noFill/>
            <a:miter lim="800000"/>
            <a:headEnd/>
            <a:tailEnd/>
          </a:ln>
        </p:spPr>
      </p:pic>
      <p:pic>
        <p:nvPicPr>
          <p:cNvPr id="130054" name="Picture 2"/>
          <p:cNvPicPr>
            <a:picLocks noChangeAspect="1" noChangeArrowheads="1"/>
          </p:cNvPicPr>
          <p:nvPr/>
        </p:nvPicPr>
        <p:blipFill>
          <a:blip r:embed="rId3" cstate="print"/>
          <a:srcRect/>
          <a:stretch>
            <a:fillRect/>
          </a:stretch>
        </p:blipFill>
        <p:spPr bwMode="auto">
          <a:xfrm>
            <a:off x="914400" y="4724400"/>
            <a:ext cx="7315200" cy="87313"/>
          </a:xfrm>
          <a:prstGeom prst="rect">
            <a:avLst/>
          </a:prstGeom>
          <a:noFill/>
          <a:ln w="9525">
            <a:noFill/>
            <a:miter lim="800000"/>
            <a:headEnd/>
            <a:tailEnd/>
          </a:ln>
        </p:spPr>
      </p:pic>
      <p:sp>
        <p:nvSpPr>
          <p:cNvPr id="10" name="Rectangle 9"/>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rgbClr val="FFFF00"/>
              </a:solidFill>
              <a:latin typeface="Palatino Linotype"/>
              <a:cs typeface="+mn-cs"/>
            </a:endParaRPr>
          </a:p>
        </p:txBody>
      </p:sp>
    </p:spTree>
    <p:extLst>
      <p:ext uri="{BB962C8B-B14F-4D97-AF65-F5344CB8AC3E}">
        <p14:creationId xmlns:p14="http://schemas.microsoft.com/office/powerpoint/2010/main" val="3964100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723900" y="838200"/>
            <a:ext cx="7886700" cy="1325563"/>
          </a:xfrm>
        </p:spPr>
        <p:txBody>
          <a:bodyPr>
            <a:normAutofit/>
          </a:bodyPr>
          <a:lstStyle/>
          <a:p>
            <a:pPr eaLnBrk="1" hangingPunct="1"/>
            <a:r>
              <a:rPr lang="en-US" altLang="en-US" b="1" dirty="0"/>
              <a:t>Users of Accounting Information</a:t>
            </a:r>
          </a:p>
        </p:txBody>
      </p:sp>
      <p:sp>
        <p:nvSpPr>
          <p:cNvPr id="3" name="Slide Number Placeholder 2"/>
          <p:cNvSpPr>
            <a:spLocks noGrp="1"/>
          </p:cNvSpPr>
          <p:nvPr>
            <p:ph type="sldNum" sz="quarter" idx="12"/>
          </p:nvPr>
        </p:nvSpPr>
        <p:spPr>
          <a:xfrm>
            <a:off x="6581001" y="6356349"/>
            <a:ext cx="2133600" cy="365125"/>
          </a:xfrm>
        </p:spPr>
        <p:txBody>
          <a:bodyPr>
            <a:normAutofit/>
          </a:bodyPr>
          <a:lstStyle/>
          <a:p>
            <a:pPr>
              <a:defRPr/>
            </a:pPr>
            <a:fld id="{D0270822-9D3B-433C-8B74-66439FB89B8A}" type="slidenum">
              <a:rPr lang="en-US"/>
              <a:pPr>
                <a:defRPr/>
              </a:pPr>
              <a:t>15</a:t>
            </a:fld>
            <a:endParaRPr lang="en-US" dirty="0"/>
          </a:p>
        </p:txBody>
      </p:sp>
      <p:sp>
        <p:nvSpPr>
          <p:cNvPr id="133125" name="TextBox 3"/>
          <p:cNvSpPr txBox="1">
            <a:spLocks noChangeArrowheads="1"/>
          </p:cNvSpPr>
          <p:nvPr/>
        </p:nvSpPr>
        <p:spPr bwMode="auto">
          <a:xfrm>
            <a:off x="723900" y="2479217"/>
            <a:ext cx="7543800" cy="2246769"/>
          </a:xfrm>
          <a:prstGeom prst="rect">
            <a:avLst/>
          </a:prstGeom>
          <a:noFill/>
          <a:ln w="9525">
            <a:noFill/>
            <a:miter lim="800000"/>
            <a:headEnd/>
            <a:tailEnd/>
          </a:ln>
        </p:spPr>
        <p:txBody>
          <a:bodyPr wrap="square">
            <a:spAutoFit/>
          </a:bodyPr>
          <a:lstStyle/>
          <a:p>
            <a:r>
              <a:rPr lang="en-US" altLang="en-US" sz="2000" dirty="0"/>
              <a:t>Accounting is called the </a:t>
            </a:r>
            <a:r>
              <a:rPr lang="en-US" altLang="en-US" sz="2000" i="1" dirty="0">
                <a:solidFill>
                  <a:srgbClr val="C00000"/>
                </a:solidFill>
              </a:rPr>
              <a:t>language of business </a:t>
            </a:r>
            <a:r>
              <a:rPr lang="en-US" altLang="en-US" sz="2000" dirty="0"/>
              <a:t>because all organizations set up an accounting information system to communicate data to help people make better decisions. </a:t>
            </a:r>
          </a:p>
          <a:p>
            <a:endParaRPr lang="en-US" altLang="en-US" sz="2000" dirty="0"/>
          </a:p>
          <a:p>
            <a:endParaRPr lang="en-US" altLang="en-US" sz="2000" dirty="0"/>
          </a:p>
          <a:p>
            <a:r>
              <a:rPr lang="en-US" altLang="en-US" sz="2000" dirty="0"/>
              <a:t>Accounting serves many users who can be divided into two groups: external users and internal users.</a:t>
            </a:r>
          </a:p>
        </p:txBody>
      </p:sp>
      <p:sp>
        <p:nvSpPr>
          <p:cNvPr id="7" name="Rectangle 6"/>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BF557-2446-436D-B7CA-0DF19D56D115}"/>
              </a:ext>
            </a:extLst>
          </p:cNvPr>
          <p:cNvSpPr>
            <a:spLocks noGrp="1"/>
          </p:cNvSpPr>
          <p:nvPr>
            <p:ph type="title"/>
          </p:nvPr>
        </p:nvSpPr>
        <p:spPr/>
        <p:txBody>
          <a:bodyPr/>
          <a:lstStyle/>
          <a:p>
            <a:r>
              <a:rPr lang="en-US" dirty="0"/>
              <a:t>In our </a:t>
            </a:r>
            <a:r>
              <a:rPr lang="en-HK" dirty="0"/>
              <a:t>example</a:t>
            </a:r>
          </a:p>
        </p:txBody>
      </p:sp>
      <p:sp>
        <p:nvSpPr>
          <p:cNvPr id="4" name="Content Placeholder 3">
            <a:extLst>
              <a:ext uri="{FF2B5EF4-FFF2-40B4-BE49-F238E27FC236}">
                <a16:creationId xmlns:a16="http://schemas.microsoft.com/office/drawing/2014/main" id="{57AD8694-6891-4E3B-A7A5-0BC5C4B81E27}"/>
              </a:ext>
            </a:extLst>
          </p:cNvPr>
          <p:cNvSpPr>
            <a:spLocks noGrp="1"/>
          </p:cNvSpPr>
          <p:nvPr>
            <p:ph sz="half" idx="1"/>
          </p:nvPr>
        </p:nvSpPr>
        <p:spPr/>
        <p:txBody>
          <a:bodyPr/>
          <a:lstStyle/>
          <a:p>
            <a:r>
              <a:rPr lang="en-HK" dirty="0"/>
              <a:t>External user</a:t>
            </a:r>
          </a:p>
          <a:p>
            <a:pPr lvl="1"/>
            <a:r>
              <a:rPr lang="en-HK" dirty="0"/>
              <a:t>Tom’s friends</a:t>
            </a:r>
          </a:p>
          <a:p>
            <a:pPr lvl="1"/>
            <a:r>
              <a:rPr lang="en-HK" dirty="0"/>
              <a:t>How much returns?</a:t>
            </a:r>
          </a:p>
          <a:p>
            <a:pPr lvl="1"/>
            <a:r>
              <a:rPr lang="en-HK" dirty="0"/>
              <a:t>How about the future performance?</a:t>
            </a:r>
          </a:p>
        </p:txBody>
      </p:sp>
      <p:sp>
        <p:nvSpPr>
          <p:cNvPr id="6" name="Content Placeholder 5">
            <a:extLst>
              <a:ext uri="{FF2B5EF4-FFF2-40B4-BE49-F238E27FC236}">
                <a16:creationId xmlns:a16="http://schemas.microsoft.com/office/drawing/2014/main" id="{188D5ACD-16CA-4B67-90D0-15947BBBE3BD}"/>
              </a:ext>
            </a:extLst>
          </p:cNvPr>
          <p:cNvSpPr>
            <a:spLocks noGrp="1"/>
          </p:cNvSpPr>
          <p:nvPr>
            <p:ph sz="half" idx="2"/>
          </p:nvPr>
        </p:nvSpPr>
        <p:spPr/>
        <p:txBody>
          <a:bodyPr/>
          <a:lstStyle/>
          <a:p>
            <a:r>
              <a:rPr lang="en-HK" dirty="0"/>
              <a:t>Internal user</a:t>
            </a:r>
          </a:p>
          <a:p>
            <a:pPr lvl="1"/>
            <a:r>
              <a:rPr lang="en-HK" dirty="0"/>
              <a:t>Tom and his team</a:t>
            </a:r>
          </a:p>
          <a:p>
            <a:pPr lvl="1"/>
            <a:r>
              <a:rPr lang="en-HK" dirty="0"/>
              <a:t>How to improve the efficiency?</a:t>
            </a:r>
          </a:p>
          <a:p>
            <a:pPr lvl="1"/>
            <a:r>
              <a:rPr lang="en-HK" dirty="0"/>
              <a:t>How much is the cost? </a:t>
            </a:r>
          </a:p>
        </p:txBody>
      </p:sp>
      <p:pic>
        <p:nvPicPr>
          <p:cNvPr id="8" name="Picture 7">
            <a:extLst>
              <a:ext uri="{FF2B5EF4-FFF2-40B4-BE49-F238E27FC236}">
                <a16:creationId xmlns:a16="http://schemas.microsoft.com/office/drawing/2014/main" id="{0E72C529-A062-4A6F-86C7-F6F32E866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735" y="4876800"/>
            <a:ext cx="2962275" cy="1543050"/>
          </a:xfrm>
          <a:prstGeom prst="rect">
            <a:avLst/>
          </a:prstGeom>
        </p:spPr>
      </p:pic>
      <p:pic>
        <p:nvPicPr>
          <p:cNvPr id="10" name="Picture 9">
            <a:extLst>
              <a:ext uri="{FF2B5EF4-FFF2-40B4-BE49-F238E27FC236}">
                <a16:creationId xmlns:a16="http://schemas.microsoft.com/office/drawing/2014/main" id="{76EF0D7B-F674-41A2-B608-C8735999FC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8485" y="4486275"/>
            <a:ext cx="2143125" cy="2143125"/>
          </a:xfrm>
          <a:prstGeom prst="rect">
            <a:avLst/>
          </a:prstGeom>
        </p:spPr>
      </p:pic>
    </p:spTree>
    <p:extLst>
      <p:ext uri="{BB962C8B-B14F-4D97-AF65-F5344CB8AC3E}">
        <p14:creationId xmlns:p14="http://schemas.microsoft.com/office/powerpoint/2010/main" val="41403422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AutoShape 2"/>
          <p:cNvSpPr>
            <a:spLocks noGrp="1" noChangeArrowheads="1"/>
          </p:cNvSpPr>
          <p:nvPr>
            <p:ph type="title"/>
          </p:nvPr>
        </p:nvSpPr>
        <p:spPr>
          <a:xfrm>
            <a:off x="419100" y="152400"/>
            <a:ext cx="8382000" cy="1143000"/>
          </a:xfrm>
        </p:spPr>
        <p:txBody>
          <a:bodyPr>
            <a:normAutofit/>
          </a:bodyPr>
          <a:lstStyle/>
          <a:p>
            <a:pPr algn="ctr">
              <a:defRPr/>
            </a:pPr>
            <a:r>
              <a:rPr lang="en-US" altLang="zh-TW" dirty="0">
                <a:latin typeface="Arial" charset="0"/>
                <a:ea typeface="PMingLiU" pitchFamily="18" charset="-120"/>
                <a:cs typeface="Arial" charset="0"/>
              </a:rPr>
              <a:t>Users of Accounting Information</a:t>
            </a:r>
            <a:endParaRPr lang="en-US" altLang="zh-TW" dirty="0">
              <a:ea typeface="PMingLiU" pitchFamily="18" charset="-120"/>
            </a:endParaRPr>
          </a:p>
        </p:txBody>
      </p:sp>
      <p:sp>
        <p:nvSpPr>
          <p:cNvPr id="18435" name="Rectangle 3"/>
          <p:cNvSpPr>
            <a:spLocks noGrp="1" noChangeArrowheads="1"/>
          </p:cNvSpPr>
          <p:nvPr>
            <p:ph idx="1"/>
          </p:nvPr>
        </p:nvSpPr>
        <p:spPr>
          <a:xfrm>
            <a:off x="1066800" y="1447800"/>
            <a:ext cx="7848600" cy="5026025"/>
          </a:xfrm>
        </p:spPr>
        <p:txBody>
          <a:bodyPr/>
          <a:lstStyle/>
          <a:p>
            <a:pPr>
              <a:lnSpc>
                <a:spcPct val="90000"/>
              </a:lnSpc>
            </a:pPr>
            <a:r>
              <a:rPr lang="en-US" altLang="zh-TW" dirty="0">
                <a:solidFill>
                  <a:srgbClr val="FF0000"/>
                </a:solidFill>
                <a:ea typeface="PMingLiU" panose="02020500000000000000" pitchFamily="18" charset="-120"/>
              </a:rPr>
              <a:t>Investors</a:t>
            </a:r>
            <a:r>
              <a:rPr lang="en-US" altLang="zh-TW" dirty="0">
                <a:ea typeface="PMingLiU" panose="02020500000000000000" pitchFamily="18" charset="-120"/>
              </a:rPr>
              <a:t> use accounting information in valuing stocks</a:t>
            </a:r>
          </a:p>
          <a:p>
            <a:pPr>
              <a:lnSpc>
                <a:spcPct val="90000"/>
              </a:lnSpc>
            </a:pPr>
            <a:r>
              <a:rPr lang="en-US" altLang="zh-TW" dirty="0">
                <a:solidFill>
                  <a:srgbClr val="FF0000"/>
                </a:solidFill>
                <a:ea typeface="PMingLiU" panose="02020500000000000000" pitchFamily="18" charset="-120"/>
              </a:rPr>
              <a:t>Bankers</a:t>
            </a:r>
            <a:r>
              <a:rPr lang="en-US" altLang="zh-TW" dirty="0">
                <a:ea typeface="PMingLiU" panose="02020500000000000000" pitchFamily="18" charset="-120"/>
              </a:rPr>
              <a:t> rely on accounting information in deciding whether to lend money to a business and in assessing the risk of the loan</a:t>
            </a:r>
          </a:p>
          <a:p>
            <a:pPr>
              <a:lnSpc>
                <a:spcPct val="90000"/>
              </a:lnSpc>
            </a:pPr>
            <a:r>
              <a:rPr lang="en-US" altLang="zh-TW" dirty="0">
                <a:solidFill>
                  <a:srgbClr val="FF0000"/>
                </a:solidFill>
                <a:ea typeface="PMingLiU" panose="02020500000000000000" pitchFamily="18" charset="-120"/>
              </a:rPr>
              <a:t>Managers</a:t>
            </a:r>
            <a:r>
              <a:rPr lang="en-US" altLang="zh-TW" dirty="0">
                <a:ea typeface="PMingLiU" panose="02020500000000000000" pitchFamily="18" charset="-120"/>
              </a:rPr>
              <a:t> use accounting information in making investment decisions.</a:t>
            </a:r>
          </a:p>
          <a:p>
            <a:pPr>
              <a:lnSpc>
                <a:spcPct val="90000"/>
              </a:lnSpc>
            </a:pPr>
            <a:r>
              <a:rPr lang="en-US" altLang="zh-TW" dirty="0">
                <a:solidFill>
                  <a:srgbClr val="FF0000"/>
                </a:solidFill>
                <a:ea typeface="PMingLiU" panose="02020500000000000000" pitchFamily="18" charset="-120"/>
              </a:rPr>
              <a:t>Managers</a:t>
            </a:r>
            <a:r>
              <a:rPr lang="en-US" altLang="zh-TW" dirty="0">
                <a:ea typeface="PMingLiU" panose="02020500000000000000" pitchFamily="18" charset="-120"/>
              </a:rPr>
              <a:t> use accounting information in evaluating the performance of employees at various levels of an organization</a:t>
            </a:r>
          </a:p>
          <a:p>
            <a:pPr>
              <a:lnSpc>
                <a:spcPct val="90000"/>
              </a:lnSpc>
            </a:pPr>
            <a:r>
              <a:rPr lang="en-US" altLang="zh-TW" dirty="0">
                <a:ea typeface="PMingLiU" panose="02020500000000000000" pitchFamily="18" charset="-120"/>
              </a:rPr>
              <a:t>….</a:t>
            </a:r>
          </a:p>
        </p:txBody>
      </p:sp>
    </p:spTree>
    <p:extLst>
      <p:ext uri="{BB962C8B-B14F-4D97-AF65-F5344CB8AC3E}">
        <p14:creationId xmlns:p14="http://schemas.microsoft.com/office/powerpoint/2010/main" val="35027586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p:cNvSpPr>
          <p:nvPr>
            <p:ph type="title"/>
          </p:nvPr>
        </p:nvSpPr>
        <p:spPr bwMode="auto">
          <a:xfrm>
            <a:off x="381000" y="76200"/>
            <a:ext cx="8382000" cy="1143000"/>
          </a:xfrm>
        </p:spPr>
        <p:txBody>
          <a:bodyPr>
            <a:normAutofit/>
          </a:bodyPr>
          <a:lstStyle/>
          <a:p>
            <a:pPr algn="ctr">
              <a:defRPr/>
            </a:pPr>
            <a:r>
              <a:rPr lang="en-US" altLang="zh-TW" dirty="0">
                <a:latin typeface="Arial" charset="0"/>
                <a:ea typeface="PMingLiU" pitchFamily="18" charset="-120"/>
                <a:cs typeface="Arial" charset="0"/>
              </a:rPr>
              <a:t>Types of Accounting Information</a:t>
            </a:r>
          </a:p>
        </p:txBody>
      </p:sp>
      <p:sp>
        <p:nvSpPr>
          <p:cNvPr id="111619" name="Rectangle 3"/>
          <p:cNvSpPr>
            <a:spLocks noGrp="1"/>
          </p:cNvSpPr>
          <p:nvPr>
            <p:ph idx="1"/>
          </p:nvPr>
        </p:nvSpPr>
        <p:spPr>
          <a:xfrm>
            <a:off x="838200" y="1447800"/>
            <a:ext cx="7620000" cy="4876800"/>
          </a:xfrm>
        </p:spPr>
        <p:txBody>
          <a:bodyPr/>
          <a:lstStyle/>
          <a:p>
            <a:pPr>
              <a:lnSpc>
                <a:spcPct val="80000"/>
              </a:lnSpc>
            </a:pPr>
            <a:r>
              <a:rPr lang="en-US" altLang="zh-TW" sz="2600" dirty="0">
                <a:solidFill>
                  <a:srgbClr val="008000"/>
                </a:solidFill>
                <a:ea typeface="PMingLiU" panose="02020500000000000000" pitchFamily="18" charset="-120"/>
              </a:rPr>
              <a:t>Financial Accounting</a:t>
            </a:r>
          </a:p>
          <a:p>
            <a:pPr lvl="1">
              <a:lnSpc>
                <a:spcPct val="80000"/>
              </a:lnSpc>
            </a:pPr>
            <a:r>
              <a:rPr lang="en-US" altLang="zh-TW" dirty="0">
                <a:ea typeface="PMingLiU" panose="02020500000000000000" pitchFamily="18" charset="-120"/>
              </a:rPr>
              <a:t>Provides information primarily to people </a:t>
            </a:r>
            <a:r>
              <a:rPr lang="en-US" altLang="zh-TW" u="sng" dirty="0">
                <a:ea typeface="PMingLiU" panose="02020500000000000000" pitchFamily="18" charset="-120"/>
              </a:rPr>
              <a:t>outside the company</a:t>
            </a:r>
            <a:r>
              <a:rPr lang="en-US" altLang="zh-TW" dirty="0">
                <a:ea typeface="PMingLiU" panose="02020500000000000000" pitchFamily="18" charset="-120"/>
              </a:rPr>
              <a:t> (e.g., investors and creditors), through </a:t>
            </a:r>
            <a:r>
              <a:rPr lang="en-US" altLang="zh-TW" i="1" dirty="0">
                <a:ea typeface="PMingLiU" panose="02020500000000000000" pitchFamily="18" charset="-120"/>
              </a:rPr>
              <a:t>general-purpose financial statements</a:t>
            </a:r>
            <a:r>
              <a:rPr lang="en-US" altLang="zh-TW" dirty="0">
                <a:ea typeface="PMingLiU" panose="02020500000000000000" pitchFamily="18" charset="-120"/>
              </a:rPr>
              <a:t>.</a:t>
            </a:r>
          </a:p>
          <a:p>
            <a:pPr lvl="1">
              <a:lnSpc>
                <a:spcPct val="80000"/>
              </a:lnSpc>
            </a:pPr>
            <a:endParaRPr lang="en-US" altLang="zh-TW" sz="2400" dirty="0">
              <a:ea typeface="PMingLiU" panose="02020500000000000000" pitchFamily="18" charset="-120"/>
            </a:endParaRPr>
          </a:p>
          <a:p>
            <a:pPr>
              <a:lnSpc>
                <a:spcPct val="80000"/>
              </a:lnSpc>
            </a:pPr>
            <a:r>
              <a:rPr lang="en-US" altLang="zh-TW" sz="2600" dirty="0">
                <a:solidFill>
                  <a:srgbClr val="008000"/>
                </a:solidFill>
                <a:ea typeface="PMingLiU" panose="02020500000000000000" pitchFamily="18" charset="-120"/>
              </a:rPr>
              <a:t>Management Accounting</a:t>
            </a:r>
          </a:p>
          <a:p>
            <a:pPr lvl="1">
              <a:lnSpc>
                <a:spcPct val="80000"/>
              </a:lnSpc>
            </a:pPr>
            <a:r>
              <a:rPr lang="en-US" altLang="zh-TW" dirty="0">
                <a:ea typeface="PMingLiU" panose="02020500000000000000" pitchFamily="18" charset="-120"/>
              </a:rPr>
              <a:t>Provide information to people </a:t>
            </a:r>
            <a:r>
              <a:rPr lang="en-US" altLang="zh-TW" u="sng" dirty="0">
                <a:ea typeface="PMingLiU" panose="02020500000000000000" pitchFamily="18" charset="-120"/>
              </a:rPr>
              <a:t>inside the company</a:t>
            </a:r>
            <a:r>
              <a:rPr lang="en-US" altLang="zh-TW" dirty="0">
                <a:ea typeface="PMingLiU" panose="02020500000000000000" pitchFamily="18" charset="-120"/>
              </a:rPr>
              <a:t> (e.g., managers)</a:t>
            </a:r>
          </a:p>
          <a:p>
            <a:pPr lvl="1">
              <a:lnSpc>
                <a:spcPct val="80000"/>
              </a:lnSpc>
            </a:pPr>
            <a:endParaRPr lang="en-US" altLang="zh-TW" dirty="0">
              <a:ea typeface="PMingLiU" panose="02020500000000000000" pitchFamily="18" charset="-120"/>
            </a:endParaRPr>
          </a:p>
          <a:p>
            <a:pPr>
              <a:lnSpc>
                <a:spcPct val="80000"/>
              </a:lnSpc>
            </a:pPr>
            <a:r>
              <a:rPr lang="en-US" altLang="zh-TW" sz="2600" dirty="0">
                <a:solidFill>
                  <a:srgbClr val="008000"/>
                </a:solidFill>
                <a:ea typeface="PMingLiU" panose="02020500000000000000" pitchFamily="18" charset="-120"/>
              </a:rPr>
              <a:t>Tax Accounting</a:t>
            </a:r>
          </a:p>
          <a:p>
            <a:pPr lvl="1">
              <a:lnSpc>
                <a:spcPct val="80000"/>
              </a:lnSpc>
            </a:pPr>
            <a:r>
              <a:rPr lang="en-US" altLang="zh-TW" dirty="0">
                <a:ea typeface="PMingLiU" panose="02020500000000000000" pitchFamily="18" charset="-120"/>
              </a:rPr>
              <a:t>Provides information to the tax authorities</a:t>
            </a:r>
          </a:p>
          <a:p>
            <a:pPr>
              <a:lnSpc>
                <a:spcPct val="80000"/>
              </a:lnSpc>
            </a:pPr>
            <a:endParaRPr lang="en-US" altLang="zh-TW" sz="2600" dirty="0">
              <a:ea typeface="PMingLiU" panose="02020500000000000000" pitchFamily="18" charset="-120"/>
            </a:endParaRPr>
          </a:p>
        </p:txBody>
      </p:sp>
    </p:spTree>
    <p:extLst>
      <p:ext uri="{BB962C8B-B14F-4D97-AF65-F5344CB8AC3E}">
        <p14:creationId xmlns:p14="http://schemas.microsoft.com/office/powerpoint/2010/main" val="36249886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 calcmode="lin" valueType="num">
                                      <p:cBhvr additive="base">
                                        <p:cTn id="7" dur="500" fill="hold"/>
                                        <p:tgtEl>
                                          <p:spTgt spid="1116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161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1619">
                                            <p:txEl>
                                              <p:pRg st="1" end="1"/>
                                            </p:txEl>
                                          </p:spTgt>
                                        </p:tgtEl>
                                        <p:attrNameLst>
                                          <p:attrName>style.visibility</p:attrName>
                                        </p:attrNameLst>
                                      </p:cBhvr>
                                      <p:to>
                                        <p:strVal val="visible"/>
                                      </p:to>
                                    </p:set>
                                    <p:anim calcmode="lin" valueType="num">
                                      <p:cBhvr additive="base">
                                        <p:cTn id="11" dur="500" fill="hold"/>
                                        <p:tgtEl>
                                          <p:spTgt spid="11161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16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11619">
                                            <p:txEl>
                                              <p:pRg st="3" end="3"/>
                                            </p:txEl>
                                          </p:spTgt>
                                        </p:tgtEl>
                                        <p:attrNameLst>
                                          <p:attrName>style.visibility</p:attrName>
                                        </p:attrNameLst>
                                      </p:cBhvr>
                                      <p:to>
                                        <p:strVal val="visible"/>
                                      </p:to>
                                    </p:set>
                                    <p:anim calcmode="lin" valueType="num">
                                      <p:cBhvr additive="base">
                                        <p:cTn id="17" dur="500" fill="hold"/>
                                        <p:tgtEl>
                                          <p:spTgt spid="111619">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1619">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1619">
                                            <p:txEl>
                                              <p:pRg st="4" end="4"/>
                                            </p:txEl>
                                          </p:spTgt>
                                        </p:tgtEl>
                                        <p:attrNameLst>
                                          <p:attrName>style.visibility</p:attrName>
                                        </p:attrNameLst>
                                      </p:cBhvr>
                                      <p:to>
                                        <p:strVal val="visible"/>
                                      </p:to>
                                    </p:set>
                                    <p:anim calcmode="lin" valueType="num">
                                      <p:cBhvr additive="base">
                                        <p:cTn id="21" dur="500" fill="hold"/>
                                        <p:tgtEl>
                                          <p:spTgt spid="111619">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16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111619">
                                            <p:txEl>
                                              <p:pRg st="6" end="6"/>
                                            </p:txEl>
                                          </p:spTgt>
                                        </p:tgtEl>
                                        <p:attrNameLst>
                                          <p:attrName>style.visibility</p:attrName>
                                        </p:attrNameLst>
                                      </p:cBhvr>
                                      <p:to>
                                        <p:strVal val="visible"/>
                                      </p:to>
                                    </p:set>
                                    <p:anim calcmode="lin" valueType="num">
                                      <p:cBhvr additive="base">
                                        <p:cTn id="27" dur="500" fill="hold"/>
                                        <p:tgtEl>
                                          <p:spTgt spid="111619">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1619">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11619">
                                            <p:txEl>
                                              <p:pRg st="7" end="7"/>
                                            </p:txEl>
                                          </p:spTgt>
                                        </p:tgtEl>
                                        <p:attrNameLst>
                                          <p:attrName>style.visibility</p:attrName>
                                        </p:attrNameLst>
                                      </p:cBhvr>
                                      <p:to>
                                        <p:strVal val="visible"/>
                                      </p:to>
                                    </p:set>
                                    <p:anim calcmode="lin" valueType="num">
                                      <p:cBhvr additive="base">
                                        <p:cTn id="31" dur="500" fill="hold"/>
                                        <p:tgtEl>
                                          <p:spTgt spid="111619">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16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1066800" y="2482850"/>
            <a:ext cx="7162800" cy="2511425"/>
          </a:xfrm>
        </p:spPr>
        <p:txBody>
          <a:bodyPr>
            <a:normAutofit fontScale="90000"/>
          </a:bodyPr>
          <a:lstStyle/>
          <a:p>
            <a:br>
              <a:rPr lang="en-US" altLang="en-US" dirty="0"/>
            </a:br>
            <a:br>
              <a:rPr lang="en-US" altLang="en-US" dirty="0"/>
            </a:br>
            <a:r>
              <a:rPr lang="en-US" altLang="en-US" dirty="0"/>
              <a:t>E</a:t>
            </a:r>
            <a:r>
              <a:rPr lang="en-US" dirty="0"/>
              <a:t>xplain why ethics </a:t>
            </a:r>
            <a:br>
              <a:rPr lang="en-US" dirty="0"/>
            </a:br>
            <a:r>
              <a:rPr lang="en-US" dirty="0"/>
              <a:t>are crucial to accounting.</a:t>
            </a:r>
            <a:br>
              <a:rPr lang="en-US" altLang="en-US" dirty="0"/>
            </a:br>
            <a:br>
              <a:rPr lang="en-US" altLang="en-US" dirty="0"/>
            </a:br>
            <a:endParaRPr lang="en-US" altLang="en-US" dirty="0"/>
          </a:p>
        </p:txBody>
      </p:sp>
      <p:sp>
        <p:nvSpPr>
          <p:cNvPr id="130051" name="Slide Number Placeholder 3"/>
          <p:cNvSpPr>
            <a:spLocks noGrp="1"/>
          </p:cNvSpPr>
          <p:nvPr>
            <p:ph type="sldNum" sz="quarter" idx="12"/>
          </p:nvPr>
        </p:nvSpPr>
        <p:spPr bwMode="auto">
          <a:noFill/>
          <a:ln>
            <a:miter lim="800000"/>
            <a:headEnd/>
            <a:tailEnd/>
          </a:ln>
        </p:spPr>
        <p:txBody>
          <a:bodyPr wrap="square" numCol="1" anchorCtr="0" compatLnSpc="1">
            <a:prstTxWarp prst="textNoShape">
              <a:avLst/>
            </a:prstTxWarp>
          </a:bodyPr>
          <a:lstStyle/>
          <a:p>
            <a:fld id="{B119A4F8-1B21-44AA-97CF-B3BE3340BA9F}" type="slidenum">
              <a:rPr lang="en-US" altLang="en-US" smtClean="0">
                <a:solidFill>
                  <a:srgbClr val="898989"/>
                </a:solidFill>
              </a:rPr>
              <a:pPr/>
              <a:t>19</a:t>
            </a:fld>
            <a:endParaRPr lang="en-US" altLang="en-US" dirty="0">
              <a:solidFill>
                <a:srgbClr val="898989"/>
              </a:solidFill>
            </a:endParaRPr>
          </a:p>
        </p:txBody>
      </p:sp>
      <p:sp>
        <p:nvSpPr>
          <p:cNvPr id="7" name="Rectangle 6"/>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rgbClr val="FFFF00"/>
              </a:solidFill>
              <a:latin typeface="Palatino Linotype"/>
              <a:cs typeface="+mn-cs"/>
            </a:endParaRPr>
          </a:p>
        </p:txBody>
      </p:sp>
      <p:pic>
        <p:nvPicPr>
          <p:cNvPr id="130053" name="Picture 2"/>
          <p:cNvPicPr>
            <a:picLocks noChangeAspect="1" noChangeArrowheads="1"/>
          </p:cNvPicPr>
          <p:nvPr/>
        </p:nvPicPr>
        <p:blipFill>
          <a:blip r:embed="rId3" cstate="print"/>
          <a:srcRect/>
          <a:stretch>
            <a:fillRect/>
          </a:stretch>
        </p:blipFill>
        <p:spPr bwMode="auto">
          <a:xfrm>
            <a:off x="914400" y="2360613"/>
            <a:ext cx="7315200" cy="87312"/>
          </a:xfrm>
          <a:prstGeom prst="rect">
            <a:avLst/>
          </a:prstGeom>
          <a:noFill/>
          <a:ln w="9525">
            <a:noFill/>
            <a:miter lim="800000"/>
            <a:headEnd/>
            <a:tailEnd/>
          </a:ln>
        </p:spPr>
      </p:pic>
      <p:pic>
        <p:nvPicPr>
          <p:cNvPr id="130054" name="Picture 2"/>
          <p:cNvPicPr>
            <a:picLocks noChangeAspect="1" noChangeArrowheads="1"/>
          </p:cNvPicPr>
          <p:nvPr/>
        </p:nvPicPr>
        <p:blipFill>
          <a:blip r:embed="rId3" cstate="print"/>
          <a:srcRect/>
          <a:stretch>
            <a:fillRect/>
          </a:stretch>
        </p:blipFill>
        <p:spPr bwMode="auto">
          <a:xfrm>
            <a:off x="914400" y="5029200"/>
            <a:ext cx="7315200" cy="87313"/>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ChangeArrowheads="1"/>
          </p:cNvSpPr>
          <p:nvPr/>
        </p:nvSpPr>
        <p:spPr bwMode="auto">
          <a:xfrm>
            <a:off x="609600" y="3902075"/>
            <a:ext cx="2706688"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sz="2800"/>
              <a:t>Beliefs that distinguish right from wrong</a:t>
            </a:r>
          </a:p>
        </p:txBody>
      </p:sp>
      <p:sp>
        <p:nvSpPr>
          <p:cNvPr id="15362" name="Rectangle 3"/>
          <p:cNvSpPr>
            <a:spLocks noChangeArrowheads="1"/>
          </p:cNvSpPr>
          <p:nvPr/>
        </p:nvSpPr>
        <p:spPr bwMode="auto">
          <a:xfrm>
            <a:off x="5211763" y="3902075"/>
            <a:ext cx="3362325"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a:r>
              <a:rPr lang="en-US" sz="2800"/>
              <a:t>Accepted standards of good and bad behavior</a:t>
            </a:r>
          </a:p>
        </p:txBody>
      </p:sp>
      <p:grpSp>
        <p:nvGrpSpPr>
          <p:cNvPr id="2" name="Group 4"/>
          <p:cNvGrpSpPr>
            <a:grpSpLocks/>
          </p:cNvGrpSpPr>
          <p:nvPr/>
        </p:nvGrpSpPr>
        <p:grpSpPr bwMode="auto">
          <a:xfrm>
            <a:off x="3017933" y="1530350"/>
            <a:ext cx="2578100" cy="2349500"/>
            <a:chOff x="2068" y="964"/>
            <a:chExt cx="1624" cy="1480"/>
          </a:xfrm>
          <a:solidFill>
            <a:schemeClr val="accent2">
              <a:lumMod val="75000"/>
            </a:schemeClr>
          </a:solidFill>
          <a:effectLst/>
        </p:grpSpPr>
        <p:sp>
          <p:nvSpPr>
            <p:cNvPr id="18437" name="AutoShape 5"/>
            <p:cNvSpPr>
              <a:spLocks noChangeArrowheads="1"/>
            </p:cNvSpPr>
            <p:nvPr/>
          </p:nvSpPr>
          <p:spPr bwMode="auto">
            <a:xfrm>
              <a:off x="2068" y="964"/>
              <a:ext cx="1624" cy="1480"/>
            </a:xfrm>
            <a:prstGeom prst="star16">
              <a:avLst>
                <a:gd name="adj" fmla="val 37500"/>
              </a:avLst>
            </a:prstGeom>
            <a:grpFill/>
            <a:ln w="12700">
              <a:solidFill>
                <a:schemeClr val="tx1"/>
              </a:solidFill>
              <a:miter lim="800000"/>
              <a:headEnd/>
              <a:tailEnd/>
            </a:ln>
            <a:effectLst>
              <a:outerShdw dist="107763" dir="2700000" algn="ctr" rotWithShape="0">
                <a:schemeClr val="bg2"/>
              </a:outerShdw>
            </a:effectLst>
          </p:spPr>
          <p:txBody>
            <a:bodyPr wrap="none" anchor="ctr"/>
            <a:lstStyle/>
            <a:p>
              <a:pPr>
                <a:defRPr/>
              </a:pPr>
              <a:endParaRPr lang="en-US">
                <a:ea typeface="ＭＳ Ｐゴシック" pitchFamily="-108" charset="-128"/>
                <a:cs typeface="+mn-cs"/>
              </a:endParaRPr>
            </a:p>
          </p:txBody>
        </p:sp>
        <p:sp>
          <p:nvSpPr>
            <p:cNvPr id="41994" name="Rectangle 6"/>
            <p:cNvSpPr>
              <a:spLocks noChangeArrowheads="1"/>
            </p:cNvSpPr>
            <p:nvPr/>
          </p:nvSpPr>
          <p:spPr bwMode="auto">
            <a:xfrm>
              <a:off x="2325" y="1485"/>
              <a:ext cx="1110" cy="440"/>
            </a:xfrm>
            <a:prstGeom prst="rect">
              <a:avLst/>
            </a:prstGeom>
            <a:grpFill/>
            <a:ln w="12700">
              <a:noFill/>
              <a:miter lim="800000"/>
              <a:headEnd/>
              <a:tailEnd/>
            </a:ln>
          </p:spPr>
          <p:txBody>
            <a:bodyPr lIns="90488" tIns="44450" rIns="90488" bIns="44450">
              <a:spAutoFit/>
            </a:bodyPr>
            <a:lstStyle/>
            <a:p>
              <a:pPr algn="ctr">
                <a:defRPr/>
              </a:pPr>
              <a:r>
                <a:rPr lang="en-US" sz="4000" dirty="0">
                  <a:solidFill>
                    <a:schemeClr val="bg1"/>
                  </a:solidFill>
                  <a:effectLst>
                    <a:outerShdw blurRad="38100" dist="38100" dir="2700000" algn="tl">
                      <a:srgbClr val="000000">
                        <a:alpha val="43137"/>
                      </a:srgbClr>
                    </a:outerShdw>
                  </a:effectLst>
                  <a:ea typeface="ＭＳ Ｐゴシック" pitchFamily="-108" charset="-128"/>
                  <a:cs typeface="+mn-cs"/>
                </a:rPr>
                <a:t>Ethics</a:t>
              </a:r>
            </a:p>
          </p:txBody>
        </p:sp>
      </p:grpSp>
      <p:sp>
        <p:nvSpPr>
          <p:cNvPr id="18439" name="Rectangle 7"/>
          <p:cNvSpPr>
            <a:spLocks noGrp="1" noChangeArrowheads="1"/>
          </p:cNvSpPr>
          <p:nvPr>
            <p:ph type="title"/>
          </p:nvPr>
        </p:nvSpPr>
        <p:spPr>
          <a:xfrm>
            <a:off x="1219200" y="533400"/>
            <a:ext cx="6705600" cy="762000"/>
          </a:xfrm>
        </p:spPr>
        <p:txBody>
          <a:bodyPr/>
          <a:lstStyle/>
          <a:p>
            <a:pPr>
              <a:defRPr/>
            </a:pPr>
            <a:r>
              <a:rPr lang="en-US" dirty="0">
                <a:ea typeface="+mj-ea"/>
              </a:rPr>
              <a:t>Ethics - A Key Concept</a:t>
            </a:r>
          </a:p>
        </p:txBody>
      </p:sp>
      <p:cxnSp>
        <p:nvCxnSpPr>
          <p:cNvPr id="12" name="Shape 11"/>
          <p:cNvCxnSpPr>
            <a:cxnSpLocks noChangeShapeType="1"/>
            <a:endCxn id="15361" idx="0"/>
          </p:cNvCxnSpPr>
          <p:nvPr/>
        </p:nvCxnSpPr>
        <p:spPr bwMode="auto">
          <a:xfrm rot="10800000" flipV="1">
            <a:off x="1963738" y="2705100"/>
            <a:ext cx="1054100" cy="1196975"/>
          </a:xfrm>
          <a:prstGeom prst="bentConnector2">
            <a:avLst/>
          </a:prstGeom>
          <a:noFill/>
          <a:ln w="28575">
            <a:solidFill>
              <a:srgbClr val="FF0000"/>
            </a:solidFill>
            <a:miter lim="800000"/>
            <a:headEnd/>
            <a:tailEnd type="arrow" w="med" len="med"/>
          </a:ln>
          <a:effectLst>
            <a:outerShdw blurRad="63500" dist="38100" dir="2700000" algn="tl" rotWithShape="0">
              <a:srgbClr val="000000">
                <a:alpha val="39999"/>
              </a:srgbClr>
            </a:outerShdw>
          </a:effectLst>
          <a:extLst>
            <a:ext uri="{909E8E84-426E-40DD-AFC4-6F175D3DCCD1}">
              <a14:hiddenFill xmlns:a14="http://schemas.microsoft.com/office/drawing/2010/main">
                <a:noFill/>
              </a14:hiddenFill>
            </a:ext>
          </a:extLst>
        </p:spPr>
      </p:cxnSp>
      <p:cxnSp>
        <p:nvCxnSpPr>
          <p:cNvPr id="14" name="Shape 13"/>
          <p:cNvCxnSpPr>
            <a:cxnSpLocks noChangeShapeType="1"/>
            <a:endCxn id="15362" idx="0"/>
          </p:cNvCxnSpPr>
          <p:nvPr/>
        </p:nvCxnSpPr>
        <p:spPr bwMode="auto">
          <a:xfrm>
            <a:off x="5595938" y="2705100"/>
            <a:ext cx="1296987" cy="1196975"/>
          </a:xfrm>
          <a:prstGeom prst="bentConnector2">
            <a:avLst/>
          </a:prstGeom>
          <a:noFill/>
          <a:ln w="28575">
            <a:solidFill>
              <a:srgbClr val="FF0000"/>
            </a:solidFill>
            <a:miter lim="800000"/>
            <a:headEnd/>
            <a:tailEnd type="arrow" w="med" len="med"/>
          </a:ln>
          <a:effectLst>
            <a:outerShdw blurRad="63500" dist="38100" dir="2700000" algn="tl" rotWithShape="0">
              <a:srgbClr val="000000">
                <a:alpha val="39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297326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0" fill="hold"/>
                                        <p:tgtEl>
                                          <p:spTgt spid="2"/>
                                        </p:tgtEl>
                                        <p:attrNameLst>
                                          <p:attrName>ppt_w</p:attrName>
                                        </p:attrNameLst>
                                      </p:cBhvr>
                                      <p:tavLst>
                                        <p:tav tm="0" fmla="#ppt_w*sin(2.5*pi*$)">
                                          <p:val>
                                            <p:fltVal val="0"/>
                                          </p:val>
                                        </p:tav>
                                        <p:tav tm="100000">
                                          <p:val>
                                            <p:fltVal val="1"/>
                                          </p:val>
                                        </p:tav>
                                      </p:tavLst>
                                    </p:anim>
                                    <p:anim calcmode="lin" valueType="num">
                                      <p:cBhvr>
                                        <p:cTn id="8" dur="5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ChangeArrowheads="1"/>
          </p:cNvSpPr>
          <p:nvPr/>
        </p:nvSpPr>
        <p:spPr bwMode="auto">
          <a:xfrm>
            <a:off x="685800" y="6248400"/>
            <a:ext cx="1905000" cy="457200"/>
          </a:xfrm>
          <a:prstGeom prst="rect">
            <a:avLst/>
          </a:prstGeom>
          <a:noFill/>
          <a:ln w="12700">
            <a:noFill/>
            <a:miter lim="800000"/>
            <a:headEnd/>
            <a:tailEnd/>
          </a:ln>
        </p:spPr>
        <p:txBody>
          <a:bodyPr wrap="none" anchor="ctr"/>
          <a:lstStyle/>
          <a:p>
            <a:endParaRPr lang="en-US" altLang="en-US" dirty="0"/>
          </a:p>
        </p:txBody>
      </p:sp>
      <p:sp>
        <p:nvSpPr>
          <p:cNvPr id="136195" name="Rectangle 3"/>
          <p:cNvSpPr>
            <a:spLocks noChangeArrowheads="1"/>
          </p:cNvSpPr>
          <p:nvPr/>
        </p:nvSpPr>
        <p:spPr bwMode="auto">
          <a:xfrm>
            <a:off x="3124200" y="6248400"/>
            <a:ext cx="2895600" cy="457200"/>
          </a:xfrm>
          <a:prstGeom prst="rect">
            <a:avLst/>
          </a:prstGeom>
          <a:noFill/>
          <a:ln w="12700">
            <a:noFill/>
            <a:miter lim="800000"/>
            <a:headEnd/>
            <a:tailEnd/>
          </a:ln>
        </p:spPr>
        <p:txBody>
          <a:bodyPr wrap="none" anchor="ctr"/>
          <a:lstStyle/>
          <a:p>
            <a:endParaRPr lang="en-US" altLang="en-US" dirty="0"/>
          </a:p>
        </p:txBody>
      </p:sp>
      <p:sp>
        <p:nvSpPr>
          <p:cNvPr id="136196" name="Rectangle 4"/>
          <p:cNvSpPr>
            <a:spLocks noGrp="1" noChangeArrowheads="1"/>
          </p:cNvSpPr>
          <p:nvPr>
            <p:ph type="title"/>
          </p:nvPr>
        </p:nvSpPr>
        <p:spPr/>
        <p:txBody>
          <a:bodyPr/>
          <a:lstStyle/>
          <a:p>
            <a:pPr eaLnBrk="1" hangingPunct="1"/>
            <a:r>
              <a:rPr lang="en-US" altLang="en-US" b="1" dirty="0"/>
              <a:t>Ethics – A Key Concept</a:t>
            </a:r>
          </a:p>
        </p:txBody>
      </p:sp>
      <p:sp>
        <p:nvSpPr>
          <p:cNvPr id="4" name="Slide Number Placeholder 3"/>
          <p:cNvSpPr>
            <a:spLocks noGrp="1"/>
          </p:cNvSpPr>
          <p:nvPr>
            <p:ph type="sldNum" sz="quarter" idx="12"/>
          </p:nvPr>
        </p:nvSpPr>
        <p:spPr/>
        <p:txBody>
          <a:bodyPr/>
          <a:lstStyle/>
          <a:p>
            <a:pPr>
              <a:defRPr/>
            </a:pPr>
            <a:fld id="{0A5F97BA-E566-4E62-AB11-B2C646DF01F7}" type="slidenum">
              <a:rPr lang="en-US"/>
              <a:pPr>
                <a:defRPr/>
              </a:pPr>
              <a:t>21</a:t>
            </a:fld>
            <a:endParaRPr lang="en-US" dirty="0"/>
          </a:p>
        </p:txBody>
      </p:sp>
      <p:sp>
        <p:nvSpPr>
          <p:cNvPr id="2" name="TextBox 1"/>
          <p:cNvSpPr txBox="1">
            <a:spLocks noChangeArrowheads="1"/>
          </p:cNvSpPr>
          <p:nvPr/>
        </p:nvSpPr>
        <p:spPr bwMode="auto">
          <a:xfrm>
            <a:off x="685800" y="1446213"/>
            <a:ext cx="7772400" cy="1938337"/>
          </a:xfrm>
          <a:prstGeom prst="rect">
            <a:avLst/>
          </a:prstGeom>
          <a:gradFill rotWithShape="1">
            <a:gsLst>
              <a:gs pos="0">
                <a:srgbClr val="FFBE86"/>
              </a:gs>
              <a:gs pos="35001">
                <a:srgbClr val="FFD0AA"/>
              </a:gs>
              <a:gs pos="100000">
                <a:srgbClr val="FFEBDB"/>
              </a:gs>
            </a:gsLst>
            <a:lin ang="16200000" scaled="1"/>
          </a:gradFill>
          <a:ln w="9525">
            <a:solidFill>
              <a:srgbClr val="F69240"/>
            </a:solidFill>
            <a:miter lim="800000"/>
            <a:headEnd/>
            <a:tailEnd/>
          </a:ln>
          <a:effectLst>
            <a:outerShdw blurRad="63500" dist="20000" dir="5400000" rotWithShape="0">
              <a:srgbClr val="000000">
                <a:alpha val="37999"/>
              </a:srgbClr>
            </a:outerShdw>
          </a:effectLst>
        </p:spPr>
        <p:txBody>
          <a:bodyPr>
            <a:spAutoFit/>
          </a:bodyPr>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ctr" eaLnBrk="1" hangingPunct="1">
              <a:defRPr/>
            </a:pPr>
            <a:r>
              <a:rPr lang="en-US" dirty="0">
                <a:solidFill>
                  <a:srgbClr val="000000"/>
                </a:solidFill>
                <a:latin typeface="Calibri" pitchFamily="-107" charset="0"/>
              </a:rPr>
              <a:t>The goal of accounting is to provide useful information for decisions. For information to be useful, it must be trusted. This demands ethics in accounting. Ethics</a:t>
            </a:r>
            <a:r>
              <a:rPr lang="en-US" b="1" dirty="0">
                <a:solidFill>
                  <a:srgbClr val="000000"/>
                </a:solidFill>
                <a:latin typeface="Calibri" pitchFamily="-107" charset="0"/>
              </a:rPr>
              <a:t> </a:t>
            </a:r>
            <a:r>
              <a:rPr lang="en-US" dirty="0">
                <a:solidFill>
                  <a:srgbClr val="000000"/>
                </a:solidFill>
                <a:latin typeface="Calibri" pitchFamily="-107" charset="0"/>
              </a:rPr>
              <a:t>are beliefs that distinguish right from wrong. They are accepted standards of good and bad behavior.</a:t>
            </a:r>
          </a:p>
        </p:txBody>
      </p:sp>
      <p:sp>
        <p:nvSpPr>
          <p:cNvPr id="9" name="Rectangle 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pic>
        <p:nvPicPr>
          <p:cNvPr id="12" name="Picture 11"/>
          <p:cNvPicPr>
            <a:picLocks noChangeAspect="1"/>
          </p:cNvPicPr>
          <p:nvPr/>
        </p:nvPicPr>
        <p:blipFill>
          <a:blip r:embed="rId3"/>
          <a:stretch>
            <a:fillRect/>
          </a:stretch>
        </p:blipFill>
        <p:spPr>
          <a:xfrm>
            <a:off x="586637" y="3678633"/>
            <a:ext cx="7970725" cy="22756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Grp="1" noChangeArrowheads="1"/>
          </p:cNvSpPr>
          <p:nvPr>
            <p:ph type="title"/>
          </p:nvPr>
        </p:nvSpPr>
        <p:spPr bwMode="auto"/>
        <p:txBody>
          <a:bodyPr/>
          <a:lstStyle/>
          <a:p>
            <a:pPr algn="ctr">
              <a:defRPr/>
            </a:pPr>
            <a:r>
              <a:rPr lang="en-US" altLang="zh-CN" dirty="0">
                <a:latin typeface="Arial" charset="0"/>
                <a:ea typeface="宋体" pitchFamily="2" charset="-122"/>
                <a:cs typeface="Arial" charset="0"/>
              </a:rPr>
              <a:t>Enron Scandal</a:t>
            </a:r>
            <a:endParaRPr lang="en-US" altLang="zh-TW" dirty="0">
              <a:latin typeface="Arial" charset="0"/>
              <a:ea typeface="PMingLiU" pitchFamily="18" charset="-120"/>
              <a:cs typeface="Arial" charset="0"/>
            </a:endParaRPr>
          </a:p>
        </p:txBody>
      </p:sp>
      <p:sp>
        <p:nvSpPr>
          <p:cNvPr id="24579" name="Rectangle 3"/>
          <p:cNvSpPr>
            <a:spLocks noGrp="1" noChangeArrowheads="1"/>
          </p:cNvSpPr>
          <p:nvPr>
            <p:ph idx="1"/>
          </p:nvPr>
        </p:nvSpPr>
        <p:spPr>
          <a:xfrm>
            <a:off x="457200" y="1524000"/>
            <a:ext cx="8305800" cy="4949825"/>
          </a:xfrm>
        </p:spPr>
        <p:txBody>
          <a:bodyPr>
            <a:normAutofit lnSpcReduction="10000"/>
          </a:bodyPr>
          <a:lstStyle/>
          <a:p>
            <a:pPr>
              <a:lnSpc>
                <a:spcPct val="70000"/>
              </a:lnSpc>
            </a:pPr>
            <a:r>
              <a:rPr lang="zh-TW" altLang="zh-TW" sz="2400" dirty="0">
                <a:ea typeface="PMingLiU" panose="02020500000000000000" pitchFamily="18" charset="-120"/>
              </a:rPr>
              <a:t>Enron Corporation was an </a:t>
            </a:r>
            <a:r>
              <a:rPr lang="zh-TW" altLang="zh-CN" sz="2400" dirty="0">
                <a:ea typeface="SimSun" panose="02010600030101010101" pitchFamily="2" charset="-122"/>
              </a:rPr>
              <a:t>American engergy </a:t>
            </a:r>
            <a:r>
              <a:rPr lang="zh-TW" altLang="zh-TW" sz="2400" dirty="0">
                <a:ea typeface="PMingLiU" panose="02020500000000000000" pitchFamily="18" charset="-120"/>
              </a:rPr>
              <a:t>company based in </a:t>
            </a:r>
            <a:r>
              <a:rPr lang="zh-TW" altLang="zh-CN" sz="2400" dirty="0">
                <a:ea typeface="SimSun" panose="02010600030101010101" pitchFamily="2" charset="-122"/>
              </a:rPr>
              <a:t>Houston, Texas.</a:t>
            </a:r>
            <a:r>
              <a:rPr lang="zh-TW" altLang="zh-TW" sz="2400" dirty="0">
                <a:ea typeface="PMingLiU" panose="02020500000000000000" pitchFamily="18" charset="-120"/>
              </a:rPr>
              <a:t> </a:t>
            </a:r>
            <a:endParaRPr lang="zh-TW" altLang="zh-CN" sz="2400" dirty="0">
              <a:ea typeface="SimSun" panose="02010600030101010101" pitchFamily="2" charset="-122"/>
            </a:endParaRPr>
          </a:p>
          <a:p>
            <a:pPr>
              <a:lnSpc>
                <a:spcPct val="70000"/>
              </a:lnSpc>
            </a:pPr>
            <a:endParaRPr lang="zh-TW" altLang="zh-CN" sz="2400" dirty="0">
              <a:ea typeface="SimSun" panose="02010600030101010101" pitchFamily="2" charset="-122"/>
            </a:endParaRPr>
          </a:p>
          <a:p>
            <a:pPr>
              <a:lnSpc>
                <a:spcPct val="70000"/>
              </a:lnSpc>
            </a:pPr>
            <a:r>
              <a:rPr lang="zh-TW" altLang="zh-TW" sz="2400" dirty="0">
                <a:ea typeface="PMingLiU" panose="02020500000000000000" pitchFamily="18" charset="-120"/>
              </a:rPr>
              <a:t>Before its </a:t>
            </a:r>
            <a:r>
              <a:rPr lang="zh-TW" altLang="zh-CN" sz="2400" dirty="0">
                <a:ea typeface="SimSun" panose="02010600030101010101" pitchFamily="2" charset="-122"/>
              </a:rPr>
              <a:t>bankruptcy </a:t>
            </a:r>
            <a:r>
              <a:rPr lang="zh-TW" altLang="zh-TW" sz="2400" dirty="0">
                <a:ea typeface="PMingLiU" panose="02020500000000000000" pitchFamily="18" charset="-120"/>
              </a:rPr>
              <a:t>in late 2001, Enron employed approximately 22,000 people and </a:t>
            </a:r>
            <a:r>
              <a:rPr lang="zh-TW" altLang="zh-CN" sz="2400" i="1" dirty="0">
                <a:ea typeface="SimSun" panose="02010600030101010101" pitchFamily="2" charset="-122"/>
              </a:rPr>
              <a:t>Fortu</a:t>
            </a:r>
            <a:r>
              <a:rPr lang="en-US" altLang="zh-TW" sz="2400" i="1" dirty="0">
                <a:ea typeface="SimSun" panose="02010600030101010101" pitchFamily="2" charset="-122"/>
              </a:rPr>
              <a:t>ne</a:t>
            </a:r>
            <a:r>
              <a:rPr lang="zh-TW" altLang="zh-TW" sz="2400" dirty="0">
                <a:ea typeface="PMingLiU" panose="02020500000000000000" pitchFamily="18" charset="-120"/>
              </a:rPr>
              <a:t> named Enron "America's Most Innovative Company" for six consecutive years. </a:t>
            </a:r>
            <a:endParaRPr lang="zh-TW" altLang="zh-CN" sz="2400" dirty="0">
              <a:ea typeface="SimSun" panose="02010600030101010101" pitchFamily="2" charset="-122"/>
            </a:endParaRPr>
          </a:p>
          <a:p>
            <a:pPr>
              <a:lnSpc>
                <a:spcPct val="70000"/>
              </a:lnSpc>
              <a:buFont typeface="Wingdings" panose="05000000000000000000" pitchFamily="2" charset="2"/>
              <a:buNone/>
            </a:pPr>
            <a:endParaRPr lang="zh-TW" altLang="zh-CN" sz="2400" dirty="0">
              <a:ea typeface="SimSun" panose="02010600030101010101" pitchFamily="2" charset="-122"/>
            </a:endParaRPr>
          </a:p>
          <a:p>
            <a:pPr>
              <a:lnSpc>
                <a:spcPct val="70000"/>
              </a:lnSpc>
            </a:pPr>
            <a:r>
              <a:rPr lang="zh-TW" altLang="zh-TW" sz="2400" dirty="0">
                <a:ea typeface="PMingLiU" panose="02020500000000000000" pitchFamily="18" charset="-120"/>
              </a:rPr>
              <a:t>After a series of revelations involving irregular accounting procedures conducted throughout the </a:t>
            </a:r>
            <a:r>
              <a:rPr lang="zh-TW" altLang="zh-CN" sz="2400" dirty="0">
                <a:ea typeface="SimSun" panose="02010600030101010101" pitchFamily="2" charset="-122"/>
              </a:rPr>
              <a:t>1990s</a:t>
            </a:r>
            <a:r>
              <a:rPr lang="zh-TW" altLang="zh-TW" sz="2400" dirty="0">
                <a:ea typeface="PMingLiU" panose="02020500000000000000" pitchFamily="18" charset="-120"/>
              </a:rPr>
              <a:t>, Enron shares dropped from over US$90.00 to less than 50¢. Enron filed for </a:t>
            </a:r>
            <a:r>
              <a:rPr lang="zh-TW" altLang="zh-CN" sz="2400" dirty="0">
                <a:ea typeface="SimSun" panose="02010600030101010101" pitchFamily="2" charset="-122"/>
              </a:rPr>
              <a:t>bankruptcy </a:t>
            </a:r>
            <a:r>
              <a:rPr lang="zh-TW" altLang="zh-TW" sz="2400" dirty="0">
                <a:ea typeface="PMingLiU" panose="02020500000000000000" pitchFamily="18" charset="-120"/>
              </a:rPr>
              <a:t>on December 2, 2001. </a:t>
            </a:r>
            <a:endParaRPr lang="zh-TW" altLang="zh-CN" sz="2400" dirty="0">
              <a:ea typeface="SimSun" panose="02010600030101010101" pitchFamily="2" charset="-122"/>
            </a:endParaRPr>
          </a:p>
          <a:p>
            <a:pPr>
              <a:lnSpc>
                <a:spcPct val="70000"/>
              </a:lnSpc>
              <a:buFont typeface="Wingdings" panose="05000000000000000000" pitchFamily="2" charset="2"/>
              <a:buNone/>
            </a:pPr>
            <a:endParaRPr lang="zh-TW" altLang="zh-CN" sz="2400" dirty="0">
              <a:ea typeface="SimSun" panose="02010600030101010101" pitchFamily="2" charset="-122"/>
            </a:endParaRPr>
          </a:p>
          <a:p>
            <a:pPr>
              <a:lnSpc>
                <a:spcPct val="70000"/>
              </a:lnSpc>
            </a:pPr>
            <a:r>
              <a:rPr lang="zh-TW" altLang="zh-TW" sz="2400" dirty="0">
                <a:ea typeface="PMingLiU" panose="02020500000000000000" pitchFamily="18" charset="-120"/>
              </a:rPr>
              <a:t>In addition, the scandal caused the dissolution of </a:t>
            </a:r>
            <a:r>
              <a:rPr lang="zh-TW" altLang="zh-CN" sz="2400" dirty="0">
                <a:ea typeface="SimSun" panose="02010600030101010101" pitchFamily="2" charset="-122"/>
              </a:rPr>
              <a:t>Arthur Andersen. </a:t>
            </a:r>
            <a:endParaRPr lang="en-HK" altLang="zh-TW" sz="2400" dirty="0">
              <a:ea typeface="SimSun" panose="02010600030101010101" pitchFamily="2" charset="-122"/>
            </a:endParaRPr>
          </a:p>
          <a:p>
            <a:pPr>
              <a:lnSpc>
                <a:spcPct val="70000"/>
              </a:lnSpc>
            </a:pPr>
            <a:endParaRPr lang="en-HK" altLang="zh-TW" sz="2400" dirty="0">
              <a:ea typeface="SimSun" panose="02010600030101010101" pitchFamily="2" charset="-122"/>
            </a:endParaRPr>
          </a:p>
          <a:p>
            <a:pPr marL="0" indent="0">
              <a:lnSpc>
                <a:spcPct val="70000"/>
              </a:lnSpc>
              <a:buNone/>
            </a:pPr>
            <a:r>
              <a:rPr lang="en-HK" altLang="zh-TW" sz="2400" dirty="0">
                <a:ea typeface="SimSun" panose="02010600030101010101" pitchFamily="2" charset="-122"/>
              </a:rPr>
              <a:t>@</a:t>
            </a:r>
            <a:endParaRPr lang="en-US" altLang="zh-TW" sz="2400" dirty="0">
              <a:ea typeface="PMingLiU" panose="02020500000000000000" pitchFamily="18" charset="-120"/>
            </a:endParaRPr>
          </a:p>
        </p:txBody>
      </p:sp>
    </p:spTree>
    <p:extLst>
      <p:ext uri="{BB962C8B-B14F-4D97-AF65-F5344CB8AC3E}">
        <p14:creationId xmlns:p14="http://schemas.microsoft.com/office/powerpoint/2010/main" val="2260621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CF564-A133-499D-877C-5085BC6AA70F}"/>
              </a:ext>
            </a:extLst>
          </p:cNvPr>
          <p:cNvSpPr>
            <a:spLocks noGrp="1"/>
          </p:cNvSpPr>
          <p:nvPr>
            <p:ph type="title"/>
          </p:nvPr>
        </p:nvSpPr>
        <p:spPr/>
        <p:txBody>
          <a:bodyPr>
            <a:normAutofit/>
          </a:bodyPr>
          <a:lstStyle/>
          <a:p>
            <a:r>
              <a:rPr lang="en-HK" sz="4400" b="1" dirty="0"/>
              <a:t>Big 5 -&gt; Big 4 Audit Firms</a:t>
            </a:r>
          </a:p>
        </p:txBody>
      </p:sp>
      <p:sp>
        <p:nvSpPr>
          <p:cNvPr id="3" name="Content Placeholder 2">
            <a:extLst>
              <a:ext uri="{FF2B5EF4-FFF2-40B4-BE49-F238E27FC236}">
                <a16:creationId xmlns:a16="http://schemas.microsoft.com/office/drawing/2014/main" id="{9C0AF49A-6663-42F8-A0A3-05E11340A481}"/>
              </a:ext>
            </a:extLst>
          </p:cNvPr>
          <p:cNvSpPr>
            <a:spLocks noGrp="1"/>
          </p:cNvSpPr>
          <p:nvPr>
            <p:ph idx="1"/>
          </p:nvPr>
        </p:nvSpPr>
        <p:spPr/>
        <p:txBody>
          <a:bodyPr/>
          <a:lstStyle/>
          <a:p>
            <a:r>
              <a:rPr lang="en-US" dirty="0"/>
              <a:t>AA did not fulfill its professional responsibilities in connection with its audits of Enron's financial statements</a:t>
            </a:r>
          </a:p>
          <a:p>
            <a:r>
              <a:rPr lang="en-US" dirty="0"/>
              <a:t>Convicted of  obstruction of justice for shredding documents related to its audit of Enron</a:t>
            </a:r>
          </a:p>
          <a:p>
            <a:r>
              <a:rPr lang="en-HK" strike="sngStrike" dirty="0"/>
              <a:t>Arthur Andersen</a:t>
            </a:r>
            <a:r>
              <a:rPr lang="en-HK" dirty="0"/>
              <a:t>, Ernst ＆ Young, Deloitte Touch, PWC,</a:t>
            </a:r>
            <a:r>
              <a:rPr lang="zh-TW" altLang="en-US" dirty="0"/>
              <a:t> </a:t>
            </a:r>
            <a:r>
              <a:rPr lang="en-HK" dirty="0"/>
              <a:t>KPMG</a:t>
            </a:r>
          </a:p>
          <a:p>
            <a:endParaRPr lang="en-HK" dirty="0"/>
          </a:p>
        </p:txBody>
      </p:sp>
      <p:pic>
        <p:nvPicPr>
          <p:cNvPr id="50178" name="Picture 2" descr="畢馬威會計師行">
            <a:extLst>
              <a:ext uri="{FF2B5EF4-FFF2-40B4-BE49-F238E27FC236}">
                <a16:creationId xmlns:a16="http://schemas.microsoft.com/office/drawing/2014/main" id="{1779765F-90B2-4310-B1B0-2FF53DCA0D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3233" y="5491163"/>
            <a:ext cx="1645920" cy="685800"/>
          </a:xfrm>
          <a:prstGeom prst="rect">
            <a:avLst/>
          </a:prstGeom>
          <a:noFill/>
          <a:extLst>
            <a:ext uri="{909E8E84-426E-40DD-AFC4-6F175D3DCCD1}">
              <a14:hiddenFill xmlns:a14="http://schemas.microsoft.com/office/drawing/2010/main">
                <a:solidFill>
                  <a:srgbClr val="FFFFFF"/>
                </a:solidFill>
              </a14:hiddenFill>
            </a:ext>
          </a:extLst>
        </p:spPr>
      </p:pic>
      <p:pic>
        <p:nvPicPr>
          <p:cNvPr id="50180" name="Picture 4" descr="羅兵咸永道會計師事務所">
            <a:extLst>
              <a:ext uri="{FF2B5EF4-FFF2-40B4-BE49-F238E27FC236}">
                <a16:creationId xmlns:a16="http://schemas.microsoft.com/office/drawing/2014/main" id="{E817DB24-99EE-4819-BFF9-F5563BA10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224" y="4017647"/>
            <a:ext cx="1256807" cy="960061"/>
          </a:xfrm>
          <a:prstGeom prst="rect">
            <a:avLst/>
          </a:prstGeom>
          <a:noFill/>
          <a:extLst>
            <a:ext uri="{909E8E84-426E-40DD-AFC4-6F175D3DCCD1}">
              <a14:hiddenFill xmlns:a14="http://schemas.microsoft.com/office/drawing/2010/main">
                <a:solidFill>
                  <a:srgbClr val="FFFFFF"/>
                </a:solidFill>
              </a14:hiddenFill>
            </a:ext>
          </a:extLst>
        </p:spPr>
      </p:pic>
      <p:pic>
        <p:nvPicPr>
          <p:cNvPr id="50182" name="Picture 6" descr="安永">
            <a:extLst>
              <a:ext uri="{FF2B5EF4-FFF2-40B4-BE49-F238E27FC236}">
                <a16:creationId xmlns:a16="http://schemas.microsoft.com/office/drawing/2014/main" id="{504620B4-E989-4D81-B3E3-9C9005E97E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5386" y="4350363"/>
            <a:ext cx="1050585" cy="945537"/>
          </a:xfrm>
          <a:prstGeom prst="rect">
            <a:avLst/>
          </a:prstGeom>
          <a:noFill/>
          <a:extLst>
            <a:ext uri="{909E8E84-426E-40DD-AFC4-6F175D3DCCD1}">
              <a14:hiddenFill xmlns:a14="http://schemas.microsoft.com/office/drawing/2010/main">
                <a:solidFill>
                  <a:srgbClr val="FFFFFF"/>
                </a:solidFill>
              </a14:hiddenFill>
            </a:ext>
          </a:extLst>
        </p:spPr>
      </p:pic>
      <p:pic>
        <p:nvPicPr>
          <p:cNvPr id="50184" name="Picture 8" descr="德勤·關黄陳方">
            <a:extLst>
              <a:ext uri="{FF2B5EF4-FFF2-40B4-BE49-F238E27FC236}">
                <a16:creationId xmlns:a16="http://schemas.microsoft.com/office/drawing/2014/main" id="{FFE5458D-1F69-47B3-94CD-EF2DE9E221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0206" y="5717181"/>
            <a:ext cx="2166831" cy="481518"/>
          </a:xfrm>
          <a:prstGeom prst="rect">
            <a:avLst/>
          </a:prstGeom>
          <a:noFill/>
          <a:extLst>
            <a:ext uri="{909E8E84-426E-40DD-AFC4-6F175D3DCCD1}">
              <a14:hiddenFill xmlns:a14="http://schemas.microsoft.com/office/drawing/2010/main">
                <a:solidFill>
                  <a:srgbClr val="FFFFFF"/>
                </a:solidFill>
              </a14:hiddenFill>
            </a:ext>
          </a:extLst>
        </p:spPr>
      </p:pic>
      <p:pic>
        <p:nvPicPr>
          <p:cNvPr id="50186" name="Picture 10" descr="安達信會計師事務所的圖片搜尋結果">
            <a:extLst>
              <a:ext uri="{FF2B5EF4-FFF2-40B4-BE49-F238E27FC236}">
                <a16:creationId xmlns:a16="http://schemas.microsoft.com/office/drawing/2014/main" id="{C177D739-594E-4EA9-992F-31CBA6EFF85F}"/>
              </a:ext>
            </a:extLst>
          </p:cNvPr>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397101" y="5826974"/>
            <a:ext cx="1321989" cy="928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5759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AutoShape 2"/>
          <p:cNvSpPr>
            <a:spLocks noGrp="1" noChangeArrowheads="1"/>
          </p:cNvSpPr>
          <p:nvPr>
            <p:ph type="title"/>
          </p:nvPr>
        </p:nvSpPr>
        <p:spPr bwMode="auto"/>
        <p:txBody>
          <a:bodyPr/>
          <a:lstStyle/>
          <a:p>
            <a:pPr algn="ctr">
              <a:defRPr/>
            </a:pPr>
            <a:r>
              <a:rPr lang="en-US" altLang="zh-CN" dirty="0">
                <a:latin typeface="Arial" charset="0"/>
                <a:ea typeface="PMingLiU" pitchFamily="18" charset="-120"/>
                <a:cs typeface="Arial" charset="0"/>
              </a:rPr>
              <a:t>WorldCom Scandal</a:t>
            </a:r>
            <a:endParaRPr lang="en-US" altLang="zh-TW" dirty="0">
              <a:latin typeface="Arial" charset="0"/>
              <a:ea typeface="PMingLiU" pitchFamily="18" charset="-120"/>
              <a:cs typeface="Arial" charset="0"/>
            </a:endParaRPr>
          </a:p>
        </p:txBody>
      </p:sp>
      <p:sp>
        <p:nvSpPr>
          <p:cNvPr id="278531" name="Rectangle 3"/>
          <p:cNvSpPr>
            <a:spLocks noGrp="1" noChangeArrowheads="1"/>
          </p:cNvSpPr>
          <p:nvPr>
            <p:ph idx="1"/>
          </p:nvPr>
        </p:nvSpPr>
        <p:spPr>
          <a:xfrm>
            <a:off x="457200" y="1600200"/>
            <a:ext cx="8305800" cy="4873625"/>
          </a:xfrm>
        </p:spPr>
        <p:txBody>
          <a:bodyPr>
            <a:normAutofit/>
          </a:bodyPr>
          <a:lstStyle/>
          <a:p>
            <a:pPr>
              <a:lnSpc>
                <a:spcPct val="80000"/>
              </a:lnSpc>
            </a:pPr>
            <a:r>
              <a:rPr lang="en-US" altLang="zh-TW" sz="2200">
                <a:ea typeface="PMingLiU" panose="02020500000000000000" pitchFamily="18" charset="-120"/>
              </a:rPr>
              <a:t>WorldCom began in 1983 as a small company. Within 15 years it became one of the largest telecommunication company in the world (20 million customers, 55,000 employees)</a:t>
            </a:r>
          </a:p>
          <a:p>
            <a:pPr>
              <a:lnSpc>
                <a:spcPct val="80000"/>
              </a:lnSpc>
            </a:pPr>
            <a:endParaRPr lang="en-US" altLang="zh-TW" sz="2200">
              <a:ea typeface="PMingLiU" panose="02020500000000000000" pitchFamily="18" charset="-120"/>
            </a:endParaRPr>
          </a:p>
          <a:p>
            <a:pPr>
              <a:lnSpc>
                <a:spcPct val="80000"/>
              </a:lnSpc>
            </a:pPr>
            <a:r>
              <a:rPr lang="en-US" altLang="zh-TW" sz="2200">
                <a:ea typeface="PMingLiU" panose="02020500000000000000" pitchFamily="18" charset="-120"/>
              </a:rPr>
              <a:t>In late June 2002, WorldCom stunned investors by announcing that it intended to restate its financial statements for 2001 and 2002 Q1. According to the press release, an internal audit had uncovered $3.8 billion in improper transfers from line cost expenses to the balance sheet</a:t>
            </a:r>
          </a:p>
          <a:p>
            <a:pPr>
              <a:lnSpc>
                <a:spcPct val="80000"/>
              </a:lnSpc>
            </a:pPr>
            <a:endParaRPr lang="en-US" altLang="zh-TW" sz="2200">
              <a:ea typeface="PMingLiU" panose="02020500000000000000" pitchFamily="18" charset="-120"/>
            </a:endParaRPr>
          </a:p>
          <a:p>
            <a:pPr>
              <a:lnSpc>
                <a:spcPct val="80000"/>
              </a:lnSpc>
            </a:pPr>
            <a:r>
              <a:rPr lang="en-US" altLang="zh-TW" sz="2200">
                <a:ea typeface="PMingLiU" panose="02020500000000000000" pitchFamily="18" charset="-120"/>
              </a:rPr>
              <a:t>Trading in the company</a:t>
            </a:r>
            <a:r>
              <a:rPr lang="en-US" altLang="zh-TW" sz="2200">
                <a:latin typeface="Century Schoolbook" panose="02040604050505020304" pitchFamily="18" charset="0"/>
                <a:ea typeface="PMingLiU" panose="02020500000000000000" pitchFamily="18" charset="-120"/>
              </a:rPr>
              <a:t>’</a:t>
            </a:r>
            <a:r>
              <a:rPr lang="en-US" altLang="zh-TW" sz="2200">
                <a:ea typeface="PMingLiU" panose="02020500000000000000" pitchFamily="18" charset="-120"/>
              </a:rPr>
              <a:t> stock was immediately halted on the exchange. </a:t>
            </a:r>
          </a:p>
          <a:p>
            <a:pPr>
              <a:lnSpc>
                <a:spcPct val="80000"/>
              </a:lnSpc>
            </a:pPr>
            <a:endParaRPr lang="en-US" altLang="zh-TW" sz="2200">
              <a:ea typeface="PMingLiU" panose="02020500000000000000" pitchFamily="18" charset="-120"/>
            </a:endParaRPr>
          </a:p>
          <a:p>
            <a:pPr>
              <a:lnSpc>
                <a:spcPct val="80000"/>
              </a:lnSpc>
            </a:pPr>
            <a:r>
              <a:rPr lang="en-US" altLang="zh-TW" sz="2200">
                <a:ea typeface="PMingLiU" panose="02020500000000000000" pitchFamily="18" charset="-120"/>
              </a:rPr>
              <a:t>When trading resumed a few days later, the stock was worth only 6 cents per share having lost more than 90% of its value</a:t>
            </a:r>
          </a:p>
          <a:p>
            <a:pPr>
              <a:lnSpc>
                <a:spcPct val="80000"/>
              </a:lnSpc>
            </a:pPr>
            <a:endParaRPr lang="en-US" altLang="zh-TW" sz="2200">
              <a:ea typeface="PMingLiU" panose="02020500000000000000" pitchFamily="18" charset="-120"/>
            </a:endParaRPr>
          </a:p>
        </p:txBody>
      </p:sp>
    </p:spTree>
    <p:extLst>
      <p:ext uri="{BB962C8B-B14F-4D97-AF65-F5344CB8AC3E}">
        <p14:creationId xmlns:p14="http://schemas.microsoft.com/office/powerpoint/2010/main" val="17456333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78531">
                                            <p:txEl>
                                              <p:pRg st="0" end="0"/>
                                            </p:txEl>
                                          </p:spTgt>
                                        </p:tgtEl>
                                        <p:attrNameLst>
                                          <p:attrName>style.visibility</p:attrName>
                                        </p:attrNameLst>
                                      </p:cBhvr>
                                      <p:to>
                                        <p:strVal val="visible"/>
                                      </p:to>
                                    </p:set>
                                    <p:anim calcmode="lin" valueType="num">
                                      <p:cBhvr additive="base">
                                        <p:cTn id="7" dur="500" fill="hold"/>
                                        <p:tgtEl>
                                          <p:spTgt spid="2785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85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78531">
                                            <p:txEl>
                                              <p:pRg st="2" end="2"/>
                                            </p:txEl>
                                          </p:spTgt>
                                        </p:tgtEl>
                                        <p:attrNameLst>
                                          <p:attrName>style.visibility</p:attrName>
                                        </p:attrNameLst>
                                      </p:cBhvr>
                                      <p:to>
                                        <p:strVal val="visible"/>
                                      </p:to>
                                    </p:set>
                                    <p:anim calcmode="lin" valueType="num">
                                      <p:cBhvr additive="base">
                                        <p:cTn id="13" dur="500" fill="hold"/>
                                        <p:tgtEl>
                                          <p:spTgt spid="27853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8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78531">
                                            <p:txEl>
                                              <p:pRg st="4" end="4"/>
                                            </p:txEl>
                                          </p:spTgt>
                                        </p:tgtEl>
                                        <p:attrNameLst>
                                          <p:attrName>style.visibility</p:attrName>
                                        </p:attrNameLst>
                                      </p:cBhvr>
                                      <p:to>
                                        <p:strVal val="visible"/>
                                      </p:to>
                                    </p:set>
                                    <p:anim calcmode="lin" valueType="num">
                                      <p:cBhvr additive="base">
                                        <p:cTn id="19" dur="500" fill="hold"/>
                                        <p:tgtEl>
                                          <p:spTgt spid="27853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85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78531">
                                            <p:txEl>
                                              <p:pRg st="6" end="6"/>
                                            </p:txEl>
                                          </p:spTgt>
                                        </p:tgtEl>
                                        <p:attrNameLst>
                                          <p:attrName>style.visibility</p:attrName>
                                        </p:attrNameLst>
                                      </p:cBhvr>
                                      <p:to>
                                        <p:strVal val="visible"/>
                                      </p:to>
                                    </p:set>
                                    <p:anim calcmode="lin" valueType="num">
                                      <p:cBhvr additive="base">
                                        <p:cTn id="25" dur="500" fill="hold"/>
                                        <p:tgtEl>
                                          <p:spTgt spid="27853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853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altLang="zh-HK" dirty="0">
                <a:latin typeface="Arial" charset="0"/>
                <a:ea typeface="PMingLiU" pitchFamily="18" charset="-120"/>
                <a:cs typeface="Arial" charset="0"/>
              </a:rPr>
              <a:t>Olympus hotline didn’t blow whistle</a:t>
            </a:r>
            <a:br>
              <a:rPr lang="en-US" altLang="zh-HK" dirty="0">
                <a:latin typeface="Arial" charset="0"/>
                <a:ea typeface="PMingLiU" pitchFamily="18" charset="-120"/>
                <a:cs typeface="Arial" charset="0"/>
              </a:rPr>
            </a:br>
            <a:r>
              <a:rPr lang="en-US" altLang="zh-HK" sz="1800" dirty="0"/>
              <a:t>January 5, 2012 </a:t>
            </a:r>
            <a:endParaRPr lang="zh-HK" altLang="en-US" sz="1800" dirty="0">
              <a:latin typeface="Arial" charset="0"/>
              <a:ea typeface="PMingLiU" pitchFamily="18" charset="-120"/>
              <a:cs typeface="Arial" charset="0"/>
            </a:endParaRPr>
          </a:p>
        </p:txBody>
      </p:sp>
      <p:sp>
        <p:nvSpPr>
          <p:cNvPr id="26627" name="Content Placeholder 2"/>
          <p:cNvSpPr>
            <a:spLocks noGrp="1"/>
          </p:cNvSpPr>
          <p:nvPr>
            <p:ph idx="1"/>
          </p:nvPr>
        </p:nvSpPr>
        <p:spPr>
          <a:xfrm>
            <a:off x="457200" y="1600200"/>
            <a:ext cx="8305800" cy="4873625"/>
          </a:xfrm>
        </p:spPr>
        <p:txBody>
          <a:bodyPr>
            <a:normAutofit/>
          </a:bodyPr>
          <a:lstStyle/>
          <a:p>
            <a:r>
              <a:rPr lang="en-US" altLang="zh-HK" sz="2000">
                <a:ea typeface="PMingLiU" panose="02020500000000000000" pitchFamily="18" charset="-120"/>
              </a:rPr>
              <a:t>The </a:t>
            </a:r>
            <a:r>
              <a:rPr lang="en-US" altLang="zh-HK" sz="2000">
                <a:ea typeface="PMingLiU" panose="02020500000000000000" pitchFamily="18" charset="-120"/>
                <a:hlinkClick r:id="rId3" tooltip="Link to article"/>
              </a:rPr>
              <a:t>Wall Street Journal</a:t>
            </a:r>
            <a:r>
              <a:rPr lang="en-US" altLang="zh-HK" sz="2000">
                <a:ea typeface="PMingLiU" panose="02020500000000000000" pitchFamily="18" charset="-120"/>
              </a:rPr>
              <a:t> has learned that Hideo Yamada and Hisashi Mori, the two Olympus executives who allegedly concealed $1.5 billion in losses, also oversaw the Japanese camera maker’s whistleblowing hotline. </a:t>
            </a:r>
          </a:p>
          <a:p>
            <a:endParaRPr lang="en-US" altLang="zh-HK" sz="2000">
              <a:ea typeface="PMingLiU" panose="02020500000000000000" pitchFamily="18" charset="-120"/>
            </a:endParaRPr>
          </a:p>
          <a:p>
            <a:r>
              <a:rPr lang="en-US" altLang="zh-HK" sz="2000">
                <a:ea typeface="PMingLiU" panose="02020500000000000000" pitchFamily="18" charset="-120"/>
              </a:rPr>
              <a:t>According to a recent report by an independent panel charged with investigating the cover-up, the company had a corporate culture in which employees “were afraid to express views that were different” from those held by its leadership. </a:t>
            </a:r>
          </a:p>
          <a:p>
            <a:endParaRPr lang="en-US" altLang="zh-HK" sz="2000">
              <a:ea typeface="PMingLiU" panose="02020500000000000000" pitchFamily="18" charset="-120"/>
            </a:endParaRPr>
          </a:p>
          <a:p>
            <a:r>
              <a:rPr lang="en-US" altLang="zh-HK" sz="2000">
                <a:ea typeface="PMingLiU" panose="02020500000000000000" pitchFamily="18" charset="-120"/>
              </a:rPr>
              <a:t>The Journal concludes, “Reforming Olympus’s corporate governance will be a key issue in the coming weeks as the scandal-ridden company gears up for an extraordinary shareholders’ meeting as early as March — and a possible battle there over who should lead the company through the reform.”</a:t>
            </a:r>
            <a:endParaRPr lang="zh-HK" altLang="en-US" sz="2000">
              <a:ea typeface="PMingLiU" panose="02020500000000000000" pitchFamily="18" charset="-120"/>
            </a:endParaRPr>
          </a:p>
        </p:txBody>
      </p:sp>
    </p:spTree>
    <p:extLst>
      <p:ext uri="{BB962C8B-B14F-4D97-AF65-F5344CB8AC3E}">
        <p14:creationId xmlns:p14="http://schemas.microsoft.com/office/powerpoint/2010/main" val="2311973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itle 1"/>
          <p:cNvSpPr>
            <a:spLocks noGrp="1"/>
          </p:cNvSpPr>
          <p:nvPr>
            <p:ph type="title"/>
          </p:nvPr>
        </p:nvSpPr>
        <p:spPr>
          <a:xfrm>
            <a:off x="457200" y="266700"/>
            <a:ext cx="8229600" cy="1143000"/>
          </a:xfrm>
        </p:spPr>
        <p:txBody>
          <a:bodyPr/>
          <a:lstStyle/>
          <a:p>
            <a:pPr eaLnBrk="1" hangingPunct="1"/>
            <a:r>
              <a:rPr lang="en-US" altLang="en-US" b="1" dirty="0"/>
              <a:t>Sarbanes–Oxley (SOX)</a:t>
            </a:r>
          </a:p>
        </p:txBody>
      </p:sp>
      <p:sp>
        <p:nvSpPr>
          <p:cNvPr id="4" name="Slide Number Placeholder 3"/>
          <p:cNvSpPr>
            <a:spLocks noGrp="1"/>
          </p:cNvSpPr>
          <p:nvPr>
            <p:ph type="sldNum" sz="quarter" idx="12"/>
          </p:nvPr>
        </p:nvSpPr>
        <p:spPr/>
        <p:txBody>
          <a:bodyPr/>
          <a:lstStyle/>
          <a:p>
            <a:pPr>
              <a:defRPr/>
            </a:pPr>
            <a:fld id="{6A60025E-8E98-4D2D-89C6-1F3C7333DE6F}" type="slidenum">
              <a:rPr lang="en-US"/>
              <a:pPr>
                <a:defRPr/>
              </a:pPr>
              <a:t>26</a:t>
            </a:fld>
            <a:endParaRPr lang="en-US" dirty="0"/>
          </a:p>
        </p:txBody>
      </p:sp>
      <p:sp>
        <p:nvSpPr>
          <p:cNvPr id="3" name="TextBox 2"/>
          <p:cNvSpPr txBox="1">
            <a:spLocks noChangeArrowheads="1"/>
          </p:cNvSpPr>
          <p:nvPr/>
        </p:nvSpPr>
        <p:spPr bwMode="auto">
          <a:xfrm>
            <a:off x="685800" y="1434500"/>
            <a:ext cx="8001000" cy="4832092"/>
          </a:xfrm>
          <a:prstGeom prst="rect">
            <a:avLst/>
          </a:prstGeom>
          <a:gradFill rotWithShape="1">
            <a:gsLst>
              <a:gs pos="0">
                <a:srgbClr val="DAFDA7"/>
              </a:gs>
              <a:gs pos="35001">
                <a:srgbClr val="E4FDC2"/>
              </a:gs>
              <a:gs pos="100000">
                <a:srgbClr val="F5FFE6"/>
              </a:gs>
            </a:gsLst>
            <a:lin ang="16200000" scaled="1"/>
          </a:gradFill>
          <a:ln w="9525">
            <a:solidFill>
              <a:srgbClr val="98B954"/>
            </a:solidFill>
            <a:miter lim="800000"/>
            <a:headEnd/>
            <a:tailEnd/>
          </a:ln>
          <a:effectLst>
            <a:outerShdw blurRad="63500" dist="20000" dir="5400000" rotWithShape="0">
              <a:srgbClr val="000000">
                <a:alpha val="37999"/>
              </a:srgbClr>
            </a:outerShdw>
          </a:effectLst>
        </p:spPr>
        <p:txBody>
          <a:bodyPr wrap="square">
            <a:spAutoFit/>
          </a:bodyPr>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eaLnBrk="1" hangingPunct="1"/>
            <a:r>
              <a:rPr lang="en-US" altLang="zh-TW" sz="2000" b="1" dirty="0">
                <a:solidFill>
                  <a:schemeClr val="accent3">
                    <a:lumMod val="50000"/>
                  </a:schemeClr>
                </a:solidFill>
                <a:latin typeface="Arial" panose="020B0604020202020204" pitchFamily="34" charset="0"/>
                <a:cs typeface="Arial" panose="020B0604020202020204" pitchFamily="34" charset="0"/>
              </a:rPr>
              <a:t>In 2002, U.S. congress passed the Sarbanes-Oxley Act to help curb financial abuses at companies that issue their stock to the public. </a:t>
            </a:r>
          </a:p>
          <a:p>
            <a:pPr eaLnBrk="1" hangingPunct="1"/>
            <a:endParaRPr lang="en-US" altLang="zh-TW" sz="2000" dirty="0">
              <a:latin typeface="Arial" panose="020B0604020202020204" pitchFamily="34" charset="0"/>
              <a:cs typeface="Arial" panose="020B0604020202020204" pitchFamily="34" charset="0"/>
            </a:endParaRPr>
          </a:p>
          <a:p>
            <a:pPr eaLnBrk="1" hangingPunct="1"/>
            <a:r>
              <a:rPr lang="en-US" sz="2000" b="1" dirty="0">
                <a:solidFill>
                  <a:srgbClr val="4F6228"/>
                </a:solidFill>
                <a:latin typeface="Arial" panose="020B0604020202020204" pitchFamily="34" charset="0"/>
                <a:cs typeface="Arial" panose="020B0604020202020204" pitchFamily="34" charset="0"/>
              </a:rPr>
              <a:t>SOX requires documentation and verification of internal controls and emphasizes effective internal controls. </a:t>
            </a:r>
          </a:p>
          <a:p>
            <a:pPr marL="342900" indent="-342900" eaLnBrk="1" hangingPunct="1">
              <a:buFont typeface="Arial" panose="020B0604020202020204" pitchFamily="34" charset="0"/>
              <a:buChar char="•"/>
            </a:pPr>
            <a:r>
              <a:rPr lang="en-US" altLang="zh-TW" sz="2000" dirty="0">
                <a:latin typeface="Arial" panose="020B0604020202020204" pitchFamily="34" charset="0"/>
                <a:cs typeface="Arial" panose="020B0604020202020204" pitchFamily="34" charset="0"/>
              </a:rPr>
              <a:t>Management must issue a report stating that </a:t>
            </a:r>
            <a:r>
              <a:rPr lang="en-US" altLang="zh-TW" sz="2000" dirty="0">
                <a:solidFill>
                  <a:srgbClr val="C00000"/>
                </a:solidFill>
                <a:latin typeface="Arial" panose="020B0604020202020204" pitchFamily="34" charset="0"/>
                <a:cs typeface="Arial" panose="020B0604020202020204" pitchFamily="34" charset="0"/>
              </a:rPr>
              <a:t>internal control are effective</a:t>
            </a:r>
            <a:r>
              <a:rPr lang="en-US" altLang="zh-TW" sz="2000" dirty="0">
                <a:latin typeface="Arial" panose="020B0604020202020204" pitchFamily="34" charset="0"/>
                <a:cs typeface="Arial" panose="020B0604020202020204" pitchFamily="34" charset="0"/>
              </a:rPr>
              <a:t>. </a:t>
            </a:r>
          </a:p>
          <a:p>
            <a:pPr marL="342900" indent="-342900" eaLnBrk="1" hangingPunct="1">
              <a:buFont typeface="Arial" panose="020B0604020202020204" pitchFamily="34" charset="0"/>
              <a:buChar char="•"/>
            </a:pPr>
            <a:r>
              <a:rPr lang="en-US" altLang="zh-TW" sz="2000" dirty="0">
                <a:latin typeface="Arial" panose="020B0604020202020204" pitchFamily="34" charset="0"/>
                <a:cs typeface="Arial" panose="020B0604020202020204" pitchFamily="34" charset="0"/>
              </a:rPr>
              <a:t>Auditors must verify the effectiveness of internal controls.</a:t>
            </a:r>
          </a:p>
          <a:p>
            <a:pPr eaLnBrk="1" hangingPunct="1"/>
            <a:endParaRPr lang="en-US" altLang="zh-TW" sz="2000" dirty="0">
              <a:latin typeface="Arial" panose="020B0604020202020204" pitchFamily="34" charset="0"/>
              <a:cs typeface="Arial" panose="020B0604020202020204" pitchFamily="34" charset="0"/>
            </a:endParaRPr>
          </a:p>
          <a:p>
            <a:pPr eaLnBrk="1" hangingPunct="1"/>
            <a:r>
              <a:rPr lang="en-US" sz="2000" b="1" dirty="0">
                <a:solidFill>
                  <a:srgbClr val="4F6228"/>
                </a:solidFill>
                <a:latin typeface="Arial" panose="020B0604020202020204" pitchFamily="34" charset="0"/>
                <a:cs typeface="Arial" panose="020B0604020202020204" pitchFamily="34" charset="0"/>
              </a:rPr>
              <a:t>Failure to comply can lead to penalties and criminal</a:t>
            </a:r>
            <a:r>
              <a:rPr lang="en-US" sz="2000" b="1" dirty="0">
                <a:latin typeface="Arial" panose="020B0604020202020204" pitchFamily="34" charset="0"/>
                <a:cs typeface="Arial" panose="020B0604020202020204" pitchFamily="34" charset="0"/>
              </a:rPr>
              <a:t> </a:t>
            </a:r>
            <a:r>
              <a:rPr lang="en-US" sz="2000" b="1" dirty="0">
                <a:solidFill>
                  <a:srgbClr val="4F6228"/>
                </a:solidFill>
                <a:latin typeface="Arial" panose="020B0604020202020204" pitchFamily="34" charset="0"/>
                <a:cs typeface="Arial" panose="020B0604020202020204" pitchFamily="34" charset="0"/>
              </a:rPr>
              <a:t>prosecution of executives.</a:t>
            </a:r>
          </a:p>
          <a:p>
            <a:pPr eaLnBrk="1" hangingPunct="1">
              <a:defRPr/>
            </a:pPr>
            <a:endParaRPr lang="en-US" altLang="zh-TW" dirty="0">
              <a:hlinkClick r:id="rId3"/>
            </a:endParaRPr>
          </a:p>
          <a:p>
            <a:pPr eaLnBrk="1" hangingPunct="1">
              <a:defRPr/>
            </a:pPr>
            <a:r>
              <a:rPr lang="en-US" altLang="zh-TW" sz="1800" dirty="0">
                <a:hlinkClick r:id="rId3"/>
              </a:rPr>
              <a:t>https://www.investopedia.com/terms/s/sarbanesoxleyact.asp</a:t>
            </a:r>
            <a:endParaRPr lang="en-US" altLang="zh-TW" sz="1800" dirty="0"/>
          </a:p>
          <a:p>
            <a:pPr marL="342900" indent="-342900" eaLnBrk="1" hangingPunct="1">
              <a:buFont typeface="Arial" panose="020B0604020202020204" pitchFamily="34" charset="0"/>
              <a:buChar char="•"/>
              <a:defRPr/>
            </a:pPr>
            <a:endParaRPr lang="en-US" b="1" dirty="0">
              <a:solidFill>
                <a:srgbClr val="4F6228"/>
              </a:solidFill>
              <a:latin typeface="Calibri" pitchFamily="-107" charset="0"/>
            </a:endParaRPr>
          </a:p>
        </p:txBody>
      </p:sp>
      <p:sp>
        <p:nvSpPr>
          <p:cNvPr id="7" name="Rectangle 6"/>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
        <p:nvSpPr>
          <p:cNvPr id="10" name="Rectangle 9"/>
          <p:cNvSpPr>
            <a:spLocks noGrp="1" noChangeArrowheads="1"/>
          </p:cNvSpPr>
          <p:nvPr/>
        </p:nvSpPr>
        <p:spPr bwMode="auto">
          <a:xfrm>
            <a:off x="6521570" y="6384322"/>
            <a:ext cx="2165230" cy="228599"/>
          </a:xfrm>
          <a:prstGeom prst="rect">
            <a:avLst/>
          </a:prstGeom>
          <a:ln>
            <a:miter lim="800000"/>
            <a:headEnd/>
            <a:tailEnd/>
          </a:ln>
        </p:spPr>
        <p:txBody>
          <a:bodyPr vert="horz" wrap="square" lIns="91440" tIns="45720" rIns="91440" bIns="45720" numCol="1" rtlCol="0" anchor="t" anchorCtr="0" compatLnSpc="1">
            <a:prstTxWarp prst="textNoShape">
              <a:avLst/>
            </a:prstTxWarp>
          </a:bodyPr>
          <a:lstStyle>
            <a:defPPr>
              <a:defRPr lang="en-US"/>
            </a:defPPr>
            <a:lvl1pPr algn="l" rtl="0" fontAlgn="base">
              <a:spcBef>
                <a:spcPct val="0"/>
              </a:spcBef>
              <a:spcAft>
                <a:spcPct val="0"/>
              </a:spcAft>
              <a:defRPr sz="1200" kern="1200" smtClean="0">
                <a:solidFill>
                  <a:prstClr val="black">
                    <a:tint val="75000"/>
                  </a:prstClr>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r>
              <a:rPr lang="en-US" dirty="0"/>
              <a:t> © McGraw-Hill Education </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914400" y="2290600"/>
            <a:ext cx="7315200" cy="2951994"/>
          </a:xfrm>
        </p:spPr>
        <p:txBody>
          <a:bodyPr>
            <a:normAutofit/>
          </a:bodyPr>
          <a:lstStyle/>
          <a:p>
            <a:r>
              <a:rPr lang="en-US" dirty="0"/>
              <a:t>Explain generally accepted accounting principles and define and apply several</a:t>
            </a:r>
            <a:br>
              <a:rPr lang="en-US" dirty="0"/>
            </a:br>
            <a:r>
              <a:rPr lang="en-US" dirty="0"/>
              <a:t>accounting principles.</a:t>
            </a:r>
            <a:endParaRPr lang="en-US" altLang="en-US" dirty="0"/>
          </a:p>
        </p:txBody>
      </p:sp>
      <p:sp>
        <p:nvSpPr>
          <p:cNvPr id="130051" name="Slide Number Placeholder 3"/>
          <p:cNvSpPr>
            <a:spLocks noGrp="1"/>
          </p:cNvSpPr>
          <p:nvPr>
            <p:ph type="sldNum" sz="quarter" idx="12"/>
          </p:nvPr>
        </p:nvSpPr>
        <p:spPr bwMode="auto">
          <a:noFill/>
          <a:ln>
            <a:miter lim="800000"/>
            <a:headEnd/>
            <a:tailEnd/>
          </a:ln>
        </p:spPr>
        <p:txBody>
          <a:bodyPr wrap="square" numCol="1" anchorCtr="0" compatLnSpc="1">
            <a:prstTxWarp prst="textNoShape">
              <a:avLst/>
            </a:prstTxWarp>
          </a:bodyPr>
          <a:lstStyle/>
          <a:p>
            <a:fld id="{B119A4F8-1B21-44AA-97CF-B3BE3340BA9F}" type="slidenum">
              <a:rPr lang="en-US" altLang="en-US" smtClean="0">
                <a:solidFill>
                  <a:srgbClr val="898989"/>
                </a:solidFill>
              </a:rPr>
              <a:pPr/>
              <a:t>27</a:t>
            </a:fld>
            <a:endParaRPr lang="en-US" altLang="en-US" dirty="0">
              <a:solidFill>
                <a:srgbClr val="898989"/>
              </a:solidFill>
            </a:endParaRPr>
          </a:p>
        </p:txBody>
      </p:sp>
      <p:sp>
        <p:nvSpPr>
          <p:cNvPr id="7" name="Rectangle 6"/>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rgbClr val="FFFF00"/>
              </a:solidFill>
              <a:latin typeface="Palatino Linotype"/>
              <a:cs typeface="+mn-cs"/>
            </a:endParaRPr>
          </a:p>
        </p:txBody>
      </p:sp>
      <p:pic>
        <p:nvPicPr>
          <p:cNvPr id="130053" name="Picture 2"/>
          <p:cNvPicPr>
            <a:picLocks noChangeAspect="1" noChangeArrowheads="1"/>
          </p:cNvPicPr>
          <p:nvPr/>
        </p:nvPicPr>
        <p:blipFill>
          <a:blip r:embed="rId3" cstate="print"/>
          <a:srcRect/>
          <a:stretch>
            <a:fillRect/>
          </a:stretch>
        </p:blipFill>
        <p:spPr bwMode="auto">
          <a:xfrm>
            <a:off x="914400" y="1893860"/>
            <a:ext cx="7315200" cy="87312"/>
          </a:xfrm>
          <a:prstGeom prst="rect">
            <a:avLst/>
          </a:prstGeom>
          <a:noFill/>
          <a:ln w="9525">
            <a:noFill/>
            <a:miter lim="800000"/>
            <a:headEnd/>
            <a:tailEnd/>
          </a:ln>
        </p:spPr>
      </p:pic>
      <p:pic>
        <p:nvPicPr>
          <p:cNvPr id="130054" name="Picture 2"/>
          <p:cNvPicPr>
            <a:picLocks noChangeAspect="1" noChangeArrowheads="1"/>
          </p:cNvPicPr>
          <p:nvPr/>
        </p:nvPicPr>
        <p:blipFill>
          <a:blip r:embed="rId3" cstate="print"/>
          <a:srcRect/>
          <a:stretch>
            <a:fillRect/>
          </a:stretch>
        </p:blipFill>
        <p:spPr bwMode="auto">
          <a:xfrm>
            <a:off x="914400" y="5688336"/>
            <a:ext cx="7315200" cy="87313"/>
          </a:xfrm>
          <a:prstGeom prst="rect">
            <a:avLst/>
          </a:prstGeom>
          <a:noFill/>
          <a:ln w="9525">
            <a:noFill/>
            <a:miter lim="800000"/>
            <a:headEnd/>
            <a:tailEnd/>
          </a:ln>
        </p:spPr>
      </p:pic>
      <p:sp>
        <p:nvSpPr>
          <p:cNvPr id="10" name="Rectangle 9"/>
          <p:cNvSpPr/>
          <p:nvPr/>
        </p:nvSpPr>
        <p:spPr>
          <a:xfrm>
            <a:off x="3886200" y="1928899"/>
            <a:ext cx="184731" cy="769441"/>
          </a:xfrm>
          <a:prstGeom prst="rect">
            <a:avLst/>
          </a:prstGeom>
        </p:spPr>
        <p:txBody>
          <a:bodyPr wrap="none">
            <a:spAutoFit/>
          </a:bodyPr>
          <a:lstStyle/>
          <a:p>
            <a:endParaRPr lang="en-US" sz="4400" dirty="0">
              <a:latin typeface="+mj-lt"/>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39615" y="587743"/>
            <a:ext cx="8305800" cy="1126758"/>
          </a:xfrm>
        </p:spPr>
        <p:txBody>
          <a:bodyPr rtlCol="0">
            <a:noAutofit/>
          </a:bodyPr>
          <a:lstStyle/>
          <a:p>
            <a:pPr eaLnBrk="1" fontAlgn="auto" hangingPunct="1">
              <a:spcAft>
                <a:spcPts val="0"/>
              </a:spcAft>
              <a:defRPr/>
            </a:pPr>
            <a:r>
              <a:rPr lang="en-US" altLang="en-US" sz="3600" b="1" dirty="0"/>
              <a:t>Generally Accepted </a:t>
            </a:r>
            <a:br>
              <a:rPr lang="en-US" altLang="en-US" sz="3600" b="1" dirty="0"/>
            </a:br>
            <a:r>
              <a:rPr lang="en-US" altLang="en-US" sz="3600" b="1" dirty="0"/>
              <a:t>Accounting Principles (GAAP)</a:t>
            </a:r>
          </a:p>
        </p:txBody>
      </p:sp>
      <p:sp>
        <p:nvSpPr>
          <p:cNvPr id="4" name="Slide Number Placeholder 3"/>
          <p:cNvSpPr>
            <a:spLocks noGrp="1"/>
          </p:cNvSpPr>
          <p:nvPr>
            <p:ph type="sldNum" sz="quarter" idx="12"/>
          </p:nvPr>
        </p:nvSpPr>
        <p:spPr>
          <a:xfrm>
            <a:off x="6992815" y="6492875"/>
            <a:ext cx="2133600" cy="365125"/>
          </a:xfrm>
        </p:spPr>
        <p:txBody>
          <a:bodyPr>
            <a:normAutofit/>
          </a:bodyPr>
          <a:lstStyle/>
          <a:p>
            <a:pPr>
              <a:defRPr/>
            </a:pPr>
            <a:fld id="{D32A8C9F-E90F-4B24-9C2A-09CEE8E2C2C2}" type="slidenum">
              <a:rPr lang="en-US"/>
              <a:pPr>
                <a:defRPr/>
              </a:pPr>
              <a:t>28</a:t>
            </a:fld>
            <a:endParaRPr lang="en-US" dirty="0"/>
          </a:p>
        </p:txBody>
      </p:sp>
      <p:sp>
        <p:nvSpPr>
          <p:cNvPr id="2" name="TextBox 1"/>
          <p:cNvSpPr txBox="1">
            <a:spLocks noChangeArrowheads="1"/>
          </p:cNvSpPr>
          <p:nvPr/>
        </p:nvSpPr>
        <p:spPr bwMode="auto">
          <a:xfrm>
            <a:off x="592015" y="2144529"/>
            <a:ext cx="8153400" cy="1200150"/>
          </a:xfrm>
          <a:prstGeom prst="rect">
            <a:avLst/>
          </a:prstGeom>
          <a:gradFill rotWithShape="1">
            <a:gsLst>
              <a:gs pos="0">
                <a:srgbClr val="DAFDA7"/>
              </a:gs>
              <a:gs pos="35001">
                <a:srgbClr val="E4FDC2"/>
              </a:gs>
              <a:gs pos="100000">
                <a:srgbClr val="F5FFE6"/>
              </a:gs>
            </a:gsLst>
            <a:lin ang="16200000" scaled="1"/>
          </a:gradFill>
          <a:ln w="9525">
            <a:solidFill>
              <a:srgbClr val="98B954"/>
            </a:solidFill>
            <a:miter lim="800000"/>
            <a:headEnd/>
            <a:tailEnd/>
          </a:ln>
          <a:effectLst>
            <a:outerShdw blurRad="63500" dist="20000" dir="5400000" rotWithShape="0">
              <a:srgbClr val="000000">
                <a:alpha val="37999"/>
              </a:srgbClr>
            </a:outerShdw>
          </a:effectLst>
        </p:spPr>
        <p:txBody>
          <a:bodyPr>
            <a:spAutoFit/>
          </a:bodyPr>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ctr" eaLnBrk="1" hangingPunct="1">
              <a:defRPr/>
            </a:pPr>
            <a:r>
              <a:rPr lang="en-US" dirty="0">
                <a:solidFill>
                  <a:srgbClr val="000000"/>
                </a:solidFill>
                <a:latin typeface="Calibri" pitchFamily="-107" charset="0"/>
              </a:rPr>
              <a:t>Financial accounting is governed by concepts and rules known as </a:t>
            </a:r>
            <a:r>
              <a:rPr lang="en-US" b="1" dirty="0">
                <a:solidFill>
                  <a:srgbClr val="984807"/>
                </a:solidFill>
                <a:latin typeface="Calibri" pitchFamily="-107" charset="0"/>
              </a:rPr>
              <a:t>generally accepted accounting principles (GAAP)</a:t>
            </a:r>
            <a:r>
              <a:rPr lang="en-US" b="1" dirty="0">
                <a:solidFill>
                  <a:srgbClr val="000000"/>
                </a:solidFill>
                <a:latin typeface="Calibri" pitchFamily="-107" charset="0"/>
              </a:rPr>
              <a:t>. </a:t>
            </a:r>
            <a:r>
              <a:rPr lang="en-US" dirty="0">
                <a:solidFill>
                  <a:srgbClr val="000000"/>
                </a:solidFill>
                <a:latin typeface="Calibri" pitchFamily="-107" charset="0"/>
              </a:rPr>
              <a:t>GAAP aims to make information </a:t>
            </a:r>
            <a:r>
              <a:rPr lang="en-US" i="1" dirty="0">
                <a:solidFill>
                  <a:srgbClr val="000000"/>
                </a:solidFill>
                <a:latin typeface="Calibri" pitchFamily="-107" charset="0"/>
              </a:rPr>
              <a:t>relevant, reliable, </a:t>
            </a:r>
            <a:r>
              <a:rPr lang="en-US" dirty="0">
                <a:solidFill>
                  <a:srgbClr val="000000"/>
                </a:solidFill>
                <a:latin typeface="Calibri" pitchFamily="-107" charset="0"/>
              </a:rPr>
              <a:t>and </a:t>
            </a:r>
            <a:r>
              <a:rPr lang="en-US" i="1" dirty="0">
                <a:solidFill>
                  <a:srgbClr val="000000"/>
                </a:solidFill>
                <a:latin typeface="Calibri" pitchFamily="-107" charset="0"/>
              </a:rPr>
              <a:t>comparable</a:t>
            </a:r>
            <a:r>
              <a:rPr lang="en-US" dirty="0">
                <a:solidFill>
                  <a:srgbClr val="000000"/>
                </a:solidFill>
                <a:latin typeface="Calibri" pitchFamily="-107" charset="0"/>
              </a:rPr>
              <a:t>. </a:t>
            </a:r>
          </a:p>
        </p:txBody>
      </p:sp>
      <p:sp>
        <p:nvSpPr>
          <p:cNvPr id="138245" name="TextBox 5"/>
          <p:cNvSpPr txBox="1">
            <a:spLocks noChangeArrowheads="1"/>
          </p:cNvSpPr>
          <p:nvPr/>
        </p:nvSpPr>
        <p:spPr bwMode="auto">
          <a:xfrm>
            <a:off x="134815" y="4811529"/>
            <a:ext cx="2667000" cy="1200150"/>
          </a:xfrm>
          <a:prstGeom prst="rect">
            <a:avLst/>
          </a:prstGeom>
          <a:noFill/>
          <a:ln w="9525">
            <a:noFill/>
            <a:miter lim="800000"/>
            <a:headEnd/>
            <a:tailEnd/>
          </a:ln>
        </p:spPr>
        <p:txBody>
          <a:bodyPr>
            <a:spAutoFit/>
          </a:bodyPr>
          <a:lstStyle/>
          <a:p>
            <a:pPr algn="ctr"/>
            <a:r>
              <a:rPr lang="en-US" altLang="en-US" dirty="0"/>
              <a:t>Relevant information affects decisions</a:t>
            </a:r>
          </a:p>
          <a:p>
            <a:pPr algn="ctr"/>
            <a:r>
              <a:rPr lang="en-US" altLang="en-US" dirty="0"/>
              <a:t>of users. </a:t>
            </a:r>
          </a:p>
          <a:p>
            <a:pPr algn="ctr"/>
            <a:endParaRPr lang="en-US" altLang="en-US" dirty="0"/>
          </a:p>
        </p:txBody>
      </p:sp>
      <p:sp>
        <p:nvSpPr>
          <p:cNvPr id="138246" name="TextBox 6"/>
          <p:cNvSpPr txBox="1">
            <a:spLocks noChangeArrowheads="1"/>
          </p:cNvSpPr>
          <p:nvPr/>
        </p:nvSpPr>
        <p:spPr bwMode="auto">
          <a:xfrm>
            <a:off x="3335215" y="3887604"/>
            <a:ext cx="2667000" cy="923925"/>
          </a:xfrm>
          <a:prstGeom prst="rect">
            <a:avLst/>
          </a:prstGeom>
          <a:noFill/>
          <a:ln w="9525">
            <a:noFill/>
            <a:miter lim="800000"/>
            <a:headEnd/>
            <a:tailEnd/>
          </a:ln>
        </p:spPr>
        <p:txBody>
          <a:bodyPr>
            <a:spAutoFit/>
          </a:bodyPr>
          <a:lstStyle/>
          <a:p>
            <a:pPr algn="ctr"/>
            <a:r>
              <a:rPr lang="en-US" altLang="en-US" dirty="0"/>
              <a:t>Reliable information is trusted by users. </a:t>
            </a:r>
          </a:p>
          <a:p>
            <a:pPr algn="ctr"/>
            <a:endParaRPr lang="en-US" altLang="en-US" dirty="0"/>
          </a:p>
        </p:txBody>
      </p:sp>
      <p:sp>
        <p:nvSpPr>
          <p:cNvPr id="138247" name="TextBox 7"/>
          <p:cNvSpPr txBox="1">
            <a:spLocks noChangeArrowheads="1"/>
          </p:cNvSpPr>
          <p:nvPr/>
        </p:nvSpPr>
        <p:spPr bwMode="auto">
          <a:xfrm>
            <a:off x="6459415" y="4811529"/>
            <a:ext cx="2667000" cy="1200150"/>
          </a:xfrm>
          <a:prstGeom prst="rect">
            <a:avLst/>
          </a:prstGeom>
          <a:noFill/>
          <a:ln w="9525">
            <a:noFill/>
            <a:miter lim="800000"/>
            <a:headEnd/>
            <a:tailEnd/>
          </a:ln>
        </p:spPr>
        <p:txBody>
          <a:bodyPr>
            <a:spAutoFit/>
          </a:bodyPr>
          <a:lstStyle/>
          <a:p>
            <a:pPr algn="ctr"/>
            <a:r>
              <a:rPr lang="en-US" altLang="en-US" dirty="0"/>
              <a:t>Comparable information is helpful in contrasting organizations.</a:t>
            </a:r>
          </a:p>
          <a:p>
            <a:pPr algn="ctr"/>
            <a:endParaRPr lang="en-US" altLang="en-US" dirty="0"/>
          </a:p>
        </p:txBody>
      </p:sp>
      <p:cxnSp>
        <p:nvCxnSpPr>
          <p:cNvPr id="12" name="Elbow Connector 11"/>
          <p:cNvCxnSpPr>
            <a:stCxn id="2" idx="2"/>
          </p:cNvCxnSpPr>
          <p:nvPr/>
        </p:nvCxnSpPr>
        <p:spPr>
          <a:xfrm rot="5400000">
            <a:off x="2335090" y="2477904"/>
            <a:ext cx="1466850" cy="3200400"/>
          </a:xfrm>
          <a:prstGeom prst="bentConnector3">
            <a:avLst>
              <a:gd name="adj1" fmla="val 24270"/>
            </a:avLst>
          </a:prstGeom>
          <a:ln w="28575">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2" idx="2"/>
            <a:endCxn id="138247" idx="0"/>
          </p:cNvCxnSpPr>
          <p:nvPr/>
        </p:nvCxnSpPr>
        <p:spPr>
          <a:xfrm rot="16200000" flipH="1">
            <a:off x="5497390" y="2516004"/>
            <a:ext cx="1466850" cy="3124200"/>
          </a:xfrm>
          <a:prstGeom prst="bentConnector3">
            <a:avLst>
              <a:gd name="adj1" fmla="val 24270"/>
            </a:avLst>
          </a:prstGeom>
          <a:ln w="28575">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2" idx="2"/>
            <a:endCxn id="138246" idx="0"/>
          </p:cNvCxnSpPr>
          <p:nvPr/>
        </p:nvCxnSpPr>
        <p:spPr>
          <a:xfrm rot="5400000">
            <a:off x="4398046" y="3616936"/>
            <a:ext cx="542925" cy="1588"/>
          </a:xfrm>
          <a:prstGeom prst="straightConnector1">
            <a:avLst/>
          </a:prstGeom>
          <a:ln w="28575">
            <a:solidFill>
              <a:schemeClr val="accent3">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bwMode="auto">
          <a:xfrm>
            <a:off x="457200" y="-2406"/>
            <a:ext cx="8382000" cy="1143000"/>
          </a:xfrm>
        </p:spPr>
        <p:txBody>
          <a:bodyPr>
            <a:normAutofit/>
          </a:bodyPr>
          <a:lstStyle/>
          <a:p>
            <a:pPr algn="ctr">
              <a:defRPr/>
            </a:pPr>
            <a:r>
              <a:rPr lang="en-US" altLang="zh-TW" dirty="0">
                <a:latin typeface="Arial" charset="0"/>
                <a:ea typeface="PMingLiU" pitchFamily="18" charset="-120"/>
                <a:cs typeface="Arial" charset="0"/>
              </a:rPr>
              <a:t>Setting Accounting Standards</a:t>
            </a:r>
            <a:endParaRPr lang="zh-TW" altLang="en-US" dirty="0">
              <a:latin typeface="Arial" charset="0"/>
              <a:ea typeface="PMingLiU" pitchFamily="18" charset="-120"/>
              <a:cs typeface="Arial" charset="0"/>
            </a:endParaRPr>
          </a:p>
        </p:txBody>
      </p:sp>
      <p:sp>
        <p:nvSpPr>
          <p:cNvPr id="4" name="Rectangle 2"/>
          <p:cNvSpPr>
            <a:spLocks noGrp="1" noChangeArrowheads="1"/>
          </p:cNvSpPr>
          <p:nvPr>
            <p:ph idx="1"/>
          </p:nvPr>
        </p:nvSpPr>
        <p:spPr>
          <a:xfrm>
            <a:off x="533400" y="1341855"/>
            <a:ext cx="8229600" cy="1196975"/>
          </a:xfrm>
          <a:solidFill>
            <a:srgbClr val="EAEAEA"/>
          </a:solidFill>
          <a:ln w="25400">
            <a:solidFill>
              <a:srgbClr val="500093"/>
            </a:solidFill>
          </a:ln>
          <a:effectLst>
            <a:outerShdw blurRad="50800" dist="38100" dir="2700000" algn="tl" rotWithShape="0">
              <a:prstClr val="black">
                <a:alpha val="40000"/>
              </a:prstClr>
            </a:outerShdw>
          </a:effectLst>
        </p:spPr>
        <p:txBody>
          <a:bodyPr lIns="90488" tIns="44450" rIns="90488" bIns="44450">
            <a:spAutoFit/>
          </a:bodyPr>
          <a:lstStyle/>
          <a:p>
            <a:pPr>
              <a:defRPr/>
            </a:pPr>
            <a:r>
              <a:rPr lang="en-US" sz="2400" dirty="0">
                <a:solidFill>
                  <a:srgbClr val="500093"/>
                </a:solidFill>
              </a:rPr>
              <a:t>In U.S, Financial accounting practice is governed by concepts and rules known as </a:t>
            </a:r>
            <a:r>
              <a:rPr lang="en-US" sz="2400" dirty="0">
                <a:solidFill>
                  <a:srgbClr val="9A2F6F"/>
                </a:solidFill>
              </a:rPr>
              <a:t>Generally Accepted Accounting Principles (GAAP)</a:t>
            </a:r>
            <a:r>
              <a:rPr lang="en-US" sz="2400" dirty="0">
                <a:solidFill>
                  <a:srgbClr val="500093"/>
                </a:solidFill>
              </a:rPr>
              <a:t>.</a:t>
            </a:r>
          </a:p>
        </p:txBody>
      </p:sp>
      <p:sp>
        <p:nvSpPr>
          <p:cNvPr id="6" name="Rectangle 2"/>
          <p:cNvSpPr txBox="1">
            <a:spLocks noChangeArrowheads="1"/>
          </p:cNvSpPr>
          <p:nvPr/>
        </p:nvSpPr>
        <p:spPr bwMode="auto">
          <a:xfrm>
            <a:off x="533400" y="2753076"/>
            <a:ext cx="8229600" cy="2212975"/>
          </a:xfrm>
          <a:prstGeom prst="rect">
            <a:avLst/>
          </a:prstGeom>
          <a:solidFill>
            <a:srgbClr val="EAEAEA"/>
          </a:solidFill>
          <a:ln w="25400">
            <a:solidFill>
              <a:srgbClr val="500093"/>
            </a:solidFill>
            <a:miter lim="800000"/>
            <a:headEnd/>
            <a:tailEnd/>
          </a:ln>
          <a:effectLst>
            <a:outerShdw blurRad="50800" dist="38100" dir="2700000" algn="tl" rotWithShape="0">
              <a:prstClr val="black">
                <a:alpha val="40000"/>
              </a:prstClr>
            </a:outerShdw>
          </a:effectLst>
        </p:spPr>
        <p:txBody>
          <a:bodyPr lIns="90488" tIns="44450" rIns="90488" bIns="44450">
            <a:spAutoFit/>
          </a:bodyPr>
          <a:lstStyle/>
          <a:p>
            <a:pPr marL="273050" indent="-273050" eaLnBrk="0" hangingPunct="0">
              <a:spcBef>
                <a:spcPts val="600"/>
              </a:spcBef>
              <a:buClr>
                <a:schemeClr val="accent1"/>
              </a:buClr>
              <a:buSzPct val="70000"/>
              <a:buFont typeface="Wingdings" pitchFamily="2" charset="2"/>
              <a:buChar char=""/>
              <a:defRPr/>
            </a:pPr>
            <a:r>
              <a:rPr lang="en-US" sz="2400" dirty="0">
                <a:solidFill>
                  <a:srgbClr val="500093"/>
                </a:solidFill>
                <a:ea typeface="Arial" pitchFamily="-108" charset="0"/>
                <a:cs typeface="Arial" pitchFamily="34" charset="0"/>
              </a:rPr>
              <a:t>Many countries have adopted or are planning to adopt </a:t>
            </a:r>
          </a:p>
          <a:p>
            <a:pPr>
              <a:defRPr/>
            </a:pPr>
            <a:r>
              <a:rPr lang="en-US" altLang="zh-TW" sz="2400" dirty="0">
                <a:solidFill>
                  <a:srgbClr val="9A2F6F"/>
                </a:solidFill>
                <a:ea typeface="Arial" pitchFamily="-108" charset="0"/>
                <a:cs typeface="Arial" pitchFamily="34" charset="0"/>
              </a:rPr>
              <a:t>International Financial Reporting Standard (IFRSs)</a:t>
            </a:r>
          </a:p>
          <a:p>
            <a:pPr>
              <a:defRPr/>
            </a:pPr>
            <a:r>
              <a:rPr lang="en-US" altLang="zh-TW" dirty="0">
                <a:latin typeface="Arial" charset="0"/>
                <a:ea typeface="PMingLiU" pitchFamily="18" charset="-120"/>
                <a:cs typeface="Arial" charset="0"/>
              </a:rPr>
              <a:t>For example: </a:t>
            </a:r>
          </a:p>
          <a:p>
            <a:pPr>
              <a:defRPr/>
            </a:pPr>
            <a:r>
              <a:rPr lang="en-US" altLang="zh-TW" dirty="0">
                <a:latin typeface="Arial" charset="0"/>
                <a:ea typeface="PMingLiU" pitchFamily="18" charset="-120"/>
                <a:cs typeface="Arial" charset="0"/>
              </a:rPr>
              <a:t>The European Union (EU) - January 1, 2005</a:t>
            </a:r>
          </a:p>
          <a:p>
            <a:pPr>
              <a:defRPr/>
            </a:pPr>
            <a:r>
              <a:rPr lang="en-US" altLang="zh-TW" dirty="0">
                <a:latin typeface="Arial" charset="0"/>
                <a:ea typeface="PMingLiU" pitchFamily="18" charset="-120"/>
                <a:cs typeface="Arial" charset="0"/>
              </a:rPr>
              <a:t>Hong Kong - January 1, 2005</a:t>
            </a:r>
          </a:p>
          <a:p>
            <a:pPr>
              <a:defRPr/>
            </a:pPr>
            <a:r>
              <a:rPr lang="en-US" altLang="zh-TW" dirty="0">
                <a:latin typeface="Arial" charset="0"/>
                <a:ea typeface="PMingLiU" pitchFamily="18" charset="-120"/>
                <a:cs typeface="Arial" charset="0"/>
              </a:rPr>
              <a:t>P.R. China – January 1, 2007</a:t>
            </a:r>
          </a:p>
          <a:p>
            <a:pPr lvl="1">
              <a:defRPr/>
            </a:pPr>
            <a:endParaRPr lang="en-US" altLang="zh-TW" dirty="0">
              <a:latin typeface="Arial" charset="0"/>
              <a:ea typeface="PMingLiU" pitchFamily="18" charset="-120"/>
              <a:cs typeface="Arial" charset="0"/>
            </a:endParaRPr>
          </a:p>
        </p:txBody>
      </p:sp>
      <p:sp>
        <p:nvSpPr>
          <p:cNvPr id="29701" name="Rectangle 6"/>
          <p:cNvSpPr>
            <a:spLocks noChangeArrowheads="1"/>
          </p:cNvSpPr>
          <p:nvPr/>
        </p:nvSpPr>
        <p:spPr bwMode="auto">
          <a:xfrm>
            <a:off x="533400" y="4572000"/>
            <a:ext cx="815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sz="1800"/>
              <a:t>http://www.pwc.com/us/en/issues/ifrs-reporting/country-adoption/index.jhtml</a:t>
            </a:r>
            <a:endParaRPr lang="zh-TW" altLang="en-US" sz="1800"/>
          </a:p>
        </p:txBody>
      </p:sp>
      <p:sp>
        <p:nvSpPr>
          <p:cNvPr id="29702" name="Rectangle 7"/>
          <p:cNvSpPr>
            <a:spLocks noChangeArrowheads="1"/>
          </p:cNvSpPr>
          <p:nvPr/>
        </p:nvSpPr>
        <p:spPr bwMode="auto">
          <a:xfrm>
            <a:off x="533400" y="5257800"/>
            <a:ext cx="8305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1800" dirty="0">
                <a:ea typeface="PMingLiU" panose="02020500000000000000" pitchFamily="18" charset="-120"/>
              </a:rPr>
              <a:t>The FASB </a:t>
            </a:r>
            <a:r>
              <a:rPr lang="en-US" altLang="zh-TW" sz="1800" dirty="0">
                <a:solidFill>
                  <a:srgbClr val="500093"/>
                </a:solidFill>
                <a:ea typeface="PMingLiU" panose="02020500000000000000" pitchFamily="18" charset="-120"/>
              </a:rPr>
              <a:t>(Financial Accounting Standards Board</a:t>
            </a:r>
            <a:r>
              <a:rPr lang="en-US" altLang="zh-TW" sz="1800" dirty="0">
                <a:ea typeface="PMingLiU" panose="02020500000000000000" pitchFamily="18" charset="-120"/>
              </a:rPr>
              <a:t>) and the IASB (</a:t>
            </a:r>
            <a:r>
              <a:rPr lang="en-US" altLang="zh-TW" sz="1800" dirty="0">
                <a:solidFill>
                  <a:srgbClr val="500093"/>
                </a:solidFill>
                <a:ea typeface="PMingLiU" panose="02020500000000000000" pitchFamily="18" charset="-120"/>
              </a:rPr>
              <a:t>The International Accounting Standards Board ) </a:t>
            </a:r>
            <a:r>
              <a:rPr lang="en-US" altLang="zh-TW" sz="1800" dirty="0">
                <a:ea typeface="PMingLiU" panose="02020500000000000000" pitchFamily="18" charset="-120"/>
              </a:rPr>
              <a:t>have agreed to work toward harmonization. </a:t>
            </a:r>
          </a:p>
        </p:txBody>
      </p:sp>
    </p:spTree>
    <p:extLst>
      <p:ext uri="{BB962C8B-B14F-4D97-AF65-F5344CB8AC3E}">
        <p14:creationId xmlns:p14="http://schemas.microsoft.com/office/powerpoint/2010/main" val="4026540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6"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5"/>
          <p:cNvSpPr>
            <a:spLocks noGrp="1" noChangeArrowheads="1"/>
          </p:cNvSpPr>
          <p:nvPr>
            <p:ph type="title"/>
          </p:nvPr>
        </p:nvSpPr>
        <p:spPr/>
        <p:txBody>
          <a:bodyPr/>
          <a:lstStyle/>
          <a:p>
            <a:pPr eaLnBrk="1" hangingPunct="1"/>
            <a:r>
              <a:rPr lang="en-US" altLang="en-US" b="1" dirty="0"/>
              <a:t>International Standards</a:t>
            </a:r>
          </a:p>
        </p:txBody>
      </p:sp>
      <p:sp>
        <p:nvSpPr>
          <p:cNvPr id="4" name="Slide Number Placeholder 3"/>
          <p:cNvSpPr>
            <a:spLocks noGrp="1"/>
          </p:cNvSpPr>
          <p:nvPr>
            <p:ph type="sldNum" sz="quarter" idx="12"/>
          </p:nvPr>
        </p:nvSpPr>
        <p:spPr/>
        <p:txBody>
          <a:bodyPr/>
          <a:lstStyle/>
          <a:p>
            <a:pPr>
              <a:defRPr/>
            </a:pPr>
            <a:fld id="{BF2F114C-F66F-414A-89A9-BC439FA06147}" type="slidenum">
              <a:rPr lang="en-US"/>
              <a:pPr>
                <a:defRPr/>
              </a:pPr>
              <a:t>30</a:t>
            </a:fld>
            <a:endParaRPr lang="en-US" dirty="0"/>
          </a:p>
        </p:txBody>
      </p:sp>
      <p:sp>
        <p:nvSpPr>
          <p:cNvPr id="2" name="TextBox 1"/>
          <p:cNvSpPr txBox="1">
            <a:spLocks noChangeArrowheads="1"/>
          </p:cNvSpPr>
          <p:nvPr/>
        </p:nvSpPr>
        <p:spPr bwMode="auto">
          <a:xfrm>
            <a:off x="533400" y="1590259"/>
            <a:ext cx="8001000" cy="707886"/>
          </a:xfrm>
          <a:prstGeom prst="rect">
            <a:avLst/>
          </a:prstGeom>
          <a:solidFill>
            <a:srgbClr val="FAC090"/>
          </a:solidFill>
          <a:ln w="9525">
            <a:solidFill>
              <a:srgbClr val="984807"/>
            </a:solidFill>
            <a:miter lim="800000"/>
            <a:headEnd/>
            <a:tailEnd/>
          </a:ln>
          <a:effectLst>
            <a:outerShdw blurRad="63500" dist="38100" dir="5400000" algn="t" rotWithShape="0">
              <a:srgbClr val="000000">
                <a:alpha val="39999"/>
              </a:srgbClr>
            </a:outerShdw>
          </a:effectLst>
        </p:spPr>
        <p:txBody>
          <a:bodyPr wrap="square">
            <a:spAutoFit/>
          </a:bodyPr>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ctr" eaLnBrk="1" hangingPunct="1">
              <a:defRPr/>
            </a:pPr>
            <a:r>
              <a:rPr lang="en-US" sz="2000" b="1" dirty="0"/>
              <a:t>In today’s global economy, there is increased demand by external users for comparability in accounting reports. </a:t>
            </a:r>
          </a:p>
        </p:txBody>
      </p:sp>
      <p:sp>
        <p:nvSpPr>
          <p:cNvPr id="139270" name="TextBox 6"/>
          <p:cNvSpPr txBox="1">
            <a:spLocks noChangeArrowheads="1"/>
          </p:cNvSpPr>
          <p:nvPr/>
        </p:nvSpPr>
        <p:spPr bwMode="auto">
          <a:xfrm>
            <a:off x="533400" y="3024184"/>
            <a:ext cx="4038600" cy="1477328"/>
          </a:xfrm>
          <a:prstGeom prst="rect">
            <a:avLst/>
          </a:prstGeom>
          <a:noFill/>
          <a:ln w="9525">
            <a:solidFill>
              <a:schemeClr val="tx1"/>
            </a:solidFill>
            <a:miter lim="800000"/>
            <a:headEnd/>
            <a:tailEnd/>
          </a:ln>
        </p:spPr>
        <p:txBody>
          <a:bodyPr wrap="square">
            <a:spAutoFit/>
          </a:bodyPr>
          <a:lstStyle/>
          <a:p>
            <a:pPr algn="ctr"/>
            <a:r>
              <a:rPr lang="en-US" altLang="en-US" b="1" dirty="0"/>
              <a:t>International Accounting Standards Board (IASB) </a:t>
            </a:r>
            <a:br>
              <a:rPr lang="en-US" altLang="en-US" b="1" dirty="0"/>
            </a:br>
            <a:br>
              <a:rPr lang="en-US" altLang="en-US" b="1" dirty="0"/>
            </a:br>
            <a:r>
              <a:rPr lang="en-US" altLang="en-US" dirty="0"/>
              <a:t>Issues International Financial Reporting Standards (IFRS)</a:t>
            </a:r>
          </a:p>
        </p:txBody>
      </p:sp>
      <p:sp>
        <p:nvSpPr>
          <p:cNvPr id="139271" name="TextBox 7"/>
          <p:cNvSpPr txBox="1">
            <a:spLocks noChangeArrowheads="1"/>
          </p:cNvSpPr>
          <p:nvPr/>
        </p:nvSpPr>
        <p:spPr bwMode="auto">
          <a:xfrm>
            <a:off x="4724400" y="3024184"/>
            <a:ext cx="3962400" cy="1554272"/>
          </a:xfrm>
          <a:prstGeom prst="rect">
            <a:avLst/>
          </a:prstGeom>
          <a:noFill/>
          <a:ln w="9525">
            <a:solidFill>
              <a:schemeClr val="tx1"/>
            </a:solidFill>
            <a:miter lim="800000"/>
            <a:headEnd/>
            <a:tailEnd/>
          </a:ln>
        </p:spPr>
        <p:txBody>
          <a:bodyPr wrap="square">
            <a:spAutoFit/>
          </a:bodyPr>
          <a:lstStyle/>
          <a:p>
            <a:pPr algn="ctr"/>
            <a:r>
              <a:rPr lang="en-US" altLang="en-US" b="1" dirty="0"/>
              <a:t>International Financial Reporting Standards (IFRS)</a:t>
            </a:r>
          </a:p>
          <a:p>
            <a:pPr algn="ctr"/>
            <a:endParaRPr lang="en-US" altLang="en-US" dirty="0"/>
          </a:p>
          <a:p>
            <a:pPr algn="ctr">
              <a:spcBef>
                <a:spcPts val="600"/>
              </a:spcBef>
            </a:pPr>
            <a:r>
              <a:rPr lang="en-US" altLang="en-US" dirty="0"/>
              <a:t>Identify preferred accounting practices </a:t>
            </a:r>
          </a:p>
        </p:txBody>
      </p:sp>
      <p:cxnSp>
        <p:nvCxnSpPr>
          <p:cNvPr id="10" name="Straight Connector 9"/>
          <p:cNvCxnSpPr/>
          <p:nvPr/>
        </p:nvCxnSpPr>
        <p:spPr>
          <a:xfrm>
            <a:off x="762000" y="3774887"/>
            <a:ext cx="3124200" cy="15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162550" y="3768764"/>
            <a:ext cx="3200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67193" y="782708"/>
            <a:ext cx="8209613" cy="752474"/>
          </a:xfrm>
        </p:spPr>
        <p:txBody>
          <a:bodyPr rtlCol="0">
            <a:normAutofit/>
          </a:bodyPr>
          <a:lstStyle/>
          <a:p>
            <a:pPr eaLnBrk="1" fontAlgn="auto" hangingPunct="1">
              <a:spcAft>
                <a:spcPts val="0"/>
              </a:spcAft>
              <a:defRPr/>
            </a:pPr>
            <a:r>
              <a:rPr lang="en-US" altLang="en-US" b="1" dirty="0"/>
              <a:t>Conceptual Framework</a:t>
            </a:r>
          </a:p>
        </p:txBody>
      </p:sp>
      <p:sp>
        <p:nvSpPr>
          <p:cNvPr id="3" name="Slide Number Placeholder 2"/>
          <p:cNvSpPr>
            <a:spLocks noGrp="1"/>
          </p:cNvSpPr>
          <p:nvPr>
            <p:ph type="sldNum" sz="quarter" idx="12"/>
          </p:nvPr>
        </p:nvSpPr>
        <p:spPr>
          <a:xfrm>
            <a:off x="7010400" y="6494637"/>
            <a:ext cx="2133600" cy="365125"/>
          </a:xfrm>
        </p:spPr>
        <p:txBody>
          <a:bodyPr>
            <a:normAutofit/>
          </a:bodyPr>
          <a:lstStyle/>
          <a:p>
            <a:pPr>
              <a:defRPr/>
            </a:pPr>
            <a:fld id="{8C133CDD-273E-4F44-9CC3-26E9BF79BA5D}" type="slidenum">
              <a:rPr lang="en-US"/>
              <a:pPr>
                <a:defRPr/>
              </a:pPr>
              <a:t>31</a:t>
            </a:fld>
            <a:endParaRPr lang="en-US" dirty="0"/>
          </a:p>
        </p:txBody>
      </p:sp>
      <p:sp>
        <p:nvSpPr>
          <p:cNvPr id="6" name="Rectangle 5"/>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grpSp>
        <p:nvGrpSpPr>
          <p:cNvPr id="2" name="Group 1"/>
          <p:cNvGrpSpPr/>
          <p:nvPr/>
        </p:nvGrpSpPr>
        <p:grpSpPr>
          <a:xfrm>
            <a:off x="171309" y="1752600"/>
            <a:ext cx="8534400" cy="4614870"/>
            <a:chOff x="0" y="2047875"/>
            <a:chExt cx="9153525" cy="3895725"/>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47875"/>
              <a:ext cx="9153525" cy="38957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27" name="Picture 3" descr="C:\Users\lindsey_schauer\Documents\WildFAP22e(c)2015\Final Graphics\wiL62279_ch01\wiL62279_cut0101c.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6762" y="2975947"/>
              <a:ext cx="4338638" cy="2848947"/>
            </a:xfrm>
            <a:prstGeom prst="rect">
              <a:avLst/>
            </a:prstGeom>
            <a:noFill/>
            <a:extLst>
              <a:ext uri="{909E8E84-426E-40dd-AFC4-6F175D3DCCD1}">
                <a14:hiddenFill xmlns:a14="http://schemas.microsoft.com/office/drawing/2010/main" xmlns="">
                  <a:solidFill>
                    <a:srgbClr val="FFFFFF"/>
                  </a:solidFill>
                </a14:hiddenFill>
              </a:ext>
            </a:extLst>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49111" y="551958"/>
            <a:ext cx="8763000" cy="1143000"/>
          </a:xfrm>
        </p:spPr>
        <p:txBody>
          <a:bodyPr rtlCol="0">
            <a:noAutofit/>
          </a:bodyPr>
          <a:lstStyle/>
          <a:p>
            <a:pPr eaLnBrk="1" fontAlgn="auto" hangingPunct="1">
              <a:lnSpc>
                <a:spcPts val="4500"/>
              </a:lnSpc>
              <a:spcAft>
                <a:spcPts val="0"/>
              </a:spcAft>
              <a:defRPr/>
            </a:pPr>
            <a:r>
              <a:rPr lang="en-US" altLang="en-US" b="1" dirty="0"/>
              <a:t>Principles, Assumptions and Constraint</a:t>
            </a:r>
          </a:p>
        </p:txBody>
      </p:sp>
      <p:sp>
        <p:nvSpPr>
          <p:cNvPr id="4" name="Slide Number Placeholder 3"/>
          <p:cNvSpPr>
            <a:spLocks noGrp="1"/>
          </p:cNvSpPr>
          <p:nvPr>
            <p:ph type="sldNum" sz="quarter" idx="12"/>
          </p:nvPr>
        </p:nvSpPr>
        <p:spPr>
          <a:xfrm>
            <a:off x="7010400" y="6522594"/>
            <a:ext cx="2133600" cy="365125"/>
          </a:xfrm>
        </p:spPr>
        <p:txBody>
          <a:bodyPr>
            <a:normAutofit/>
          </a:bodyPr>
          <a:lstStyle/>
          <a:p>
            <a:pPr>
              <a:defRPr/>
            </a:pPr>
            <a:fld id="{E010B282-BF9D-4DB2-BC93-21477E68BC95}" type="slidenum">
              <a:rPr lang="en-US"/>
              <a:pPr>
                <a:defRPr/>
              </a:pPr>
              <a:t>32</a:t>
            </a:fld>
            <a:endParaRPr lang="en-US" dirty="0"/>
          </a:p>
        </p:txBody>
      </p:sp>
      <p:sp>
        <p:nvSpPr>
          <p:cNvPr id="2" name="TextBox 1"/>
          <p:cNvSpPr txBox="1">
            <a:spLocks noChangeArrowheads="1"/>
          </p:cNvSpPr>
          <p:nvPr/>
        </p:nvSpPr>
        <p:spPr bwMode="auto">
          <a:xfrm>
            <a:off x="457200" y="5168884"/>
            <a:ext cx="4114800" cy="1323439"/>
          </a:xfrm>
          <a:prstGeom prst="rect">
            <a:avLst/>
          </a:prstGeom>
          <a:gradFill rotWithShape="1">
            <a:gsLst>
              <a:gs pos="0">
                <a:srgbClr val="FFBE86"/>
              </a:gs>
              <a:gs pos="35001">
                <a:srgbClr val="FFD0AA"/>
              </a:gs>
              <a:gs pos="100000">
                <a:srgbClr val="FFEBDB"/>
              </a:gs>
            </a:gsLst>
            <a:lin ang="16200000" scaled="1"/>
          </a:gradFill>
          <a:ln w="9525">
            <a:solidFill>
              <a:srgbClr val="F69240"/>
            </a:solidFill>
            <a:miter lim="800000"/>
            <a:headEnd/>
            <a:tailEnd/>
          </a:ln>
          <a:effectLst>
            <a:outerShdw blurRad="63500" dist="20000" dir="5400000" rotWithShape="0">
              <a:srgbClr val="000000">
                <a:alpha val="37999"/>
              </a:srgbClr>
            </a:outerShdw>
          </a:effectLst>
        </p:spPr>
        <p:txBody>
          <a:bodyPr wrap="square">
            <a:spAutoFit/>
          </a:bodyPr>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ctr" eaLnBrk="1" hangingPunct="1">
              <a:defRPr/>
            </a:pPr>
            <a:r>
              <a:rPr lang="en-US" sz="2000" i="1" dirty="0">
                <a:solidFill>
                  <a:srgbClr val="000000"/>
                </a:solidFill>
                <a:latin typeface="Calibri" pitchFamily="-107" charset="0"/>
              </a:rPr>
              <a:t>General principles </a:t>
            </a:r>
            <a:r>
              <a:rPr lang="en-US" sz="2000" dirty="0">
                <a:solidFill>
                  <a:srgbClr val="000000"/>
                </a:solidFill>
                <a:latin typeface="Calibri" pitchFamily="-107" charset="0"/>
              </a:rPr>
              <a:t>are the assumptions, concepts, and guidelines for preparing financial statements. </a:t>
            </a:r>
          </a:p>
        </p:txBody>
      </p:sp>
      <p:sp>
        <p:nvSpPr>
          <p:cNvPr id="6" name="TextBox 5"/>
          <p:cNvSpPr txBox="1">
            <a:spLocks noChangeArrowheads="1"/>
          </p:cNvSpPr>
          <p:nvPr/>
        </p:nvSpPr>
        <p:spPr bwMode="auto">
          <a:xfrm>
            <a:off x="4800600" y="5156857"/>
            <a:ext cx="4114800" cy="1323439"/>
          </a:xfrm>
          <a:prstGeom prst="rect">
            <a:avLst/>
          </a:prstGeom>
          <a:gradFill rotWithShape="1">
            <a:gsLst>
              <a:gs pos="0">
                <a:srgbClr val="FFBE86"/>
              </a:gs>
              <a:gs pos="35001">
                <a:srgbClr val="FFD0AA"/>
              </a:gs>
              <a:gs pos="100000">
                <a:srgbClr val="FFEBDB"/>
              </a:gs>
            </a:gsLst>
            <a:lin ang="16200000" scaled="1"/>
          </a:gradFill>
          <a:ln w="9525">
            <a:solidFill>
              <a:srgbClr val="F69240"/>
            </a:solidFill>
            <a:miter lim="800000"/>
            <a:headEnd/>
            <a:tailEnd/>
          </a:ln>
          <a:effectLst>
            <a:outerShdw blurRad="63500" dist="20000" dir="5400000" rotWithShape="0">
              <a:srgbClr val="000000">
                <a:alpha val="37999"/>
              </a:srgbClr>
            </a:outerShdw>
          </a:effectLst>
        </p:spPr>
        <p:txBody>
          <a:bodyPr wrap="square">
            <a:spAutoFit/>
          </a:bodyPr>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ctr" eaLnBrk="1" hangingPunct="1">
              <a:defRPr/>
            </a:pPr>
            <a:r>
              <a:rPr lang="en-US" sz="2000" i="1" dirty="0">
                <a:solidFill>
                  <a:srgbClr val="000000"/>
                </a:solidFill>
                <a:latin typeface="Calibri" pitchFamily="-107" charset="0"/>
              </a:rPr>
              <a:t>Specific principles </a:t>
            </a:r>
            <a:r>
              <a:rPr lang="en-US" sz="2000" dirty="0">
                <a:solidFill>
                  <a:srgbClr val="000000"/>
                </a:solidFill>
                <a:latin typeface="Calibri" pitchFamily="-107" charset="0"/>
              </a:rPr>
              <a:t>are detailed rules used in reporting business transactions and events. </a:t>
            </a:r>
          </a:p>
          <a:p>
            <a:pPr algn="ctr" eaLnBrk="1" hangingPunct="1">
              <a:defRPr/>
            </a:pPr>
            <a:endParaRPr lang="en-US" sz="2000" dirty="0">
              <a:solidFill>
                <a:srgbClr val="000000"/>
              </a:solidFill>
              <a:latin typeface="Calibri" pitchFamily="-107" charset="0"/>
            </a:endParaRPr>
          </a:p>
        </p:txBody>
      </p:sp>
      <p:sp>
        <p:nvSpPr>
          <p:cNvPr id="8" name="Rectangle 7"/>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pic>
        <p:nvPicPr>
          <p:cNvPr id="5" name="Picture 4"/>
          <p:cNvPicPr>
            <a:picLocks noChangeAspect="1"/>
          </p:cNvPicPr>
          <p:nvPr/>
        </p:nvPicPr>
        <p:blipFill>
          <a:blip r:embed="rId3"/>
          <a:stretch>
            <a:fillRect/>
          </a:stretch>
        </p:blipFill>
        <p:spPr>
          <a:xfrm>
            <a:off x="762000" y="1637846"/>
            <a:ext cx="7162800" cy="33221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990600" y="457200"/>
            <a:ext cx="7315200" cy="1143000"/>
          </a:xfrm>
        </p:spPr>
        <p:txBody>
          <a:bodyPr/>
          <a:lstStyle/>
          <a:p>
            <a:pPr eaLnBrk="1" hangingPunct="1"/>
            <a:r>
              <a:rPr lang="en-US" altLang="en-US" b="1" dirty="0"/>
              <a:t>Accounting Principles</a:t>
            </a:r>
          </a:p>
        </p:txBody>
      </p:sp>
      <p:sp>
        <p:nvSpPr>
          <p:cNvPr id="4" name="Slide Number Placeholder 3"/>
          <p:cNvSpPr>
            <a:spLocks noGrp="1"/>
          </p:cNvSpPr>
          <p:nvPr>
            <p:ph type="sldNum" sz="quarter" idx="12"/>
          </p:nvPr>
        </p:nvSpPr>
        <p:spPr>
          <a:xfrm>
            <a:off x="7016827" y="6556374"/>
            <a:ext cx="2133600" cy="365125"/>
          </a:xfrm>
        </p:spPr>
        <p:txBody>
          <a:bodyPr>
            <a:normAutofit/>
          </a:bodyPr>
          <a:lstStyle/>
          <a:p>
            <a:pPr>
              <a:defRPr/>
            </a:pPr>
            <a:fld id="{70F7950F-2CC0-4634-9290-C2E714B2745C}" type="slidenum">
              <a:rPr lang="en-US"/>
              <a:pPr>
                <a:defRPr/>
              </a:pPr>
              <a:t>33</a:t>
            </a:fld>
            <a:endParaRPr lang="en-US" dirty="0"/>
          </a:p>
        </p:txBody>
      </p:sp>
      <p:sp>
        <p:nvSpPr>
          <p:cNvPr id="142340" name="Rectangle 11"/>
          <p:cNvSpPr>
            <a:spLocks noChangeArrowheads="1"/>
          </p:cNvSpPr>
          <p:nvPr/>
        </p:nvSpPr>
        <p:spPr bwMode="auto">
          <a:xfrm>
            <a:off x="228599" y="1508125"/>
            <a:ext cx="4094163" cy="2667000"/>
          </a:xfrm>
          <a:prstGeom prst="rect">
            <a:avLst/>
          </a:prstGeom>
          <a:solidFill>
            <a:srgbClr val="993366"/>
          </a:solidFill>
          <a:ln w="9525">
            <a:solidFill>
              <a:schemeClr val="tx1"/>
            </a:solidFill>
            <a:miter lim="800000"/>
            <a:headEnd/>
            <a:tailEnd/>
          </a:ln>
        </p:spPr>
        <p:txBody>
          <a:bodyPr wrap="none" anchor="ctr"/>
          <a:lstStyle/>
          <a:p>
            <a:endParaRPr lang="en-US" altLang="en-US" dirty="0"/>
          </a:p>
        </p:txBody>
      </p:sp>
      <p:sp>
        <p:nvSpPr>
          <p:cNvPr id="142341" name="Text Box 13"/>
          <p:cNvSpPr txBox="1">
            <a:spLocks noChangeArrowheads="1"/>
          </p:cNvSpPr>
          <p:nvPr/>
        </p:nvSpPr>
        <p:spPr bwMode="auto">
          <a:xfrm>
            <a:off x="304800" y="1939925"/>
            <a:ext cx="3810000" cy="1538883"/>
          </a:xfrm>
          <a:prstGeom prst="rect">
            <a:avLst/>
          </a:prstGeom>
          <a:noFill/>
          <a:ln w="9525">
            <a:noFill/>
            <a:miter lim="800000"/>
            <a:headEnd/>
            <a:tailEnd/>
          </a:ln>
        </p:spPr>
        <p:txBody>
          <a:bodyPr>
            <a:spAutoFit/>
          </a:bodyPr>
          <a:lstStyle/>
          <a:p>
            <a:pPr algn="ctr"/>
            <a:r>
              <a:rPr lang="en-US" altLang="en-US" sz="2000" dirty="0">
                <a:solidFill>
                  <a:srgbClr val="FFFF00"/>
                </a:solidFill>
              </a:rPr>
              <a:t>Measurement Principle </a:t>
            </a:r>
          </a:p>
          <a:p>
            <a:pPr algn="ctr"/>
            <a:r>
              <a:rPr lang="en-US" altLang="en-US" sz="2000" dirty="0">
                <a:solidFill>
                  <a:srgbClr val="FFFF00"/>
                </a:solidFill>
              </a:rPr>
              <a:t>(Cost Principle)</a:t>
            </a:r>
          </a:p>
          <a:p>
            <a:pPr algn="ctr"/>
            <a:r>
              <a:rPr lang="en-US" altLang="en-US" dirty="0">
                <a:solidFill>
                  <a:schemeClr val="bg1"/>
                </a:solidFill>
              </a:rPr>
              <a:t>Accounting information is based on actual cost. Actual cost is considered objective.</a:t>
            </a:r>
          </a:p>
        </p:txBody>
      </p:sp>
      <p:sp>
        <p:nvSpPr>
          <p:cNvPr id="15" name="Rectangle 14"/>
          <p:cNvSpPr/>
          <p:nvPr/>
        </p:nvSpPr>
        <p:spPr bwMode="auto">
          <a:xfrm>
            <a:off x="228599" y="4343400"/>
            <a:ext cx="4114801" cy="1676400"/>
          </a:xfrm>
          <a:prstGeom prst="rect">
            <a:avLst/>
          </a:prstGeom>
          <a:solidFill>
            <a:schemeClr val="accent1">
              <a:lumMod val="5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rgbClr val="FFFF00"/>
                </a:solidFill>
                <a:latin typeface="Arial" charset="0"/>
                <a:cs typeface="Arial" charset="0"/>
              </a:rPr>
              <a:t>Expense Recognition Principle </a:t>
            </a:r>
          </a:p>
          <a:p>
            <a:pPr algn="ctr">
              <a:defRPr/>
            </a:pPr>
            <a:r>
              <a:rPr lang="en-US" sz="2000" dirty="0">
                <a:solidFill>
                  <a:srgbClr val="FFFF00"/>
                </a:solidFill>
                <a:latin typeface="Arial" charset="0"/>
                <a:cs typeface="Arial" charset="0"/>
              </a:rPr>
              <a:t>(Matching Principle)</a:t>
            </a:r>
          </a:p>
          <a:p>
            <a:pPr algn="ctr">
              <a:defRPr/>
            </a:pPr>
            <a:r>
              <a:rPr lang="en-US" dirty="0">
                <a:solidFill>
                  <a:srgbClr val="FFFFFF"/>
                </a:solidFill>
                <a:latin typeface="Arial" charset="0"/>
                <a:cs typeface="Arial" charset="0"/>
              </a:rPr>
              <a:t>A company records its expenses incurred to generate the revenue reported.</a:t>
            </a:r>
          </a:p>
        </p:txBody>
      </p:sp>
      <p:sp>
        <p:nvSpPr>
          <p:cNvPr id="17" name="Rectangle 16"/>
          <p:cNvSpPr/>
          <p:nvPr/>
        </p:nvSpPr>
        <p:spPr>
          <a:xfrm>
            <a:off x="4495800" y="4343400"/>
            <a:ext cx="4343400" cy="1676400"/>
          </a:xfrm>
          <a:prstGeom prst="rect">
            <a:avLst/>
          </a:prstGeom>
          <a:solidFill>
            <a:schemeClr val="accent4">
              <a:lumMod val="5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dirty="0">
                <a:solidFill>
                  <a:srgbClr val="FFFF00"/>
                </a:solidFill>
                <a:latin typeface="Arial" charset="0"/>
                <a:cs typeface="Arial" charset="0"/>
              </a:rPr>
              <a:t>Full Disclosure Principle</a:t>
            </a:r>
          </a:p>
          <a:p>
            <a:pPr algn="ctr">
              <a:defRPr/>
            </a:pPr>
            <a:r>
              <a:rPr lang="en-US" dirty="0">
                <a:solidFill>
                  <a:srgbClr val="FFFFFF"/>
                </a:solidFill>
                <a:latin typeface="Arial" charset="0"/>
                <a:cs typeface="Arial" charset="0"/>
              </a:rPr>
              <a:t>A company reports the details behind financial statements that would impact users’ decisions in the notes to the financial statements.</a:t>
            </a:r>
          </a:p>
        </p:txBody>
      </p:sp>
      <p:grpSp>
        <p:nvGrpSpPr>
          <p:cNvPr id="3" name="Group 22"/>
          <p:cNvGrpSpPr>
            <a:grpSpLocks/>
          </p:cNvGrpSpPr>
          <p:nvPr/>
        </p:nvGrpSpPr>
        <p:grpSpPr bwMode="auto">
          <a:xfrm>
            <a:off x="4495800" y="1503363"/>
            <a:ext cx="4343400" cy="2667000"/>
            <a:chOff x="228600" y="1447800"/>
            <a:chExt cx="4343400" cy="2667000"/>
          </a:xfrm>
          <a:solidFill>
            <a:schemeClr val="bg2">
              <a:lumMod val="75000"/>
            </a:schemeClr>
          </a:solidFill>
        </p:grpSpPr>
        <p:sp>
          <p:nvSpPr>
            <p:cNvPr id="20" name="Rectangle 4"/>
            <p:cNvSpPr>
              <a:spLocks noChangeArrowheads="1"/>
            </p:cNvSpPr>
            <p:nvPr/>
          </p:nvSpPr>
          <p:spPr bwMode="auto">
            <a:xfrm>
              <a:off x="228600" y="1447800"/>
              <a:ext cx="4343400" cy="2667000"/>
            </a:xfrm>
            <a:prstGeom prst="rect">
              <a:avLst/>
            </a:prstGeom>
            <a:solidFill>
              <a:schemeClr val="bg2">
                <a:lumMod val="50000"/>
              </a:schemeClr>
            </a:solidFill>
            <a:ln w="9525">
              <a:solidFill>
                <a:schemeClr val="tx1"/>
              </a:solidFill>
              <a:miter lim="800000"/>
              <a:headEnd/>
              <a:tailEnd/>
            </a:ln>
          </p:spPr>
          <p:txBody>
            <a:bodyPr wrap="none" anchor="ctr"/>
            <a:lstStyle/>
            <a:p>
              <a:pPr>
                <a:defRPr/>
              </a:pPr>
              <a:endParaRPr lang="en-US" dirty="0">
                <a:latin typeface="Arial" pitchFamily="34" charset="0"/>
                <a:cs typeface="Arial" pitchFamily="34" charset="0"/>
              </a:endParaRPr>
            </a:p>
          </p:txBody>
        </p:sp>
        <p:sp>
          <p:nvSpPr>
            <p:cNvPr id="21" name="Text Box 5"/>
            <p:cNvSpPr txBox="1">
              <a:spLocks noChangeArrowheads="1"/>
            </p:cNvSpPr>
            <p:nvPr/>
          </p:nvSpPr>
          <p:spPr bwMode="auto">
            <a:xfrm>
              <a:off x="381000" y="1877535"/>
              <a:ext cx="4114800" cy="1785104"/>
            </a:xfrm>
            <a:prstGeom prst="rect">
              <a:avLst/>
            </a:prstGeom>
            <a:solidFill>
              <a:schemeClr val="bg2">
                <a:lumMod val="50000"/>
              </a:schemeClr>
            </a:solidFill>
            <a:ln w="9525">
              <a:noFill/>
              <a:miter lim="800000"/>
              <a:headEnd/>
              <a:tailEnd/>
            </a:ln>
          </p:spPr>
          <p:txBody>
            <a:bodyPr wrap="square">
              <a:spAutoFit/>
            </a:bodyPr>
            <a:lstStyle/>
            <a:p>
              <a:pPr marL="342900" indent="-342900" algn="ctr">
                <a:defRPr/>
              </a:pPr>
              <a:r>
                <a:rPr lang="en-US" sz="2000" dirty="0">
                  <a:solidFill>
                    <a:srgbClr val="FFFF00"/>
                  </a:solidFill>
                  <a:latin typeface="Arial" pitchFamily="34" charset="0"/>
                  <a:cs typeface="Arial" pitchFamily="34" charset="0"/>
                </a:rPr>
                <a:t>Revenue Recognition Principle</a:t>
              </a:r>
            </a:p>
            <a:p>
              <a:pPr marL="342900" indent="-342900">
                <a:buFontTx/>
                <a:buAutoNum type="arabicPeriod"/>
                <a:defRPr/>
              </a:pPr>
              <a:r>
                <a:rPr lang="en-US" dirty="0">
                  <a:solidFill>
                    <a:schemeClr val="bg1"/>
                  </a:solidFill>
                  <a:latin typeface="Arial" pitchFamily="34" charset="0"/>
                  <a:cs typeface="Arial" pitchFamily="34" charset="0"/>
                </a:rPr>
                <a:t>Recognize revenue when goods or services are provided to customers and</a:t>
              </a:r>
            </a:p>
            <a:p>
              <a:pPr marL="342900" indent="-342900">
                <a:buFontTx/>
                <a:buAutoNum type="arabicPeriod"/>
                <a:defRPr/>
              </a:pPr>
              <a:r>
                <a:rPr lang="en-US" dirty="0">
                  <a:solidFill>
                    <a:schemeClr val="bg1"/>
                  </a:solidFill>
                  <a:latin typeface="Arial" pitchFamily="34" charset="0"/>
                  <a:cs typeface="Arial" pitchFamily="34" charset="0"/>
                </a:rPr>
                <a:t>at an amount expected to be received from the customer. </a:t>
              </a:r>
            </a:p>
          </p:txBody>
        </p:sp>
      </p:grpSp>
      <p:sp>
        <p:nvSpPr>
          <p:cNvPr id="12" name="Rectangle 11"/>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457200" y="381000"/>
            <a:ext cx="8229600" cy="1143000"/>
          </a:xfrm>
        </p:spPr>
        <p:txBody>
          <a:bodyPr/>
          <a:lstStyle/>
          <a:p>
            <a:pPr eaLnBrk="1" hangingPunct="1"/>
            <a:r>
              <a:rPr lang="en-US" altLang="en-US" b="1" dirty="0"/>
              <a:t>Accounting Assumptions</a:t>
            </a:r>
          </a:p>
        </p:txBody>
      </p:sp>
      <p:sp>
        <p:nvSpPr>
          <p:cNvPr id="6" name="Slide Number Placeholder 5"/>
          <p:cNvSpPr>
            <a:spLocks noGrp="1"/>
          </p:cNvSpPr>
          <p:nvPr>
            <p:ph type="sldNum" sz="quarter" idx="12"/>
          </p:nvPr>
        </p:nvSpPr>
        <p:spPr>
          <a:xfrm>
            <a:off x="7057222" y="6523036"/>
            <a:ext cx="2133600" cy="365125"/>
          </a:xfrm>
        </p:spPr>
        <p:txBody>
          <a:bodyPr>
            <a:normAutofit/>
          </a:bodyPr>
          <a:lstStyle/>
          <a:p>
            <a:pPr>
              <a:defRPr/>
            </a:pPr>
            <a:fld id="{2333AD33-7490-4238-B467-61922589E939}" type="slidenum">
              <a:rPr lang="en-US"/>
              <a:pPr>
                <a:defRPr/>
              </a:pPr>
              <a:t>34</a:t>
            </a:fld>
            <a:endParaRPr lang="en-US" dirty="0"/>
          </a:p>
        </p:txBody>
      </p:sp>
      <p:grpSp>
        <p:nvGrpSpPr>
          <p:cNvPr id="2" name="Group 7"/>
          <p:cNvGrpSpPr>
            <a:grpSpLocks/>
          </p:cNvGrpSpPr>
          <p:nvPr/>
        </p:nvGrpSpPr>
        <p:grpSpPr bwMode="auto">
          <a:xfrm>
            <a:off x="4652963" y="1371600"/>
            <a:ext cx="4105275" cy="2057400"/>
            <a:chOff x="195" y="912"/>
            <a:chExt cx="2586" cy="1458"/>
          </a:xfrm>
          <a:solidFill>
            <a:schemeClr val="accent3">
              <a:lumMod val="60000"/>
              <a:lumOff val="40000"/>
            </a:schemeClr>
          </a:solidFill>
        </p:grpSpPr>
        <p:sp>
          <p:nvSpPr>
            <p:cNvPr id="4118" name="Rectangle 8"/>
            <p:cNvSpPr>
              <a:spLocks noChangeArrowheads="1"/>
            </p:cNvSpPr>
            <p:nvPr/>
          </p:nvSpPr>
          <p:spPr bwMode="auto">
            <a:xfrm>
              <a:off x="195" y="912"/>
              <a:ext cx="2586" cy="1458"/>
            </a:xfrm>
            <a:prstGeom prst="rect">
              <a:avLst/>
            </a:prstGeom>
            <a:grpFill/>
            <a:ln w="9525">
              <a:solidFill>
                <a:schemeClr val="tx1"/>
              </a:solidFill>
              <a:miter lim="800000"/>
              <a:headEnd/>
              <a:tailEnd/>
            </a:ln>
          </p:spPr>
          <p:txBody>
            <a:bodyPr wrap="none" anchor="ctr"/>
            <a:lstStyle/>
            <a:p>
              <a:pPr>
                <a:defRPr/>
              </a:pPr>
              <a:endParaRPr lang="en-US" dirty="0">
                <a:latin typeface="Arial" pitchFamily="34" charset="0"/>
                <a:cs typeface="Arial" pitchFamily="34" charset="0"/>
              </a:endParaRPr>
            </a:p>
          </p:txBody>
        </p:sp>
        <p:sp>
          <p:nvSpPr>
            <p:cNvPr id="4119" name="Text Box 9"/>
            <p:cNvSpPr txBox="1">
              <a:spLocks noChangeArrowheads="1"/>
            </p:cNvSpPr>
            <p:nvPr/>
          </p:nvSpPr>
          <p:spPr bwMode="auto">
            <a:xfrm>
              <a:off x="240" y="1178"/>
              <a:ext cx="2496" cy="872"/>
            </a:xfrm>
            <a:prstGeom prst="rect">
              <a:avLst/>
            </a:prstGeom>
            <a:grpFill/>
            <a:ln w="9525">
              <a:noFill/>
              <a:miter lim="800000"/>
              <a:headEnd/>
              <a:tailEnd/>
            </a:ln>
          </p:spPr>
          <p:txBody>
            <a:bodyPr>
              <a:spAutoFit/>
            </a:bodyPr>
            <a:lstStyle/>
            <a:p>
              <a:pPr algn="ctr">
                <a:defRPr/>
              </a:pPr>
              <a:r>
                <a:rPr lang="en-US" sz="2000" b="1" dirty="0">
                  <a:solidFill>
                    <a:schemeClr val="accent4">
                      <a:lumMod val="75000"/>
                    </a:schemeClr>
                  </a:solidFill>
                  <a:latin typeface="Arial" pitchFamily="34" charset="0"/>
                  <a:cs typeface="Arial" pitchFamily="34" charset="0"/>
                </a:rPr>
                <a:t>Monetary Unit Assumption</a:t>
              </a:r>
            </a:p>
            <a:p>
              <a:pPr algn="ctr">
                <a:defRPr/>
              </a:pPr>
              <a:r>
                <a:rPr lang="en-US" dirty="0">
                  <a:latin typeface="Arial" pitchFamily="34" charset="0"/>
                  <a:cs typeface="Arial" pitchFamily="34" charset="0"/>
                </a:rPr>
                <a:t>Transactions and events are expressed in monetary, or </a:t>
              </a:r>
            </a:p>
            <a:p>
              <a:pPr algn="ctr">
                <a:defRPr/>
              </a:pPr>
              <a:r>
                <a:rPr lang="en-US" dirty="0">
                  <a:latin typeface="Arial" pitchFamily="34" charset="0"/>
                  <a:cs typeface="Arial" pitchFamily="34" charset="0"/>
                </a:rPr>
                <a:t>money, units.</a:t>
              </a:r>
            </a:p>
          </p:txBody>
        </p:sp>
      </p:grpSp>
      <p:grpSp>
        <p:nvGrpSpPr>
          <p:cNvPr id="3" name="Group 28"/>
          <p:cNvGrpSpPr>
            <a:grpSpLocks/>
          </p:cNvGrpSpPr>
          <p:nvPr/>
        </p:nvGrpSpPr>
        <p:grpSpPr bwMode="auto">
          <a:xfrm>
            <a:off x="304799" y="3657600"/>
            <a:ext cx="4105275" cy="2438400"/>
            <a:chOff x="309563" y="4013200"/>
            <a:chExt cx="4105275" cy="2514600"/>
          </a:xfrm>
          <a:solidFill>
            <a:schemeClr val="accent5">
              <a:lumMod val="50000"/>
            </a:schemeClr>
          </a:solidFill>
        </p:grpSpPr>
        <p:sp>
          <p:nvSpPr>
            <p:cNvPr id="4114" name="Rectangle 12"/>
            <p:cNvSpPr>
              <a:spLocks noChangeArrowheads="1"/>
            </p:cNvSpPr>
            <p:nvPr/>
          </p:nvSpPr>
          <p:spPr bwMode="auto">
            <a:xfrm>
              <a:off x="309563" y="4013200"/>
              <a:ext cx="4105275" cy="2514600"/>
            </a:xfrm>
            <a:prstGeom prst="rect">
              <a:avLst/>
            </a:prstGeom>
            <a:grpFill/>
            <a:ln w="9525">
              <a:solidFill>
                <a:schemeClr val="tx1"/>
              </a:solidFill>
              <a:miter lim="800000"/>
              <a:headEnd/>
              <a:tailEnd/>
            </a:ln>
          </p:spPr>
          <p:txBody>
            <a:bodyPr wrap="none" anchor="ctr"/>
            <a:lstStyle/>
            <a:p>
              <a:pPr>
                <a:defRPr/>
              </a:pPr>
              <a:endParaRPr lang="en-US" dirty="0">
                <a:latin typeface="Arial" pitchFamily="34" charset="0"/>
                <a:cs typeface="Arial" pitchFamily="34" charset="0"/>
              </a:endParaRPr>
            </a:p>
          </p:txBody>
        </p:sp>
        <p:sp>
          <p:nvSpPr>
            <p:cNvPr id="4117" name="Text Box 15"/>
            <p:cNvSpPr txBox="1">
              <a:spLocks noChangeArrowheads="1"/>
            </p:cNvSpPr>
            <p:nvPr/>
          </p:nvSpPr>
          <p:spPr bwMode="auto">
            <a:xfrm>
              <a:off x="379227" y="4635146"/>
              <a:ext cx="3886200" cy="1231106"/>
            </a:xfrm>
            <a:prstGeom prst="rect">
              <a:avLst/>
            </a:prstGeom>
            <a:grpFill/>
            <a:ln w="9525">
              <a:noFill/>
              <a:miter lim="800000"/>
              <a:headEnd/>
              <a:tailEnd/>
            </a:ln>
          </p:spPr>
          <p:txBody>
            <a:bodyPr>
              <a:spAutoFit/>
            </a:bodyPr>
            <a:lstStyle/>
            <a:p>
              <a:pPr algn="ctr">
                <a:defRPr/>
              </a:pPr>
              <a:r>
                <a:rPr lang="en-US" sz="2000" b="1" dirty="0">
                  <a:solidFill>
                    <a:srgbClr val="FFFF00"/>
                  </a:solidFill>
                  <a:latin typeface="Arial" pitchFamily="34" charset="0"/>
                  <a:cs typeface="Arial" pitchFamily="34" charset="0"/>
                </a:rPr>
                <a:t>Business Entity Assumption</a:t>
              </a:r>
            </a:p>
            <a:p>
              <a:pPr algn="ctr">
                <a:defRPr/>
              </a:pPr>
              <a:r>
                <a:rPr lang="en-US" dirty="0">
                  <a:solidFill>
                    <a:schemeClr val="bg1"/>
                  </a:solidFill>
                  <a:latin typeface="Arial" pitchFamily="34" charset="0"/>
                  <a:cs typeface="Arial" pitchFamily="34" charset="0"/>
                </a:rPr>
                <a:t>A business is accounted for separately from other business entities, including its owner.</a:t>
              </a:r>
            </a:p>
          </p:txBody>
        </p:sp>
      </p:grpSp>
      <p:grpSp>
        <p:nvGrpSpPr>
          <p:cNvPr id="143365" name="Group 14"/>
          <p:cNvGrpSpPr>
            <a:grpSpLocks/>
          </p:cNvGrpSpPr>
          <p:nvPr/>
        </p:nvGrpSpPr>
        <p:grpSpPr bwMode="auto">
          <a:xfrm>
            <a:off x="4572000" y="3657600"/>
            <a:ext cx="4267200" cy="2438400"/>
            <a:chOff x="0" y="768"/>
            <a:chExt cx="2736" cy="1536"/>
          </a:xfrm>
        </p:grpSpPr>
        <p:sp>
          <p:nvSpPr>
            <p:cNvPr id="143369" name="Rectangle 15"/>
            <p:cNvSpPr>
              <a:spLocks noChangeArrowheads="1"/>
            </p:cNvSpPr>
            <p:nvPr/>
          </p:nvSpPr>
          <p:spPr bwMode="auto">
            <a:xfrm>
              <a:off x="48" y="768"/>
              <a:ext cx="2640" cy="1536"/>
            </a:xfrm>
            <a:prstGeom prst="rect">
              <a:avLst/>
            </a:prstGeom>
            <a:solidFill>
              <a:srgbClr val="FFFFCC"/>
            </a:solidFill>
            <a:ln w="9525">
              <a:solidFill>
                <a:schemeClr val="tx1"/>
              </a:solidFill>
              <a:miter lim="800000"/>
              <a:headEnd/>
              <a:tailEnd/>
            </a:ln>
          </p:spPr>
          <p:txBody>
            <a:bodyPr wrap="none" anchor="ctr"/>
            <a:lstStyle/>
            <a:p>
              <a:endParaRPr lang="en-US" altLang="en-US" dirty="0"/>
            </a:p>
          </p:txBody>
        </p:sp>
        <p:sp>
          <p:nvSpPr>
            <p:cNvPr id="143370" name="Text Box 16"/>
            <p:cNvSpPr txBox="1">
              <a:spLocks noChangeArrowheads="1"/>
            </p:cNvSpPr>
            <p:nvPr/>
          </p:nvSpPr>
          <p:spPr bwMode="auto">
            <a:xfrm>
              <a:off x="0" y="1152"/>
              <a:ext cx="2736" cy="775"/>
            </a:xfrm>
            <a:prstGeom prst="rect">
              <a:avLst/>
            </a:prstGeom>
            <a:noFill/>
            <a:ln w="9525">
              <a:noFill/>
              <a:miter lim="800000"/>
              <a:headEnd/>
              <a:tailEnd/>
            </a:ln>
          </p:spPr>
          <p:txBody>
            <a:bodyPr>
              <a:spAutoFit/>
            </a:bodyPr>
            <a:lstStyle/>
            <a:p>
              <a:pPr algn="ctr"/>
              <a:r>
                <a:rPr lang="en-US" altLang="en-US" sz="2000" b="1" dirty="0">
                  <a:solidFill>
                    <a:srgbClr val="376092"/>
                  </a:solidFill>
                  <a:ea typeface="MS PGothic" pitchFamily="34" charset="-128"/>
                </a:rPr>
                <a:t>Time Period Assumption</a:t>
              </a:r>
            </a:p>
            <a:p>
              <a:pPr algn="ctr"/>
              <a:r>
                <a:rPr kumimoji="1" lang="en-US" altLang="en-US" dirty="0">
                  <a:ea typeface="MS PGothic" pitchFamily="34" charset="-128"/>
                </a:rPr>
                <a:t>The life of a company </a:t>
              </a:r>
            </a:p>
            <a:p>
              <a:pPr algn="ctr"/>
              <a:r>
                <a:rPr kumimoji="1" lang="en-US" altLang="en-US" dirty="0">
                  <a:ea typeface="MS PGothic" pitchFamily="34" charset="-128"/>
                </a:rPr>
                <a:t>can be divided into time periods, </a:t>
              </a:r>
            </a:p>
            <a:p>
              <a:pPr algn="ctr"/>
              <a:r>
                <a:rPr kumimoji="1" lang="en-US" altLang="en-US" dirty="0">
                  <a:ea typeface="MS PGothic" pitchFamily="34" charset="-128"/>
                </a:rPr>
                <a:t>such as months and years.</a:t>
              </a:r>
            </a:p>
          </p:txBody>
        </p:sp>
      </p:grpSp>
      <p:grpSp>
        <p:nvGrpSpPr>
          <p:cNvPr id="5" name="Group 27"/>
          <p:cNvGrpSpPr>
            <a:grpSpLocks/>
          </p:cNvGrpSpPr>
          <p:nvPr/>
        </p:nvGrpSpPr>
        <p:grpSpPr bwMode="auto">
          <a:xfrm>
            <a:off x="304800" y="1371600"/>
            <a:ext cx="4114800" cy="2057400"/>
            <a:chOff x="4619625" y="4038600"/>
            <a:chExt cx="4219575" cy="2057400"/>
          </a:xfrm>
          <a:solidFill>
            <a:schemeClr val="bg2">
              <a:lumMod val="75000"/>
            </a:schemeClr>
          </a:solidFill>
        </p:grpSpPr>
        <p:sp>
          <p:nvSpPr>
            <p:cNvPr id="4106" name="Rectangle 4"/>
            <p:cNvSpPr>
              <a:spLocks noChangeArrowheads="1"/>
            </p:cNvSpPr>
            <p:nvPr/>
          </p:nvSpPr>
          <p:spPr bwMode="auto">
            <a:xfrm>
              <a:off x="4619625" y="4038600"/>
              <a:ext cx="4219575" cy="2057400"/>
            </a:xfrm>
            <a:prstGeom prst="rect">
              <a:avLst/>
            </a:prstGeom>
            <a:grpFill/>
            <a:ln w="9525">
              <a:solidFill>
                <a:schemeClr val="tx1"/>
              </a:solidFill>
              <a:miter lim="800000"/>
              <a:headEnd/>
              <a:tailEnd/>
            </a:ln>
          </p:spPr>
          <p:txBody>
            <a:bodyPr wrap="none" anchor="ctr"/>
            <a:lstStyle/>
            <a:p>
              <a:pPr>
                <a:defRPr/>
              </a:pPr>
              <a:endParaRPr lang="en-US" dirty="0">
                <a:latin typeface="Arial" pitchFamily="34" charset="0"/>
                <a:cs typeface="Arial" pitchFamily="34" charset="0"/>
              </a:endParaRPr>
            </a:p>
          </p:txBody>
        </p:sp>
        <p:sp>
          <p:nvSpPr>
            <p:cNvPr id="4110" name="Text Box 8"/>
            <p:cNvSpPr txBox="1">
              <a:spLocks noChangeArrowheads="1"/>
            </p:cNvSpPr>
            <p:nvPr/>
          </p:nvSpPr>
          <p:spPr bwMode="auto">
            <a:xfrm>
              <a:off x="4691062" y="4401009"/>
              <a:ext cx="4114800" cy="1231106"/>
            </a:xfrm>
            <a:prstGeom prst="rect">
              <a:avLst/>
            </a:prstGeom>
            <a:grpFill/>
            <a:ln w="9525">
              <a:noFill/>
              <a:miter lim="800000"/>
              <a:headEnd/>
              <a:tailEnd/>
            </a:ln>
          </p:spPr>
          <p:txBody>
            <a:bodyPr>
              <a:spAutoFit/>
            </a:bodyPr>
            <a:lstStyle/>
            <a:p>
              <a:pPr algn="ctr">
                <a:defRPr/>
              </a:pPr>
              <a:r>
                <a:rPr lang="en-US" sz="2000" b="1" dirty="0">
                  <a:solidFill>
                    <a:srgbClr val="006600"/>
                  </a:solidFill>
                  <a:latin typeface="Arial" pitchFamily="34" charset="0"/>
                  <a:cs typeface="Arial" pitchFamily="34" charset="0"/>
                </a:rPr>
                <a:t>Going-Concern Assumption</a:t>
              </a:r>
            </a:p>
            <a:p>
              <a:pPr algn="ctr">
                <a:defRPr/>
              </a:pPr>
              <a:r>
                <a:rPr lang="en-US" dirty="0">
                  <a:latin typeface="Arial" pitchFamily="34" charset="0"/>
                  <a:cs typeface="Arial" pitchFamily="34" charset="0"/>
                </a:rPr>
                <a:t>The business is presumed to continue operating instead of being closed or sold.</a:t>
              </a:r>
            </a:p>
          </p:txBody>
        </p:sp>
      </p:grpSp>
      <p:sp>
        <p:nvSpPr>
          <p:cNvPr id="17" name="Rectangle 16"/>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3" name="Group 2"/>
          <p:cNvGrpSpPr>
            <a:grpSpLocks/>
          </p:cNvGrpSpPr>
          <p:nvPr/>
        </p:nvGrpSpPr>
        <p:grpSpPr bwMode="auto">
          <a:xfrm>
            <a:off x="838200" y="1219200"/>
            <a:ext cx="7467600" cy="5267325"/>
            <a:chOff x="1117" y="557"/>
            <a:chExt cx="3520" cy="3488"/>
          </a:xfrm>
        </p:grpSpPr>
        <p:graphicFrame>
          <p:nvGraphicFramePr>
            <p:cNvPr id="33796" name="Object 2"/>
            <p:cNvGraphicFramePr>
              <a:graphicFrameLocks/>
            </p:cNvGraphicFramePr>
            <p:nvPr/>
          </p:nvGraphicFramePr>
          <p:xfrm>
            <a:off x="1117" y="557"/>
            <a:ext cx="3520" cy="3488"/>
          </p:xfrm>
          <a:graphic>
            <a:graphicData uri="http://schemas.openxmlformats.org/presentationml/2006/ole">
              <mc:AlternateContent xmlns:mc="http://schemas.openxmlformats.org/markup-compatibility/2006">
                <mc:Choice xmlns:v="urn:schemas-microsoft-com:vml" Requires="v">
                  <p:oleObj spid="_x0000_s1084" name="Clip" r:id="rId4" imgW="5598795" imgH="5547995" progId="MS_ClipArt_Gallery.2">
                    <p:embed/>
                  </p:oleObj>
                </mc:Choice>
                <mc:Fallback>
                  <p:oleObj name="Clip" r:id="rId4" imgW="5598795" imgH="5547995" progId="MS_ClipArt_Gallery.2">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7" y="557"/>
                          <a:ext cx="3520" cy="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10246" name="Rectangle 4"/>
            <p:cNvSpPr>
              <a:spLocks noChangeArrowheads="1"/>
            </p:cNvSpPr>
            <p:nvPr/>
          </p:nvSpPr>
          <p:spPr bwMode="auto">
            <a:xfrm>
              <a:off x="1197" y="2445"/>
              <a:ext cx="3366" cy="1281"/>
            </a:xfrm>
            <a:prstGeom prst="rect">
              <a:avLst/>
            </a:prstGeom>
            <a:noFill/>
            <a:ln w="12700">
              <a:noFill/>
              <a:miter lim="800000"/>
              <a:headEnd/>
              <a:tailEnd/>
            </a:ln>
          </p:spPr>
          <p:txBody>
            <a:bodyPr lIns="90488" tIns="44450" rIns="90488" bIns="44450">
              <a:spAutoFit/>
            </a:bodyPr>
            <a:lstStyle/>
            <a:p>
              <a:pPr algn="ctr">
                <a:spcBef>
                  <a:spcPct val="100000"/>
                </a:spcBef>
                <a:defRPr/>
              </a:pPr>
              <a:r>
                <a:rPr lang="en-US" sz="2400" dirty="0">
                  <a:ea typeface="ＭＳ Ｐゴシック" pitchFamily="-108" charset="-128"/>
                  <a:cs typeface="+mn-cs"/>
                </a:rPr>
                <a:t>Owners of a corporation or company are called </a:t>
              </a:r>
              <a:br>
                <a:rPr lang="en-US" sz="2400" dirty="0">
                  <a:ea typeface="ＭＳ Ｐゴシック" pitchFamily="-108" charset="-128"/>
                  <a:cs typeface="+mn-cs"/>
                </a:rPr>
              </a:br>
              <a:r>
                <a:rPr lang="en-US" sz="2400" dirty="0">
                  <a:solidFill>
                    <a:schemeClr val="accent2">
                      <a:lumMod val="50000"/>
                    </a:schemeClr>
                  </a:solidFill>
                  <a:ea typeface="ＭＳ Ｐゴシック" pitchFamily="-108" charset="-128"/>
                  <a:cs typeface="+mn-cs"/>
                </a:rPr>
                <a:t>shareholders</a:t>
              </a:r>
              <a:r>
                <a:rPr lang="en-US" sz="2400" dirty="0">
                  <a:ea typeface="ＭＳ Ｐゴシック" pitchFamily="-108" charset="-128"/>
                  <a:cs typeface="+mn-cs"/>
                </a:rPr>
                <a:t> (or stockholders). Shareholders are not personally liable for corporate acts. When a corporation issues only one class of shares, we</a:t>
              </a:r>
              <a:br>
                <a:rPr lang="en-US" sz="2400" dirty="0">
                  <a:ea typeface="ＭＳ Ｐゴシック" pitchFamily="-108" charset="-128"/>
                  <a:cs typeface="+mn-cs"/>
                </a:rPr>
              </a:br>
              <a:r>
                <a:rPr lang="en-US" sz="2400" dirty="0">
                  <a:ea typeface="ＭＳ Ｐゴシック" pitchFamily="-108" charset="-128"/>
                  <a:cs typeface="+mn-cs"/>
                </a:rPr>
                <a:t>call it </a:t>
              </a:r>
              <a:r>
                <a:rPr lang="en-US" sz="2400" dirty="0">
                  <a:solidFill>
                    <a:schemeClr val="accent2">
                      <a:lumMod val="50000"/>
                    </a:schemeClr>
                  </a:solidFill>
                  <a:ea typeface="ＭＳ Ｐゴシック" pitchFamily="-108" charset="-128"/>
                  <a:cs typeface="+mn-cs"/>
                </a:rPr>
                <a:t>ordinary shares </a:t>
              </a:r>
              <a:r>
                <a:rPr lang="en-US" sz="2400" dirty="0">
                  <a:ea typeface="ＭＳ Ｐゴシック" pitchFamily="-108" charset="-128"/>
                  <a:cs typeface="+mn-cs"/>
                </a:rPr>
                <a:t>(or common stock).</a:t>
              </a:r>
            </a:p>
          </p:txBody>
        </p:sp>
      </p:grpSp>
      <p:sp>
        <p:nvSpPr>
          <p:cNvPr id="26629" name="Rectangle 5"/>
          <p:cNvSpPr>
            <a:spLocks noGrp="1" noChangeArrowheads="1"/>
          </p:cNvSpPr>
          <p:nvPr>
            <p:ph type="title"/>
          </p:nvPr>
        </p:nvSpPr>
        <p:spPr>
          <a:xfrm>
            <a:off x="914400" y="-304800"/>
            <a:ext cx="7158038" cy="1412875"/>
          </a:xfrm>
        </p:spPr>
        <p:txBody>
          <a:bodyPr/>
          <a:lstStyle/>
          <a:p>
            <a:pPr>
              <a:defRPr/>
            </a:pPr>
            <a:r>
              <a:rPr lang="en-US" dirty="0">
                <a:ea typeface="+mj-ea"/>
              </a:rPr>
              <a:t>Corporation</a:t>
            </a:r>
          </a:p>
        </p:txBody>
      </p:sp>
    </p:spTree>
    <p:extLst>
      <p:ext uri="{BB962C8B-B14F-4D97-AF65-F5344CB8AC3E}">
        <p14:creationId xmlns:p14="http://schemas.microsoft.com/office/powerpoint/2010/main" val="2439682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en-US" altLang="en-US" b="1" dirty="0"/>
              <a:t>Accounting Constraint</a:t>
            </a:r>
          </a:p>
        </p:txBody>
      </p:sp>
      <p:sp>
        <p:nvSpPr>
          <p:cNvPr id="6" name="Slide Number Placeholder 5"/>
          <p:cNvSpPr>
            <a:spLocks noGrp="1"/>
          </p:cNvSpPr>
          <p:nvPr>
            <p:ph type="sldNum" sz="quarter" idx="12"/>
          </p:nvPr>
        </p:nvSpPr>
        <p:spPr/>
        <p:txBody>
          <a:bodyPr/>
          <a:lstStyle/>
          <a:p>
            <a:pPr>
              <a:defRPr/>
            </a:pPr>
            <a:fld id="{2333AD33-7490-4238-B467-61922589E939}" type="slidenum">
              <a:rPr lang="en-US"/>
              <a:pPr>
                <a:defRPr/>
              </a:pPr>
              <a:t>36</a:t>
            </a:fld>
            <a:endParaRPr lang="en-US" dirty="0"/>
          </a:p>
        </p:txBody>
      </p:sp>
      <p:sp>
        <p:nvSpPr>
          <p:cNvPr id="4119" name="Text Box 9"/>
          <p:cNvSpPr txBox="1">
            <a:spLocks noChangeArrowheads="1"/>
          </p:cNvSpPr>
          <p:nvPr/>
        </p:nvSpPr>
        <p:spPr bwMode="auto">
          <a:xfrm>
            <a:off x="2419350" y="1687513"/>
            <a:ext cx="3962400" cy="1230489"/>
          </a:xfrm>
          <a:prstGeom prst="rect">
            <a:avLst/>
          </a:prstGeom>
          <a:solidFill>
            <a:schemeClr val="accent3">
              <a:lumMod val="60000"/>
              <a:lumOff val="40000"/>
            </a:schemeClr>
          </a:solidFill>
          <a:ln w="9525">
            <a:noFill/>
            <a:miter lim="800000"/>
            <a:headEnd/>
            <a:tailEnd/>
          </a:ln>
        </p:spPr>
        <p:txBody>
          <a:bodyPr>
            <a:spAutoFit/>
          </a:bodyPr>
          <a:lstStyle/>
          <a:p>
            <a:pPr algn="ctr">
              <a:defRPr/>
            </a:pPr>
            <a:r>
              <a:rPr lang="en-US" sz="2000" b="1" dirty="0">
                <a:solidFill>
                  <a:srgbClr val="FF0000"/>
                </a:solidFill>
                <a:latin typeface="Arial" pitchFamily="34" charset="0"/>
                <a:cs typeface="Arial" pitchFamily="34" charset="0"/>
              </a:rPr>
              <a:t>Cost-benefit</a:t>
            </a:r>
          </a:p>
          <a:p>
            <a:pPr algn="ctr">
              <a:defRPr/>
            </a:pPr>
            <a:r>
              <a:rPr lang="en-US" b="1" dirty="0">
                <a:latin typeface="Arial" pitchFamily="34" charset="0"/>
                <a:cs typeface="Arial" pitchFamily="34" charset="0"/>
              </a:rPr>
              <a:t>Only information with benefits of disclosure greater than the cost need be disclosed.</a:t>
            </a:r>
          </a:p>
        </p:txBody>
      </p:sp>
      <p:sp>
        <p:nvSpPr>
          <p:cNvPr id="4110" name="Text Box 8"/>
          <p:cNvSpPr txBox="1">
            <a:spLocks noChangeArrowheads="1"/>
          </p:cNvSpPr>
          <p:nvPr/>
        </p:nvSpPr>
        <p:spPr bwMode="auto">
          <a:xfrm>
            <a:off x="2438400" y="3605476"/>
            <a:ext cx="4012627" cy="1508105"/>
          </a:xfrm>
          <a:prstGeom prst="rect">
            <a:avLst/>
          </a:prstGeom>
          <a:solidFill>
            <a:schemeClr val="accent3">
              <a:lumMod val="60000"/>
              <a:lumOff val="40000"/>
            </a:schemeClr>
          </a:solidFill>
          <a:ln w="9525">
            <a:noFill/>
            <a:miter lim="800000"/>
            <a:headEnd/>
            <a:tailEnd/>
          </a:ln>
        </p:spPr>
        <p:txBody>
          <a:bodyPr>
            <a:spAutoFit/>
          </a:bodyPr>
          <a:lstStyle/>
          <a:p>
            <a:pPr algn="ctr">
              <a:defRPr/>
            </a:pPr>
            <a:r>
              <a:rPr lang="en-US" sz="2000" b="1" dirty="0">
                <a:solidFill>
                  <a:srgbClr val="006600"/>
                </a:solidFill>
                <a:latin typeface="Arial" pitchFamily="34" charset="0"/>
                <a:cs typeface="Arial" pitchFamily="34" charset="0"/>
              </a:rPr>
              <a:t>Materiality</a:t>
            </a:r>
          </a:p>
          <a:p>
            <a:pPr algn="ctr">
              <a:defRPr/>
            </a:pPr>
            <a:r>
              <a:rPr lang="en-US" b="1" dirty="0">
                <a:latin typeface="Arial" pitchFamily="34" charset="0"/>
                <a:cs typeface="Arial" pitchFamily="34" charset="0"/>
              </a:rPr>
              <a:t>Only information that would influence the decisions of a reasonable person need be disclosed.</a:t>
            </a:r>
          </a:p>
        </p:txBody>
      </p:sp>
      <p:sp>
        <p:nvSpPr>
          <p:cNvPr id="14" name="Rectangle 13"/>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3792177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4"/>
          <p:cNvSpPr>
            <a:spLocks noGrp="1"/>
          </p:cNvSpPr>
          <p:nvPr>
            <p:ph type="ctrTitle"/>
          </p:nvPr>
        </p:nvSpPr>
        <p:spPr>
          <a:xfrm>
            <a:off x="914400" y="1828800"/>
            <a:ext cx="7315200" cy="3124200"/>
          </a:xfrm>
        </p:spPr>
        <p:txBody>
          <a:bodyPr>
            <a:normAutofit fontScale="90000"/>
          </a:bodyPr>
          <a:lstStyle/>
          <a:p>
            <a:br>
              <a:rPr lang="en-US" altLang="en-US" dirty="0"/>
            </a:br>
            <a:br>
              <a:rPr lang="en-US" altLang="en-US" dirty="0"/>
            </a:br>
            <a:r>
              <a:rPr lang="en-US" dirty="0"/>
              <a:t>Define and interpret the accounting equation and each of its components.</a:t>
            </a:r>
            <a:br>
              <a:rPr lang="en-US" altLang="en-US" dirty="0"/>
            </a:br>
            <a:br>
              <a:rPr lang="en-US" altLang="en-US" dirty="0"/>
            </a:br>
            <a:endParaRPr lang="en-US" altLang="en-US" dirty="0"/>
          </a:p>
        </p:txBody>
      </p:sp>
      <p:sp>
        <p:nvSpPr>
          <p:cNvPr id="130051" name="Slide Number Placeholder 3"/>
          <p:cNvSpPr>
            <a:spLocks noGrp="1"/>
          </p:cNvSpPr>
          <p:nvPr>
            <p:ph type="sldNum" sz="quarter" idx="12"/>
          </p:nvPr>
        </p:nvSpPr>
        <p:spPr bwMode="auto">
          <a:xfrm>
            <a:off x="6781800" y="6393240"/>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37</a:t>
            </a:fld>
            <a:endParaRPr lang="en-US" altLang="en-US" dirty="0">
              <a:solidFill>
                <a:srgbClr val="898989"/>
              </a:solidFill>
            </a:endParaRPr>
          </a:p>
        </p:txBody>
      </p:sp>
      <p:pic>
        <p:nvPicPr>
          <p:cNvPr id="130053" name="Picture 2"/>
          <p:cNvPicPr>
            <a:picLocks noChangeAspect="1" noChangeArrowheads="1"/>
          </p:cNvPicPr>
          <p:nvPr/>
        </p:nvPicPr>
        <p:blipFill>
          <a:blip r:embed="rId3" cstate="print"/>
          <a:srcRect/>
          <a:stretch>
            <a:fillRect/>
          </a:stretch>
        </p:blipFill>
        <p:spPr bwMode="auto">
          <a:xfrm>
            <a:off x="914400" y="1632744"/>
            <a:ext cx="7315200" cy="87312"/>
          </a:xfrm>
          <a:prstGeom prst="rect">
            <a:avLst/>
          </a:prstGeom>
          <a:noFill/>
          <a:ln w="9525">
            <a:noFill/>
            <a:miter lim="800000"/>
            <a:headEnd/>
            <a:tailEnd/>
          </a:ln>
        </p:spPr>
      </p:pic>
      <p:pic>
        <p:nvPicPr>
          <p:cNvPr id="130054" name="Picture 2"/>
          <p:cNvPicPr>
            <a:picLocks noChangeAspect="1" noChangeArrowheads="1"/>
          </p:cNvPicPr>
          <p:nvPr/>
        </p:nvPicPr>
        <p:blipFill>
          <a:blip r:embed="rId3" cstate="print"/>
          <a:srcRect/>
          <a:stretch>
            <a:fillRect/>
          </a:stretch>
        </p:blipFill>
        <p:spPr bwMode="auto">
          <a:xfrm>
            <a:off x="914400" y="5257800"/>
            <a:ext cx="7315200" cy="87313"/>
          </a:xfrm>
          <a:prstGeom prst="rect">
            <a:avLst/>
          </a:prstGeom>
          <a:noFill/>
          <a:ln w="9525">
            <a:noFill/>
            <a:miter lim="800000"/>
            <a:headEnd/>
            <a:tailEnd/>
          </a:ln>
        </p:spPr>
      </p:pic>
      <p:sp>
        <p:nvSpPr>
          <p:cNvPr id="9" name="Rectangle 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78069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AutoShape 2"/>
          <p:cNvSpPr>
            <a:spLocks noGrp="1" noChangeArrowheads="1"/>
          </p:cNvSpPr>
          <p:nvPr>
            <p:ph type="title"/>
          </p:nvPr>
        </p:nvSpPr>
        <p:spPr/>
        <p:txBody>
          <a:bodyPr/>
          <a:lstStyle/>
          <a:p>
            <a:pPr algn="ctr">
              <a:defRPr/>
            </a:pPr>
            <a:r>
              <a:rPr lang="en-US" altLang="zh-TW" dirty="0">
                <a:ea typeface="PMingLiU" pitchFamily="18" charset="-120"/>
              </a:rPr>
              <a:t>The Accounting Equation</a:t>
            </a:r>
          </a:p>
        </p:txBody>
      </p:sp>
      <p:sp>
        <p:nvSpPr>
          <p:cNvPr id="40963" name="Rectangle 3"/>
          <p:cNvSpPr>
            <a:spLocks noGrp="1" noChangeArrowheads="1"/>
          </p:cNvSpPr>
          <p:nvPr>
            <p:ph idx="1"/>
          </p:nvPr>
        </p:nvSpPr>
        <p:spPr>
          <a:xfrm>
            <a:off x="304800" y="2819400"/>
            <a:ext cx="8305800" cy="3654425"/>
          </a:xfrm>
        </p:spPr>
        <p:txBody>
          <a:bodyPr/>
          <a:lstStyle/>
          <a:p>
            <a:pPr>
              <a:buFont typeface="Wingdings" panose="05000000000000000000" pitchFamily="2" charset="2"/>
              <a:buNone/>
            </a:pPr>
            <a:endParaRPr lang="en-US" altLang="zh-TW" dirty="0">
              <a:ea typeface="PMingLiU" panose="02020500000000000000" pitchFamily="18" charset="-120"/>
            </a:endParaRPr>
          </a:p>
          <a:p>
            <a:pPr>
              <a:buFont typeface="Wingdings" panose="05000000000000000000" pitchFamily="2" charset="2"/>
              <a:buNone/>
            </a:pPr>
            <a:endParaRPr lang="en-US" altLang="zh-TW" dirty="0">
              <a:ea typeface="PMingLiU" panose="02020500000000000000" pitchFamily="18" charset="-120"/>
            </a:endParaRPr>
          </a:p>
          <a:p>
            <a:pPr>
              <a:buFont typeface="Wingdings" panose="05000000000000000000" pitchFamily="2" charset="2"/>
              <a:buNone/>
            </a:pPr>
            <a:r>
              <a:rPr lang="en-US" altLang="zh-TW" dirty="0">
                <a:ea typeface="PMingLiU" panose="02020500000000000000" pitchFamily="18" charset="-120"/>
              </a:rPr>
              <a:t>Assets  -     Liabilities	         =                 Equity</a:t>
            </a:r>
          </a:p>
          <a:p>
            <a:pPr>
              <a:buFont typeface="Wingdings" panose="05000000000000000000" pitchFamily="2" charset="2"/>
              <a:buNone/>
            </a:pPr>
            <a:r>
              <a:rPr lang="en-US" altLang="zh-TW" dirty="0">
                <a:solidFill>
                  <a:srgbClr val="FF0000"/>
                </a:solidFill>
                <a:ea typeface="PMingLiU" panose="02020500000000000000" pitchFamily="18" charset="-120"/>
              </a:rPr>
              <a:t>“own”</a:t>
            </a:r>
            <a:r>
              <a:rPr lang="en-US" altLang="zh-TW" dirty="0">
                <a:ea typeface="PMingLiU" panose="02020500000000000000" pitchFamily="18" charset="-120"/>
              </a:rPr>
              <a:t>	         </a:t>
            </a:r>
            <a:r>
              <a:rPr lang="en-US" altLang="zh-TW" dirty="0">
                <a:solidFill>
                  <a:srgbClr val="FF0000"/>
                </a:solidFill>
                <a:ea typeface="PMingLiU" panose="02020500000000000000" pitchFamily="18" charset="-120"/>
              </a:rPr>
              <a:t>“owe”	                            “owners’ share of the   business”</a:t>
            </a:r>
          </a:p>
          <a:p>
            <a:pPr>
              <a:buFont typeface="Wingdings" panose="05000000000000000000" pitchFamily="2" charset="2"/>
              <a:buNone/>
            </a:pPr>
            <a:r>
              <a:rPr lang="en-US" altLang="zh-TW" dirty="0">
                <a:ea typeface="PMingLiU" panose="02020500000000000000" pitchFamily="18" charset="-120"/>
              </a:rPr>
              <a:t>					                  (residual claim)</a:t>
            </a:r>
          </a:p>
        </p:txBody>
      </p:sp>
      <p:grpSp>
        <p:nvGrpSpPr>
          <p:cNvPr id="2" name="Group 27"/>
          <p:cNvGrpSpPr>
            <a:grpSpLocks/>
          </p:cNvGrpSpPr>
          <p:nvPr/>
        </p:nvGrpSpPr>
        <p:grpSpPr bwMode="auto">
          <a:xfrm>
            <a:off x="0" y="1524000"/>
            <a:ext cx="8788400" cy="1168400"/>
            <a:chOff x="80" y="768"/>
            <a:chExt cx="5536" cy="736"/>
          </a:xfrm>
        </p:grpSpPr>
        <p:sp>
          <p:nvSpPr>
            <p:cNvPr id="40965" name="Rectangle 28"/>
            <p:cNvSpPr>
              <a:spLocks noChangeArrowheads="1"/>
            </p:cNvSpPr>
            <p:nvPr/>
          </p:nvSpPr>
          <p:spPr bwMode="auto">
            <a:xfrm>
              <a:off x="80" y="768"/>
              <a:ext cx="5536" cy="736"/>
            </a:xfrm>
            <a:prstGeom prst="rect">
              <a:avLst/>
            </a:prstGeom>
            <a:solidFill>
              <a:srgbClr val="003300"/>
            </a:solidFill>
            <a:ln w="12700">
              <a:solidFill>
                <a:srgbClr val="414141"/>
              </a:solidFill>
              <a:miter lim="800000"/>
              <a:headEnd/>
              <a:tailEnd/>
            </a:ln>
            <a:effectLst>
              <a:outerShdw dist="107763" dir="2700000" algn="ctr" rotWithShape="0">
                <a:schemeClr val="bg2"/>
              </a:outerShdw>
            </a:effectLst>
          </p:spPr>
          <p:txBody>
            <a:bodyPr wrap="none"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zh-TW" sz="1800"/>
            </a:p>
          </p:txBody>
        </p:sp>
        <p:grpSp>
          <p:nvGrpSpPr>
            <p:cNvPr id="40966" name="Group 29"/>
            <p:cNvGrpSpPr>
              <a:grpSpLocks/>
            </p:cNvGrpSpPr>
            <p:nvPr/>
          </p:nvGrpSpPr>
          <p:grpSpPr bwMode="auto">
            <a:xfrm>
              <a:off x="212" y="821"/>
              <a:ext cx="5224" cy="574"/>
              <a:chOff x="244" y="2901"/>
              <a:chExt cx="5224" cy="574"/>
            </a:xfrm>
          </p:grpSpPr>
          <p:sp>
            <p:nvSpPr>
              <p:cNvPr id="40967" name="Rectangle 30" descr="Newsprint"/>
              <p:cNvSpPr>
                <a:spLocks noChangeArrowheads="1"/>
              </p:cNvSpPr>
              <p:nvPr/>
            </p:nvSpPr>
            <p:spPr bwMode="auto">
              <a:xfrm>
                <a:off x="2116" y="3028"/>
                <a:ext cx="1480" cy="376"/>
              </a:xfrm>
              <a:prstGeom prst="rect">
                <a:avLst/>
              </a:prstGeom>
              <a:blipFill dpi="0" rotWithShape="1">
                <a:blip r:embed="rId3"/>
                <a:srcRect/>
                <a:tile tx="0" ty="0" sx="100000" sy="100000" flip="none" algn="tl"/>
              </a:blipFill>
              <a:ln w="12700">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Liabilities</a:t>
                </a:r>
              </a:p>
            </p:txBody>
          </p:sp>
          <p:sp>
            <p:nvSpPr>
              <p:cNvPr id="40968" name="Rectangle 31" descr="Newsprint"/>
              <p:cNvSpPr>
                <a:spLocks noChangeArrowheads="1"/>
              </p:cNvSpPr>
              <p:nvPr/>
            </p:nvSpPr>
            <p:spPr bwMode="auto">
              <a:xfrm>
                <a:off x="4228" y="3028"/>
                <a:ext cx="1240" cy="376"/>
              </a:xfrm>
              <a:prstGeom prst="rect">
                <a:avLst/>
              </a:prstGeom>
              <a:blipFill dpi="0" rotWithShape="1">
                <a:blip r:embed="rId3"/>
                <a:srcRect/>
                <a:tile tx="0" ty="0" sx="100000" sy="100000" flip="none" algn="tl"/>
              </a:blipFill>
              <a:ln w="12700" algn="ctr">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Equity</a:t>
                </a:r>
              </a:p>
            </p:txBody>
          </p:sp>
          <p:sp>
            <p:nvSpPr>
              <p:cNvPr id="40969" name="Rectangle 32" descr="Newsprint"/>
              <p:cNvSpPr>
                <a:spLocks noChangeArrowheads="1"/>
              </p:cNvSpPr>
              <p:nvPr/>
            </p:nvSpPr>
            <p:spPr bwMode="auto">
              <a:xfrm>
                <a:off x="244" y="3028"/>
                <a:ext cx="1192" cy="376"/>
              </a:xfrm>
              <a:prstGeom prst="rect">
                <a:avLst/>
              </a:prstGeom>
              <a:blipFill dpi="0" rotWithShape="1">
                <a:blip r:embed="rId3"/>
                <a:srcRect/>
                <a:tile tx="0" ty="0" sx="100000" sy="100000" flip="none" algn="tl"/>
              </a:blipFill>
              <a:ln w="12700" algn="ctr">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Assets</a:t>
                </a:r>
              </a:p>
            </p:txBody>
          </p:sp>
          <p:grpSp>
            <p:nvGrpSpPr>
              <p:cNvPr id="40970" name="Group 33"/>
              <p:cNvGrpSpPr>
                <a:grpSpLocks/>
              </p:cNvGrpSpPr>
              <p:nvPr/>
            </p:nvGrpSpPr>
            <p:grpSpPr bwMode="auto">
              <a:xfrm>
                <a:off x="1581" y="2901"/>
                <a:ext cx="2550" cy="574"/>
                <a:chOff x="1581" y="2901"/>
                <a:chExt cx="2550" cy="574"/>
              </a:xfrm>
            </p:grpSpPr>
            <p:sp>
              <p:nvSpPr>
                <p:cNvPr id="40971" name="Rectangle 34"/>
                <p:cNvSpPr>
                  <a:spLocks noChangeArrowheads="1"/>
                </p:cNvSpPr>
                <p:nvPr/>
              </p:nvSpPr>
              <p:spPr bwMode="auto">
                <a:xfrm>
                  <a:off x="1581" y="2901"/>
                  <a:ext cx="39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5400">
                      <a:solidFill>
                        <a:schemeClr val="bg1"/>
                      </a:solidFill>
                      <a:latin typeface="Times New Roman" panose="02020603050405020304" pitchFamily="18" charset="0"/>
                    </a:rPr>
                    <a:t>=</a:t>
                  </a:r>
                </a:p>
              </p:txBody>
            </p:sp>
            <p:sp>
              <p:nvSpPr>
                <p:cNvPr id="40972" name="Rectangle 35"/>
                <p:cNvSpPr>
                  <a:spLocks noChangeArrowheads="1"/>
                </p:cNvSpPr>
                <p:nvPr/>
              </p:nvSpPr>
              <p:spPr bwMode="auto">
                <a:xfrm>
                  <a:off x="3741" y="2901"/>
                  <a:ext cx="39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5400">
                      <a:solidFill>
                        <a:schemeClr val="bg1"/>
                      </a:solidFill>
                      <a:latin typeface="Times New Roman" panose="02020603050405020304" pitchFamily="18" charset="0"/>
                    </a:rPr>
                    <a:t>+</a:t>
                  </a:r>
                </a:p>
              </p:txBody>
            </p:sp>
          </p:grpSp>
        </p:grpSp>
      </p:grpSp>
    </p:spTree>
    <p:extLst>
      <p:ext uri="{BB962C8B-B14F-4D97-AF65-F5344CB8AC3E}">
        <p14:creationId xmlns:p14="http://schemas.microsoft.com/office/powerpoint/2010/main" val="2730806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95" name="Line 19"/>
          <p:cNvSpPr>
            <a:spLocks noChangeShapeType="1"/>
          </p:cNvSpPr>
          <p:nvPr/>
        </p:nvSpPr>
        <p:spPr bwMode="auto">
          <a:xfrm flipV="1">
            <a:off x="5562600" y="2667000"/>
            <a:ext cx="609600" cy="419100"/>
          </a:xfrm>
          <a:prstGeom prst="line">
            <a:avLst/>
          </a:prstGeom>
          <a:noFill/>
          <a:ln w="57150">
            <a:solidFill>
              <a:schemeClr val="bg2">
                <a:lumMod val="50000"/>
              </a:schemeClr>
            </a:solidFill>
            <a:round/>
            <a:headEnd type="none" w="med" len="med"/>
            <a:tailEnd type="arrow" w="med" len="med"/>
          </a:ln>
        </p:spPr>
        <p:txBody>
          <a:bodyPr wrap="none" anchor="ctr"/>
          <a:lstStyle/>
          <a:p>
            <a:pPr>
              <a:defRPr/>
            </a:pPr>
            <a:endParaRPr lang="en-US">
              <a:ea typeface="+mn-ea"/>
              <a:cs typeface="+mn-cs"/>
            </a:endParaRPr>
          </a:p>
        </p:txBody>
      </p:sp>
      <p:sp>
        <p:nvSpPr>
          <p:cNvPr id="28674" name="Oval 2"/>
          <p:cNvSpPr>
            <a:spLocks noChangeArrowheads="1"/>
          </p:cNvSpPr>
          <p:nvPr/>
        </p:nvSpPr>
        <p:spPr bwMode="auto">
          <a:xfrm>
            <a:off x="6705600" y="3867150"/>
            <a:ext cx="1663700" cy="825500"/>
          </a:xfrm>
          <a:prstGeom prst="ellipse">
            <a:avLst/>
          </a:prstGeom>
          <a:solidFill>
            <a:srgbClr val="114FFB"/>
          </a:solidFill>
          <a:ln w="12700">
            <a:solidFill>
              <a:srgbClr val="414141"/>
            </a:solidFill>
            <a:round/>
            <a:headEnd/>
            <a:tailEnd/>
          </a:ln>
          <a:effectLst>
            <a:outerShdw blurRad="63500" dist="38100" dir="2700000" algn="tl" rotWithShape="0">
              <a:srgbClr val="000000">
                <a:alpha val="39999"/>
              </a:srgbClr>
            </a:outerShdw>
          </a:effectLst>
        </p:spPr>
        <p:txBody>
          <a:bodyPr wrap="none" lIns="90488" tIns="44450" rIns="90488" bIns="44450" anchor="ctr"/>
          <a:lstStyle/>
          <a:p>
            <a:pPr algn="ctr">
              <a:defRPr/>
            </a:pPr>
            <a:r>
              <a:rPr lang="en-US" sz="2400">
                <a:solidFill>
                  <a:srgbClr val="CCFFCC"/>
                </a:solidFill>
                <a:ea typeface="ＭＳ Ｐゴシック" pitchFamily="-108" charset="-128"/>
                <a:cs typeface="+mn-cs"/>
              </a:rPr>
              <a:t>Land</a:t>
            </a:r>
          </a:p>
        </p:txBody>
      </p:sp>
      <p:sp>
        <p:nvSpPr>
          <p:cNvPr id="28675" name="Oval 3"/>
          <p:cNvSpPr>
            <a:spLocks noChangeArrowheads="1"/>
          </p:cNvSpPr>
          <p:nvPr/>
        </p:nvSpPr>
        <p:spPr bwMode="auto">
          <a:xfrm>
            <a:off x="3365500" y="5646920"/>
            <a:ext cx="2438400" cy="1085850"/>
          </a:xfrm>
          <a:prstGeom prst="ellipse">
            <a:avLst/>
          </a:prstGeom>
          <a:solidFill>
            <a:srgbClr val="339966"/>
          </a:solidFill>
          <a:ln w="12700">
            <a:solidFill>
              <a:srgbClr val="414141"/>
            </a:solidFill>
            <a:round/>
            <a:headEnd/>
            <a:tailEnd/>
          </a:ln>
          <a:effectLst>
            <a:outerShdw blurRad="63500" dist="38100" dir="2700000" algn="tl" rotWithShape="0">
              <a:srgbClr val="000000">
                <a:alpha val="39999"/>
              </a:srgbClr>
            </a:outerShdw>
          </a:effectLst>
        </p:spPr>
        <p:txBody>
          <a:bodyPr wrap="none" lIns="90488" tIns="44450" rIns="90488" bIns="44450" anchor="ctr"/>
          <a:lstStyle/>
          <a:p>
            <a:pPr algn="ctr">
              <a:defRPr/>
            </a:pPr>
            <a:r>
              <a:rPr lang="en-US" sz="2400">
                <a:solidFill>
                  <a:srgbClr val="CCFFCC"/>
                </a:solidFill>
                <a:ea typeface="ＭＳ Ｐゴシック" pitchFamily="-108" charset="-128"/>
                <a:cs typeface="+mn-cs"/>
              </a:rPr>
              <a:t>Equipment</a:t>
            </a:r>
          </a:p>
        </p:txBody>
      </p:sp>
      <p:sp>
        <p:nvSpPr>
          <p:cNvPr id="28676" name="Oval 4"/>
          <p:cNvSpPr>
            <a:spLocks noChangeArrowheads="1"/>
          </p:cNvSpPr>
          <p:nvPr/>
        </p:nvSpPr>
        <p:spPr bwMode="auto">
          <a:xfrm>
            <a:off x="6108700" y="5086350"/>
            <a:ext cx="1892300" cy="901700"/>
          </a:xfrm>
          <a:prstGeom prst="ellipse">
            <a:avLst/>
          </a:prstGeom>
          <a:solidFill>
            <a:srgbClr val="FFFFCC"/>
          </a:solidFill>
          <a:ln w="12700">
            <a:solidFill>
              <a:srgbClr val="414141"/>
            </a:solidFill>
            <a:round/>
            <a:headEnd/>
            <a:tailEnd/>
          </a:ln>
          <a:effectLst>
            <a:outerShdw blurRad="63500" dist="38100" dir="2700000" algn="tl" rotWithShape="0">
              <a:srgbClr val="000000">
                <a:alpha val="39999"/>
              </a:srgbClr>
            </a:outerShdw>
          </a:effectLst>
        </p:spPr>
        <p:txBody>
          <a:bodyPr wrap="none" lIns="90488" tIns="44450" rIns="90488" bIns="44450" anchor="ctr"/>
          <a:lstStyle/>
          <a:p>
            <a:pPr algn="ctr">
              <a:defRPr/>
            </a:pPr>
            <a:r>
              <a:rPr lang="en-US" sz="2400">
                <a:solidFill>
                  <a:srgbClr val="9A2F6F"/>
                </a:solidFill>
                <a:ea typeface="ＭＳ Ｐゴシック" pitchFamily="-108" charset="-128"/>
                <a:cs typeface="+mn-cs"/>
              </a:rPr>
              <a:t>Buildings</a:t>
            </a:r>
          </a:p>
        </p:txBody>
      </p:sp>
      <p:sp>
        <p:nvSpPr>
          <p:cNvPr id="28677" name="Oval 5"/>
          <p:cNvSpPr>
            <a:spLocks noChangeArrowheads="1"/>
          </p:cNvSpPr>
          <p:nvPr/>
        </p:nvSpPr>
        <p:spPr bwMode="auto">
          <a:xfrm>
            <a:off x="3498850" y="1428750"/>
            <a:ext cx="2216150" cy="1066800"/>
          </a:xfrm>
          <a:prstGeom prst="ellipse">
            <a:avLst/>
          </a:prstGeom>
          <a:solidFill>
            <a:srgbClr val="339966"/>
          </a:solidFill>
          <a:ln w="12700">
            <a:solidFill>
              <a:srgbClr val="414141"/>
            </a:solidFill>
            <a:round/>
            <a:headEnd/>
            <a:tailEnd/>
          </a:ln>
          <a:effectLst>
            <a:outerShdw blurRad="63500" dist="38100" dir="2700000" algn="tl" rotWithShape="0">
              <a:srgbClr val="000000">
                <a:alpha val="39999"/>
              </a:srgbClr>
            </a:outerShdw>
          </a:effectLst>
        </p:spPr>
        <p:txBody>
          <a:bodyPr wrap="none" lIns="90488" tIns="44450" rIns="90488" bIns="44450" anchor="ctr"/>
          <a:lstStyle/>
          <a:p>
            <a:pPr algn="ctr">
              <a:defRPr/>
            </a:pPr>
            <a:r>
              <a:rPr lang="en-US" sz="2400">
                <a:solidFill>
                  <a:srgbClr val="CCFFCC"/>
                </a:solidFill>
                <a:ea typeface="ＭＳ Ｐゴシック" pitchFamily="-108" charset="-128"/>
                <a:cs typeface="+mn-cs"/>
              </a:rPr>
              <a:t>Cash</a:t>
            </a:r>
          </a:p>
        </p:txBody>
      </p:sp>
      <p:sp>
        <p:nvSpPr>
          <p:cNvPr id="28678" name="Oval 6"/>
          <p:cNvSpPr>
            <a:spLocks noChangeArrowheads="1"/>
          </p:cNvSpPr>
          <p:nvPr/>
        </p:nvSpPr>
        <p:spPr bwMode="auto">
          <a:xfrm>
            <a:off x="323850" y="3638550"/>
            <a:ext cx="2114550" cy="977900"/>
          </a:xfrm>
          <a:prstGeom prst="ellipse">
            <a:avLst/>
          </a:prstGeom>
          <a:solidFill>
            <a:schemeClr val="accent2"/>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a:ea typeface="ＭＳ Ｐゴシック" pitchFamily="-108" charset="-128"/>
                <a:cs typeface="+mn-cs"/>
              </a:rPr>
              <a:t>Vehicles</a:t>
            </a:r>
          </a:p>
        </p:txBody>
      </p:sp>
      <p:sp>
        <p:nvSpPr>
          <p:cNvPr id="28679" name="Oval 7"/>
          <p:cNvSpPr>
            <a:spLocks noChangeArrowheads="1"/>
          </p:cNvSpPr>
          <p:nvPr/>
        </p:nvSpPr>
        <p:spPr bwMode="auto">
          <a:xfrm>
            <a:off x="933450" y="5270500"/>
            <a:ext cx="2114550" cy="977900"/>
          </a:xfrm>
          <a:prstGeom prst="ellipse">
            <a:avLst/>
          </a:prstGeom>
          <a:solidFill>
            <a:srgbClr val="114FFB"/>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a:solidFill>
                  <a:srgbClr val="CCFFCC"/>
                </a:solidFill>
                <a:ea typeface="ＭＳ Ｐゴシック" pitchFamily="-108" charset="-128"/>
                <a:cs typeface="+mn-cs"/>
              </a:rPr>
              <a:t>Store Supplies</a:t>
            </a:r>
          </a:p>
        </p:txBody>
      </p:sp>
      <p:sp>
        <p:nvSpPr>
          <p:cNvPr id="28680" name="Oval 8"/>
          <p:cNvSpPr>
            <a:spLocks noChangeArrowheads="1"/>
          </p:cNvSpPr>
          <p:nvPr/>
        </p:nvSpPr>
        <p:spPr bwMode="auto">
          <a:xfrm>
            <a:off x="6191250" y="2114550"/>
            <a:ext cx="2647950" cy="1092200"/>
          </a:xfrm>
          <a:prstGeom prst="ellipse">
            <a:avLst/>
          </a:prstGeom>
          <a:solidFill>
            <a:schemeClr val="accent2"/>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a:ea typeface="ＭＳ Ｐゴシック" pitchFamily="-108" charset="-128"/>
                <a:cs typeface="+mn-cs"/>
              </a:rPr>
              <a:t>Notes Receivable</a:t>
            </a:r>
          </a:p>
        </p:txBody>
      </p:sp>
      <p:sp>
        <p:nvSpPr>
          <p:cNvPr id="28681" name="Oval 9"/>
          <p:cNvSpPr>
            <a:spLocks noChangeArrowheads="1"/>
          </p:cNvSpPr>
          <p:nvPr/>
        </p:nvSpPr>
        <p:spPr bwMode="auto">
          <a:xfrm>
            <a:off x="323850" y="2114550"/>
            <a:ext cx="2647950" cy="1092200"/>
          </a:xfrm>
          <a:prstGeom prst="ellipse">
            <a:avLst/>
          </a:prstGeom>
          <a:solidFill>
            <a:srgbClr val="FFFFCC"/>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a:solidFill>
                  <a:srgbClr val="9A2F6F"/>
                </a:solidFill>
                <a:ea typeface="ＭＳ Ｐゴシック" pitchFamily="-108" charset="-128"/>
                <a:cs typeface="+mn-cs"/>
              </a:rPr>
              <a:t>Accounts Receivable</a:t>
            </a:r>
          </a:p>
        </p:txBody>
      </p:sp>
      <p:sp>
        <p:nvSpPr>
          <p:cNvPr id="28683" name="Rectangle 11"/>
          <p:cNvSpPr>
            <a:spLocks noGrp="1" noChangeArrowheads="1"/>
          </p:cNvSpPr>
          <p:nvPr>
            <p:ph type="title"/>
          </p:nvPr>
        </p:nvSpPr>
        <p:spPr>
          <a:xfrm>
            <a:off x="583642" y="102652"/>
            <a:ext cx="8534400" cy="1143000"/>
          </a:xfrm>
        </p:spPr>
        <p:txBody>
          <a:bodyPr/>
          <a:lstStyle/>
          <a:p>
            <a:pPr>
              <a:defRPr/>
            </a:pPr>
            <a:r>
              <a:rPr lang="en-US" dirty="0">
                <a:ea typeface="+mj-ea"/>
              </a:rPr>
              <a:t>Assets</a:t>
            </a:r>
          </a:p>
        </p:txBody>
      </p:sp>
      <p:sp>
        <p:nvSpPr>
          <p:cNvPr id="24588" name="Line 12"/>
          <p:cNvSpPr>
            <a:spLocks noChangeShapeType="1"/>
          </p:cNvSpPr>
          <p:nvPr/>
        </p:nvSpPr>
        <p:spPr bwMode="auto">
          <a:xfrm flipV="1">
            <a:off x="4572000" y="2495550"/>
            <a:ext cx="0" cy="381000"/>
          </a:xfrm>
          <a:prstGeom prst="line">
            <a:avLst/>
          </a:prstGeom>
          <a:noFill/>
          <a:ln w="57150">
            <a:solidFill>
              <a:schemeClr val="bg2">
                <a:lumMod val="50000"/>
              </a:schemeClr>
            </a:solidFill>
            <a:round/>
            <a:headEnd type="none" w="med" len="med"/>
            <a:tailEnd type="arrow" w="med" len="med"/>
          </a:ln>
        </p:spPr>
        <p:txBody>
          <a:bodyPr wrap="none" anchor="ctr"/>
          <a:lstStyle/>
          <a:p>
            <a:pPr>
              <a:defRPr/>
            </a:pPr>
            <a:endParaRPr lang="en-US">
              <a:ea typeface="+mn-ea"/>
              <a:cs typeface="+mn-cs"/>
            </a:endParaRPr>
          </a:p>
        </p:txBody>
      </p:sp>
      <p:sp>
        <p:nvSpPr>
          <p:cNvPr id="24589" name="Line 13"/>
          <p:cNvSpPr>
            <a:spLocks noChangeShapeType="1"/>
          </p:cNvSpPr>
          <p:nvPr/>
        </p:nvSpPr>
        <p:spPr bwMode="auto">
          <a:xfrm flipH="1" flipV="1">
            <a:off x="2859088" y="3124200"/>
            <a:ext cx="493712" cy="438150"/>
          </a:xfrm>
          <a:prstGeom prst="line">
            <a:avLst/>
          </a:prstGeom>
          <a:noFill/>
          <a:ln w="57150">
            <a:solidFill>
              <a:schemeClr val="bg2">
                <a:lumMod val="50000"/>
              </a:schemeClr>
            </a:solidFill>
            <a:round/>
            <a:headEnd type="none" w="med" len="med"/>
            <a:tailEnd type="arrow" w="med" len="med"/>
          </a:ln>
        </p:spPr>
        <p:txBody>
          <a:bodyPr wrap="none" anchor="ctr"/>
          <a:lstStyle/>
          <a:p>
            <a:pPr>
              <a:defRPr/>
            </a:pPr>
            <a:endParaRPr lang="en-US">
              <a:ea typeface="+mn-ea"/>
              <a:cs typeface="+mn-cs"/>
            </a:endParaRPr>
          </a:p>
        </p:txBody>
      </p:sp>
      <p:sp>
        <p:nvSpPr>
          <p:cNvPr id="24590" name="Line 14"/>
          <p:cNvSpPr>
            <a:spLocks noChangeShapeType="1"/>
          </p:cNvSpPr>
          <p:nvPr/>
        </p:nvSpPr>
        <p:spPr bwMode="auto">
          <a:xfrm flipH="1" flipV="1">
            <a:off x="2667000" y="4191000"/>
            <a:ext cx="685800" cy="76200"/>
          </a:xfrm>
          <a:prstGeom prst="line">
            <a:avLst/>
          </a:prstGeom>
          <a:noFill/>
          <a:ln w="57150">
            <a:solidFill>
              <a:schemeClr val="bg2">
                <a:lumMod val="50000"/>
              </a:schemeClr>
            </a:solidFill>
            <a:round/>
            <a:headEnd type="none" w="med" len="med"/>
            <a:tailEnd type="arrow" w="med" len="med"/>
          </a:ln>
        </p:spPr>
        <p:txBody>
          <a:bodyPr wrap="none" anchor="ctr"/>
          <a:lstStyle/>
          <a:p>
            <a:pPr>
              <a:defRPr/>
            </a:pPr>
            <a:endParaRPr lang="en-US">
              <a:ea typeface="+mn-ea"/>
              <a:cs typeface="+mn-cs"/>
            </a:endParaRPr>
          </a:p>
        </p:txBody>
      </p:sp>
      <p:sp>
        <p:nvSpPr>
          <p:cNvPr id="24591" name="Line 15"/>
          <p:cNvSpPr>
            <a:spLocks noChangeShapeType="1"/>
          </p:cNvSpPr>
          <p:nvPr/>
        </p:nvSpPr>
        <p:spPr bwMode="auto">
          <a:xfrm flipH="1">
            <a:off x="2895600" y="5010150"/>
            <a:ext cx="533400" cy="457200"/>
          </a:xfrm>
          <a:prstGeom prst="line">
            <a:avLst/>
          </a:prstGeom>
          <a:noFill/>
          <a:ln w="57150">
            <a:solidFill>
              <a:schemeClr val="bg2">
                <a:lumMod val="50000"/>
              </a:schemeClr>
            </a:solidFill>
            <a:round/>
            <a:headEnd type="none" w="med" len="med"/>
            <a:tailEnd type="arrow" w="med" len="med"/>
          </a:ln>
        </p:spPr>
        <p:txBody>
          <a:bodyPr wrap="none" anchor="ctr"/>
          <a:lstStyle/>
          <a:p>
            <a:pPr>
              <a:defRPr/>
            </a:pPr>
            <a:endParaRPr lang="en-US">
              <a:ea typeface="+mn-ea"/>
              <a:cs typeface="+mn-cs"/>
            </a:endParaRPr>
          </a:p>
        </p:txBody>
      </p:sp>
      <p:sp>
        <p:nvSpPr>
          <p:cNvPr id="24592" name="Line 16"/>
          <p:cNvSpPr>
            <a:spLocks noChangeShapeType="1"/>
          </p:cNvSpPr>
          <p:nvPr/>
        </p:nvSpPr>
        <p:spPr bwMode="auto">
          <a:xfrm>
            <a:off x="4540250" y="5179493"/>
            <a:ext cx="0" cy="533400"/>
          </a:xfrm>
          <a:prstGeom prst="line">
            <a:avLst/>
          </a:prstGeom>
          <a:noFill/>
          <a:ln w="57150">
            <a:solidFill>
              <a:schemeClr val="bg2">
                <a:lumMod val="50000"/>
              </a:schemeClr>
            </a:solidFill>
            <a:round/>
            <a:headEnd type="none" w="med" len="med"/>
            <a:tailEnd type="arrow" w="med" len="med"/>
          </a:ln>
        </p:spPr>
        <p:txBody>
          <a:bodyPr wrap="none" anchor="ctr"/>
          <a:lstStyle/>
          <a:p>
            <a:pPr>
              <a:defRPr/>
            </a:pPr>
            <a:endParaRPr lang="en-US">
              <a:ea typeface="+mn-ea"/>
              <a:cs typeface="+mn-cs"/>
            </a:endParaRPr>
          </a:p>
        </p:txBody>
      </p:sp>
      <p:sp>
        <p:nvSpPr>
          <p:cNvPr id="24593" name="Line 17"/>
          <p:cNvSpPr>
            <a:spLocks noChangeShapeType="1"/>
          </p:cNvSpPr>
          <p:nvPr/>
        </p:nvSpPr>
        <p:spPr bwMode="auto">
          <a:xfrm>
            <a:off x="5715000" y="5010150"/>
            <a:ext cx="609600" cy="228600"/>
          </a:xfrm>
          <a:prstGeom prst="line">
            <a:avLst/>
          </a:prstGeom>
          <a:noFill/>
          <a:ln w="57150">
            <a:solidFill>
              <a:schemeClr val="bg2">
                <a:lumMod val="50000"/>
              </a:schemeClr>
            </a:solidFill>
            <a:round/>
            <a:headEnd type="none" w="med" len="med"/>
            <a:tailEnd type="arrow" w="med" len="med"/>
          </a:ln>
        </p:spPr>
        <p:txBody>
          <a:bodyPr wrap="none" anchor="ctr"/>
          <a:lstStyle/>
          <a:p>
            <a:pPr>
              <a:defRPr/>
            </a:pPr>
            <a:endParaRPr lang="en-US">
              <a:ea typeface="+mn-ea"/>
              <a:cs typeface="+mn-cs"/>
            </a:endParaRPr>
          </a:p>
        </p:txBody>
      </p:sp>
      <p:sp>
        <p:nvSpPr>
          <p:cNvPr id="24594" name="Line 18"/>
          <p:cNvSpPr>
            <a:spLocks noChangeShapeType="1"/>
          </p:cNvSpPr>
          <p:nvPr/>
        </p:nvSpPr>
        <p:spPr bwMode="auto">
          <a:xfrm>
            <a:off x="5715000" y="4229100"/>
            <a:ext cx="990600" cy="0"/>
          </a:xfrm>
          <a:prstGeom prst="line">
            <a:avLst/>
          </a:prstGeom>
          <a:noFill/>
          <a:ln w="57150">
            <a:solidFill>
              <a:schemeClr val="bg2">
                <a:lumMod val="50000"/>
              </a:schemeClr>
            </a:solidFill>
            <a:round/>
            <a:headEnd type="none" w="med" len="med"/>
            <a:tailEnd type="arrow" w="med" len="med"/>
          </a:ln>
        </p:spPr>
        <p:txBody>
          <a:bodyPr wrap="none" anchor="ctr"/>
          <a:lstStyle/>
          <a:p>
            <a:pPr>
              <a:defRPr/>
            </a:pPr>
            <a:endParaRPr lang="en-US">
              <a:ea typeface="+mn-ea"/>
              <a:cs typeface="+mn-cs"/>
            </a:endParaRPr>
          </a:p>
        </p:txBody>
      </p:sp>
      <p:sp>
        <p:nvSpPr>
          <p:cNvPr id="28682" name="Rectangle 10"/>
          <p:cNvSpPr>
            <a:spLocks noChangeArrowheads="1"/>
          </p:cNvSpPr>
          <p:nvPr/>
        </p:nvSpPr>
        <p:spPr bwMode="auto">
          <a:xfrm>
            <a:off x="3365500" y="2849027"/>
            <a:ext cx="2349500" cy="2508250"/>
          </a:xfrm>
          <a:prstGeom prst="rect">
            <a:avLst/>
          </a:prstGeom>
          <a:solidFill>
            <a:schemeClr val="bg2"/>
          </a:solidFill>
          <a:ln w="12700">
            <a:solidFill>
              <a:srgbClr val="414141"/>
            </a:solidFill>
            <a:miter lim="800000"/>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dirty="0">
                <a:solidFill>
                  <a:srgbClr val="7030A0"/>
                </a:solidFill>
                <a:ea typeface="ＭＳ Ｐゴシック" pitchFamily="-108" charset="-128"/>
                <a:cs typeface="+mn-cs"/>
              </a:rPr>
              <a:t>Resources owned or controlled by a company expected to yield future benefits.</a:t>
            </a:r>
            <a:endParaRPr lang="en-US" sz="1600" dirty="0">
              <a:solidFill>
                <a:srgbClr val="7030A0"/>
              </a:solidFill>
              <a:ea typeface="ＭＳ Ｐゴシック" pitchFamily="-108" charset="-128"/>
              <a:cs typeface="+mn-cs"/>
            </a:endParaRPr>
          </a:p>
        </p:txBody>
      </p:sp>
    </p:spTree>
    <p:extLst>
      <p:ext uri="{BB962C8B-B14F-4D97-AF65-F5344CB8AC3E}">
        <p14:creationId xmlns:p14="http://schemas.microsoft.com/office/powerpoint/2010/main" val="1749813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8677"/>
                                        </p:tgtEl>
                                        <p:attrNameLst>
                                          <p:attrName>style.visibility</p:attrName>
                                        </p:attrNameLst>
                                      </p:cBhvr>
                                      <p:to>
                                        <p:strVal val="visible"/>
                                      </p:to>
                                    </p:set>
                                    <p:anim calcmode="lin" valueType="num">
                                      <p:cBhvr>
                                        <p:cTn id="7" dur="500" fill="hold"/>
                                        <p:tgtEl>
                                          <p:spTgt spid="28677"/>
                                        </p:tgtEl>
                                        <p:attrNameLst>
                                          <p:attrName>ppt_w</p:attrName>
                                        </p:attrNameLst>
                                      </p:cBhvr>
                                      <p:tavLst>
                                        <p:tav tm="0">
                                          <p:val>
                                            <p:fltVal val="0"/>
                                          </p:val>
                                        </p:tav>
                                        <p:tav tm="100000">
                                          <p:val>
                                            <p:strVal val="#ppt_w"/>
                                          </p:val>
                                        </p:tav>
                                      </p:tavLst>
                                    </p:anim>
                                    <p:anim calcmode="lin" valueType="num">
                                      <p:cBhvr>
                                        <p:cTn id="8" dur="500" fill="hold"/>
                                        <p:tgtEl>
                                          <p:spTgt spid="28677"/>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28681"/>
                                        </p:tgtEl>
                                        <p:attrNameLst>
                                          <p:attrName>style.visibility</p:attrName>
                                        </p:attrNameLst>
                                      </p:cBhvr>
                                      <p:to>
                                        <p:strVal val="visible"/>
                                      </p:to>
                                    </p:set>
                                    <p:anim calcmode="lin" valueType="num">
                                      <p:cBhvr>
                                        <p:cTn id="12" dur="500" fill="hold"/>
                                        <p:tgtEl>
                                          <p:spTgt spid="28681"/>
                                        </p:tgtEl>
                                        <p:attrNameLst>
                                          <p:attrName>ppt_w</p:attrName>
                                        </p:attrNameLst>
                                      </p:cBhvr>
                                      <p:tavLst>
                                        <p:tav tm="0">
                                          <p:val>
                                            <p:fltVal val="0"/>
                                          </p:val>
                                        </p:tav>
                                        <p:tav tm="100000">
                                          <p:val>
                                            <p:strVal val="#ppt_w"/>
                                          </p:val>
                                        </p:tav>
                                      </p:tavLst>
                                    </p:anim>
                                    <p:anim calcmode="lin" valueType="num">
                                      <p:cBhvr>
                                        <p:cTn id="13" dur="500" fill="hold"/>
                                        <p:tgtEl>
                                          <p:spTgt spid="28681"/>
                                        </p:tgtEl>
                                        <p:attrNameLst>
                                          <p:attrName>ppt_h</p:attrName>
                                        </p:attrNameLst>
                                      </p:cBhvr>
                                      <p:tavLst>
                                        <p:tav tm="0">
                                          <p:val>
                                            <p:fltVal val="0"/>
                                          </p:val>
                                        </p:tav>
                                        <p:tav tm="100000">
                                          <p:val>
                                            <p:strVal val="#ppt_h"/>
                                          </p:val>
                                        </p:tav>
                                      </p:tavLst>
                                    </p:anim>
                                  </p:childTnLst>
                                </p:cTn>
                              </p:par>
                            </p:childTnLst>
                          </p:cTn>
                        </p:par>
                        <p:par>
                          <p:cTn id="14" fill="hold" nodeType="afterGroup">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28675"/>
                                        </p:tgtEl>
                                        <p:attrNameLst>
                                          <p:attrName>style.visibility</p:attrName>
                                        </p:attrNameLst>
                                      </p:cBhvr>
                                      <p:to>
                                        <p:strVal val="visible"/>
                                      </p:to>
                                    </p:set>
                                    <p:anim calcmode="lin" valueType="num">
                                      <p:cBhvr>
                                        <p:cTn id="17" dur="500" fill="hold"/>
                                        <p:tgtEl>
                                          <p:spTgt spid="28675"/>
                                        </p:tgtEl>
                                        <p:attrNameLst>
                                          <p:attrName>ppt_w</p:attrName>
                                        </p:attrNameLst>
                                      </p:cBhvr>
                                      <p:tavLst>
                                        <p:tav tm="0">
                                          <p:val>
                                            <p:fltVal val="0"/>
                                          </p:val>
                                        </p:tav>
                                        <p:tav tm="100000">
                                          <p:val>
                                            <p:strVal val="#ppt_w"/>
                                          </p:val>
                                        </p:tav>
                                      </p:tavLst>
                                    </p:anim>
                                    <p:anim calcmode="lin" valueType="num">
                                      <p:cBhvr>
                                        <p:cTn id="18" dur="500" fill="hold"/>
                                        <p:tgtEl>
                                          <p:spTgt spid="28675"/>
                                        </p:tgtEl>
                                        <p:attrNameLst>
                                          <p:attrName>ppt_h</p:attrName>
                                        </p:attrNameLst>
                                      </p:cBhvr>
                                      <p:tavLst>
                                        <p:tav tm="0">
                                          <p:val>
                                            <p:fltVal val="0"/>
                                          </p:val>
                                        </p:tav>
                                        <p:tav tm="100000">
                                          <p:val>
                                            <p:strVal val="#ppt_h"/>
                                          </p:val>
                                        </p:tav>
                                      </p:tavLst>
                                    </p:anim>
                                  </p:childTnLst>
                                </p:cTn>
                              </p:par>
                            </p:childTnLst>
                          </p:cTn>
                        </p:par>
                        <p:par>
                          <p:cTn id="19" fill="hold" nodeType="afterGroup">
                            <p:stCondLst>
                              <p:cond delay="1500"/>
                            </p:stCondLst>
                            <p:childTnLst>
                              <p:par>
                                <p:cTn id="20" presetID="23" presetClass="entr" presetSubtype="16" fill="hold" grpId="0" nodeType="afterEffect">
                                  <p:stCondLst>
                                    <p:cond delay="0"/>
                                  </p:stCondLst>
                                  <p:childTnLst>
                                    <p:set>
                                      <p:cBhvr>
                                        <p:cTn id="21" dur="1" fill="hold">
                                          <p:stCondLst>
                                            <p:cond delay="0"/>
                                          </p:stCondLst>
                                        </p:cTn>
                                        <p:tgtEl>
                                          <p:spTgt spid="28674"/>
                                        </p:tgtEl>
                                        <p:attrNameLst>
                                          <p:attrName>style.visibility</p:attrName>
                                        </p:attrNameLst>
                                      </p:cBhvr>
                                      <p:to>
                                        <p:strVal val="visible"/>
                                      </p:to>
                                    </p:set>
                                    <p:anim calcmode="lin" valueType="num">
                                      <p:cBhvr>
                                        <p:cTn id="22" dur="500" fill="hold"/>
                                        <p:tgtEl>
                                          <p:spTgt spid="28674"/>
                                        </p:tgtEl>
                                        <p:attrNameLst>
                                          <p:attrName>ppt_w</p:attrName>
                                        </p:attrNameLst>
                                      </p:cBhvr>
                                      <p:tavLst>
                                        <p:tav tm="0">
                                          <p:val>
                                            <p:fltVal val="0"/>
                                          </p:val>
                                        </p:tav>
                                        <p:tav tm="100000">
                                          <p:val>
                                            <p:strVal val="#ppt_w"/>
                                          </p:val>
                                        </p:tav>
                                      </p:tavLst>
                                    </p:anim>
                                    <p:anim calcmode="lin" valueType="num">
                                      <p:cBhvr>
                                        <p:cTn id="23" dur="500" fill="hold"/>
                                        <p:tgtEl>
                                          <p:spTgt spid="28674"/>
                                        </p:tgtEl>
                                        <p:attrNameLst>
                                          <p:attrName>ppt_h</p:attrName>
                                        </p:attrNameLst>
                                      </p:cBhvr>
                                      <p:tavLst>
                                        <p:tav tm="0">
                                          <p:val>
                                            <p:fltVal val="0"/>
                                          </p:val>
                                        </p:tav>
                                        <p:tav tm="100000">
                                          <p:val>
                                            <p:strVal val="#ppt_h"/>
                                          </p:val>
                                        </p:tav>
                                      </p:tavLst>
                                    </p:anim>
                                  </p:childTnLst>
                                </p:cTn>
                              </p:par>
                            </p:childTnLst>
                          </p:cTn>
                        </p:par>
                        <p:par>
                          <p:cTn id="24" fill="hold" nodeType="afterGroup">
                            <p:stCondLst>
                              <p:cond delay="2000"/>
                            </p:stCondLst>
                            <p:childTnLst>
                              <p:par>
                                <p:cTn id="25" presetID="23" presetClass="entr" presetSubtype="16" fill="hold" grpId="0" nodeType="afterEffect">
                                  <p:stCondLst>
                                    <p:cond delay="0"/>
                                  </p:stCondLst>
                                  <p:childTnLst>
                                    <p:set>
                                      <p:cBhvr>
                                        <p:cTn id="26" dur="1" fill="hold">
                                          <p:stCondLst>
                                            <p:cond delay="0"/>
                                          </p:stCondLst>
                                        </p:cTn>
                                        <p:tgtEl>
                                          <p:spTgt spid="28679"/>
                                        </p:tgtEl>
                                        <p:attrNameLst>
                                          <p:attrName>style.visibility</p:attrName>
                                        </p:attrNameLst>
                                      </p:cBhvr>
                                      <p:to>
                                        <p:strVal val="visible"/>
                                      </p:to>
                                    </p:set>
                                    <p:anim calcmode="lin" valueType="num">
                                      <p:cBhvr>
                                        <p:cTn id="27" dur="500" fill="hold"/>
                                        <p:tgtEl>
                                          <p:spTgt spid="28679"/>
                                        </p:tgtEl>
                                        <p:attrNameLst>
                                          <p:attrName>ppt_w</p:attrName>
                                        </p:attrNameLst>
                                      </p:cBhvr>
                                      <p:tavLst>
                                        <p:tav tm="0">
                                          <p:val>
                                            <p:fltVal val="0"/>
                                          </p:val>
                                        </p:tav>
                                        <p:tav tm="100000">
                                          <p:val>
                                            <p:strVal val="#ppt_w"/>
                                          </p:val>
                                        </p:tav>
                                      </p:tavLst>
                                    </p:anim>
                                    <p:anim calcmode="lin" valueType="num">
                                      <p:cBhvr>
                                        <p:cTn id="28" dur="500" fill="hold"/>
                                        <p:tgtEl>
                                          <p:spTgt spid="28679"/>
                                        </p:tgtEl>
                                        <p:attrNameLst>
                                          <p:attrName>ppt_h</p:attrName>
                                        </p:attrNameLst>
                                      </p:cBhvr>
                                      <p:tavLst>
                                        <p:tav tm="0">
                                          <p:val>
                                            <p:fltVal val="0"/>
                                          </p:val>
                                        </p:tav>
                                        <p:tav tm="100000">
                                          <p:val>
                                            <p:strVal val="#ppt_h"/>
                                          </p:val>
                                        </p:tav>
                                      </p:tavLst>
                                    </p:anim>
                                  </p:childTnLst>
                                </p:cTn>
                              </p:par>
                            </p:childTnLst>
                          </p:cTn>
                        </p:par>
                        <p:par>
                          <p:cTn id="29" fill="hold" nodeType="afterGroup">
                            <p:stCondLst>
                              <p:cond delay="2500"/>
                            </p:stCondLst>
                            <p:childTnLst>
                              <p:par>
                                <p:cTn id="30" presetID="23" presetClass="entr" presetSubtype="16" fill="hold" grpId="0" nodeType="afterEffect">
                                  <p:stCondLst>
                                    <p:cond delay="0"/>
                                  </p:stCondLst>
                                  <p:childTnLst>
                                    <p:set>
                                      <p:cBhvr>
                                        <p:cTn id="31" dur="1" fill="hold">
                                          <p:stCondLst>
                                            <p:cond delay="0"/>
                                          </p:stCondLst>
                                        </p:cTn>
                                        <p:tgtEl>
                                          <p:spTgt spid="28680"/>
                                        </p:tgtEl>
                                        <p:attrNameLst>
                                          <p:attrName>style.visibility</p:attrName>
                                        </p:attrNameLst>
                                      </p:cBhvr>
                                      <p:to>
                                        <p:strVal val="visible"/>
                                      </p:to>
                                    </p:set>
                                    <p:anim calcmode="lin" valueType="num">
                                      <p:cBhvr>
                                        <p:cTn id="32" dur="500" fill="hold"/>
                                        <p:tgtEl>
                                          <p:spTgt spid="28680"/>
                                        </p:tgtEl>
                                        <p:attrNameLst>
                                          <p:attrName>ppt_w</p:attrName>
                                        </p:attrNameLst>
                                      </p:cBhvr>
                                      <p:tavLst>
                                        <p:tav tm="0">
                                          <p:val>
                                            <p:fltVal val="0"/>
                                          </p:val>
                                        </p:tav>
                                        <p:tav tm="100000">
                                          <p:val>
                                            <p:strVal val="#ppt_w"/>
                                          </p:val>
                                        </p:tav>
                                      </p:tavLst>
                                    </p:anim>
                                    <p:anim calcmode="lin" valueType="num">
                                      <p:cBhvr>
                                        <p:cTn id="33" dur="500" fill="hold"/>
                                        <p:tgtEl>
                                          <p:spTgt spid="28680"/>
                                        </p:tgtEl>
                                        <p:attrNameLst>
                                          <p:attrName>ppt_h</p:attrName>
                                        </p:attrNameLst>
                                      </p:cBhvr>
                                      <p:tavLst>
                                        <p:tav tm="0">
                                          <p:val>
                                            <p:fltVal val="0"/>
                                          </p:val>
                                        </p:tav>
                                        <p:tav tm="100000">
                                          <p:val>
                                            <p:strVal val="#ppt_h"/>
                                          </p:val>
                                        </p:tav>
                                      </p:tavLst>
                                    </p:anim>
                                  </p:childTnLst>
                                </p:cTn>
                              </p:par>
                            </p:childTnLst>
                          </p:cTn>
                        </p:par>
                        <p:par>
                          <p:cTn id="34" fill="hold" nodeType="afterGroup">
                            <p:stCondLst>
                              <p:cond delay="3000"/>
                            </p:stCondLst>
                            <p:childTnLst>
                              <p:par>
                                <p:cTn id="35" presetID="23" presetClass="entr" presetSubtype="16" fill="hold" grpId="0" nodeType="afterEffect">
                                  <p:stCondLst>
                                    <p:cond delay="0"/>
                                  </p:stCondLst>
                                  <p:childTnLst>
                                    <p:set>
                                      <p:cBhvr>
                                        <p:cTn id="36" dur="1" fill="hold">
                                          <p:stCondLst>
                                            <p:cond delay="0"/>
                                          </p:stCondLst>
                                        </p:cTn>
                                        <p:tgtEl>
                                          <p:spTgt spid="28678"/>
                                        </p:tgtEl>
                                        <p:attrNameLst>
                                          <p:attrName>style.visibility</p:attrName>
                                        </p:attrNameLst>
                                      </p:cBhvr>
                                      <p:to>
                                        <p:strVal val="visible"/>
                                      </p:to>
                                    </p:set>
                                    <p:anim calcmode="lin" valueType="num">
                                      <p:cBhvr>
                                        <p:cTn id="37" dur="500" fill="hold"/>
                                        <p:tgtEl>
                                          <p:spTgt spid="28678"/>
                                        </p:tgtEl>
                                        <p:attrNameLst>
                                          <p:attrName>ppt_w</p:attrName>
                                        </p:attrNameLst>
                                      </p:cBhvr>
                                      <p:tavLst>
                                        <p:tav tm="0">
                                          <p:val>
                                            <p:fltVal val="0"/>
                                          </p:val>
                                        </p:tav>
                                        <p:tav tm="100000">
                                          <p:val>
                                            <p:strVal val="#ppt_w"/>
                                          </p:val>
                                        </p:tav>
                                      </p:tavLst>
                                    </p:anim>
                                    <p:anim calcmode="lin" valueType="num">
                                      <p:cBhvr>
                                        <p:cTn id="38" dur="500" fill="hold"/>
                                        <p:tgtEl>
                                          <p:spTgt spid="28678"/>
                                        </p:tgtEl>
                                        <p:attrNameLst>
                                          <p:attrName>ppt_h</p:attrName>
                                        </p:attrNameLst>
                                      </p:cBhvr>
                                      <p:tavLst>
                                        <p:tav tm="0">
                                          <p:val>
                                            <p:fltVal val="0"/>
                                          </p:val>
                                        </p:tav>
                                        <p:tav tm="100000">
                                          <p:val>
                                            <p:strVal val="#ppt_h"/>
                                          </p:val>
                                        </p:tav>
                                      </p:tavLst>
                                    </p:anim>
                                  </p:childTnLst>
                                </p:cTn>
                              </p:par>
                            </p:childTnLst>
                          </p:cTn>
                        </p:par>
                        <p:par>
                          <p:cTn id="39" fill="hold" nodeType="afterGroup">
                            <p:stCondLst>
                              <p:cond delay="3500"/>
                            </p:stCondLst>
                            <p:childTnLst>
                              <p:par>
                                <p:cTn id="40" presetID="23" presetClass="entr" presetSubtype="16" fill="hold" grpId="0" nodeType="afterEffect">
                                  <p:stCondLst>
                                    <p:cond delay="0"/>
                                  </p:stCondLst>
                                  <p:childTnLst>
                                    <p:set>
                                      <p:cBhvr>
                                        <p:cTn id="41" dur="1" fill="hold">
                                          <p:stCondLst>
                                            <p:cond delay="0"/>
                                          </p:stCondLst>
                                        </p:cTn>
                                        <p:tgtEl>
                                          <p:spTgt spid="28676"/>
                                        </p:tgtEl>
                                        <p:attrNameLst>
                                          <p:attrName>style.visibility</p:attrName>
                                        </p:attrNameLst>
                                      </p:cBhvr>
                                      <p:to>
                                        <p:strVal val="visible"/>
                                      </p:to>
                                    </p:set>
                                    <p:anim calcmode="lin" valueType="num">
                                      <p:cBhvr>
                                        <p:cTn id="42" dur="500" fill="hold"/>
                                        <p:tgtEl>
                                          <p:spTgt spid="28676"/>
                                        </p:tgtEl>
                                        <p:attrNameLst>
                                          <p:attrName>ppt_w</p:attrName>
                                        </p:attrNameLst>
                                      </p:cBhvr>
                                      <p:tavLst>
                                        <p:tav tm="0">
                                          <p:val>
                                            <p:fltVal val="0"/>
                                          </p:val>
                                        </p:tav>
                                        <p:tav tm="100000">
                                          <p:val>
                                            <p:strVal val="#ppt_w"/>
                                          </p:val>
                                        </p:tav>
                                      </p:tavLst>
                                    </p:anim>
                                    <p:anim calcmode="lin" valueType="num">
                                      <p:cBhvr>
                                        <p:cTn id="43" dur="500" fill="hold"/>
                                        <p:tgtEl>
                                          <p:spTgt spid="2867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nimBg="1" autoUpdateAnimBg="0"/>
      <p:bldP spid="28675" grpId="0" animBg="1" autoUpdateAnimBg="0"/>
      <p:bldP spid="28676" grpId="0" animBg="1" autoUpdateAnimBg="0"/>
      <p:bldP spid="28677" grpId="0" animBg="1" autoUpdateAnimBg="0"/>
      <p:bldP spid="28678" grpId="0" animBg="1" autoUpdateAnimBg="0"/>
      <p:bldP spid="28679" grpId="0" animBg="1" autoUpdateAnimBg="0"/>
      <p:bldP spid="28680" grpId="0" animBg="1" autoUpdateAnimBg="0"/>
      <p:bldP spid="28681"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Oval 2"/>
          <p:cNvSpPr>
            <a:spLocks noChangeArrowheads="1"/>
          </p:cNvSpPr>
          <p:nvPr/>
        </p:nvSpPr>
        <p:spPr bwMode="auto">
          <a:xfrm>
            <a:off x="648703" y="4991100"/>
            <a:ext cx="2343150" cy="977900"/>
          </a:xfrm>
          <a:prstGeom prst="ellipse">
            <a:avLst/>
          </a:prstGeom>
          <a:solidFill>
            <a:srgbClr val="FFFFCC"/>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a:ea typeface="ＭＳ Ｐゴシック" pitchFamily="-108" charset="-128"/>
                <a:cs typeface="+mn-cs"/>
              </a:rPr>
              <a:t>Taxes Payable</a:t>
            </a:r>
          </a:p>
        </p:txBody>
      </p:sp>
      <p:sp>
        <p:nvSpPr>
          <p:cNvPr id="29699" name="Oval 3"/>
          <p:cNvSpPr>
            <a:spLocks noChangeArrowheads="1"/>
          </p:cNvSpPr>
          <p:nvPr/>
        </p:nvSpPr>
        <p:spPr bwMode="auto">
          <a:xfrm>
            <a:off x="6248400" y="4847724"/>
            <a:ext cx="2425700" cy="1092200"/>
          </a:xfrm>
          <a:prstGeom prst="ellipse">
            <a:avLst/>
          </a:prstGeom>
          <a:solidFill>
            <a:schemeClr val="accent2"/>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a:ea typeface="ＭＳ Ｐゴシック" pitchFamily="-108" charset="-128"/>
                <a:cs typeface="+mn-cs"/>
              </a:rPr>
              <a:t>Wages Payable</a:t>
            </a:r>
          </a:p>
        </p:txBody>
      </p:sp>
      <p:sp>
        <p:nvSpPr>
          <p:cNvPr id="29700" name="Oval 4"/>
          <p:cNvSpPr>
            <a:spLocks noChangeArrowheads="1"/>
          </p:cNvSpPr>
          <p:nvPr/>
        </p:nvSpPr>
        <p:spPr bwMode="auto">
          <a:xfrm>
            <a:off x="6032500" y="1939925"/>
            <a:ext cx="2647950" cy="1092200"/>
          </a:xfrm>
          <a:prstGeom prst="ellipse">
            <a:avLst/>
          </a:prstGeom>
          <a:solidFill>
            <a:srgbClr val="EAEAEA"/>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dirty="0">
                <a:ea typeface="ＭＳ Ｐゴシック" pitchFamily="-108" charset="-128"/>
                <a:cs typeface="+mn-cs"/>
              </a:rPr>
              <a:t>Unearned revenue</a:t>
            </a:r>
          </a:p>
        </p:txBody>
      </p:sp>
      <p:sp>
        <p:nvSpPr>
          <p:cNvPr id="29701" name="Oval 5"/>
          <p:cNvSpPr>
            <a:spLocks noChangeArrowheads="1"/>
          </p:cNvSpPr>
          <p:nvPr/>
        </p:nvSpPr>
        <p:spPr bwMode="auto">
          <a:xfrm>
            <a:off x="430831" y="1939925"/>
            <a:ext cx="2647950" cy="1092200"/>
          </a:xfrm>
          <a:prstGeom prst="ellipse">
            <a:avLst/>
          </a:prstGeom>
          <a:solidFill>
            <a:srgbClr val="CCFFFF"/>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a:ea typeface="ＭＳ Ｐゴシック" pitchFamily="-108" charset="-128"/>
                <a:cs typeface="+mn-cs"/>
              </a:rPr>
              <a:t>Accounts Payable</a:t>
            </a:r>
          </a:p>
        </p:txBody>
      </p:sp>
      <p:sp>
        <p:nvSpPr>
          <p:cNvPr id="29703" name="Rectangle 7"/>
          <p:cNvSpPr>
            <a:spLocks noGrp="1" noChangeArrowheads="1"/>
          </p:cNvSpPr>
          <p:nvPr>
            <p:ph type="title"/>
          </p:nvPr>
        </p:nvSpPr>
        <p:spPr/>
        <p:txBody>
          <a:bodyPr/>
          <a:lstStyle/>
          <a:p>
            <a:pPr>
              <a:defRPr/>
            </a:pPr>
            <a:r>
              <a:rPr lang="en-US" dirty="0">
                <a:ea typeface="+mj-ea"/>
              </a:rPr>
              <a:t>Liabilities</a:t>
            </a:r>
          </a:p>
        </p:txBody>
      </p:sp>
      <p:sp>
        <p:nvSpPr>
          <p:cNvPr id="48136" name="Line 8"/>
          <p:cNvSpPr>
            <a:spLocks noChangeShapeType="1"/>
          </p:cNvSpPr>
          <p:nvPr/>
        </p:nvSpPr>
        <p:spPr bwMode="auto">
          <a:xfrm flipH="1">
            <a:off x="2895600" y="4800600"/>
            <a:ext cx="381000" cy="457200"/>
          </a:xfrm>
          <a:prstGeom prst="line">
            <a:avLst/>
          </a:prstGeom>
          <a:noFill/>
          <a:ln w="57150">
            <a:solidFill>
              <a:srgbClr val="CEB500"/>
            </a:solidFill>
            <a:round/>
            <a:headEnd/>
            <a:tailEnd type="arrow" w="med" len="med"/>
          </a:ln>
          <a:effectLst>
            <a:outerShdw blurRad="63500" dist="38100" dir="2700000" algn="tl" rotWithShape="0">
              <a:srgbClr val="000000">
                <a:alpha val="39999"/>
              </a:srgbClr>
            </a:outerShdw>
          </a:effectLst>
          <a:extLst>
            <a:ext uri="{909E8E84-426E-40DD-AFC4-6F175D3DCCD1}">
              <a14:hiddenFill xmlns:a14="http://schemas.microsoft.com/office/drawing/2010/main">
                <a:noFill/>
              </a14:hiddenFill>
            </a:ext>
          </a:extLst>
        </p:spPr>
        <p:txBody>
          <a:bodyPr wrap="none" anchor="ctr"/>
          <a:lstStyle/>
          <a:p>
            <a:pPr>
              <a:defRPr/>
            </a:pPr>
            <a:endParaRPr lang="en-US">
              <a:cs typeface="+mn-cs"/>
            </a:endParaRPr>
          </a:p>
        </p:txBody>
      </p:sp>
      <p:sp>
        <p:nvSpPr>
          <p:cNvPr id="48137" name="Line 9"/>
          <p:cNvSpPr>
            <a:spLocks noChangeShapeType="1"/>
          </p:cNvSpPr>
          <p:nvPr/>
        </p:nvSpPr>
        <p:spPr bwMode="auto">
          <a:xfrm flipH="1" flipV="1">
            <a:off x="2790825" y="2798345"/>
            <a:ext cx="304800" cy="381000"/>
          </a:xfrm>
          <a:prstGeom prst="line">
            <a:avLst/>
          </a:prstGeom>
          <a:noFill/>
          <a:ln w="57150">
            <a:solidFill>
              <a:srgbClr val="CEB500"/>
            </a:solidFill>
            <a:round/>
            <a:headEnd/>
            <a:tailEnd type="arrow" w="med" len="med"/>
          </a:ln>
          <a:effectLst>
            <a:outerShdw blurRad="63500" dist="38100" dir="2700000" algn="tl" rotWithShape="0">
              <a:srgbClr val="000000">
                <a:alpha val="39999"/>
              </a:srgbClr>
            </a:outerShdw>
          </a:effectLst>
          <a:extLst>
            <a:ext uri="{909E8E84-426E-40DD-AFC4-6F175D3DCCD1}">
              <a14:hiddenFill xmlns:a14="http://schemas.microsoft.com/office/drawing/2010/main">
                <a:noFill/>
              </a14:hiddenFill>
            </a:ext>
          </a:extLst>
        </p:spPr>
        <p:txBody>
          <a:bodyPr wrap="none" anchor="ctr"/>
          <a:lstStyle/>
          <a:p>
            <a:pPr>
              <a:defRPr/>
            </a:pPr>
            <a:endParaRPr lang="en-US">
              <a:cs typeface="+mn-cs"/>
            </a:endParaRPr>
          </a:p>
        </p:txBody>
      </p:sp>
      <p:sp>
        <p:nvSpPr>
          <p:cNvPr id="48138" name="Line 10"/>
          <p:cNvSpPr>
            <a:spLocks noChangeShapeType="1"/>
          </p:cNvSpPr>
          <p:nvPr/>
        </p:nvSpPr>
        <p:spPr bwMode="auto">
          <a:xfrm flipV="1">
            <a:off x="6096000" y="2895600"/>
            <a:ext cx="304800" cy="228600"/>
          </a:xfrm>
          <a:prstGeom prst="line">
            <a:avLst/>
          </a:prstGeom>
          <a:noFill/>
          <a:ln w="57150">
            <a:solidFill>
              <a:srgbClr val="CEB500"/>
            </a:solidFill>
            <a:round/>
            <a:headEnd/>
            <a:tailEnd type="arrow" w="med" len="med"/>
          </a:ln>
          <a:effectLst>
            <a:outerShdw blurRad="63500" dist="38100" dir="2700000" algn="tl" rotWithShape="0">
              <a:srgbClr val="000000">
                <a:alpha val="39999"/>
              </a:srgbClr>
            </a:outerShdw>
          </a:effectLst>
          <a:extLst>
            <a:ext uri="{909E8E84-426E-40DD-AFC4-6F175D3DCCD1}">
              <a14:hiddenFill xmlns:a14="http://schemas.microsoft.com/office/drawing/2010/main">
                <a:noFill/>
              </a14:hiddenFill>
            </a:ext>
          </a:extLst>
        </p:spPr>
        <p:txBody>
          <a:bodyPr wrap="none" anchor="ctr"/>
          <a:lstStyle/>
          <a:p>
            <a:pPr>
              <a:defRPr/>
            </a:pPr>
            <a:endParaRPr lang="en-US">
              <a:cs typeface="+mn-cs"/>
            </a:endParaRPr>
          </a:p>
        </p:txBody>
      </p:sp>
      <p:sp>
        <p:nvSpPr>
          <p:cNvPr id="48139" name="Line 11"/>
          <p:cNvSpPr>
            <a:spLocks noChangeShapeType="1"/>
          </p:cNvSpPr>
          <p:nvPr/>
        </p:nvSpPr>
        <p:spPr bwMode="auto">
          <a:xfrm>
            <a:off x="6172200" y="4876800"/>
            <a:ext cx="228600" cy="228600"/>
          </a:xfrm>
          <a:prstGeom prst="line">
            <a:avLst/>
          </a:prstGeom>
          <a:noFill/>
          <a:ln w="57150">
            <a:solidFill>
              <a:srgbClr val="CEB500"/>
            </a:solidFill>
            <a:round/>
            <a:headEnd/>
            <a:tailEnd type="arrow" w="med" len="med"/>
          </a:ln>
          <a:effectLst>
            <a:outerShdw blurRad="63500" dist="38100" dir="2700000" algn="tl" rotWithShape="0">
              <a:srgbClr val="000000">
                <a:alpha val="39999"/>
              </a:srgbClr>
            </a:outerShdw>
          </a:effectLst>
          <a:extLst>
            <a:ext uri="{909E8E84-426E-40DD-AFC4-6F175D3DCCD1}">
              <a14:hiddenFill xmlns:a14="http://schemas.microsoft.com/office/drawing/2010/main">
                <a:noFill/>
              </a14:hiddenFill>
            </a:ext>
          </a:extLst>
        </p:spPr>
        <p:txBody>
          <a:bodyPr wrap="none" anchor="ctr"/>
          <a:lstStyle/>
          <a:p>
            <a:pPr>
              <a:defRPr/>
            </a:pPr>
            <a:endParaRPr lang="en-US">
              <a:cs typeface="+mn-cs"/>
            </a:endParaRPr>
          </a:p>
        </p:txBody>
      </p:sp>
      <p:sp>
        <p:nvSpPr>
          <p:cNvPr id="29702" name="Rectangle 6"/>
          <p:cNvSpPr>
            <a:spLocks noChangeArrowheads="1"/>
          </p:cNvSpPr>
          <p:nvPr/>
        </p:nvSpPr>
        <p:spPr bwMode="auto">
          <a:xfrm>
            <a:off x="3095625" y="3124200"/>
            <a:ext cx="3035300" cy="1752600"/>
          </a:xfrm>
          <a:prstGeom prst="rect">
            <a:avLst/>
          </a:prstGeom>
          <a:solidFill>
            <a:srgbClr val="CCFFFF"/>
          </a:solidFill>
          <a:ln w="12700">
            <a:solidFill>
              <a:srgbClr val="414141"/>
            </a:solidFill>
            <a:miter lim="800000"/>
            <a:headEnd/>
            <a:tailEnd/>
          </a:ln>
          <a:effectLst>
            <a:outerShdw blurRad="63500" dist="38100" dir="2700000" algn="tl" rotWithShape="0">
              <a:srgbClr val="000000">
                <a:alpha val="39999"/>
              </a:srgbClr>
            </a:outerShdw>
          </a:effectLst>
        </p:spPr>
        <p:txBody>
          <a:bodyPr lIns="90488" tIns="44450" rIns="90488" bIns="44450" anchor="ctr"/>
          <a:lstStyle/>
          <a:p>
            <a:pPr algn="ctr">
              <a:defRPr/>
            </a:pPr>
            <a:r>
              <a:rPr lang="en-US" sz="2400" dirty="0">
                <a:solidFill>
                  <a:srgbClr val="3333CC"/>
                </a:solidFill>
              </a:rPr>
              <a:t>Creditors</a:t>
            </a:r>
            <a:r>
              <a:rPr lang="ja-JP" altLang="en-US" sz="2400" dirty="0">
                <a:solidFill>
                  <a:srgbClr val="3333CC"/>
                </a:solidFill>
              </a:rPr>
              <a:t>’</a:t>
            </a:r>
            <a:r>
              <a:rPr lang="en-US" sz="2400" dirty="0">
                <a:solidFill>
                  <a:srgbClr val="3333CC"/>
                </a:solidFill>
              </a:rPr>
              <a:t> claims on assets that represents an obligation to make future payment</a:t>
            </a:r>
          </a:p>
        </p:txBody>
      </p:sp>
    </p:spTree>
    <p:extLst>
      <p:ext uri="{BB962C8B-B14F-4D97-AF65-F5344CB8AC3E}">
        <p14:creationId xmlns:p14="http://schemas.microsoft.com/office/powerpoint/2010/main" val="738702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9701"/>
                                        </p:tgtEl>
                                        <p:attrNameLst>
                                          <p:attrName>style.visibility</p:attrName>
                                        </p:attrNameLst>
                                      </p:cBhvr>
                                      <p:to>
                                        <p:strVal val="visible"/>
                                      </p:to>
                                    </p:set>
                                    <p:anim calcmode="lin" valueType="num">
                                      <p:cBhvr>
                                        <p:cTn id="7" dur="500" fill="hold"/>
                                        <p:tgtEl>
                                          <p:spTgt spid="29701"/>
                                        </p:tgtEl>
                                        <p:attrNameLst>
                                          <p:attrName>ppt_w</p:attrName>
                                        </p:attrNameLst>
                                      </p:cBhvr>
                                      <p:tavLst>
                                        <p:tav tm="0">
                                          <p:val>
                                            <p:fltVal val="0"/>
                                          </p:val>
                                        </p:tav>
                                        <p:tav tm="100000">
                                          <p:val>
                                            <p:strVal val="#ppt_w"/>
                                          </p:val>
                                        </p:tav>
                                      </p:tavLst>
                                    </p:anim>
                                    <p:anim calcmode="lin" valueType="num">
                                      <p:cBhvr>
                                        <p:cTn id="8" dur="500" fill="hold"/>
                                        <p:tgtEl>
                                          <p:spTgt spid="29701"/>
                                        </p:tgtEl>
                                        <p:attrNameLst>
                                          <p:attrName>ppt_h</p:attrName>
                                        </p:attrNameLst>
                                      </p:cBhvr>
                                      <p:tavLst>
                                        <p:tav tm="0">
                                          <p:val>
                                            <p:fltVal val="0"/>
                                          </p:val>
                                        </p:tav>
                                        <p:tav tm="100000">
                                          <p:val>
                                            <p:strVal val="#ppt_h"/>
                                          </p:val>
                                        </p:tav>
                                      </p:tavLst>
                                    </p:anim>
                                  </p:childTnLst>
                                </p:cTn>
                              </p:par>
                            </p:childTnLst>
                          </p:cTn>
                        </p:par>
                        <p:par>
                          <p:cTn id="9" fill="hold" nodeType="afterGroup">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29698"/>
                                        </p:tgtEl>
                                        <p:attrNameLst>
                                          <p:attrName>style.visibility</p:attrName>
                                        </p:attrNameLst>
                                      </p:cBhvr>
                                      <p:to>
                                        <p:strVal val="visible"/>
                                      </p:to>
                                    </p:set>
                                    <p:anim calcmode="lin" valueType="num">
                                      <p:cBhvr>
                                        <p:cTn id="12" dur="500" fill="hold"/>
                                        <p:tgtEl>
                                          <p:spTgt spid="29698"/>
                                        </p:tgtEl>
                                        <p:attrNameLst>
                                          <p:attrName>ppt_w</p:attrName>
                                        </p:attrNameLst>
                                      </p:cBhvr>
                                      <p:tavLst>
                                        <p:tav tm="0">
                                          <p:val>
                                            <p:fltVal val="0"/>
                                          </p:val>
                                        </p:tav>
                                        <p:tav tm="100000">
                                          <p:val>
                                            <p:strVal val="#ppt_w"/>
                                          </p:val>
                                        </p:tav>
                                      </p:tavLst>
                                    </p:anim>
                                    <p:anim calcmode="lin" valueType="num">
                                      <p:cBhvr>
                                        <p:cTn id="13" dur="500" fill="hold"/>
                                        <p:tgtEl>
                                          <p:spTgt spid="29698"/>
                                        </p:tgtEl>
                                        <p:attrNameLst>
                                          <p:attrName>ppt_h</p:attrName>
                                        </p:attrNameLst>
                                      </p:cBhvr>
                                      <p:tavLst>
                                        <p:tav tm="0">
                                          <p:val>
                                            <p:fltVal val="0"/>
                                          </p:val>
                                        </p:tav>
                                        <p:tav tm="100000">
                                          <p:val>
                                            <p:strVal val="#ppt_h"/>
                                          </p:val>
                                        </p:tav>
                                      </p:tavLst>
                                    </p:anim>
                                  </p:childTnLst>
                                </p:cTn>
                              </p:par>
                            </p:childTnLst>
                          </p:cTn>
                        </p:par>
                        <p:par>
                          <p:cTn id="14" fill="hold" nodeType="afterGroup">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29699"/>
                                        </p:tgtEl>
                                        <p:attrNameLst>
                                          <p:attrName>style.visibility</p:attrName>
                                        </p:attrNameLst>
                                      </p:cBhvr>
                                      <p:to>
                                        <p:strVal val="visible"/>
                                      </p:to>
                                    </p:set>
                                    <p:anim calcmode="lin" valueType="num">
                                      <p:cBhvr>
                                        <p:cTn id="17" dur="500" fill="hold"/>
                                        <p:tgtEl>
                                          <p:spTgt spid="29699"/>
                                        </p:tgtEl>
                                        <p:attrNameLst>
                                          <p:attrName>ppt_w</p:attrName>
                                        </p:attrNameLst>
                                      </p:cBhvr>
                                      <p:tavLst>
                                        <p:tav tm="0">
                                          <p:val>
                                            <p:fltVal val="0"/>
                                          </p:val>
                                        </p:tav>
                                        <p:tav tm="100000">
                                          <p:val>
                                            <p:strVal val="#ppt_w"/>
                                          </p:val>
                                        </p:tav>
                                      </p:tavLst>
                                    </p:anim>
                                    <p:anim calcmode="lin" valueType="num">
                                      <p:cBhvr>
                                        <p:cTn id="18" dur="500" fill="hold"/>
                                        <p:tgtEl>
                                          <p:spTgt spid="29699"/>
                                        </p:tgtEl>
                                        <p:attrNameLst>
                                          <p:attrName>ppt_h</p:attrName>
                                        </p:attrNameLst>
                                      </p:cBhvr>
                                      <p:tavLst>
                                        <p:tav tm="0">
                                          <p:val>
                                            <p:fltVal val="0"/>
                                          </p:val>
                                        </p:tav>
                                        <p:tav tm="100000">
                                          <p:val>
                                            <p:strVal val="#ppt_h"/>
                                          </p:val>
                                        </p:tav>
                                      </p:tavLst>
                                    </p:anim>
                                  </p:childTnLst>
                                </p:cTn>
                              </p:par>
                            </p:childTnLst>
                          </p:cTn>
                        </p:par>
                        <p:par>
                          <p:cTn id="19" fill="hold" nodeType="afterGroup">
                            <p:stCondLst>
                              <p:cond delay="1500"/>
                            </p:stCondLst>
                            <p:childTnLst>
                              <p:par>
                                <p:cTn id="20" presetID="23" presetClass="entr" presetSubtype="16" fill="hold" grpId="0" nodeType="afterEffect">
                                  <p:stCondLst>
                                    <p:cond delay="0"/>
                                  </p:stCondLst>
                                  <p:childTnLst>
                                    <p:set>
                                      <p:cBhvr>
                                        <p:cTn id="21" dur="1" fill="hold">
                                          <p:stCondLst>
                                            <p:cond delay="0"/>
                                          </p:stCondLst>
                                        </p:cTn>
                                        <p:tgtEl>
                                          <p:spTgt spid="29700"/>
                                        </p:tgtEl>
                                        <p:attrNameLst>
                                          <p:attrName>style.visibility</p:attrName>
                                        </p:attrNameLst>
                                      </p:cBhvr>
                                      <p:to>
                                        <p:strVal val="visible"/>
                                      </p:to>
                                    </p:set>
                                    <p:anim calcmode="lin" valueType="num">
                                      <p:cBhvr>
                                        <p:cTn id="22" dur="500" fill="hold"/>
                                        <p:tgtEl>
                                          <p:spTgt spid="29700"/>
                                        </p:tgtEl>
                                        <p:attrNameLst>
                                          <p:attrName>ppt_w</p:attrName>
                                        </p:attrNameLst>
                                      </p:cBhvr>
                                      <p:tavLst>
                                        <p:tav tm="0">
                                          <p:val>
                                            <p:fltVal val="0"/>
                                          </p:val>
                                        </p:tav>
                                        <p:tav tm="100000">
                                          <p:val>
                                            <p:strVal val="#ppt_w"/>
                                          </p:val>
                                        </p:tav>
                                      </p:tavLst>
                                    </p:anim>
                                    <p:anim calcmode="lin" valueType="num">
                                      <p:cBhvr>
                                        <p:cTn id="23" dur="500" fill="hold"/>
                                        <p:tgtEl>
                                          <p:spTgt spid="2970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animBg="1" autoUpdateAnimBg="0"/>
      <p:bldP spid="29699" grpId="0" animBg="1" autoUpdateAnimBg="0"/>
      <p:bldP spid="29700" grpId="0" animBg="1" autoUpdateAnimBg="0"/>
      <p:bldP spid="29701"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7" name="Rectangle 7"/>
          <p:cNvSpPr>
            <a:spLocks noGrp="1" noChangeArrowheads="1"/>
          </p:cNvSpPr>
          <p:nvPr>
            <p:ph type="title"/>
          </p:nvPr>
        </p:nvSpPr>
        <p:spPr/>
        <p:txBody>
          <a:bodyPr/>
          <a:lstStyle/>
          <a:p>
            <a:pPr>
              <a:defRPr/>
            </a:pPr>
            <a:r>
              <a:rPr lang="en-US">
                <a:ea typeface="+mj-ea"/>
              </a:rPr>
              <a:t>Equity</a:t>
            </a:r>
          </a:p>
        </p:txBody>
      </p:sp>
      <p:sp>
        <p:nvSpPr>
          <p:cNvPr id="49157" name="Line 8"/>
          <p:cNvSpPr>
            <a:spLocks noChangeShapeType="1"/>
          </p:cNvSpPr>
          <p:nvPr/>
        </p:nvSpPr>
        <p:spPr bwMode="auto">
          <a:xfrm>
            <a:off x="4584700" y="2971800"/>
            <a:ext cx="0" cy="914400"/>
          </a:xfrm>
          <a:prstGeom prst="line">
            <a:avLst/>
          </a:prstGeom>
          <a:noFill/>
          <a:ln w="57150">
            <a:solidFill>
              <a:srgbClr val="CEB500"/>
            </a:solidFill>
            <a:round/>
            <a:headEnd/>
            <a:tailEnd type="arrow" w="med" len="med"/>
          </a:ln>
          <a:effectLst>
            <a:outerShdw blurRad="63500" dist="38100" dir="2700000" algn="tl" rotWithShape="0">
              <a:srgbClr val="000000">
                <a:alpha val="39999"/>
              </a:srgbClr>
            </a:outerShdw>
          </a:effectLst>
          <a:extLst>
            <a:ext uri="{909E8E84-426E-40DD-AFC4-6F175D3DCCD1}">
              <a14:hiddenFill xmlns:a14="http://schemas.microsoft.com/office/drawing/2010/main">
                <a:noFill/>
              </a14:hiddenFill>
            </a:ext>
          </a:extLst>
        </p:spPr>
        <p:txBody>
          <a:bodyPr wrap="none" anchor="ctr"/>
          <a:lstStyle/>
          <a:p>
            <a:pPr>
              <a:defRPr/>
            </a:pPr>
            <a:endParaRPr lang="en-US">
              <a:latin typeface="Arial" charset="0"/>
              <a:ea typeface="ＭＳ Ｐゴシック" charset="0"/>
            </a:endParaRPr>
          </a:p>
        </p:txBody>
      </p:sp>
      <p:sp>
        <p:nvSpPr>
          <p:cNvPr id="30724" name="Oval 4"/>
          <p:cNvSpPr>
            <a:spLocks noChangeArrowheads="1"/>
          </p:cNvSpPr>
          <p:nvPr/>
        </p:nvSpPr>
        <p:spPr bwMode="auto">
          <a:xfrm>
            <a:off x="3136900" y="1676400"/>
            <a:ext cx="2806700" cy="1219200"/>
          </a:xfrm>
          <a:prstGeom prst="ellipse">
            <a:avLst/>
          </a:prstGeom>
          <a:solidFill>
            <a:srgbClr val="CCFFCC"/>
          </a:solidFill>
          <a:ln w="12700">
            <a:solidFill>
              <a:srgbClr val="414141"/>
            </a:solidFill>
            <a:round/>
            <a:headEnd/>
            <a:tailEnd/>
          </a:ln>
          <a:effectLst>
            <a:outerShdw blurRad="63500" dist="38100" dir="2700000" algn="tl" rotWithShape="0">
              <a:srgbClr val="000000">
                <a:alpha val="39999"/>
              </a:srgbClr>
            </a:outerShdw>
          </a:effectLst>
        </p:spPr>
        <p:txBody>
          <a:bodyPr lIns="90488" tIns="44450" rIns="90488" bIns="44450"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r>
              <a:rPr lang="en-US" altLang="en-US" dirty="0"/>
              <a:t>Owner</a:t>
            </a:r>
            <a:r>
              <a:rPr lang="ja-JP" altLang="en-US" dirty="0"/>
              <a:t>’</a:t>
            </a:r>
            <a:r>
              <a:rPr lang="en-US" altLang="ja-JP" dirty="0"/>
              <a:t>s Claims on Assets</a:t>
            </a:r>
            <a:endParaRPr lang="en-US" altLang="en-US" dirty="0"/>
          </a:p>
        </p:txBody>
      </p:sp>
      <p:pic>
        <p:nvPicPr>
          <p:cNvPr id="8" name="Picture 7" descr="Chapter 1 Expanded Equity Section.pn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0" y="3962400"/>
            <a:ext cx="9110663" cy="1295400"/>
          </a:xfrm>
          <a:prstGeom prst="rect">
            <a:avLst/>
          </a:prstGeom>
          <a:noFill/>
          <a:ln w="9525">
            <a:solidFill>
              <a:schemeClr val="tx1"/>
            </a:solidFill>
            <a:miter lim="800000"/>
            <a:headEnd/>
            <a:tailEnd/>
          </a:ln>
          <a:effectLst>
            <a:outerShdw blurRad="63500" dist="38100" dir="2700000" algn="tl" rotWithShape="0">
              <a:srgbClr val="000000">
                <a:alpha val="39999"/>
              </a:srgbClr>
            </a:outerShdw>
          </a:effectLst>
          <a:extLst>
            <a:ext uri="{909E8E84-426E-40DD-AFC4-6F175D3DCCD1}">
              <a14:hiddenFill xmlns:a14="http://schemas.microsoft.com/office/drawing/2010/main">
                <a:solidFill>
                  <a:srgbClr val="FFFFFF"/>
                </a:solidFill>
              </a14:hiddenFill>
            </a:ext>
          </a:extLst>
        </p:spPr>
      </p:pic>
      <p:sp>
        <p:nvSpPr>
          <p:cNvPr id="2" name="Rectangle 1"/>
          <p:cNvSpPr/>
          <p:nvPr/>
        </p:nvSpPr>
        <p:spPr>
          <a:xfrm>
            <a:off x="1066800" y="5664633"/>
            <a:ext cx="7162800" cy="830997"/>
          </a:xfrm>
          <a:prstGeom prst="rect">
            <a:avLst/>
          </a:prstGeom>
        </p:spPr>
        <p:txBody>
          <a:bodyPr wrap="square">
            <a:spAutoFit/>
          </a:bodyPr>
          <a:lstStyle/>
          <a:p>
            <a:r>
              <a:rPr lang="en-US" altLang="zh-TW" sz="2400" b="1" dirty="0">
                <a:solidFill>
                  <a:srgbClr val="00B0F0"/>
                </a:solidFill>
                <a:ea typeface="PMingLiU" panose="02020500000000000000" pitchFamily="18" charset="-120"/>
              </a:rPr>
              <a:t>Owner’s equity is also called net assets or residual equity.</a:t>
            </a:r>
          </a:p>
        </p:txBody>
      </p:sp>
    </p:spTree>
    <p:extLst>
      <p:ext uri="{BB962C8B-B14F-4D97-AF65-F5344CB8AC3E}">
        <p14:creationId xmlns:p14="http://schemas.microsoft.com/office/powerpoint/2010/main" val="1420489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30724"/>
                                        </p:tgtEl>
                                        <p:attrNameLst>
                                          <p:attrName>style.visibility</p:attrName>
                                        </p:attrNameLst>
                                      </p:cBhvr>
                                      <p:to>
                                        <p:strVal val="visible"/>
                                      </p:to>
                                    </p:set>
                                    <p:anim calcmode="lin" valueType="num">
                                      <p:cBhvr>
                                        <p:cTn id="7" dur="500" fill="hold"/>
                                        <p:tgtEl>
                                          <p:spTgt spid="30724"/>
                                        </p:tgtEl>
                                        <p:attrNameLst>
                                          <p:attrName>ppt_w</p:attrName>
                                        </p:attrNameLst>
                                      </p:cBhvr>
                                      <p:tavLst>
                                        <p:tav tm="0">
                                          <p:val>
                                            <p:fltVal val="0"/>
                                          </p:val>
                                        </p:tav>
                                        <p:tav tm="100000">
                                          <p:val>
                                            <p:strVal val="#ppt_w"/>
                                          </p:val>
                                        </p:tav>
                                      </p:tavLst>
                                    </p:anim>
                                    <p:anim calcmode="lin" valueType="num">
                                      <p:cBhvr>
                                        <p:cTn id="8" dur="500" fill="hold"/>
                                        <p:tgtEl>
                                          <p:spTgt spid="3072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Group 22"/>
          <p:cNvGrpSpPr>
            <a:grpSpLocks/>
          </p:cNvGrpSpPr>
          <p:nvPr/>
        </p:nvGrpSpPr>
        <p:grpSpPr bwMode="auto">
          <a:xfrm>
            <a:off x="381000" y="1600200"/>
            <a:ext cx="8293100" cy="911225"/>
            <a:chOff x="240" y="1008"/>
            <a:chExt cx="5224" cy="574"/>
          </a:xfrm>
        </p:grpSpPr>
        <p:sp>
          <p:nvSpPr>
            <p:cNvPr id="45082" name="Rectangle 3"/>
            <p:cNvSpPr>
              <a:spLocks noChangeArrowheads="1"/>
            </p:cNvSpPr>
            <p:nvPr/>
          </p:nvSpPr>
          <p:spPr bwMode="auto">
            <a:xfrm>
              <a:off x="2112" y="1135"/>
              <a:ext cx="1480" cy="376"/>
            </a:xfrm>
            <a:prstGeom prst="rect">
              <a:avLst/>
            </a:prstGeom>
            <a:solidFill>
              <a:schemeClr val="hlink"/>
            </a:solidFill>
            <a:ln w="12700">
              <a:solidFill>
                <a:schemeClr val="tx1"/>
              </a:solidFill>
              <a:miter lim="800000"/>
              <a:headEnd/>
              <a:tailEnd/>
            </a:ln>
            <a:effectLst>
              <a:outerShdw dist="71842"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latin typeface="Times New Roman" panose="02020603050405020304" pitchFamily="18" charset="0"/>
                </a:rPr>
                <a:t>Liabilities</a:t>
              </a:r>
            </a:p>
          </p:txBody>
        </p:sp>
        <p:sp>
          <p:nvSpPr>
            <p:cNvPr id="45083" name="Rectangle 4"/>
            <p:cNvSpPr>
              <a:spLocks noChangeArrowheads="1"/>
            </p:cNvSpPr>
            <p:nvPr/>
          </p:nvSpPr>
          <p:spPr bwMode="auto">
            <a:xfrm>
              <a:off x="4224" y="1135"/>
              <a:ext cx="1240" cy="376"/>
            </a:xfrm>
            <a:prstGeom prst="rect">
              <a:avLst/>
            </a:prstGeom>
            <a:solidFill>
              <a:schemeClr val="hlink"/>
            </a:solidFill>
            <a:ln w="12700">
              <a:solidFill>
                <a:schemeClr val="tx1"/>
              </a:solidFill>
              <a:miter lim="800000"/>
              <a:headEnd/>
              <a:tailEnd/>
            </a:ln>
            <a:effectLst>
              <a:outerShdw dist="71842"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latin typeface="Times New Roman" panose="02020603050405020304" pitchFamily="18" charset="0"/>
                </a:rPr>
                <a:t>Equity</a:t>
              </a:r>
            </a:p>
          </p:txBody>
        </p:sp>
        <p:sp>
          <p:nvSpPr>
            <p:cNvPr id="45084" name="Rectangle 5"/>
            <p:cNvSpPr>
              <a:spLocks noChangeArrowheads="1"/>
            </p:cNvSpPr>
            <p:nvPr/>
          </p:nvSpPr>
          <p:spPr bwMode="auto">
            <a:xfrm>
              <a:off x="240" y="1135"/>
              <a:ext cx="1192" cy="376"/>
            </a:xfrm>
            <a:prstGeom prst="rect">
              <a:avLst/>
            </a:prstGeom>
            <a:solidFill>
              <a:schemeClr val="hlink"/>
            </a:solidFill>
            <a:ln w="12700">
              <a:solidFill>
                <a:schemeClr val="tx1"/>
              </a:solidFill>
              <a:miter lim="800000"/>
              <a:headEnd/>
              <a:tailEnd/>
            </a:ln>
            <a:effectLst>
              <a:outerShdw dist="71842"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latin typeface="Times New Roman" panose="02020603050405020304" pitchFamily="18" charset="0"/>
                </a:rPr>
                <a:t>Assets</a:t>
              </a:r>
            </a:p>
          </p:txBody>
        </p:sp>
        <p:grpSp>
          <p:nvGrpSpPr>
            <p:cNvPr id="45085" name="Group 6"/>
            <p:cNvGrpSpPr>
              <a:grpSpLocks/>
            </p:cNvGrpSpPr>
            <p:nvPr/>
          </p:nvGrpSpPr>
          <p:grpSpPr bwMode="auto">
            <a:xfrm>
              <a:off x="1577" y="1008"/>
              <a:ext cx="2550" cy="574"/>
              <a:chOff x="1629" y="2373"/>
              <a:chExt cx="2550" cy="574"/>
            </a:xfrm>
          </p:grpSpPr>
          <p:sp>
            <p:nvSpPr>
              <p:cNvPr id="45086" name="Rectangle 7"/>
              <p:cNvSpPr>
                <a:spLocks noChangeArrowheads="1"/>
              </p:cNvSpPr>
              <p:nvPr/>
            </p:nvSpPr>
            <p:spPr bwMode="auto">
              <a:xfrm>
                <a:off x="1629" y="2373"/>
                <a:ext cx="39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5400">
                    <a:solidFill>
                      <a:schemeClr val="bg2"/>
                    </a:solidFill>
                    <a:latin typeface="Times New Roman" panose="02020603050405020304" pitchFamily="18" charset="0"/>
                  </a:rPr>
                  <a:t>=</a:t>
                </a:r>
              </a:p>
            </p:txBody>
          </p:sp>
          <p:sp>
            <p:nvSpPr>
              <p:cNvPr id="45087" name="Rectangle 8"/>
              <p:cNvSpPr>
                <a:spLocks noChangeArrowheads="1"/>
              </p:cNvSpPr>
              <p:nvPr/>
            </p:nvSpPr>
            <p:spPr bwMode="auto">
              <a:xfrm>
                <a:off x="3789" y="2373"/>
                <a:ext cx="39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5400">
                    <a:solidFill>
                      <a:schemeClr val="bg2"/>
                    </a:solidFill>
                    <a:latin typeface="Times New Roman" panose="02020603050405020304" pitchFamily="18" charset="0"/>
                  </a:rPr>
                  <a:t>+</a:t>
                </a:r>
              </a:p>
            </p:txBody>
          </p:sp>
        </p:grpSp>
      </p:grpSp>
      <p:sp>
        <p:nvSpPr>
          <p:cNvPr id="31753" name="Rectangle 9"/>
          <p:cNvSpPr>
            <a:spLocks noGrp="1" noChangeArrowheads="1"/>
          </p:cNvSpPr>
          <p:nvPr>
            <p:ph type="title"/>
          </p:nvPr>
        </p:nvSpPr>
        <p:spPr>
          <a:xfrm>
            <a:off x="992980" y="166689"/>
            <a:ext cx="7158038" cy="1412875"/>
          </a:xfrm>
        </p:spPr>
        <p:txBody>
          <a:bodyPr/>
          <a:lstStyle/>
          <a:p>
            <a:pPr algn="ctr">
              <a:defRPr/>
            </a:pPr>
            <a:r>
              <a:rPr lang="en-US" dirty="0"/>
              <a:t>Expanded Accounting Equation</a:t>
            </a:r>
          </a:p>
        </p:txBody>
      </p:sp>
      <p:grpSp>
        <p:nvGrpSpPr>
          <p:cNvPr id="4" name="Group 21"/>
          <p:cNvGrpSpPr>
            <a:grpSpLocks/>
          </p:cNvGrpSpPr>
          <p:nvPr/>
        </p:nvGrpSpPr>
        <p:grpSpPr bwMode="auto">
          <a:xfrm>
            <a:off x="0" y="3505200"/>
            <a:ext cx="9144000" cy="1447800"/>
            <a:chOff x="0" y="2208"/>
            <a:chExt cx="5760" cy="912"/>
          </a:xfrm>
        </p:grpSpPr>
        <p:sp>
          <p:nvSpPr>
            <p:cNvPr id="45074" name="Rectangle 11"/>
            <p:cNvSpPr>
              <a:spLocks noChangeArrowheads="1"/>
            </p:cNvSpPr>
            <p:nvPr/>
          </p:nvSpPr>
          <p:spPr bwMode="auto">
            <a:xfrm>
              <a:off x="0" y="2208"/>
              <a:ext cx="5760" cy="912"/>
            </a:xfrm>
            <a:prstGeom prst="rect">
              <a:avLst/>
            </a:prstGeom>
            <a:solidFill>
              <a:srgbClr val="FFFFCC"/>
            </a:solidFill>
            <a:ln w="12700">
              <a:solidFill>
                <a:schemeClr val="tx1"/>
              </a:solidFill>
              <a:miter lim="800000"/>
              <a:headEnd/>
              <a:tailEnd/>
            </a:ln>
            <a:effectLst>
              <a:outerShdw dist="71842" dir="2700000" algn="ctr" rotWithShape="0">
                <a:schemeClr val="bg2"/>
              </a:outerShdw>
            </a:effectLst>
          </p:spPr>
          <p:txBody>
            <a:bodyPr wrap="none"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zh-TW" sz="1800"/>
            </a:p>
          </p:txBody>
        </p:sp>
        <p:sp>
          <p:nvSpPr>
            <p:cNvPr id="45075" name="Rectangle 13"/>
            <p:cNvSpPr>
              <a:spLocks noChangeArrowheads="1"/>
            </p:cNvSpPr>
            <p:nvPr/>
          </p:nvSpPr>
          <p:spPr bwMode="auto">
            <a:xfrm>
              <a:off x="3412" y="2500"/>
              <a:ext cx="1000" cy="376"/>
            </a:xfrm>
            <a:prstGeom prst="rect">
              <a:avLst/>
            </a:prstGeom>
            <a:solidFill>
              <a:srgbClr val="003300"/>
            </a:solidFill>
            <a:ln w="12700">
              <a:solidFill>
                <a:schemeClr val="tx1"/>
              </a:solidFill>
              <a:miter lim="800000"/>
              <a:headEnd/>
              <a:tailEnd/>
            </a:ln>
            <a:effectLst>
              <a:outerShdw dist="81320" dir="18519588"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2400">
                  <a:solidFill>
                    <a:schemeClr val="bg1"/>
                  </a:solidFill>
                  <a:latin typeface="Times New Roman" panose="02020603050405020304" pitchFamily="18" charset="0"/>
                </a:rPr>
                <a:t>Revenues</a:t>
              </a:r>
            </a:p>
          </p:txBody>
        </p:sp>
        <p:sp>
          <p:nvSpPr>
            <p:cNvPr id="45076" name="Rectangle 14"/>
            <p:cNvSpPr>
              <a:spLocks noChangeArrowheads="1"/>
            </p:cNvSpPr>
            <p:nvPr/>
          </p:nvSpPr>
          <p:spPr bwMode="auto">
            <a:xfrm>
              <a:off x="4756" y="2500"/>
              <a:ext cx="904" cy="376"/>
            </a:xfrm>
            <a:prstGeom prst="rect">
              <a:avLst/>
            </a:prstGeom>
            <a:solidFill>
              <a:srgbClr val="003300"/>
            </a:solidFill>
            <a:ln w="12700">
              <a:solidFill>
                <a:schemeClr val="tx1"/>
              </a:solidFill>
              <a:miter lim="800000"/>
              <a:headEnd/>
              <a:tailEnd/>
            </a:ln>
            <a:effectLst>
              <a:outerShdw dist="81320" dir="18519588"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2400">
                  <a:solidFill>
                    <a:schemeClr val="bg1"/>
                  </a:solidFill>
                  <a:latin typeface="Times New Roman" panose="02020603050405020304" pitchFamily="18" charset="0"/>
                </a:rPr>
                <a:t>Expenses</a:t>
              </a:r>
            </a:p>
          </p:txBody>
        </p:sp>
        <p:sp>
          <p:nvSpPr>
            <p:cNvPr id="45077" name="Rectangle 15"/>
            <p:cNvSpPr>
              <a:spLocks noChangeArrowheads="1"/>
            </p:cNvSpPr>
            <p:nvPr/>
          </p:nvSpPr>
          <p:spPr bwMode="auto">
            <a:xfrm>
              <a:off x="100" y="2380"/>
              <a:ext cx="1240" cy="520"/>
            </a:xfrm>
            <a:prstGeom prst="rect">
              <a:avLst/>
            </a:prstGeom>
            <a:solidFill>
              <a:srgbClr val="003300"/>
            </a:solidFill>
            <a:ln w="12700">
              <a:solidFill>
                <a:schemeClr val="tx1"/>
              </a:solidFill>
              <a:miter lim="800000"/>
              <a:headEnd/>
              <a:tailEnd/>
            </a:ln>
            <a:effectLst>
              <a:outerShdw dist="81320" dir="18519588" algn="ctr" rotWithShape="0">
                <a:schemeClr val="bg2"/>
              </a:outerShdw>
            </a:effectLst>
          </p:spPr>
          <p:txBody>
            <a:bodyPr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2400">
                  <a:solidFill>
                    <a:schemeClr val="bg1"/>
                  </a:solidFill>
                  <a:latin typeface="Times New Roman" panose="02020603050405020304" pitchFamily="18" charset="0"/>
                </a:rPr>
                <a:t>Owner Capital</a:t>
              </a:r>
            </a:p>
          </p:txBody>
        </p:sp>
        <p:sp>
          <p:nvSpPr>
            <p:cNvPr id="45078" name="Rectangle 16"/>
            <p:cNvSpPr>
              <a:spLocks noChangeArrowheads="1"/>
            </p:cNvSpPr>
            <p:nvPr/>
          </p:nvSpPr>
          <p:spPr bwMode="auto">
            <a:xfrm>
              <a:off x="1780" y="2380"/>
              <a:ext cx="1240" cy="520"/>
            </a:xfrm>
            <a:prstGeom prst="rect">
              <a:avLst/>
            </a:prstGeom>
            <a:solidFill>
              <a:srgbClr val="003300"/>
            </a:solidFill>
            <a:ln w="12700">
              <a:solidFill>
                <a:schemeClr val="tx1"/>
              </a:solidFill>
              <a:miter lim="800000"/>
              <a:headEnd/>
              <a:tailEnd/>
            </a:ln>
            <a:effectLst>
              <a:outerShdw dist="81320" dir="18519588" algn="ctr" rotWithShape="0">
                <a:schemeClr val="bg2"/>
              </a:outerShdw>
            </a:effectLst>
          </p:spPr>
          <p:txBody>
            <a:bodyPr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2400">
                  <a:solidFill>
                    <a:schemeClr val="bg1"/>
                  </a:solidFill>
                  <a:latin typeface="Times New Roman" panose="02020603050405020304" pitchFamily="18" charset="0"/>
                </a:rPr>
                <a:t>Owner Withdrawals</a:t>
              </a:r>
            </a:p>
          </p:txBody>
        </p:sp>
        <p:sp>
          <p:nvSpPr>
            <p:cNvPr id="45079" name="Rectangle 17"/>
            <p:cNvSpPr>
              <a:spLocks noChangeArrowheads="1"/>
            </p:cNvSpPr>
            <p:nvPr/>
          </p:nvSpPr>
          <p:spPr bwMode="auto">
            <a:xfrm>
              <a:off x="1389" y="2253"/>
              <a:ext cx="342" cy="478"/>
            </a:xfrm>
            <a:prstGeom prst="rect">
              <a:avLst/>
            </a:prstGeom>
            <a:noFill/>
            <a:ln>
              <a:noFill/>
            </a:ln>
            <a:effectLst>
              <a:outerShdw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4400">
                  <a:solidFill>
                    <a:srgbClr val="FF0000"/>
                  </a:solidFill>
                  <a:latin typeface="Times New Roman" panose="02020603050405020304" pitchFamily="18" charset="0"/>
                </a:rPr>
                <a:t>_</a:t>
              </a:r>
            </a:p>
          </p:txBody>
        </p:sp>
        <p:sp>
          <p:nvSpPr>
            <p:cNvPr id="45080" name="Rectangle 18"/>
            <p:cNvSpPr>
              <a:spLocks noChangeArrowheads="1"/>
            </p:cNvSpPr>
            <p:nvPr/>
          </p:nvSpPr>
          <p:spPr bwMode="auto">
            <a:xfrm>
              <a:off x="3069" y="2445"/>
              <a:ext cx="342" cy="478"/>
            </a:xfrm>
            <a:prstGeom prst="rect">
              <a:avLst/>
            </a:prstGeom>
            <a:noFill/>
            <a:ln>
              <a:noFill/>
            </a:ln>
            <a:effectLst>
              <a:outerShdw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4400">
                  <a:solidFill>
                    <a:srgbClr val="006600"/>
                  </a:solidFill>
                  <a:latin typeface="Times New Roman" panose="02020603050405020304" pitchFamily="18" charset="0"/>
                </a:rPr>
                <a:t>+</a:t>
              </a:r>
            </a:p>
          </p:txBody>
        </p:sp>
        <p:sp>
          <p:nvSpPr>
            <p:cNvPr id="45081" name="Rectangle 19"/>
            <p:cNvSpPr>
              <a:spLocks noChangeArrowheads="1"/>
            </p:cNvSpPr>
            <p:nvPr/>
          </p:nvSpPr>
          <p:spPr bwMode="auto">
            <a:xfrm>
              <a:off x="4461" y="2253"/>
              <a:ext cx="342" cy="478"/>
            </a:xfrm>
            <a:prstGeom prst="rect">
              <a:avLst/>
            </a:prstGeom>
            <a:noFill/>
            <a:ln>
              <a:noFill/>
            </a:ln>
            <a:effectLst>
              <a:outerShdw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4400">
                  <a:solidFill>
                    <a:srgbClr val="FF0000"/>
                  </a:solidFill>
                  <a:latin typeface="Times New Roman" panose="02020603050405020304" pitchFamily="18" charset="0"/>
                </a:rPr>
                <a:t>_</a:t>
              </a:r>
            </a:p>
          </p:txBody>
        </p:sp>
      </p:grpSp>
      <p:cxnSp>
        <p:nvCxnSpPr>
          <p:cNvPr id="31764" name="AutoShape 20"/>
          <p:cNvCxnSpPr>
            <a:cxnSpLocks noChangeShapeType="1"/>
            <a:stCxn id="45083" idx="2"/>
            <a:endCxn id="45074" idx="0"/>
          </p:cNvCxnSpPr>
          <p:nvPr/>
        </p:nvCxnSpPr>
        <p:spPr bwMode="auto">
          <a:xfrm rot="5400000">
            <a:off x="5577681" y="1393032"/>
            <a:ext cx="1106487" cy="3117850"/>
          </a:xfrm>
          <a:prstGeom prst="bentConnector3">
            <a:avLst>
              <a:gd name="adj1" fmla="val 49931"/>
            </a:avLst>
          </a:prstGeom>
          <a:noFill/>
          <a:ln w="38100">
            <a:solidFill>
              <a:srgbClr val="FF0000"/>
            </a:solidFill>
            <a:miter lim="800000"/>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grpSp>
        <p:nvGrpSpPr>
          <p:cNvPr id="5" name="Group 26"/>
          <p:cNvGrpSpPr>
            <a:grpSpLocks/>
          </p:cNvGrpSpPr>
          <p:nvPr/>
        </p:nvGrpSpPr>
        <p:grpSpPr bwMode="auto">
          <a:xfrm>
            <a:off x="1600200" y="5029200"/>
            <a:ext cx="5791200" cy="1174750"/>
            <a:chOff x="1920" y="3024"/>
            <a:chExt cx="3360" cy="740"/>
          </a:xfrm>
        </p:grpSpPr>
        <p:sp>
          <p:nvSpPr>
            <p:cNvPr id="45072" name="AutoShape 24"/>
            <p:cNvSpPr>
              <a:spLocks/>
            </p:cNvSpPr>
            <p:nvPr/>
          </p:nvSpPr>
          <p:spPr bwMode="auto">
            <a:xfrm rot="-5400000">
              <a:off x="3384" y="1560"/>
              <a:ext cx="432" cy="3360"/>
            </a:xfrm>
            <a:prstGeom prst="leftBrace">
              <a:avLst>
                <a:gd name="adj1" fmla="val 64815"/>
                <a:gd name="adj2" fmla="val 49491"/>
              </a:avLst>
            </a:prstGeom>
            <a:noFill/>
            <a:ln w="38100">
              <a:solidFill>
                <a:srgbClr val="FF0000"/>
              </a:solidFill>
              <a:round/>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endParaRPr lang="zh-TW" altLang="zh-TW" sz="1800"/>
            </a:p>
          </p:txBody>
        </p:sp>
        <p:sp>
          <p:nvSpPr>
            <p:cNvPr id="45073" name="Text Box 25"/>
            <p:cNvSpPr txBox="1">
              <a:spLocks noChangeArrowheads="1"/>
            </p:cNvSpPr>
            <p:nvPr/>
          </p:nvSpPr>
          <p:spPr bwMode="auto">
            <a:xfrm>
              <a:off x="2727" y="3456"/>
              <a:ext cx="1728"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2600"/>
                <a:t>Owner's Equity</a:t>
              </a:r>
              <a:endParaRPr lang="en-US" altLang="zh-TW" sz="2400"/>
            </a:p>
          </p:txBody>
        </p:sp>
      </p:grpSp>
      <p:grpSp>
        <p:nvGrpSpPr>
          <p:cNvPr id="6" name="Group 27"/>
          <p:cNvGrpSpPr>
            <a:grpSpLocks/>
          </p:cNvGrpSpPr>
          <p:nvPr/>
        </p:nvGrpSpPr>
        <p:grpSpPr bwMode="auto">
          <a:xfrm>
            <a:off x="86087" y="1517870"/>
            <a:ext cx="8788400" cy="1168400"/>
            <a:chOff x="80" y="768"/>
            <a:chExt cx="5536" cy="736"/>
          </a:xfrm>
        </p:grpSpPr>
        <p:sp>
          <p:nvSpPr>
            <p:cNvPr id="45064" name="Rectangle 28"/>
            <p:cNvSpPr>
              <a:spLocks noChangeArrowheads="1"/>
            </p:cNvSpPr>
            <p:nvPr/>
          </p:nvSpPr>
          <p:spPr bwMode="auto">
            <a:xfrm>
              <a:off x="80" y="768"/>
              <a:ext cx="5536" cy="736"/>
            </a:xfrm>
            <a:prstGeom prst="rect">
              <a:avLst/>
            </a:prstGeom>
            <a:solidFill>
              <a:srgbClr val="003300"/>
            </a:solidFill>
            <a:ln w="12700">
              <a:solidFill>
                <a:srgbClr val="414141"/>
              </a:solidFill>
              <a:miter lim="800000"/>
              <a:headEnd/>
              <a:tailEnd/>
            </a:ln>
            <a:effectLst>
              <a:outerShdw dist="107763" dir="2700000" algn="ctr" rotWithShape="0">
                <a:schemeClr val="bg2"/>
              </a:outerShdw>
            </a:effectLst>
          </p:spPr>
          <p:txBody>
            <a:bodyPr wrap="none"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zh-TW" sz="1800"/>
            </a:p>
          </p:txBody>
        </p:sp>
        <p:grpSp>
          <p:nvGrpSpPr>
            <p:cNvPr id="45065" name="Group 29"/>
            <p:cNvGrpSpPr>
              <a:grpSpLocks/>
            </p:cNvGrpSpPr>
            <p:nvPr/>
          </p:nvGrpSpPr>
          <p:grpSpPr bwMode="auto">
            <a:xfrm>
              <a:off x="212" y="821"/>
              <a:ext cx="5224" cy="574"/>
              <a:chOff x="244" y="2901"/>
              <a:chExt cx="5224" cy="574"/>
            </a:xfrm>
          </p:grpSpPr>
          <p:sp>
            <p:nvSpPr>
              <p:cNvPr id="45066" name="Rectangle 30" descr="Newsprint"/>
              <p:cNvSpPr>
                <a:spLocks noChangeArrowheads="1"/>
              </p:cNvSpPr>
              <p:nvPr/>
            </p:nvSpPr>
            <p:spPr bwMode="auto">
              <a:xfrm>
                <a:off x="2116" y="3028"/>
                <a:ext cx="1480" cy="376"/>
              </a:xfrm>
              <a:prstGeom prst="rect">
                <a:avLst/>
              </a:prstGeom>
              <a:blipFill dpi="0" rotWithShape="1">
                <a:blip r:embed="rId3"/>
                <a:srcRect/>
                <a:tile tx="0" ty="0" sx="100000" sy="100000" flip="none" algn="tl"/>
              </a:blipFill>
              <a:ln w="12700">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Liabilities</a:t>
                </a:r>
              </a:p>
            </p:txBody>
          </p:sp>
          <p:sp>
            <p:nvSpPr>
              <p:cNvPr id="45067" name="Rectangle 31" descr="Newsprint"/>
              <p:cNvSpPr>
                <a:spLocks noChangeArrowheads="1"/>
              </p:cNvSpPr>
              <p:nvPr/>
            </p:nvSpPr>
            <p:spPr bwMode="auto">
              <a:xfrm>
                <a:off x="4228" y="3028"/>
                <a:ext cx="1240" cy="376"/>
              </a:xfrm>
              <a:prstGeom prst="rect">
                <a:avLst/>
              </a:prstGeom>
              <a:blipFill dpi="0" rotWithShape="1">
                <a:blip r:embed="rId3"/>
                <a:srcRect/>
                <a:tile tx="0" ty="0" sx="100000" sy="100000" flip="none" algn="tl"/>
              </a:blipFill>
              <a:ln w="12700" algn="ctr">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Equity</a:t>
                </a:r>
              </a:p>
            </p:txBody>
          </p:sp>
          <p:sp>
            <p:nvSpPr>
              <p:cNvPr id="45068" name="Rectangle 32" descr="Newsprint"/>
              <p:cNvSpPr>
                <a:spLocks noChangeArrowheads="1"/>
              </p:cNvSpPr>
              <p:nvPr/>
            </p:nvSpPr>
            <p:spPr bwMode="auto">
              <a:xfrm>
                <a:off x="244" y="3028"/>
                <a:ext cx="1192" cy="376"/>
              </a:xfrm>
              <a:prstGeom prst="rect">
                <a:avLst/>
              </a:prstGeom>
              <a:blipFill dpi="0" rotWithShape="1">
                <a:blip r:embed="rId3"/>
                <a:srcRect/>
                <a:tile tx="0" ty="0" sx="100000" sy="100000" flip="none" algn="tl"/>
              </a:blipFill>
              <a:ln w="12700" algn="ctr">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Assets</a:t>
                </a:r>
              </a:p>
            </p:txBody>
          </p:sp>
          <p:grpSp>
            <p:nvGrpSpPr>
              <p:cNvPr id="45069" name="Group 33"/>
              <p:cNvGrpSpPr>
                <a:grpSpLocks/>
              </p:cNvGrpSpPr>
              <p:nvPr/>
            </p:nvGrpSpPr>
            <p:grpSpPr bwMode="auto">
              <a:xfrm>
                <a:off x="1581" y="2901"/>
                <a:ext cx="2550" cy="574"/>
                <a:chOff x="1581" y="2901"/>
                <a:chExt cx="2550" cy="574"/>
              </a:xfrm>
            </p:grpSpPr>
            <p:sp>
              <p:nvSpPr>
                <p:cNvPr id="45070" name="Rectangle 34"/>
                <p:cNvSpPr>
                  <a:spLocks noChangeArrowheads="1"/>
                </p:cNvSpPr>
                <p:nvPr/>
              </p:nvSpPr>
              <p:spPr bwMode="auto">
                <a:xfrm>
                  <a:off x="1581" y="2901"/>
                  <a:ext cx="39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5400">
                      <a:solidFill>
                        <a:schemeClr val="bg1"/>
                      </a:solidFill>
                      <a:latin typeface="Times New Roman" panose="02020603050405020304" pitchFamily="18" charset="0"/>
                    </a:rPr>
                    <a:t>=</a:t>
                  </a:r>
                </a:p>
              </p:txBody>
            </p:sp>
            <p:sp>
              <p:nvSpPr>
                <p:cNvPr id="45071" name="Rectangle 35"/>
                <p:cNvSpPr>
                  <a:spLocks noChangeArrowheads="1"/>
                </p:cNvSpPr>
                <p:nvPr/>
              </p:nvSpPr>
              <p:spPr bwMode="auto">
                <a:xfrm>
                  <a:off x="3741" y="2901"/>
                  <a:ext cx="39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5400">
                      <a:solidFill>
                        <a:schemeClr val="bg1"/>
                      </a:solidFill>
                      <a:latin typeface="Times New Roman" panose="02020603050405020304" pitchFamily="18" charset="0"/>
                    </a:rPr>
                    <a:t>+</a:t>
                  </a:r>
                </a:p>
              </p:txBody>
            </p:sp>
          </p:grpSp>
        </p:grpSp>
      </p:grpSp>
    </p:spTree>
    <p:extLst>
      <p:ext uri="{BB962C8B-B14F-4D97-AF65-F5344CB8AC3E}">
        <p14:creationId xmlns:p14="http://schemas.microsoft.com/office/powerpoint/2010/main" val="252424842"/>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31764"/>
                                        </p:tgtEl>
                                        <p:attrNameLst>
                                          <p:attrName>style.visibility</p:attrName>
                                        </p:attrNameLst>
                                      </p:cBhvr>
                                      <p:to>
                                        <p:strVal val="visible"/>
                                      </p:to>
                                    </p:set>
                                    <p:animEffect transition="in" filter="strips(downLeft)">
                                      <p:cBhvr>
                                        <p:cTn id="7" dur="500"/>
                                        <p:tgtEl>
                                          <p:spTgt spid="3176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nodeType="afterGroup">
                            <p:stCondLst>
                              <p:cond delay="1500"/>
                            </p:stCondLst>
                            <p:childTnLst>
                              <p:par>
                                <p:cTn id="17" presetID="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2131" name="Rectangle 3"/>
          <p:cNvSpPr>
            <a:spLocks noGrp="1" noChangeArrowheads="1"/>
          </p:cNvSpPr>
          <p:nvPr>
            <p:ph idx="1"/>
          </p:nvPr>
        </p:nvSpPr>
        <p:spPr>
          <a:xfrm>
            <a:off x="533400" y="1371600"/>
            <a:ext cx="8458200" cy="5026025"/>
          </a:xfrm>
        </p:spPr>
        <p:txBody>
          <a:bodyPr lIns="85593" tIns="42045" rIns="85593" bIns="42045"/>
          <a:lstStyle/>
          <a:p>
            <a:pPr>
              <a:buClr>
                <a:schemeClr val="hlink"/>
              </a:buClr>
            </a:pPr>
            <a:r>
              <a:rPr lang="en-US" altLang="zh-TW" b="1" dirty="0">
                <a:solidFill>
                  <a:srgbClr val="FF0000"/>
                </a:solidFill>
                <a:ea typeface="PMingLiU" panose="02020500000000000000" pitchFamily="18" charset="-120"/>
              </a:rPr>
              <a:t>Revenues</a:t>
            </a:r>
            <a:r>
              <a:rPr lang="en-US" altLang="zh-TW" dirty="0">
                <a:ea typeface="PMingLiU" panose="02020500000000000000" pitchFamily="18" charset="-120"/>
              </a:rPr>
              <a:t> is an increase in owners’ equity from providing goods or services. </a:t>
            </a:r>
          </a:p>
          <a:p>
            <a:pPr>
              <a:buClr>
                <a:schemeClr val="hlink"/>
              </a:buClr>
            </a:pPr>
            <a:endParaRPr lang="en-US" altLang="zh-TW" dirty="0">
              <a:ea typeface="PMingLiU" panose="02020500000000000000" pitchFamily="18" charset="-120"/>
            </a:endParaRPr>
          </a:p>
          <a:p>
            <a:pPr>
              <a:buClr>
                <a:schemeClr val="hlink"/>
              </a:buClr>
            </a:pPr>
            <a:r>
              <a:rPr lang="en-US" altLang="zh-TW" dirty="0">
                <a:ea typeface="PMingLiU" panose="02020500000000000000" pitchFamily="18" charset="-120"/>
              </a:rPr>
              <a:t>Revenue is </a:t>
            </a:r>
            <a:r>
              <a:rPr lang="en-US" altLang="zh-TW" dirty="0">
                <a:solidFill>
                  <a:srgbClr val="FF0000"/>
                </a:solidFill>
                <a:ea typeface="PMingLiU" panose="02020500000000000000" pitchFamily="18" charset="-120"/>
              </a:rPr>
              <a:t>recognized when </a:t>
            </a:r>
            <a:r>
              <a:rPr lang="en-US" altLang="zh-TW" dirty="0">
                <a:ea typeface="PMingLiU" panose="02020500000000000000" pitchFamily="18" charset="-120"/>
              </a:rPr>
              <a:t>both:</a:t>
            </a:r>
          </a:p>
          <a:p>
            <a:pPr lvl="1">
              <a:buClr>
                <a:schemeClr val="hlink"/>
              </a:buClr>
            </a:pPr>
            <a:r>
              <a:rPr lang="en-US" altLang="zh-TW" sz="2400" dirty="0">
                <a:ea typeface="PMingLiU" panose="02020500000000000000" pitchFamily="18" charset="-120"/>
              </a:rPr>
              <a:t>It is earned (i.e., goods or services are provided) and </a:t>
            </a:r>
          </a:p>
          <a:p>
            <a:pPr lvl="1">
              <a:buClr>
                <a:schemeClr val="hlink"/>
              </a:buClr>
            </a:pPr>
            <a:r>
              <a:rPr lang="en-US" altLang="zh-TW" sz="2400" dirty="0">
                <a:ea typeface="PMingLiU" panose="02020500000000000000" pitchFamily="18" charset="-120"/>
              </a:rPr>
              <a:t>It is realized or realizable (i.e., payment for goods or services received in cash or something that can be converted to a known amount of cash)</a:t>
            </a:r>
          </a:p>
          <a:p>
            <a:pPr lvl="1">
              <a:buClr>
                <a:schemeClr val="hlink"/>
              </a:buClr>
            </a:pPr>
            <a:endParaRPr lang="en-US" altLang="zh-TW" dirty="0">
              <a:ea typeface="PMingLiU" panose="02020500000000000000" pitchFamily="18" charset="-120"/>
            </a:endParaRPr>
          </a:p>
          <a:p>
            <a:pPr>
              <a:buClr>
                <a:schemeClr val="hlink"/>
              </a:buClr>
            </a:pPr>
            <a:r>
              <a:rPr lang="en-US" altLang="zh-TW" dirty="0">
                <a:ea typeface="PMingLiU" panose="02020500000000000000" pitchFamily="18" charset="-120"/>
              </a:rPr>
              <a:t>These conditions are called </a:t>
            </a:r>
            <a:r>
              <a:rPr lang="en-US" altLang="zh-TW" dirty="0">
                <a:solidFill>
                  <a:srgbClr val="FF0000"/>
                </a:solidFill>
                <a:ea typeface="PMingLiU" panose="02020500000000000000" pitchFamily="18" charset="-120"/>
              </a:rPr>
              <a:t>revenue recognition criteria. </a:t>
            </a:r>
          </a:p>
        </p:txBody>
      </p:sp>
      <p:sp>
        <p:nvSpPr>
          <p:cNvPr id="432130" name="Rectangle 2"/>
          <p:cNvSpPr>
            <a:spLocks noChangeArrowheads="1"/>
          </p:cNvSpPr>
          <p:nvPr/>
        </p:nvSpPr>
        <p:spPr bwMode="auto">
          <a:xfrm>
            <a:off x="2051050" y="549275"/>
            <a:ext cx="5619750" cy="608013"/>
          </a:xfrm>
          <a:prstGeom prst="rect">
            <a:avLst/>
          </a:prstGeom>
          <a:noFill/>
          <a:ln w="12699">
            <a:noFill/>
            <a:miter lim="800000"/>
            <a:headEnd/>
            <a:tailEnd/>
          </a:ln>
          <a:effectLst/>
        </p:spPr>
        <p:txBody>
          <a:bodyPr lIns="85593" tIns="42045" rIns="85593" bIns="42045">
            <a:spAutoFit/>
          </a:bodyPr>
          <a:lstStyle/>
          <a:p>
            <a:pPr algn="ctr" defTabSz="865188" eaLnBrk="0" hangingPunct="0">
              <a:defRPr/>
            </a:pPr>
            <a:r>
              <a:rPr lang="en-US" altLang="zh-TW" sz="3400" b="1" dirty="0">
                <a:effectLst>
                  <a:outerShdw blurRad="38100" dist="38100" dir="2700000" algn="tl">
                    <a:srgbClr val="DDDDDD"/>
                  </a:outerShdw>
                </a:effectLst>
                <a:latin typeface="Arial" charset="0"/>
                <a:ea typeface="新細明體" charset="-120"/>
                <a:cs typeface="新細明體" charset="-120"/>
              </a:rPr>
              <a:t>REVENUES</a:t>
            </a:r>
          </a:p>
        </p:txBody>
      </p:sp>
    </p:spTree>
    <p:extLst>
      <p:ext uri="{BB962C8B-B14F-4D97-AF65-F5344CB8AC3E}">
        <p14:creationId xmlns:p14="http://schemas.microsoft.com/office/powerpoint/2010/main" val="58397415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2131">
                                            <p:txEl>
                                              <p:pRg st="0" end="0"/>
                                            </p:txEl>
                                          </p:spTgt>
                                        </p:tgtEl>
                                        <p:attrNameLst>
                                          <p:attrName>style.visibility</p:attrName>
                                        </p:attrNameLst>
                                      </p:cBhvr>
                                      <p:to>
                                        <p:strVal val="visible"/>
                                      </p:to>
                                    </p:set>
                                    <p:anim calcmode="lin" valueType="num">
                                      <p:cBhvr additive="base">
                                        <p:cTn id="7" dur="500" fill="hold"/>
                                        <p:tgtEl>
                                          <p:spTgt spid="432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2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2131">
                                            <p:txEl>
                                              <p:pRg st="2" end="2"/>
                                            </p:txEl>
                                          </p:spTgt>
                                        </p:tgtEl>
                                        <p:attrNameLst>
                                          <p:attrName>style.visibility</p:attrName>
                                        </p:attrNameLst>
                                      </p:cBhvr>
                                      <p:to>
                                        <p:strVal val="visible"/>
                                      </p:to>
                                    </p:set>
                                    <p:anim calcmode="lin" valueType="num">
                                      <p:cBhvr additive="base">
                                        <p:cTn id="13" dur="500" fill="hold"/>
                                        <p:tgtEl>
                                          <p:spTgt spid="43213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2131">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32131">
                                            <p:txEl>
                                              <p:pRg st="3" end="3"/>
                                            </p:txEl>
                                          </p:spTgt>
                                        </p:tgtEl>
                                        <p:attrNameLst>
                                          <p:attrName>style.visibility</p:attrName>
                                        </p:attrNameLst>
                                      </p:cBhvr>
                                      <p:to>
                                        <p:strVal val="visible"/>
                                      </p:to>
                                    </p:set>
                                    <p:anim calcmode="lin" valueType="num">
                                      <p:cBhvr additive="base">
                                        <p:cTn id="17" dur="500" fill="hold"/>
                                        <p:tgtEl>
                                          <p:spTgt spid="43213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32131">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32131">
                                            <p:txEl>
                                              <p:pRg st="4" end="4"/>
                                            </p:txEl>
                                          </p:spTgt>
                                        </p:tgtEl>
                                        <p:attrNameLst>
                                          <p:attrName>style.visibility</p:attrName>
                                        </p:attrNameLst>
                                      </p:cBhvr>
                                      <p:to>
                                        <p:strVal val="visible"/>
                                      </p:to>
                                    </p:set>
                                    <p:anim calcmode="lin" valueType="num">
                                      <p:cBhvr additive="base">
                                        <p:cTn id="21" dur="500" fill="hold"/>
                                        <p:tgtEl>
                                          <p:spTgt spid="43213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3213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32131">
                                            <p:txEl>
                                              <p:pRg st="6" end="6"/>
                                            </p:txEl>
                                          </p:spTgt>
                                        </p:tgtEl>
                                        <p:attrNameLst>
                                          <p:attrName>style.visibility</p:attrName>
                                        </p:attrNameLst>
                                      </p:cBhvr>
                                      <p:to>
                                        <p:strVal val="visible"/>
                                      </p:to>
                                    </p:set>
                                    <p:anim calcmode="lin" valueType="num">
                                      <p:cBhvr additive="base">
                                        <p:cTn id="27" dur="500" fill="hold"/>
                                        <p:tgtEl>
                                          <p:spTgt spid="432131">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3213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131"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idx="1"/>
          </p:nvPr>
        </p:nvSpPr>
        <p:spPr>
          <a:xfrm>
            <a:off x="231775" y="1295400"/>
            <a:ext cx="8816975" cy="4776788"/>
          </a:xfrm>
        </p:spPr>
        <p:txBody>
          <a:bodyPr lIns="85593" tIns="42045" rIns="85593" bIns="42045"/>
          <a:lstStyle/>
          <a:p>
            <a:pPr>
              <a:buClr>
                <a:schemeClr val="hlink"/>
              </a:buClr>
            </a:pPr>
            <a:r>
              <a:rPr lang="en-US" altLang="zh-TW" b="1" dirty="0">
                <a:solidFill>
                  <a:srgbClr val="FF0000"/>
                </a:solidFill>
                <a:ea typeface="PMingLiU" panose="02020500000000000000" pitchFamily="18" charset="-120"/>
              </a:rPr>
              <a:t>Expenses </a:t>
            </a:r>
            <a:r>
              <a:rPr lang="en-US" altLang="zh-TW" dirty="0">
                <a:ea typeface="PMingLiU" panose="02020500000000000000" pitchFamily="18" charset="-120"/>
              </a:rPr>
              <a:t>are decreases in owners’ equity that arises in the process of generating revenues</a:t>
            </a:r>
          </a:p>
          <a:p>
            <a:pPr>
              <a:buClr>
                <a:schemeClr val="hlink"/>
              </a:buClr>
            </a:pPr>
            <a:endParaRPr lang="en-US" altLang="zh-TW" sz="2400" dirty="0">
              <a:ea typeface="PMingLiU" panose="02020500000000000000" pitchFamily="18" charset="-120"/>
            </a:endParaRPr>
          </a:p>
          <a:p>
            <a:pPr>
              <a:buClr>
                <a:schemeClr val="hlink"/>
              </a:buClr>
            </a:pPr>
            <a:r>
              <a:rPr lang="en-GB" altLang="zh-TW" dirty="0">
                <a:ea typeface="PMingLiU" panose="02020500000000000000" pitchFamily="18" charset="-120"/>
              </a:rPr>
              <a:t>Expenses are </a:t>
            </a:r>
            <a:r>
              <a:rPr lang="en-GB" altLang="zh-TW" dirty="0">
                <a:solidFill>
                  <a:srgbClr val="FF0000"/>
                </a:solidFill>
                <a:ea typeface="PMingLiU" panose="02020500000000000000" pitchFamily="18" charset="-120"/>
              </a:rPr>
              <a:t>recognized when </a:t>
            </a:r>
            <a:r>
              <a:rPr lang="en-GB" altLang="zh-TW" dirty="0">
                <a:ea typeface="PMingLiU" panose="02020500000000000000" pitchFamily="18" charset="-120"/>
              </a:rPr>
              <a:t>either:</a:t>
            </a:r>
          </a:p>
          <a:p>
            <a:pPr lvl="1">
              <a:buClr>
                <a:schemeClr val="hlink"/>
              </a:buClr>
            </a:pPr>
            <a:r>
              <a:rPr lang="en-GB" altLang="zh-TW" dirty="0">
                <a:ea typeface="PMingLiU" panose="02020500000000000000" pitchFamily="18" charset="-120"/>
              </a:rPr>
              <a:t>Related revenues are recognized (product costs) or</a:t>
            </a:r>
          </a:p>
          <a:p>
            <a:pPr lvl="1">
              <a:buClr>
                <a:schemeClr val="hlink"/>
              </a:buClr>
            </a:pPr>
            <a:r>
              <a:rPr lang="en-GB" altLang="zh-TW" dirty="0">
                <a:ea typeface="PMingLiU" panose="02020500000000000000" pitchFamily="18" charset="-120"/>
              </a:rPr>
              <a:t>Incurred to support revenue generation (period costs)</a:t>
            </a:r>
          </a:p>
          <a:p>
            <a:pPr lvl="1">
              <a:buClr>
                <a:schemeClr val="hlink"/>
              </a:buClr>
            </a:pPr>
            <a:endParaRPr lang="en-GB" altLang="zh-TW" dirty="0">
              <a:ea typeface="PMingLiU" panose="02020500000000000000" pitchFamily="18" charset="-120"/>
            </a:endParaRPr>
          </a:p>
          <a:p>
            <a:pPr>
              <a:buClr>
                <a:schemeClr val="hlink"/>
              </a:buClr>
            </a:pPr>
            <a:r>
              <a:rPr lang="en-GB" altLang="zh-TW" dirty="0">
                <a:ea typeface="PMingLiU" panose="02020500000000000000" pitchFamily="18" charset="-120"/>
              </a:rPr>
              <a:t>These underlying recognition concepts are the </a:t>
            </a:r>
            <a:r>
              <a:rPr lang="en-GB" altLang="zh-TW" b="1" dirty="0">
                <a:solidFill>
                  <a:srgbClr val="FF0000"/>
                </a:solidFill>
                <a:ea typeface="PMingLiU" panose="02020500000000000000" pitchFamily="18" charset="-120"/>
              </a:rPr>
              <a:t>matching principle</a:t>
            </a:r>
          </a:p>
          <a:p>
            <a:pPr>
              <a:buClr>
                <a:schemeClr val="hlink"/>
              </a:buClr>
            </a:pPr>
            <a:endParaRPr lang="en-GB" altLang="zh-TW" b="1" dirty="0">
              <a:solidFill>
                <a:srgbClr val="FF0000"/>
              </a:solidFill>
              <a:ea typeface="PMingLiU" panose="02020500000000000000" pitchFamily="18" charset="-120"/>
            </a:endParaRPr>
          </a:p>
          <a:p>
            <a:pPr>
              <a:buClr>
                <a:schemeClr val="hlink"/>
              </a:buClr>
            </a:pPr>
            <a:r>
              <a:rPr lang="en-HK" dirty="0"/>
              <a:t>An expense represents the ​</a:t>
            </a:r>
            <a:r>
              <a:rPr lang="en-HK" b="1" dirty="0"/>
              <a:t>​cost of operations​</a:t>
            </a:r>
            <a:r>
              <a:rPr lang="en-HK" dirty="0"/>
              <a:t>​ that a company incurs to ​</a:t>
            </a:r>
            <a:r>
              <a:rPr lang="en-HK" b="1" dirty="0"/>
              <a:t>​generate revenue in a specific period​</a:t>
            </a:r>
            <a:r>
              <a:rPr lang="en-HK" dirty="0"/>
              <a:t>​. </a:t>
            </a:r>
            <a:endParaRPr lang="en-GB" altLang="zh-TW" b="1" dirty="0">
              <a:solidFill>
                <a:srgbClr val="FF0000"/>
              </a:solidFill>
              <a:ea typeface="PMingLiU" panose="02020500000000000000" pitchFamily="18" charset="-120"/>
            </a:endParaRPr>
          </a:p>
          <a:p>
            <a:pPr>
              <a:buClr>
                <a:schemeClr val="hlink"/>
              </a:buClr>
            </a:pPr>
            <a:endParaRPr lang="en-US" altLang="zh-TW" sz="2400" dirty="0">
              <a:ea typeface="PMingLiU" panose="02020500000000000000" pitchFamily="18" charset="-120"/>
            </a:endParaRPr>
          </a:p>
        </p:txBody>
      </p:sp>
      <p:sp>
        <p:nvSpPr>
          <p:cNvPr id="448514" name="Rectangle 2"/>
          <p:cNvSpPr>
            <a:spLocks noChangeArrowheads="1"/>
          </p:cNvSpPr>
          <p:nvPr/>
        </p:nvSpPr>
        <p:spPr bwMode="auto">
          <a:xfrm>
            <a:off x="838200" y="322263"/>
            <a:ext cx="7543800" cy="608012"/>
          </a:xfrm>
          <a:prstGeom prst="rect">
            <a:avLst/>
          </a:prstGeom>
          <a:noFill/>
          <a:ln w="12700">
            <a:noFill/>
            <a:miter lim="800000"/>
            <a:headEnd/>
            <a:tailEnd/>
          </a:ln>
          <a:effectLst/>
        </p:spPr>
        <p:txBody>
          <a:bodyPr lIns="85593" tIns="42045" rIns="85593" bIns="42045">
            <a:spAutoFit/>
          </a:bodyPr>
          <a:lstStyle/>
          <a:p>
            <a:pPr algn="ctr" defTabSz="865188" eaLnBrk="0" hangingPunct="0">
              <a:defRPr/>
            </a:pPr>
            <a:r>
              <a:rPr lang="en-US" altLang="zh-TW" sz="3400" b="1" dirty="0">
                <a:effectLst>
                  <a:outerShdw blurRad="38100" dist="38100" dir="2700000" algn="tl">
                    <a:srgbClr val="DDDDDD"/>
                  </a:outerShdw>
                </a:effectLst>
                <a:latin typeface="Arial" charset="0"/>
                <a:ea typeface="新細明體" charset="-120"/>
                <a:cs typeface="新細明體" charset="-120"/>
              </a:rPr>
              <a:t>EXPENSES</a:t>
            </a:r>
          </a:p>
        </p:txBody>
      </p:sp>
    </p:spTree>
    <p:extLst>
      <p:ext uri="{BB962C8B-B14F-4D97-AF65-F5344CB8AC3E}">
        <p14:creationId xmlns:p14="http://schemas.microsoft.com/office/powerpoint/2010/main" val="207400003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AutoShape 2"/>
          <p:cNvSpPr>
            <a:spLocks noGrp="1" noChangeArrowheads="1"/>
          </p:cNvSpPr>
          <p:nvPr>
            <p:ph type="title"/>
          </p:nvPr>
        </p:nvSpPr>
        <p:spPr>
          <a:xfrm>
            <a:off x="266700" y="34826"/>
            <a:ext cx="8534400" cy="1143000"/>
          </a:xfrm>
        </p:spPr>
        <p:txBody>
          <a:bodyPr/>
          <a:lstStyle/>
          <a:p>
            <a:pPr algn="ctr">
              <a:defRPr/>
            </a:pPr>
            <a:r>
              <a:rPr lang="en-US" altLang="zh-TW" dirty="0">
                <a:ea typeface="PMingLiU" pitchFamily="18" charset="-120"/>
              </a:rPr>
              <a:t>Reporting Ownership Equity</a:t>
            </a:r>
          </a:p>
        </p:txBody>
      </p:sp>
      <p:grpSp>
        <p:nvGrpSpPr>
          <p:cNvPr id="48131" name="Group 3"/>
          <p:cNvGrpSpPr>
            <a:grpSpLocks/>
          </p:cNvGrpSpPr>
          <p:nvPr/>
        </p:nvGrpSpPr>
        <p:grpSpPr bwMode="auto">
          <a:xfrm>
            <a:off x="304800" y="1606550"/>
            <a:ext cx="8702675" cy="985838"/>
            <a:chOff x="192" y="1012"/>
            <a:chExt cx="5482" cy="621"/>
          </a:xfrm>
        </p:grpSpPr>
        <p:graphicFrame>
          <p:nvGraphicFramePr>
            <p:cNvPr id="48140" name="Object 4"/>
            <p:cNvGraphicFramePr>
              <a:graphicFrameLocks/>
            </p:cNvGraphicFramePr>
            <p:nvPr/>
          </p:nvGraphicFramePr>
          <p:xfrm>
            <a:off x="2212" y="1012"/>
            <a:ext cx="3462" cy="621"/>
          </p:xfrm>
          <a:graphic>
            <a:graphicData uri="http://schemas.openxmlformats.org/presentationml/2006/ole">
              <mc:AlternateContent xmlns:mc="http://schemas.openxmlformats.org/markup-compatibility/2006">
                <mc:Choice xmlns:v="urn:schemas-microsoft-com:vml" Requires="v">
                  <p:oleObj spid="_x0000_s2224" name="Worksheet" r:id="rId4" imgW="1838325" imgH="333375" progId="Excel.Sheet.8">
                    <p:embed/>
                  </p:oleObj>
                </mc:Choice>
                <mc:Fallback>
                  <p:oleObj name="Worksheet" r:id="rId4" imgW="1838325" imgH="333375" progId="Excel.Shee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12" y="1012"/>
                          <a:ext cx="3462" cy="62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tx1"/>
                                </a:outerShdw>
                              </a:effectLst>
                            </a14:hiddenEffects>
                          </a:ext>
                        </a:extLst>
                      </p:spPr>
                    </p:pic>
                  </p:oleObj>
                </mc:Fallback>
              </mc:AlternateContent>
            </a:graphicData>
          </a:graphic>
        </p:graphicFrame>
        <p:sp>
          <p:nvSpPr>
            <p:cNvPr id="48141" name="Line 5"/>
            <p:cNvSpPr>
              <a:spLocks noChangeShapeType="1"/>
            </p:cNvSpPr>
            <p:nvPr/>
          </p:nvSpPr>
          <p:spPr bwMode="auto">
            <a:xfrm>
              <a:off x="1344" y="1392"/>
              <a:ext cx="864" cy="0"/>
            </a:xfrm>
            <a:prstGeom prst="line">
              <a:avLst/>
            </a:prstGeom>
            <a:noFill/>
            <a:ln w="50800">
              <a:solidFill>
                <a:srgbClr val="FF0000"/>
              </a:solidFill>
              <a:round/>
              <a:headEnd/>
              <a:tailEnd type="triangle" w="med" len="med"/>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en-US"/>
            </a:p>
          </p:txBody>
        </p:sp>
        <p:sp>
          <p:nvSpPr>
            <p:cNvPr id="48142" name="Rectangle 6"/>
            <p:cNvSpPr>
              <a:spLocks noChangeArrowheads="1"/>
            </p:cNvSpPr>
            <p:nvPr/>
          </p:nvSpPr>
          <p:spPr bwMode="auto">
            <a:xfrm>
              <a:off x="192" y="1104"/>
              <a:ext cx="1443" cy="444"/>
            </a:xfrm>
            <a:prstGeom prst="rect">
              <a:avLst/>
            </a:prstGeom>
            <a:solidFill>
              <a:srgbClr val="C0FEF9"/>
            </a:solidFill>
            <a:ln w="12700">
              <a:solidFill>
                <a:srgbClr val="34001F"/>
              </a:solidFill>
              <a:miter lim="800000"/>
              <a:headEnd/>
              <a:tailEnd/>
            </a:ln>
            <a:effectLst>
              <a:outerShdw dist="107763" dir="2700000" algn="ctr" rotWithShape="0">
                <a:schemeClr val="tx1"/>
              </a:outerShdw>
            </a:effec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2000" b="1">
                  <a:ea typeface="PMingLiU" panose="02020500000000000000" pitchFamily="18" charset="-120"/>
                </a:rPr>
                <a:t>Sole Proprietorships</a:t>
              </a:r>
            </a:p>
          </p:txBody>
        </p:sp>
      </p:grpSp>
      <p:grpSp>
        <p:nvGrpSpPr>
          <p:cNvPr id="3" name="Group 7"/>
          <p:cNvGrpSpPr>
            <a:grpSpLocks/>
          </p:cNvGrpSpPr>
          <p:nvPr/>
        </p:nvGrpSpPr>
        <p:grpSpPr bwMode="auto">
          <a:xfrm>
            <a:off x="266700" y="2978150"/>
            <a:ext cx="8718550" cy="1449388"/>
            <a:chOff x="168" y="1876"/>
            <a:chExt cx="5492" cy="913"/>
          </a:xfrm>
        </p:grpSpPr>
        <p:graphicFrame>
          <p:nvGraphicFramePr>
            <p:cNvPr id="48137" name="Object 3"/>
            <p:cNvGraphicFramePr>
              <a:graphicFrameLocks/>
            </p:cNvGraphicFramePr>
            <p:nvPr/>
          </p:nvGraphicFramePr>
          <p:xfrm>
            <a:off x="2186" y="1876"/>
            <a:ext cx="3474" cy="913"/>
          </p:xfrm>
          <a:graphic>
            <a:graphicData uri="http://schemas.openxmlformats.org/presentationml/2006/ole">
              <mc:AlternateContent xmlns:mc="http://schemas.openxmlformats.org/markup-compatibility/2006">
                <mc:Choice xmlns:v="urn:schemas-microsoft-com:vml" Requires="v">
                  <p:oleObj spid="_x0000_s2225" name="Worksheet" r:id="rId6" imgW="2447925" imgH="657225" progId="Excel.Sheet.8">
                    <p:embed/>
                  </p:oleObj>
                </mc:Choice>
                <mc:Fallback>
                  <p:oleObj name="Worksheet" r:id="rId6" imgW="2447925" imgH="657225" progId="Excel.Sheet.8">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86" y="1876"/>
                          <a:ext cx="3474" cy="9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07763" dir="2700000" algn="ctr" rotWithShape="0">
                                  <a:schemeClr val="accent2"/>
                                </a:outerShdw>
                              </a:effectLst>
                            </a14:hiddenEffects>
                          </a:ext>
                        </a:extLst>
                      </p:spPr>
                    </p:pic>
                  </p:oleObj>
                </mc:Fallback>
              </mc:AlternateContent>
            </a:graphicData>
          </a:graphic>
        </p:graphicFrame>
        <p:sp>
          <p:nvSpPr>
            <p:cNvPr id="48138" name="Line 9"/>
            <p:cNvSpPr>
              <a:spLocks noChangeShapeType="1"/>
            </p:cNvSpPr>
            <p:nvPr/>
          </p:nvSpPr>
          <p:spPr bwMode="auto">
            <a:xfrm>
              <a:off x="1296" y="2352"/>
              <a:ext cx="864" cy="0"/>
            </a:xfrm>
            <a:prstGeom prst="line">
              <a:avLst/>
            </a:prstGeom>
            <a:noFill/>
            <a:ln w="50800">
              <a:solidFill>
                <a:srgbClr val="FF0000"/>
              </a:solidFill>
              <a:round/>
              <a:headEnd/>
              <a:tailEnd type="triangle" w="med" len="med"/>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en-US"/>
            </a:p>
          </p:txBody>
        </p:sp>
        <p:sp>
          <p:nvSpPr>
            <p:cNvPr id="48139" name="Rectangle 10"/>
            <p:cNvSpPr>
              <a:spLocks noChangeArrowheads="1"/>
            </p:cNvSpPr>
            <p:nvPr/>
          </p:nvSpPr>
          <p:spPr bwMode="auto">
            <a:xfrm>
              <a:off x="168" y="2185"/>
              <a:ext cx="1446" cy="250"/>
            </a:xfrm>
            <a:prstGeom prst="rect">
              <a:avLst/>
            </a:prstGeom>
            <a:solidFill>
              <a:srgbClr val="C0FEF9"/>
            </a:solidFill>
            <a:ln w="12700">
              <a:solidFill>
                <a:srgbClr val="34001F"/>
              </a:solidFill>
              <a:miter lim="800000"/>
              <a:headEnd/>
              <a:tailEnd/>
            </a:ln>
            <a:effectLst>
              <a:outerShdw dist="107763" dir="2700000" algn="ctr" rotWithShape="0">
                <a:schemeClr val="tx1"/>
              </a:outerShdw>
            </a:effec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2000" b="1">
                  <a:ea typeface="PMingLiU" panose="02020500000000000000" pitchFamily="18" charset="-120"/>
                </a:rPr>
                <a:t>Partnerships</a:t>
              </a:r>
            </a:p>
          </p:txBody>
        </p:sp>
      </p:grpSp>
      <p:grpSp>
        <p:nvGrpSpPr>
          <p:cNvPr id="4" name="Group 11"/>
          <p:cNvGrpSpPr>
            <a:grpSpLocks/>
          </p:cNvGrpSpPr>
          <p:nvPr/>
        </p:nvGrpSpPr>
        <p:grpSpPr bwMode="auto">
          <a:xfrm>
            <a:off x="328613" y="4960938"/>
            <a:ext cx="8656637" cy="1462087"/>
            <a:chOff x="207" y="3125"/>
            <a:chExt cx="5453" cy="921"/>
          </a:xfrm>
        </p:grpSpPr>
        <p:graphicFrame>
          <p:nvGraphicFramePr>
            <p:cNvPr id="48134" name="Object 2"/>
            <p:cNvGraphicFramePr>
              <a:graphicFrameLocks/>
            </p:cNvGraphicFramePr>
            <p:nvPr/>
          </p:nvGraphicFramePr>
          <p:xfrm>
            <a:off x="2160" y="3125"/>
            <a:ext cx="3500" cy="921"/>
          </p:xfrm>
          <a:graphic>
            <a:graphicData uri="http://schemas.openxmlformats.org/presentationml/2006/ole">
              <mc:AlternateContent xmlns:mc="http://schemas.openxmlformats.org/markup-compatibility/2006">
                <mc:Choice xmlns:v="urn:schemas-microsoft-com:vml" Requires="v">
                  <p:oleObj spid="_x0000_s2226" name="Worksheet" r:id="rId8" imgW="2448154" imgH="657454" progId="Excel.Sheet.8">
                    <p:embed/>
                  </p:oleObj>
                </mc:Choice>
                <mc:Fallback>
                  <p:oleObj name="Worksheet" r:id="rId8" imgW="2448154" imgH="657454" progId="Excel.Sheet.8">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0" y="3125"/>
                          <a:ext cx="3500" cy="92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80322" dir="4293903" algn="ctr" rotWithShape="0">
                                  <a:srgbClr val="005400"/>
                                </a:outerShdw>
                              </a:effectLst>
                            </a14:hiddenEffects>
                          </a:ext>
                        </a:extLst>
                      </p:spPr>
                    </p:pic>
                  </p:oleObj>
                </mc:Fallback>
              </mc:AlternateContent>
            </a:graphicData>
          </a:graphic>
        </p:graphicFrame>
        <p:sp>
          <p:nvSpPr>
            <p:cNvPr id="48135" name="Line 13"/>
            <p:cNvSpPr>
              <a:spLocks noChangeShapeType="1"/>
            </p:cNvSpPr>
            <p:nvPr/>
          </p:nvSpPr>
          <p:spPr bwMode="auto">
            <a:xfrm>
              <a:off x="1296" y="3600"/>
              <a:ext cx="864" cy="0"/>
            </a:xfrm>
            <a:prstGeom prst="line">
              <a:avLst/>
            </a:prstGeom>
            <a:noFill/>
            <a:ln w="50800">
              <a:solidFill>
                <a:srgbClr val="FF0000"/>
              </a:solidFill>
              <a:round/>
              <a:headEnd/>
              <a:tailEnd type="triangle" w="med" len="med"/>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a:lstStyle/>
            <a:p>
              <a:endParaRPr lang="en-US"/>
            </a:p>
          </p:txBody>
        </p:sp>
        <p:sp>
          <p:nvSpPr>
            <p:cNvPr id="48136" name="Rectangle 14"/>
            <p:cNvSpPr>
              <a:spLocks noChangeArrowheads="1"/>
            </p:cNvSpPr>
            <p:nvPr/>
          </p:nvSpPr>
          <p:spPr bwMode="auto">
            <a:xfrm>
              <a:off x="207" y="3432"/>
              <a:ext cx="1446" cy="250"/>
            </a:xfrm>
            <a:prstGeom prst="rect">
              <a:avLst/>
            </a:prstGeom>
            <a:solidFill>
              <a:srgbClr val="C0FEF9"/>
            </a:solidFill>
            <a:ln w="12700">
              <a:solidFill>
                <a:srgbClr val="34001F"/>
              </a:solidFill>
              <a:miter lim="800000"/>
              <a:headEnd/>
              <a:tailEnd/>
            </a:ln>
            <a:effectLst>
              <a:outerShdw dist="107763" dir="2700000" algn="ctr" rotWithShape="0">
                <a:schemeClr val="tx1"/>
              </a:outerShdw>
            </a:effec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2000" b="1">
                  <a:ea typeface="PMingLiU" panose="02020500000000000000" pitchFamily="18" charset="-120"/>
                </a:rPr>
                <a:t>Corporations</a:t>
              </a:r>
            </a:p>
          </p:txBody>
        </p:sp>
      </p:grpSp>
    </p:spTree>
    <p:extLst>
      <p:ext uri="{BB962C8B-B14F-4D97-AF65-F5344CB8AC3E}">
        <p14:creationId xmlns:p14="http://schemas.microsoft.com/office/powerpoint/2010/main" val="4172983609"/>
      </p:ext>
    </p:extLst>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85813" y="0"/>
            <a:ext cx="8382000" cy="1143000"/>
          </a:xfrm>
        </p:spPr>
        <p:txBody>
          <a:bodyPr>
            <a:normAutofit/>
          </a:bodyPr>
          <a:lstStyle/>
          <a:p>
            <a:pPr algn="ctr">
              <a:defRPr/>
            </a:pPr>
            <a:r>
              <a:rPr lang="en-US" altLang="zh-TW" b="1" dirty="0"/>
              <a:t>Stockholders’ Equity of a Corporation</a:t>
            </a:r>
          </a:p>
        </p:txBody>
      </p:sp>
      <p:sp>
        <p:nvSpPr>
          <p:cNvPr id="67587" name="Rectangle 3"/>
          <p:cNvSpPr>
            <a:spLocks noGrp="1" noChangeArrowheads="1"/>
          </p:cNvSpPr>
          <p:nvPr>
            <p:ph idx="1"/>
          </p:nvPr>
        </p:nvSpPr>
        <p:spPr>
          <a:xfrm>
            <a:off x="477779" y="990600"/>
            <a:ext cx="8305800" cy="4873625"/>
          </a:xfrm>
        </p:spPr>
        <p:txBody>
          <a:bodyPr>
            <a:normAutofit/>
          </a:bodyPr>
          <a:lstStyle/>
          <a:p>
            <a:pPr>
              <a:defRPr/>
            </a:pPr>
            <a:r>
              <a:rPr lang="en-US" altLang="zh-TW" dirty="0">
                <a:latin typeface="Arial" charset="0"/>
                <a:ea typeface="PMingLiU" pitchFamily="18" charset="-120"/>
                <a:cs typeface="Arial" charset="0"/>
              </a:rPr>
              <a:t>Paid-in Capital = owners’ investment</a:t>
            </a:r>
          </a:p>
          <a:p>
            <a:pPr>
              <a:buFont typeface="Wingdings" panose="05000000000000000000" pitchFamily="2" charset="2"/>
              <a:buNone/>
              <a:defRPr/>
            </a:pPr>
            <a:endParaRPr lang="en-US" altLang="zh-TW" dirty="0">
              <a:latin typeface="Arial" charset="0"/>
              <a:ea typeface="PMingLiU" pitchFamily="18" charset="-120"/>
              <a:cs typeface="Arial" charset="0"/>
            </a:endParaRPr>
          </a:p>
          <a:p>
            <a:pPr>
              <a:defRPr/>
            </a:pPr>
            <a:r>
              <a:rPr lang="en-US" altLang="zh-TW" dirty="0">
                <a:latin typeface="Arial" charset="0"/>
                <a:ea typeface="PMingLiU" pitchFamily="18" charset="-120"/>
                <a:cs typeface="Arial" charset="0"/>
              </a:rPr>
              <a:t>Retained Earnings:</a:t>
            </a:r>
          </a:p>
          <a:p>
            <a:pPr marL="0" indent="0">
              <a:buFont typeface="Wingdings" panose="05000000000000000000" pitchFamily="2" charset="2"/>
              <a:buNone/>
              <a:defRPr/>
            </a:pPr>
            <a:r>
              <a:rPr lang="en-US" altLang="zh-TW" sz="2400" dirty="0">
                <a:solidFill>
                  <a:srgbClr val="0000FF"/>
                </a:solidFill>
                <a:latin typeface="Arial" charset="0"/>
                <a:ea typeface="PMingLiU" pitchFamily="18" charset="-120"/>
                <a:cs typeface="Arial" charset="0"/>
              </a:rPr>
              <a:t>Cumulative net income (and loss) not distributed  as dividends to its stockholders.</a:t>
            </a:r>
          </a:p>
          <a:p>
            <a:pPr>
              <a:buFontTx/>
              <a:buNone/>
              <a:defRPr/>
            </a:pPr>
            <a:r>
              <a:rPr lang="en-US" altLang="zh-TW" dirty="0">
                <a:latin typeface="Arial" charset="0"/>
                <a:ea typeface="PMingLiU" pitchFamily="18" charset="-120"/>
                <a:cs typeface="Arial" charset="0"/>
              </a:rPr>
              <a:t>	      Beginning Retained Earnings</a:t>
            </a:r>
          </a:p>
          <a:p>
            <a:pPr>
              <a:buFontTx/>
              <a:buNone/>
              <a:defRPr/>
            </a:pPr>
            <a:r>
              <a:rPr lang="en-US" altLang="zh-TW" dirty="0">
                <a:latin typeface="Arial" charset="0"/>
                <a:ea typeface="PMingLiU" pitchFamily="18" charset="-120"/>
                <a:cs typeface="Arial" charset="0"/>
              </a:rPr>
              <a:t>		+	Revenues</a:t>
            </a:r>
          </a:p>
          <a:p>
            <a:pPr>
              <a:buFontTx/>
              <a:buNone/>
              <a:defRPr/>
            </a:pPr>
            <a:r>
              <a:rPr lang="en-US" altLang="zh-TW" dirty="0">
                <a:latin typeface="Arial" charset="0"/>
                <a:ea typeface="PMingLiU" pitchFamily="18" charset="-120"/>
                <a:cs typeface="Arial" charset="0"/>
              </a:rPr>
              <a:t>		-	Expenses  </a:t>
            </a:r>
          </a:p>
          <a:p>
            <a:pPr>
              <a:buFontTx/>
              <a:buNone/>
              <a:defRPr/>
            </a:pPr>
            <a:r>
              <a:rPr lang="en-US" altLang="zh-TW" dirty="0">
                <a:latin typeface="Arial" charset="0"/>
                <a:ea typeface="PMingLiU" pitchFamily="18" charset="-120"/>
                <a:cs typeface="Arial" charset="0"/>
              </a:rPr>
              <a:t>		-	Dividends</a:t>
            </a:r>
          </a:p>
          <a:p>
            <a:pPr>
              <a:buFontTx/>
              <a:buNone/>
              <a:defRPr/>
            </a:pPr>
            <a:r>
              <a:rPr lang="en-US" altLang="zh-TW" dirty="0">
                <a:latin typeface="Arial" charset="0"/>
                <a:ea typeface="PMingLiU" pitchFamily="18" charset="-120"/>
                <a:cs typeface="Arial" charset="0"/>
              </a:rPr>
              <a:t>		 = Ending Retained Earnings</a:t>
            </a:r>
          </a:p>
          <a:p>
            <a:pPr>
              <a:buFontTx/>
              <a:buNone/>
              <a:defRPr/>
            </a:pPr>
            <a:endParaRPr lang="en-US" altLang="zh-TW" dirty="0">
              <a:latin typeface="Arial" charset="0"/>
              <a:ea typeface="PMingLiU" pitchFamily="18" charset="-120"/>
              <a:cs typeface="Arial" charset="0"/>
            </a:endParaRPr>
          </a:p>
        </p:txBody>
      </p:sp>
    </p:spTree>
    <p:extLst>
      <p:ext uri="{BB962C8B-B14F-4D97-AF65-F5344CB8AC3E}">
        <p14:creationId xmlns:p14="http://schemas.microsoft.com/office/powerpoint/2010/main" val="13262192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dirty="0"/>
              <a:t>Expanded Accounting Equation</a:t>
            </a:r>
            <a:br>
              <a:rPr lang="en-US" dirty="0"/>
            </a:br>
            <a:r>
              <a:rPr lang="en-US" dirty="0"/>
              <a:t>Example #1: </a:t>
            </a:r>
            <a:r>
              <a:rPr lang="en-US" altLang="zh-TW" sz="4400" dirty="0">
                <a:effectLst/>
              </a:rPr>
              <a:t>Owner’s withdrawals </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1544342414"/>
              </p:ext>
            </p:extLst>
          </p:nvPr>
        </p:nvGraphicFramePr>
        <p:xfrm>
          <a:off x="533400" y="1676400"/>
          <a:ext cx="8382000" cy="3637865"/>
        </p:xfrm>
        <a:graphic>
          <a:graphicData uri="http://schemas.openxmlformats.org/drawingml/2006/table">
            <a:tbl>
              <a:tblPr firstRow="1" firstCol="1" bandRow="1">
                <a:tableStyleId>{5C22544A-7EE6-4342-B048-85BDC9FD1C3A}</a:tableStyleId>
              </a:tblPr>
              <a:tblGrid>
                <a:gridCol w="860165">
                  <a:extLst>
                    <a:ext uri="{9D8B030D-6E8A-4147-A177-3AD203B41FA5}">
                      <a16:colId xmlns:a16="http://schemas.microsoft.com/office/drawing/2014/main" val="20000"/>
                    </a:ext>
                  </a:extLst>
                </a:gridCol>
                <a:gridCol w="729380">
                  <a:extLst>
                    <a:ext uri="{9D8B030D-6E8A-4147-A177-3AD203B41FA5}">
                      <a16:colId xmlns:a16="http://schemas.microsoft.com/office/drawing/2014/main" val="20001"/>
                    </a:ext>
                  </a:extLst>
                </a:gridCol>
                <a:gridCol w="3973055">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tblGrid>
              <a:tr h="1123265">
                <a:tc>
                  <a:txBody>
                    <a:bodyPr/>
                    <a:lstStyle/>
                    <a:p>
                      <a:pPr marL="0" marR="0">
                        <a:spcBef>
                          <a:spcPts val="0"/>
                        </a:spcBef>
                        <a:spcAft>
                          <a:spcPts val="0"/>
                        </a:spcAft>
                      </a:pPr>
                      <a:r>
                        <a:rPr lang="en-US" sz="1600" dirty="0">
                          <a:effectLst/>
                        </a:rPr>
                        <a:t>Year</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1600">
                          <a:effectLst/>
                        </a:rPr>
                        <a:t> </a:t>
                      </a:r>
                      <a:endParaRPr lang="en-US" sz="1200">
                        <a:effectLst/>
                        <a:latin typeface="Times New Roman"/>
                        <a:ea typeface="Batang"/>
                      </a:endParaRPr>
                    </a:p>
                  </a:txBody>
                  <a:tcPr marL="68580" marR="68580" marT="0" marB="0"/>
                </a:tc>
                <a:tc>
                  <a:txBody>
                    <a:bodyPr/>
                    <a:lstStyle/>
                    <a:p>
                      <a:pPr marL="0" marR="0">
                        <a:spcBef>
                          <a:spcPts val="0"/>
                        </a:spcBef>
                        <a:spcAft>
                          <a:spcPts val="0"/>
                        </a:spcAft>
                      </a:pPr>
                      <a:r>
                        <a:rPr lang="en-US" sz="1600" dirty="0">
                          <a:effectLst/>
                        </a:rPr>
                        <a:t>Description</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1600">
                          <a:effectLst/>
                        </a:rPr>
                        <a:t>Owners’ Equity (OE)</a:t>
                      </a:r>
                      <a:endParaRPr lang="en-US" sz="1200">
                        <a:effectLst/>
                        <a:latin typeface="Times New Roman"/>
                        <a:ea typeface="Batang"/>
                      </a:endParaRPr>
                    </a:p>
                  </a:txBody>
                  <a:tcPr marL="68580" marR="68580" marT="0" marB="0"/>
                </a:tc>
                <a:tc>
                  <a:txBody>
                    <a:bodyPr/>
                    <a:lstStyle/>
                    <a:p>
                      <a:pPr marL="0" marR="0">
                        <a:spcBef>
                          <a:spcPts val="0"/>
                        </a:spcBef>
                        <a:spcAft>
                          <a:spcPts val="0"/>
                        </a:spcAft>
                      </a:pPr>
                      <a:r>
                        <a:rPr lang="en-US" sz="1600" dirty="0">
                          <a:effectLst/>
                        </a:rPr>
                        <a:t>Owners’ Equity (OE)</a:t>
                      </a:r>
                      <a:endParaRPr lang="en-US" sz="1200" dirty="0">
                        <a:effectLst/>
                      </a:endParaRPr>
                    </a:p>
                    <a:p>
                      <a:pPr marL="0" marR="0">
                        <a:spcBef>
                          <a:spcPts val="0"/>
                        </a:spcBef>
                        <a:spcAft>
                          <a:spcPts val="0"/>
                        </a:spcAft>
                      </a:pPr>
                      <a:r>
                        <a:rPr lang="en-US" sz="1100" dirty="0">
                          <a:effectLst/>
                        </a:rPr>
                        <a:t>-</a:t>
                      </a:r>
                      <a:r>
                        <a:rPr lang="en-US" sz="1200" dirty="0">
                          <a:effectLst/>
                        </a:rPr>
                        <a:t>Capital Stock</a:t>
                      </a:r>
                    </a:p>
                    <a:p>
                      <a:pPr marL="0" marR="0">
                        <a:spcBef>
                          <a:spcPts val="0"/>
                        </a:spcBef>
                        <a:spcAft>
                          <a:spcPts val="0"/>
                        </a:spcAft>
                      </a:pPr>
                      <a:r>
                        <a:rPr lang="en-US" sz="1200" dirty="0">
                          <a:effectLst/>
                        </a:rPr>
                        <a:t>-Retained earnings</a:t>
                      </a:r>
                      <a:endParaRPr lang="en-US" sz="1200" dirty="0">
                        <a:effectLst/>
                        <a:latin typeface="Times New Roman"/>
                        <a:ea typeface="Batang"/>
                      </a:endParaRPr>
                    </a:p>
                  </a:txBody>
                  <a:tcPr marL="68580" marR="68580" marT="0" marB="0"/>
                </a:tc>
                <a:extLst>
                  <a:ext uri="{0D108BD9-81ED-4DB2-BD59-A6C34878D82A}">
                    <a16:rowId xmlns:a16="http://schemas.microsoft.com/office/drawing/2014/main" val="10000"/>
                  </a:ext>
                </a:extLst>
              </a:tr>
              <a:tr h="789788">
                <a:tc>
                  <a:txBody>
                    <a:bodyPr/>
                    <a:lstStyle/>
                    <a:p>
                      <a:pPr marL="0" marR="0">
                        <a:spcBef>
                          <a:spcPts val="0"/>
                        </a:spcBef>
                        <a:spcAft>
                          <a:spcPts val="0"/>
                        </a:spcAft>
                      </a:pPr>
                      <a:r>
                        <a:rPr lang="en-US" sz="2200" dirty="0">
                          <a:effectLst/>
                        </a:rPr>
                        <a:t>2013</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a:effectLst/>
                        </a:rPr>
                        <a:t>Yr1</a:t>
                      </a:r>
                      <a:endParaRPr lang="en-US" sz="1200">
                        <a:effectLst/>
                        <a:latin typeface="Times New Roman"/>
                        <a:ea typeface="Batang"/>
                      </a:endParaRPr>
                    </a:p>
                  </a:txBody>
                  <a:tcPr marL="68580" marR="68580" marT="0" marB="0"/>
                </a:tc>
                <a:tc>
                  <a:txBody>
                    <a:bodyPr/>
                    <a:lstStyle/>
                    <a:p>
                      <a:pPr marL="0" marR="0" algn="l">
                        <a:spcBef>
                          <a:spcPts val="0"/>
                        </a:spcBef>
                        <a:spcAft>
                          <a:spcPts val="0"/>
                        </a:spcAft>
                      </a:pPr>
                      <a:r>
                        <a:rPr lang="en-US" sz="1600" dirty="0">
                          <a:effectLst/>
                        </a:rPr>
                        <a:t>Owner’s contribution                    10,000</a:t>
                      </a:r>
                      <a:endParaRPr lang="en-US" sz="1200" dirty="0">
                        <a:effectLst/>
                      </a:endParaRPr>
                    </a:p>
                    <a:p>
                      <a:pPr marL="0" marR="0">
                        <a:spcBef>
                          <a:spcPts val="0"/>
                        </a:spcBef>
                        <a:spcAft>
                          <a:spcPts val="0"/>
                        </a:spcAft>
                      </a:pPr>
                      <a:r>
                        <a:rPr lang="en-US" sz="1600" dirty="0">
                          <a:effectLst/>
                        </a:rPr>
                        <a:t> </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 </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a:effectLst/>
                        </a:rPr>
                        <a:t> </a:t>
                      </a:r>
                      <a:endParaRPr lang="en-US" sz="1200">
                        <a:effectLst/>
                        <a:latin typeface="Times New Roman"/>
                        <a:ea typeface="Batang"/>
                      </a:endParaRPr>
                    </a:p>
                  </a:txBody>
                  <a:tcPr marL="68580" marR="68580" marT="0" marB="0"/>
                </a:tc>
                <a:extLst>
                  <a:ext uri="{0D108BD9-81ED-4DB2-BD59-A6C34878D82A}">
                    <a16:rowId xmlns:a16="http://schemas.microsoft.com/office/drawing/2014/main" val="10001"/>
                  </a:ext>
                </a:extLst>
              </a:tr>
              <a:tr h="789788">
                <a:tc>
                  <a:txBody>
                    <a:bodyPr/>
                    <a:lstStyle/>
                    <a:p>
                      <a:pPr marL="0" marR="0">
                        <a:spcBef>
                          <a:spcPts val="0"/>
                        </a:spcBef>
                        <a:spcAft>
                          <a:spcPts val="0"/>
                        </a:spcAft>
                      </a:pPr>
                      <a:r>
                        <a:rPr lang="en-US" sz="2200" dirty="0">
                          <a:effectLst/>
                        </a:rPr>
                        <a:t>2014</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a:effectLst/>
                        </a:rPr>
                        <a:t>Yr2</a:t>
                      </a:r>
                      <a:endParaRPr lang="en-US" sz="1200">
                        <a:effectLst/>
                        <a:latin typeface="Times New Roman"/>
                        <a:ea typeface="Batang"/>
                      </a:endParaRPr>
                    </a:p>
                  </a:txBody>
                  <a:tcPr marL="68580" marR="68580" marT="0" marB="0"/>
                </a:tc>
                <a:tc>
                  <a:txBody>
                    <a:bodyPr/>
                    <a:lstStyle/>
                    <a:p>
                      <a:pPr marL="0" marR="0">
                        <a:spcBef>
                          <a:spcPts val="0"/>
                        </a:spcBef>
                        <a:spcAft>
                          <a:spcPts val="0"/>
                        </a:spcAft>
                      </a:pPr>
                      <a:r>
                        <a:rPr lang="en-US" sz="1600" dirty="0">
                          <a:effectLst/>
                        </a:rPr>
                        <a:t>Revenue                                             1,000</a:t>
                      </a:r>
                      <a:endParaRPr lang="en-US" sz="1200" dirty="0">
                        <a:effectLst/>
                      </a:endParaRPr>
                    </a:p>
                    <a:p>
                      <a:pPr marL="0" marR="0">
                        <a:spcBef>
                          <a:spcPts val="0"/>
                        </a:spcBef>
                        <a:spcAft>
                          <a:spcPts val="0"/>
                        </a:spcAft>
                      </a:pPr>
                      <a:r>
                        <a:rPr lang="en-US" sz="1600" dirty="0">
                          <a:effectLst/>
                        </a:rPr>
                        <a:t>Expense                                                 800</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a:effectLst/>
                        </a:rPr>
                        <a:t> </a:t>
                      </a:r>
                      <a:endParaRPr lang="en-US" sz="120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 </a:t>
                      </a:r>
                      <a:endParaRPr lang="en-US" sz="1200" dirty="0">
                        <a:effectLst/>
                        <a:latin typeface="Times New Roman"/>
                        <a:ea typeface="Batang"/>
                      </a:endParaRPr>
                    </a:p>
                  </a:txBody>
                  <a:tcPr marL="68580" marR="68580" marT="0" marB="0"/>
                </a:tc>
                <a:extLst>
                  <a:ext uri="{0D108BD9-81ED-4DB2-BD59-A6C34878D82A}">
                    <a16:rowId xmlns:a16="http://schemas.microsoft.com/office/drawing/2014/main" val="10002"/>
                  </a:ext>
                </a:extLst>
              </a:tr>
              <a:tr h="935024">
                <a:tc>
                  <a:txBody>
                    <a:bodyPr/>
                    <a:lstStyle/>
                    <a:p>
                      <a:pPr marL="0" marR="0">
                        <a:spcBef>
                          <a:spcPts val="0"/>
                        </a:spcBef>
                        <a:spcAft>
                          <a:spcPts val="0"/>
                        </a:spcAft>
                      </a:pPr>
                      <a:r>
                        <a:rPr lang="en-US" sz="2200" dirty="0">
                          <a:effectLst/>
                        </a:rPr>
                        <a:t>2015</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Yr3</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1600" dirty="0">
                          <a:effectLst/>
                        </a:rPr>
                        <a:t>Revenue                                             2,000</a:t>
                      </a:r>
                      <a:endParaRPr lang="en-US" sz="1200" dirty="0">
                        <a:effectLst/>
                      </a:endParaRPr>
                    </a:p>
                    <a:p>
                      <a:pPr marL="0" marR="0">
                        <a:spcBef>
                          <a:spcPts val="0"/>
                        </a:spcBef>
                        <a:spcAft>
                          <a:spcPts val="0"/>
                        </a:spcAft>
                      </a:pPr>
                      <a:r>
                        <a:rPr lang="en-US" sz="1600" dirty="0">
                          <a:effectLst/>
                        </a:rPr>
                        <a:t>Expense                                              1,600</a:t>
                      </a:r>
                      <a:endParaRPr lang="en-US" sz="1200" dirty="0">
                        <a:effectLst/>
                      </a:endParaRPr>
                    </a:p>
                    <a:p>
                      <a:pPr marL="0" marR="0">
                        <a:spcBef>
                          <a:spcPts val="0"/>
                        </a:spcBef>
                        <a:spcAft>
                          <a:spcPts val="0"/>
                        </a:spcAft>
                      </a:pPr>
                      <a:r>
                        <a:rPr lang="en-US" sz="1600" dirty="0">
                          <a:effectLst/>
                        </a:rPr>
                        <a:t>Owner’s withdrawals                          200</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 </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 </a:t>
                      </a:r>
                      <a:endParaRPr lang="en-US" sz="1200" dirty="0">
                        <a:effectLst/>
                        <a:latin typeface="Times New Roman"/>
                        <a:ea typeface="Batang"/>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4700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dirty="0"/>
              <a:t>Expanded Accounting Equation</a:t>
            </a:r>
            <a:br>
              <a:rPr lang="en-US" dirty="0"/>
            </a:br>
            <a:r>
              <a:rPr lang="en-US" dirty="0"/>
              <a:t>Example #2: Dividend </a:t>
            </a:r>
          </a:p>
        </p:txBody>
      </p:sp>
      <p:graphicFrame>
        <p:nvGraphicFramePr>
          <p:cNvPr id="3" name="Table 2"/>
          <p:cNvGraphicFramePr>
            <a:graphicFrameLocks noGrp="1"/>
          </p:cNvGraphicFramePr>
          <p:nvPr>
            <p:extLst>
              <p:ext uri="{D42A27DB-BD31-4B8C-83A1-F6EECF244321}">
                <p14:modId xmlns:p14="http://schemas.microsoft.com/office/powerpoint/2010/main" val="2734244193"/>
              </p:ext>
            </p:extLst>
          </p:nvPr>
        </p:nvGraphicFramePr>
        <p:xfrm>
          <a:off x="533400" y="1661381"/>
          <a:ext cx="8382000" cy="3749040"/>
        </p:xfrm>
        <a:graphic>
          <a:graphicData uri="http://schemas.openxmlformats.org/drawingml/2006/table">
            <a:tbl>
              <a:tblPr firstRow="1" firstCol="1" bandRow="1">
                <a:tableStyleId>{5C22544A-7EE6-4342-B048-85BDC9FD1C3A}</a:tableStyleId>
              </a:tblPr>
              <a:tblGrid>
                <a:gridCol w="860165">
                  <a:extLst>
                    <a:ext uri="{9D8B030D-6E8A-4147-A177-3AD203B41FA5}">
                      <a16:colId xmlns:a16="http://schemas.microsoft.com/office/drawing/2014/main" val="20000"/>
                    </a:ext>
                  </a:extLst>
                </a:gridCol>
                <a:gridCol w="729380">
                  <a:extLst>
                    <a:ext uri="{9D8B030D-6E8A-4147-A177-3AD203B41FA5}">
                      <a16:colId xmlns:a16="http://schemas.microsoft.com/office/drawing/2014/main" val="20001"/>
                    </a:ext>
                  </a:extLst>
                </a:gridCol>
                <a:gridCol w="3973055">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676400">
                  <a:extLst>
                    <a:ext uri="{9D8B030D-6E8A-4147-A177-3AD203B41FA5}">
                      <a16:colId xmlns:a16="http://schemas.microsoft.com/office/drawing/2014/main" val="20004"/>
                    </a:ext>
                  </a:extLst>
                </a:gridCol>
              </a:tblGrid>
              <a:tr h="1224176">
                <a:tc>
                  <a:txBody>
                    <a:bodyPr/>
                    <a:lstStyle/>
                    <a:p>
                      <a:pPr marL="0" marR="0">
                        <a:spcBef>
                          <a:spcPts val="0"/>
                        </a:spcBef>
                        <a:spcAft>
                          <a:spcPts val="0"/>
                        </a:spcAft>
                      </a:pPr>
                      <a:r>
                        <a:rPr lang="en-US" sz="1600" dirty="0">
                          <a:effectLst/>
                        </a:rPr>
                        <a:t>Year</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1600">
                          <a:effectLst/>
                        </a:rPr>
                        <a:t> </a:t>
                      </a:r>
                      <a:endParaRPr lang="en-US" sz="1200">
                        <a:effectLst/>
                        <a:latin typeface="Times New Roman"/>
                        <a:ea typeface="Batang"/>
                      </a:endParaRPr>
                    </a:p>
                  </a:txBody>
                  <a:tcPr marL="68580" marR="68580" marT="0" marB="0"/>
                </a:tc>
                <a:tc>
                  <a:txBody>
                    <a:bodyPr/>
                    <a:lstStyle/>
                    <a:p>
                      <a:pPr marL="0" marR="0">
                        <a:spcBef>
                          <a:spcPts val="0"/>
                        </a:spcBef>
                        <a:spcAft>
                          <a:spcPts val="0"/>
                        </a:spcAft>
                      </a:pPr>
                      <a:r>
                        <a:rPr lang="en-US" sz="1600" dirty="0">
                          <a:effectLst/>
                        </a:rPr>
                        <a:t>Description</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1600">
                          <a:effectLst/>
                        </a:rPr>
                        <a:t>Owners’ Equity (OE)</a:t>
                      </a:r>
                      <a:endParaRPr lang="en-US" sz="1200">
                        <a:effectLst/>
                        <a:latin typeface="Times New Roman"/>
                        <a:ea typeface="Batang"/>
                      </a:endParaRPr>
                    </a:p>
                  </a:txBody>
                  <a:tcPr marL="68580" marR="68580" marT="0" marB="0"/>
                </a:tc>
                <a:tc>
                  <a:txBody>
                    <a:bodyPr/>
                    <a:lstStyle/>
                    <a:p>
                      <a:pPr marL="0" marR="0">
                        <a:spcBef>
                          <a:spcPts val="0"/>
                        </a:spcBef>
                        <a:spcAft>
                          <a:spcPts val="0"/>
                        </a:spcAft>
                      </a:pPr>
                      <a:r>
                        <a:rPr lang="en-US" sz="1600" dirty="0">
                          <a:effectLst/>
                        </a:rPr>
                        <a:t>Owners’ Equity (OE)</a:t>
                      </a:r>
                      <a:endParaRPr lang="en-US" sz="1200" dirty="0">
                        <a:effectLst/>
                      </a:endParaRPr>
                    </a:p>
                    <a:p>
                      <a:pPr marL="0" marR="0">
                        <a:spcBef>
                          <a:spcPts val="0"/>
                        </a:spcBef>
                        <a:spcAft>
                          <a:spcPts val="0"/>
                        </a:spcAft>
                      </a:pPr>
                      <a:r>
                        <a:rPr lang="en-US" sz="1100" dirty="0">
                          <a:effectLst/>
                        </a:rPr>
                        <a:t>-</a:t>
                      </a:r>
                      <a:r>
                        <a:rPr lang="en-US" sz="1200" dirty="0">
                          <a:effectLst/>
                        </a:rPr>
                        <a:t>Capital Stock</a:t>
                      </a:r>
                    </a:p>
                    <a:p>
                      <a:pPr marL="0" marR="0">
                        <a:spcBef>
                          <a:spcPts val="0"/>
                        </a:spcBef>
                        <a:spcAft>
                          <a:spcPts val="0"/>
                        </a:spcAft>
                      </a:pPr>
                      <a:r>
                        <a:rPr lang="en-US" sz="1200" dirty="0">
                          <a:effectLst/>
                        </a:rPr>
                        <a:t>-Retained earnings</a:t>
                      </a:r>
                      <a:endParaRPr lang="en-US" sz="1200" dirty="0">
                        <a:effectLst/>
                        <a:latin typeface="Times New Roman"/>
                        <a:ea typeface="Batang"/>
                      </a:endParaRPr>
                    </a:p>
                  </a:txBody>
                  <a:tcPr marL="68580" marR="68580" marT="0" marB="0"/>
                </a:tc>
                <a:extLst>
                  <a:ext uri="{0D108BD9-81ED-4DB2-BD59-A6C34878D82A}">
                    <a16:rowId xmlns:a16="http://schemas.microsoft.com/office/drawing/2014/main" val="10000"/>
                  </a:ext>
                </a:extLst>
              </a:tr>
              <a:tr h="793012">
                <a:tc>
                  <a:txBody>
                    <a:bodyPr/>
                    <a:lstStyle/>
                    <a:p>
                      <a:pPr marL="0" marR="0">
                        <a:spcBef>
                          <a:spcPts val="0"/>
                        </a:spcBef>
                        <a:spcAft>
                          <a:spcPts val="0"/>
                        </a:spcAft>
                      </a:pPr>
                      <a:r>
                        <a:rPr lang="en-US" sz="2200" dirty="0">
                          <a:effectLst/>
                        </a:rPr>
                        <a:t>2013</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a:effectLst/>
                        </a:rPr>
                        <a:t>Yr1</a:t>
                      </a:r>
                      <a:endParaRPr lang="en-US" sz="1200">
                        <a:effectLst/>
                        <a:latin typeface="Times New Roman"/>
                        <a:ea typeface="Batang"/>
                      </a:endParaRPr>
                    </a:p>
                  </a:txBody>
                  <a:tcPr marL="68580" marR="68580" marT="0" marB="0"/>
                </a:tc>
                <a:tc>
                  <a:txBody>
                    <a:bodyPr/>
                    <a:lstStyle/>
                    <a:p>
                      <a:pPr marL="0" marR="0" algn="l">
                        <a:spcBef>
                          <a:spcPts val="0"/>
                        </a:spcBef>
                        <a:spcAft>
                          <a:spcPts val="0"/>
                        </a:spcAft>
                      </a:pPr>
                      <a:r>
                        <a:rPr lang="en-US" sz="1600" dirty="0">
                          <a:effectLst/>
                        </a:rPr>
                        <a:t>Owner’s contribution                    10,000</a:t>
                      </a:r>
                      <a:endParaRPr lang="en-US" sz="1200" dirty="0">
                        <a:effectLst/>
                      </a:endParaRPr>
                    </a:p>
                    <a:p>
                      <a:pPr marL="0" marR="0">
                        <a:spcBef>
                          <a:spcPts val="0"/>
                        </a:spcBef>
                        <a:spcAft>
                          <a:spcPts val="0"/>
                        </a:spcAft>
                      </a:pPr>
                      <a:r>
                        <a:rPr lang="en-US" sz="1600" dirty="0">
                          <a:effectLst/>
                        </a:rPr>
                        <a:t> </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 </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a:effectLst/>
                        </a:rPr>
                        <a:t> </a:t>
                      </a:r>
                      <a:endParaRPr lang="en-US" sz="1200">
                        <a:effectLst/>
                        <a:latin typeface="Times New Roman"/>
                        <a:ea typeface="Batang"/>
                      </a:endParaRPr>
                    </a:p>
                  </a:txBody>
                  <a:tcPr marL="68580" marR="68580" marT="0" marB="0"/>
                </a:tc>
                <a:extLst>
                  <a:ext uri="{0D108BD9-81ED-4DB2-BD59-A6C34878D82A}">
                    <a16:rowId xmlns:a16="http://schemas.microsoft.com/office/drawing/2014/main" val="10001"/>
                  </a:ext>
                </a:extLst>
              </a:tr>
              <a:tr h="793012">
                <a:tc>
                  <a:txBody>
                    <a:bodyPr/>
                    <a:lstStyle/>
                    <a:p>
                      <a:pPr marL="0" marR="0">
                        <a:spcBef>
                          <a:spcPts val="0"/>
                        </a:spcBef>
                        <a:spcAft>
                          <a:spcPts val="0"/>
                        </a:spcAft>
                      </a:pPr>
                      <a:r>
                        <a:rPr lang="en-US" sz="2200" dirty="0">
                          <a:effectLst/>
                        </a:rPr>
                        <a:t>2014</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a:effectLst/>
                        </a:rPr>
                        <a:t>Yr2</a:t>
                      </a:r>
                      <a:endParaRPr lang="en-US" sz="1200">
                        <a:effectLst/>
                        <a:latin typeface="Times New Roman"/>
                        <a:ea typeface="Batang"/>
                      </a:endParaRPr>
                    </a:p>
                  </a:txBody>
                  <a:tcPr marL="68580" marR="68580" marT="0" marB="0"/>
                </a:tc>
                <a:tc>
                  <a:txBody>
                    <a:bodyPr/>
                    <a:lstStyle/>
                    <a:p>
                      <a:pPr marL="0" marR="0">
                        <a:spcBef>
                          <a:spcPts val="0"/>
                        </a:spcBef>
                        <a:spcAft>
                          <a:spcPts val="0"/>
                        </a:spcAft>
                      </a:pPr>
                      <a:r>
                        <a:rPr lang="en-US" sz="1600" dirty="0">
                          <a:effectLst/>
                        </a:rPr>
                        <a:t>Revenue                                             1,000</a:t>
                      </a:r>
                      <a:endParaRPr lang="en-US" sz="1200" dirty="0">
                        <a:effectLst/>
                      </a:endParaRPr>
                    </a:p>
                    <a:p>
                      <a:pPr marL="0" marR="0">
                        <a:spcBef>
                          <a:spcPts val="0"/>
                        </a:spcBef>
                        <a:spcAft>
                          <a:spcPts val="0"/>
                        </a:spcAft>
                      </a:pPr>
                      <a:r>
                        <a:rPr lang="en-US" sz="1600" dirty="0">
                          <a:effectLst/>
                        </a:rPr>
                        <a:t>Expense                                                 800</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a:effectLst/>
                        </a:rPr>
                        <a:t> </a:t>
                      </a:r>
                      <a:endParaRPr lang="en-US" sz="120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 </a:t>
                      </a:r>
                      <a:endParaRPr lang="en-US" sz="1200" dirty="0">
                        <a:effectLst/>
                        <a:latin typeface="Times New Roman"/>
                        <a:ea typeface="Batang"/>
                      </a:endParaRPr>
                    </a:p>
                  </a:txBody>
                  <a:tcPr marL="68580" marR="68580" marT="0" marB="0"/>
                </a:tc>
                <a:extLst>
                  <a:ext uri="{0D108BD9-81ED-4DB2-BD59-A6C34878D82A}">
                    <a16:rowId xmlns:a16="http://schemas.microsoft.com/office/drawing/2014/main" val="10002"/>
                  </a:ext>
                </a:extLst>
              </a:tr>
              <a:tr h="938840">
                <a:tc>
                  <a:txBody>
                    <a:bodyPr/>
                    <a:lstStyle/>
                    <a:p>
                      <a:pPr marL="0" marR="0">
                        <a:spcBef>
                          <a:spcPts val="0"/>
                        </a:spcBef>
                        <a:spcAft>
                          <a:spcPts val="0"/>
                        </a:spcAft>
                      </a:pPr>
                      <a:r>
                        <a:rPr lang="en-US" sz="2200" dirty="0">
                          <a:effectLst/>
                        </a:rPr>
                        <a:t>2015</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Yr3</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1600" dirty="0">
                          <a:effectLst/>
                        </a:rPr>
                        <a:t>Revenue                                             2,000</a:t>
                      </a:r>
                      <a:endParaRPr lang="en-US" sz="1200" dirty="0">
                        <a:effectLst/>
                      </a:endParaRPr>
                    </a:p>
                    <a:p>
                      <a:pPr marL="0" marR="0">
                        <a:spcBef>
                          <a:spcPts val="0"/>
                        </a:spcBef>
                        <a:spcAft>
                          <a:spcPts val="0"/>
                        </a:spcAft>
                      </a:pPr>
                      <a:r>
                        <a:rPr lang="en-US" sz="1600" dirty="0">
                          <a:effectLst/>
                        </a:rPr>
                        <a:t>Expense                                              1,600</a:t>
                      </a:r>
                      <a:endParaRPr lang="en-US" sz="1200" dirty="0">
                        <a:effectLst/>
                      </a:endParaRPr>
                    </a:p>
                    <a:p>
                      <a:pPr marL="0" marR="0">
                        <a:spcBef>
                          <a:spcPts val="0"/>
                        </a:spcBef>
                        <a:spcAft>
                          <a:spcPts val="0"/>
                        </a:spcAft>
                      </a:pPr>
                      <a:r>
                        <a:rPr lang="en-US" sz="1600">
                          <a:effectLst/>
                        </a:rPr>
                        <a:t>Dividends                                               200</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 </a:t>
                      </a:r>
                      <a:endParaRPr lang="en-US" sz="1200" dirty="0">
                        <a:effectLst/>
                        <a:latin typeface="Times New Roman"/>
                        <a:ea typeface="Batang"/>
                      </a:endParaRPr>
                    </a:p>
                  </a:txBody>
                  <a:tcPr marL="68580" marR="68580" marT="0" marB="0"/>
                </a:tc>
                <a:tc>
                  <a:txBody>
                    <a:bodyPr/>
                    <a:lstStyle/>
                    <a:p>
                      <a:pPr marL="0" marR="0">
                        <a:spcBef>
                          <a:spcPts val="0"/>
                        </a:spcBef>
                        <a:spcAft>
                          <a:spcPts val="0"/>
                        </a:spcAft>
                      </a:pPr>
                      <a:r>
                        <a:rPr lang="en-US" sz="2200" dirty="0">
                          <a:effectLst/>
                        </a:rPr>
                        <a:t> </a:t>
                      </a:r>
                      <a:endParaRPr lang="en-US" sz="1200" dirty="0">
                        <a:effectLst/>
                        <a:latin typeface="Times New Roman"/>
                        <a:ea typeface="Batang"/>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551414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285750"/>
            <a:ext cx="8915400" cy="1143000"/>
          </a:xfrm>
        </p:spPr>
        <p:txBody>
          <a:bodyPr rtlCol="0">
            <a:noAutofit/>
          </a:bodyPr>
          <a:lstStyle/>
          <a:p>
            <a:pPr eaLnBrk="1" fontAlgn="auto" hangingPunct="1">
              <a:spcAft>
                <a:spcPts val="0"/>
              </a:spcAft>
              <a:defRPr/>
            </a:pPr>
            <a:br>
              <a:rPr lang="en-US" altLang="en-US" sz="3600" dirty="0"/>
            </a:br>
            <a:r>
              <a:rPr lang="en-US" altLang="en-US" b="1" dirty="0"/>
              <a:t>Business Transaction and Accounting</a:t>
            </a:r>
          </a:p>
        </p:txBody>
      </p:sp>
      <p:sp>
        <p:nvSpPr>
          <p:cNvPr id="5" name="Slide Number Placeholder 4"/>
          <p:cNvSpPr>
            <a:spLocks noGrp="1"/>
          </p:cNvSpPr>
          <p:nvPr>
            <p:ph type="sldNum" sz="quarter" idx="12"/>
          </p:nvPr>
        </p:nvSpPr>
        <p:spPr>
          <a:xfrm>
            <a:off x="7036443" y="6520844"/>
            <a:ext cx="2133600" cy="365125"/>
          </a:xfrm>
        </p:spPr>
        <p:txBody>
          <a:bodyPr>
            <a:normAutofit/>
          </a:bodyPr>
          <a:lstStyle/>
          <a:p>
            <a:pPr>
              <a:defRPr/>
            </a:pPr>
            <a:fld id="{DAAFCF38-18EE-4966-A002-11F6F550E954}" type="slidenum">
              <a:rPr lang="en-US"/>
              <a:pPr>
                <a:defRPr/>
              </a:pPr>
              <a:t>49</a:t>
            </a:fld>
            <a:endParaRPr lang="en-US" dirty="0"/>
          </a:p>
        </p:txBody>
      </p:sp>
      <p:sp>
        <p:nvSpPr>
          <p:cNvPr id="151555" name="TextBox 18"/>
          <p:cNvSpPr txBox="1">
            <a:spLocks noChangeArrowheads="1"/>
          </p:cNvSpPr>
          <p:nvPr/>
        </p:nvSpPr>
        <p:spPr bwMode="auto">
          <a:xfrm>
            <a:off x="3505200" y="3668713"/>
            <a:ext cx="838200" cy="369887"/>
          </a:xfrm>
          <a:prstGeom prst="rect">
            <a:avLst/>
          </a:prstGeom>
          <a:noFill/>
          <a:ln w="9525">
            <a:noFill/>
            <a:miter lim="800000"/>
            <a:headEnd/>
            <a:tailEnd/>
          </a:ln>
        </p:spPr>
        <p:txBody>
          <a:bodyPr>
            <a:spAutoFit/>
          </a:bodyPr>
          <a:lstStyle/>
          <a:p>
            <a:r>
              <a:rPr lang="en-US" altLang="en-US" dirty="0"/>
              <a:t>  </a:t>
            </a:r>
          </a:p>
        </p:txBody>
      </p:sp>
      <p:sp>
        <p:nvSpPr>
          <p:cNvPr id="151556" name="TextBox 19"/>
          <p:cNvSpPr txBox="1">
            <a:spLocks noChangeArrowheads="1"/>
          </p:cNvSpPr>
          <p:nvPr/>
        </p:nvSpPr>
        <p:spPr bwMode="auto">
          <a:xfrm>
            <a:off x="7924800" y="3657600"/>
            <a:ext cx="838200" cy="369888"/>
          </a:xfrm>
          <a:prstGeom prst="rect">
            <a:avLst/>
          </a:prstGeom>
          <a:noFill/>
          <a:ln w="9525">
            <a:noFill/>
            <a:miter lim="800000"/>
            <a:headEnd/>
            <a:tailEnd/>
          </a:ln>
        </p:spPr>
        <p:txBody>
          <a:bodyPr>
            <a:spAutoFit/>
          </a:bodyPr>
          <a:lstStyle/>
          <a:p>
            <a:r>
              <a:rPr lang="en-US" altLang="en-US" dirty="0"/>
              <a:t>  </a:t>
            </a:r>
          </a:p>
        </p:txBody>
      </p:sp>
      <p:sp>
        <p:nvSpPr>
          <p:cNvPr id="2" name="TextBox 1"/>
          <p:cNvSpPr txBox="1">
            <a:spLocks noChangeArrowheads="1"/>
          </p:cNvSpPr>
          <p:nvPr/>
        </p:nvSpPr>
        <p:spPr bwMode="auto">
          <a:xfrm>
            <a:off x="2362200" y="1905000"/>
            <a:ext cx="4419600" cy="523875"/>
          </a:xfrm>
          <a:prstGeom prst="rect">
            <a:avLst/>
          </a:prstGeom>
          <a:solidFill>
            <a:srgbClr val="FAC090"/>
          </a:solidFill>
          <a:ln w="9525">
            <a:noFill/>
            <a:miter lim="800000"/>
            <a:headEnd/>
            <a:tailEnd/>
          </a:ln>
          <a:effectLst>
            <a:outerShdw blurRad="63500" dist="38100" dir="5400000" algn="t" rotWithShape="0">
              <a:srgbClr val="000000">
                <a:alpha val="39999"/>
              </a:srgbClr>
            </a:outerShdw>
          </a:effectLst>
        </p:spPr>
        <p:txBody>
          <a:bodyPr>
            <a:spAutoFit/>
          </a:bodyPr>
          <a:lstStyle>
            <a:lvl1pPr eaLnBrk="0" hangingPunct="0">
              <a:defRPr sz="2400">
                <a:solidFill>
                  <a:schemeClr val="tx1"/>
                </a:solidFill>
                <a:latin typeface="Arial" charset="0"/>
                <a:cs typeface="Arial" charset="0"/>
              </a:defRPr>
            </a:lvl1pPr>
            <a:lvl2pPr marL="37931725" indent="-37474525" eaLnBrk="0" hangingPunct="0">
              <a:defRPr sz="2400">
                <a:solidFill>
                  <a:schemeClr val="tx1"/>
                </a:solidFill>
                <a:latin typeface="Arial" charset="0"/>
                <a:cs typeface="Arial" charset="0"/>
              </a:defRPr>
            </a:lvl2pPr>
            <a:lvl3pPr eaLnBrk="0" hangingPunct="0">
              <a:defRPr sz="2400">
                <a:solidFill>
                  <a:schemeClr val="tx1"/>
                </a:solidFill>
                <a:latin typeface="Arial" charset="0"/>
                <a:cs typeface="Arial" charset="0"/>
              </a:defRPr>
            </a:lvl3pPr>
            <a:lvl4pPr eaLnBrk="0" hangingPunct="0">
              <a:defRPr sz="2400">
                <a:solidFill>
                  <a:schemeClr val="tx1"/>
                </a:solidFill>
                <a:latin typeface="Arial" charset="0"/>
                <a:cs typeface="Arial" charset="0"/>
              </a:defRPr>
            </a:lvl4pPr>
            <a:lvl5pPr eaLnBrk="0" hangingPunct="0">
              <a:defRPr sz="2400">
                <a:solidFill>
                  <a:schemeClr val="tx1"/>
                </a:solidFill>
                <a:latin typeface="Arial" charset="0"/>
                <a:cs typeface="Arial" charset="0"/>
              </a:defRPr>
            </a:lvl5pPr>
            <a:lvl6pPr marL="457200" eaLnBrk="0" fontAlgn="base" hangingPunct="0">
              <a:spcBef>
                <a:spcPct val="0"/>
              </a:spcBef>
              <a:spcAft>
                <a:spcPct val="0"/>
              </a:spcAft>
              <a:defRPr sz="2400">
                <a:solidFill>
                  <a:schemeClr val="tx1"/>
                </a:solidFill>
                <a:latin typeface="Arial" charset="0"/>
                <a:cs typeface="Arial" charset="0"/>
              </a:defRPr>
            </a:lvl6pPr>
            <a:lvl7pPr marL="914400" eaLnBrk="0" fontAlgn="base" hangingPunct="0">
              <a:spcBef>
                <a:spcPct val="0"/>
              </a:spcBef>
              <a:spcAft>
                <a:spcPct val="0"/>
              </a:spcAft>
              <a:defRPr sz="2400">
                <a:solidFill>
                  <a:schemeClr val="tx1"/>
                </a:solidFill>
                <a:latin typeface="Arial" charset="0"/>
                <a:cs typeface="Arial" charset="0"/>
              </a:defRPr>
            </a:lvl7pPr>
            <a:lvl8pPr marL="1371600" eaLnBrk="0" fontAlgn="base" hangingPunct="0">
              <a:spcBef>
                <a:spcPct val="0"/>
              </a:spcBef>
              <a:spcAft>
                <a:spcPct val="0"/>
              </a:spcAft>
              <a:defRPr sz="2400">
                <a:solidFill>
                  <a:schemeClr val="tx1"/>
                </a:solidFill>
                <a:latin typeface="Arial" charset="0"/>
                <a:cs typeface="Arial" charset="0"/>
              </a:defRPr>
            </a:lvl8pPr>
            <a:lvl9pPr marL="1828800" eaLnBrk="0" fontAlgn="base" hangingPunct="0">
              <a:spcBef>
                <a:spcPct val="0"/>
              </a:spcBef>
              <a:spcAft>
                <a:spcPct val="0"/>
              </a:spcAft>
              <a:defRPr sz="2400">
                <a:solidFill>
                  <a:schemeClr val="tx1"/>
                </a:solidFill>
                <a:latin typeface="Arial" charset="0"/>
                <a:cs typeface="Arial" charset="0"/>
              </a:defRPr>
            </a:lvl9pPr>
          </a:lstStyle>
          <a:p>
            <a:pPr algn="ctr" eaLnBrk="1" hangingPunct="1">
              <a:defRPr/>
            </a:pPr>
            <a:r>
              <a:rPr lang="en-US" sz="2800" dirty="0"/>
              <a:t>The Accounting Equation</a:t>
            </a:r>
          </a:p>
        </p:txBody>
      </p:sp>
      <p:sp>
        <p:nvSpPr>
          <p:cNvPr id="151558" name="TextBox 2"/>
          <p:cNvSpPr txBox="1">
            <a:spLocks noChangeArrowheads="1"/>
          </p:cNvSpPr>
          <p:nvPr/>
        </p:nvSpPr>
        <p:spPr bwMode="auto">
          <a:xfrm>
            <a:off x="1358454" y="3928775"/>
            <a:ext cx="6683829" cy="584775"/>
          </a:xfrm>
          <a:prstGeom prst="rect">
            <a:avLst/>
          </a:prstGeom>
          <a:noFill/>
          <a:ln w="9525">
            <a:noFill/>
            <a:miter lim="800000"/>
            <a:headEnd/>
            <a:tailEnd/>
          </a:ln>
        </p:spPr>
        <p:txBody>
          <a:bodyPr wrap="square">
            <a:spAutoFit/>
          </a:bodyPr>
          <a:lstStyle/>
          <a:p>
            <a:r>
              <a:rPr lang="en-US" altLang="en-US" sz="3200" b="1" dirty="0">
                <a:solidFill>
                  <a:srgbClr val="215968"/>
                </a:solidFill>
              </a:rPr>
              <a:t>Expanded Accounting Equation:</a:t>
            </a:r>
          </a:p>
        </p:txBody>
      </p:sp>
      <p:grpSp>
        <p:nvGrpSpPr>
          <p:cNvPr id="3" name="Group 13"/>
          <p:cNvGrpSpPr>
            <a:grpSpLocks/>
          </p:cNvGrpSpPr>
          <p:nvPr/>
        </p:nvGrpSpPr>
        <p:grpSpPr bwMode="auto">
          <a:xfrm>
            <a:off x="6595436" y="5776138"/>
            <a:ext cx="2133600" cy="658926"/>
            <a:chOff x="5867400" y="5867401"/>
            <a:chExt cx="2819400" cy="838199"/>
          </a:xfrm>
        </p:grpSpPr>
        <p:sp>
          <p:nvSpPr>
            <p:cNvPr id="151569" name="TextBox 14"/>
            <p:cNvSpPr txBox="1">
              <a:spLocks noChangeArrowheads="1"/>
            </p:cNvSpPr>
            <p:nvPr/>
          </p:nvSpPr>
          <p:spPr bwMode="auto">
            <a:xfrm>
              <a:off x="6019800" y="6305550"/>
              <a:ext cx="2667000" cy="400050"/>
            </a:xfrm>
            <a:prstGeom prst="rect">
              <a:avLst/>
            </a:prstGeom>
            <a:noFill/>
            <a:ln w="9525">
              <a:noFill/>
              <a:miter lim="800000"/>
              <a:headEnd/>
              <a:tailEnd/>
            </a:ln>
          </p:spPr>
          <p:txBody>
            <a:bodyPr>
              <a:spAutoFit/>
            </a:bodyPr>
            <a:lstStyle/>
            <a:p>
              <a:pPr algn="ctr"/>
              <a:r>
                <a:rPr lang="en-US" altLang="en-US" sz="2000" dirty="0">
                  <a:solidFill>
                    <a:srgbClr val="215968"/>
                  </a:solidFill>
                </a:rPr>
                <a:t>Net Income</a:t>
              </a:r>
            </a:p>
          </p:txBody>
        </p:sp>
        <p:sp>
          <p:nvSpPr>
            <p:cNvPr id="13" name="Left Brace 12"/>
            <p:cNvSpPr>
              <a:spLocks/>
            </p:cNvSpPr>
            <p:nvPr/>
          </p:nvSpPr>
          <p:spPr bwMode="auto">
            <a:xfrm rot="-5400000">
              <a:off x="7010400" y="4724401"/>
              <a:ext cx="533399" cy="2819400"/>
            </a:xfrm>
            <a:prstGeom prst="leftBrace">
              <a:avLst>
                <a:gd name="adj1" fmla="val 8345"/>
                <a:gd name="adj2" fmla="val 50000"/>
              </a:avLst>
            </a:prstGeom>
            <a:noFill/>
            <a:ln w="28575">
              <a:solidFill>
                <a:srgbClr val="FF0000"/>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xmlns="">
                  <a:solidFill>
                    <a:srgbClr val="FFFFFF"/>
                  </a:solidFill>
                </a14:hiddenFill>
              </a:ext>
            </a:extLst>
          </p:spPr>
          <p:txBody>
            <a:bodyPr anchor="ctr"/>
            <a:lstStyle/>
            <a:p>
              <a:pPr algn="ctr">
                <a:defRPr/>
              </a:pPr>
              <a:endParaRPr lang="en-US" dirty="0">
                <a:solidFill>
                  <a:srgbClr val="FF0000"/>
                </a:solidFill>
                <a:latin typeface="Calibri" pitchFamily="-107" charset="0"/>
              </a:endParaRPr>
            </a:p>
          </p:txBody>
        </p:sp>
      </p:grpSp>
      <p:grpSp>
        <p:nvGrpSpPr>
          <p:cNvPr id="151563" name="Group 13"/>
          <p:cNvGrpSpPr>
            <a:grpSpLocks/>
          </p:cNvGrpSpPr>
          <p:nvPr/>
        </p:nvGrpSpPr>
        <p:grpSpPr bwMode="auto">
          <a:xfrm>
            <a:off x="444500" y="2782888"/>
            <a:ext cx="8293100" cy="911225"/>
            <a:chOff x="244" y="1125"/>
            <a:chExt cx="5224" cy="574"/>
          </a:xfrm>
        </p:grpSpPr>
        <p:sp>
          <p:nvSpPr>
            <p:cNvPr id="15" name="Rectangle 14"/>
            <p:cNvSpPr>
              <a:spLocks noChangeArrowheads="1"/>
            </p:cNvSpPr>
            <p:nvPr/>
          </p:nvSpPr>
          <p:spPr bwMode="auto">
            <a:xfrm>
              <a:off x="2116" y="1252"/>
              <a:ext cx="1480" cy="376"/>
            </a:xfrm>
            <a:prstGeom prst="rect">
              <a:avLst/>
            </a:prstGeom>
            <a:solidFill>
              <a:srgbClr val="F6E9B4"/>
            </a:solidFill>
            <a:ln w="12700">
              <a:solidFill>
                <a:sysClr val="windowText" lastClr="000000"/>
              </a:solidFill>
              <a:miter lim="800000"/>
              <a:headEnd/>
              <a:tailEnd/>
            </a:ln>
            <a:effectLst>
              <a:outerShdw blurRad="50800" dist="38100" dir="2700000" algn="tl" rotWithShape="0">
                <a:srgbClr val="808080">
                  <a:alpha val="39998"/>
                </a:srgbClr>
              </a:outerShdw>
            </a:effectLst>
          </p:spPr>
          <p:txBody>
            <a:bodyPr wrap="none" lIns="90488" tIns="44450" rIns="90488" bIns="44450"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r>
                <a:rPr lang="en-US" sz="3600" b="1" dirty="0">
                  <a:solidFill>
                    <a:srgbClr val="9A2F6F"/>
                  </a:solidFill>
                  <a:ea typeface="MS PGothic" pitchFamily="34" charset="-128"/>
                </a:rPr>
                <a:t>Liabilities</a:t>
              </a:r>
            </a:p>
          </p:txBody>
        </p:sp>
        <p:sp>
          <p:nvSpPr>
            <p:cNvPr id="16" name="Rectangle 15"/>
            <p:cNvSpPr>
              <a:spLocks noChangeArrowheads="1"/>
            </p:cNvSpPr>
            <p:nvPr/>
          </p:nvSpPr>
          <p:spPr bwMode="auto">
            <a:xfrm>
              <a:off x="4228" y="1252"/>
              <a:ext cx="1240" cy="376"/>
            </a:xfrm>
            <a:prstGeom prst="rect">
              <a:avLst/>
            </a:prstGeom>
            <a:solidFill>
              <a:srgbClr val="F6E9B4"/>
            </a:solidFill>
            <a:ln w="12700">
              <a:solidFill>
                <a:sysClr val="windowText" lastClr="000000"/>
              </a:solidFill>
              <a:miter lim="800000"/>
              <a:headEnd/>
              <a:tailEnd/>
            </a:ln>
            <a:effectLst>
              <a:outerShdw blurRad="50800" dist="38100" dir="2700000" algn="tl" rotWithShape="0">
                <a:srgbClr val="808080">
                  <a:alpha val="39998"/>
                </a:srgbClr>
              </a:outerShdw>
            </a:effectLst>
          </p:spPr>
          <p:txBody>
            <a:bodyPr wrap="none" lIns="90488" tIns="44450" rIns="90488" bIns="44450"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r>
                <a:rPr lang="en-US" sz="3600" b="1" dirty="0">
                  <a:solidFill>
                    <a:srgbClr val="9A2F6F"/>
                  </a:solidFill>
                  <a:ea typeface="MS PGothic" pitchFamily="34" charset="-128"/>
                </a:rPr>
                <a:t>Equity</a:t>
              </a:r>
            </a:p>
          </p:txBody>
        </p:sp>
        <p:sp>
          <p:nvSpPr>
            <p:cNvPr id="17" name="Rectangle 16"/>
            <p:cNvSpPr>
              <a:spLocks noChangeArrowheads="1"/>
            </p:cNvSpPr>
            <p:nvPr/>
          </p:nvSpPr>
          <p:spPr bwMode="auto">
            <a:xfrm>
              <a:off x="244" y="1252"/>
              <a:ext cx="1192" cy="376"/>
            </a:xfrm>
            <a:prstGeom prst="rect">
              <a:avLst/>
            </a:prstGeom>
            <a:solidFill>
              <a:srgbClr val="F6E9B4"/>
            </a:solidFill>
            <a:ln w="12700">
              <a:solidFill>
                <a:sysClr val="windowText" lastClr="000000"/>
              </a:solidFill>
              <a:miter lim="800000"/>
              <a:headEnd/>
              <a:tailEnd/>
            </a:ln>
            <a:effectLst>
              <a:outerShdw blurRad="50800" dist="38100" dir="2700000" algn="tl" rotWithShape="0">
                <a:srgbClr val="808080">
                  <a:alpha val="39998"/>
                </a:srgbClr>
              </a:outerShdw>
            </a:effectLst>
          </p:spPr>
          <p:txBody>
            <a:bodyPr wrap="none" lIns="90488" tIns="44450" rIns="90488" bIns="44450" anchor="ct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ctr">
                <a:defRPr/>
              </a:pPr>
              <a:r>
                <a:rPr lang="en-US" sz="3600" b="1" dirty="0">
                  <a:solidFill>
                    <a:srgbClr val="9A2F6F"/>
                  </a:solidFill>
                  <a:ea typeface="MS PGothic" pitchFamily="34" charset="-128"/>
                </a:rPr>
                <a:t>Assets</a:t>
              </a:r>
            </a:p>
          </p:txBody>
        </p:sp>
        <p:sp>
          <p:nvSpPr>
            <p:cNvPr id="151567" name="Rectangle 17"/>
            <p:cNvSpPr>
              <a:spLocks noChangeArrowheads="1"/>
            </p:cNvSpPr>
            <p:nvPr/>
          </p:nvSpPr>
          <p:spPr bwMode="auto">
            <a:xfrm>
              <a:off x="1581" y="1125"/>
              <a:ext cx="390" cy="574"/>
            </a:xfrm>
            <a:prstGeom prst="rect">
              <a:avLst/>
            </a:prstGeom>
            <a:noFill/>
            <a:ln w="12700">
              <a:noFill/>
              <a:miter lim="800000"/>
              <a:headEnd/>
              <a:tailEnd/>
            </a:ln>
          </p:spPr>
          <p:txBody>
            <a:bodyPr lIns="90488" tIns="44450" rIns="90488" bIns="44450">
              <a:spAutoFit/>
            </a:bodyPr>
            <a:lstStyle/>
            <a:p>
              <a:pPr>
                <a:spcBef>
                  <a:spcPct val="50000"/>
                </a:spcBef>
              </a:pPr>
              <a:r>
                <a:rPr lang="en-US" altLang="en-US" sz="5400" b="1" dirty="0">
                  <a:solidFill>
                    <a:srgbClr val="008000"/>
                  </a:solidFill>
                  <a:latin typeface="Times New Roman" pitchFamily="-107" charset="0"/>
                </a:rPr>
                <a:t>=</a:t>
              </a:r>
            </a:p>
          </p:txBody>
        </p:sp>
        <p:sp>
          <p:nvSpPr>
            <p:cNvPr id="151568" name="Rectangle 18"/>
            <p:cNvSpPr>
              <a:spLocks noChangeArrowheads="1"/>
            </p:cNvSpPr>
            <p:nvPr/>
          </p:nvSpPr>
          <p:spPr bwMode="auto">
            <a:xfrm>
              <a:off x="3741" y="1125"/>
              <a:ext cx="390" cy="574"/>
            </a:xfrm>
            <a:prstGeom prst="rect">
              <a:avLst/>
            </a:prstGeom>
            <a:noFill/>
            <a:ln w="12700">
              <a:noFill/>
              <a:miter lim="800000"/>
              <a:headEnd/>
              <a:tailEnd/>
            </a:ln>
          </p:spPr>
          <p:txBody>
            <a:bodyPr lIns="90488" tIns="44450" rIns="90488" bIns="44450">
              <a:spAutoFit/>
            </a:bodyPr>
            <a:lstStyle/>
            <a:p>
              <a:pPr>
                <a:spcBef>
                  <a:spcPct val="50000"/>
                </a:spcBef>
              </a:pPr>
              <a:r>
                <a:rPr lang="en-US" altLang="en-US" sz="5400" b="1" dirty="0">
                  <a:solidFill>
                    <a:srgbClr val="008000"/>
                  </a:solidFill>
                  <a:latin typeface="Times New Roman" pitchFamily="-107" charset="0"/>
                </a:rPr>
                <a:t>+</a:t>
              </a:r>
            </a:p>
          </p:txBody>
        </p:sp>
      </p:grpSp>
      <p:sp>
        <p:nvSpPr>
          <p:cNvPr id="19" name="Rectangle 1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pic>
        <p:nvPicPr>
          <p:cNvPr id="6" name="Picture 5">
            <a:extLst>
              <a:ext uri="{FF2B5EF4-FFF2-40B4-BE49-F238E27FC236}">
                <a16:creationId xmlns:a16="http://schemas.microsoft.com/office/drawing/2014/main" id="{39D34231-EC2B-4A56-B3CD-D0C4EF2C6BA6}"/>
              </a:ext>
            </a:extLst>
          </p:cNvPr>
          <p:cNvPicPr>
            <a:picLocks noChangeAspect="1"/>
          </p:cNvPicPr>
          <p:nvPr/>
        </p:nvPicPr>
        <p:blipFill>
          <a:blip r:embed="rId3"/>
          <a:stretch>
            <a:fillRect/>
          </a:stretch>
        </p:blipFill>
        <p:spPr>
          <a:xfrm>
            <a:off x="474980" y="4513550"/>
            <a:ext cx="8485235" cy="1247829"/>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4"/>
          <p:cNvSpPr>
            <a:spLocks noGrp="1"/>
          </p:cNvSpPr>
          <p:nvPr>
            <p:ph type="ctrTitle"/>
          </p:nvPr>
        </p:nvSpPr>
        <p:spPr>
          <a:xfrm>
            <a:off x="935865" y="1338016"/>
            <a:ext cx="7315200" cy="3124200"/>
          </a:xfrm>
        </p:spPr>
        <p:txBody>
          <a:bodyPr>
            <a:normAutofit fontScale="90000"/>
          </a:bodyPr>
          <a:lstStyle/>
          <a:p>
            <a:br>
              <a:rPr lang="en-US" altLang="en-US" dirty="0"/>
            </a:br>
            <a:br>
              <a:rPr lang="en-US" altLang="en-US" dirty="0"/>
            </a:br>
            <a:r>
              <a:rPr lang="en-US" dirty="0"/>
              <a:t>Analyze business transactions using the accounting equation.</a:t>
            </a:r>
            <a:br>
              <a:rPr lang="en-US" altLang="en-US" dirty="0"/>
            </a:br>
            <a:endParaRPr lang="en-US" altLang="en-US" dirty="0"/>
          </a:p>
        </p:txBody>
      </p:sp>
      <p:sp>
        <p:nvSpPr>
          <p:cNvPr id="130051" name="Slide Number Placeholder 3"/>
          <p:cNvSpPr>
            <a:spLocks noGrp="1"/>
          </p:cNvSpPr>
          <p:nvPr>
            <p:ph type="sldNum" sz="quarter" idx="12"/>
          </p:nvPr>
        </p:nvSpPr>
        <p:spPr bwMode="auto">
          <a:xfrm>
            <a:off x="6858000" y="6357243"/>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50</a:t>
            </a:fld>
            <a:endParaRPr lang="en-US" altLang="en-US" dirty="0">
              <a:solidFill>
                <a:srgbClr val="898989"/>
              </a:solidFill>
            </a:endParaRPr>
          </a:p>
        </p:txBody>
      </p:sp>
      <p:pic>
        <p:nvPicPr>
          <p:cNvPr id="130053" name="Picture 2"/>
          <p:cNvPicPr>
            <a:picLocks noChangeAspect="1" noChangeArrowheads="1"/>
          </p:cNvPicPr>
          <p:nvPr/>
        </p:nvPicPr>
        <p:blipFill>
          <a:blip r:embed="rId3" cstate="print"/>
          <a:srcRect/>
          <a:stretch>
            <a:fillRect/>
          </a:stretch>
        </p:blipFill>
        <p:spPr bwMode="auto">
          <a:xfrm>
            <a:off x="935865" y="1698558"/>
            <a:ext cx="7315200" cy="87312"/>
          </a:xfrm>
          <a:prstGeom prst="rect">
            <a:avLst/>
          </a:prstGeom>
          <a:noFill/>
          <a:ln w="9525">
            <a:noFill/>
            <a:miter lim="800000"/>
            <a:headEnd/>
            <a:tailEnd/>
          </a:ln>
        </p:spPr>
      </p:pic>
      <p:pic>
        <p:nvPicPr>
          <p:cNvPr id="130054" name="Picture 2"/>
          <p:cNvPicPr>
            <a:picLocks noChangeAspect="1" noChangeArrowheads="1"/>
          </p:cNvPicPr>
          <p:nvPr/>
        </p:nvPicPr>
        <p:blipFill>
          <a:blip r:embed="rId3" cstate="print"/>
          <a:srcRect/>
          <a:stretch>
            <a:fillRect/>
          </a:stretch>
        </p:blipFill>
        <p:spPr bwMode="auto">
          <a:xfrm>
            <a:off x="954110" y="4822758"/>
            <a:ext cx="7315200" cy="87313"/>
          </a:xfrm>
          <a:prstGeom prst="rect">
            <a:avLst/>
          </a:prstGeom>
          <a:noFill/>
          <a:ln w="9525">
            <a:noFill/>
            <a:miter lim="800000"/>
            <a:headEnd/>
            <a:tailEnd/>
          </a:ln>
        </p:spPr>
      </p:pic>
      <p:sp>
        <p:nvSpPr>
          <p:cNvPr id="9" name="Rectangle 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80507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Analysis</a:t>
            </a:r>
          </a:p>
        </p:txBody>
      </p:sp>
      <p:sp>
        <p:nvSpPr>
          <p:cNvPr id="3" name="Content Placeholder 2"/>
          <p:cNvSpPr>
            <a:spLocks noGrp="1"/>
          </p:cNvSpPr>
          <p:nvPr>
            <p:ph idx="1"/>
          </p:nvPr>
        </p:nvSpPr>
        <p:spPr>
          <a:xfrm>
            <a:off x="0" y="1371600"/>
            <a:ext cx="9144000" cy="8610600"/>
          </a:xfrm>
        </p:spPr>
        <p:txBody>
          <a:bodyPr/>
          <a:lstStyle/>
          <a:p>
            <a:r>
              <a:rPr lang="en-GB" sz="2400" b="1" dirty="0"/>
              <a:t>Business activities can be transactions and events.</a:t>
            </a:r>
            <a:r>
              <a:rPr lang="en-US" sz="2400" b="1" dirty="0"/>
              <a:t> </a:t>
            </a:r>
          </a:p>
          <a:p>
            <a:r>
              <a:rPr lang="en-US" sz="2400" b="1" dirty="0"/>
              <a:t>Record those that affect the accounting equation and can be reliably measured.</a:t>
            </a:r>
            <a:endParaRPr lang="en-GB" sz="2400" b="1" dirty="0"/>
          </a:p>
          <a:p>
            <a:r>
              <a:rPr lang="en-GB" sz="2400" b="1" dirty="0"/>
              <a:t>Examples of transactions:</a:t>
            </a:r>
          </a:p>
          <a:p>
            <a:pPr lvl="1"/>
            <a:r>
              <a:rPr lang="en-GB" sz="2400" dirty="0"/>
              <a:t>Selling of products and services (external transactions). </a:t>
            </a:r>
          </a:p>
          <a:p>
            <a:pPr lvl="1"/>
            <a:r>
              <a:rPr lang="en-GB" sz="2400" dirty="0"/>
              <a:t>The business used its supplies, which are reported as expenses (internal transactions).</a:t>
            </a:r>
          </a:p>
          <a:p>
            <a:r>
              <a:rPr lang="en-GB" sz="2400" b="1" dirty="0"/>
              <a:t>Examples of events:</a:t>
            </a:r>
          </a:p>
          <a:p>
            <a:pPr lvl="1"/>
            <a:r>
              <a:rPr lang="en-GB" sz="2200" dirty="0"/>
              <a:t>Changes in the market value of certain assets and liabilities and natural events such as floods and fires that destroy assets and create losses. </a:t>
            </a:r>
            <a:endParaRPr lang="en-US" sz="2200" dirty="0"/>
          </a:p>
        </p:txBody>
      </p:sp>
    </p:spTree>
    <p:extLst>
      <p:ext uri="{BB962C8B-B14F-4D97-AF65-F5344CB8AC3E}">
        <p14:creationId xmlns:p14="http://schemas.microsoft.com/office/powerpoint/2010/main" val="2198577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12"/>
          <p:cNvSpPr>
            <a:spLocks noGrp="1" noChangeArrowheads="1"/>
          </p:cNvSpPr>
          <p:nvPr>
            <p:ph type="title"/>
          </p:nvPr>
        </p:nvSpPr>
        <p:spPr bwMode="auto">
          <a:xfrm>
            <a:off x="914400" y="-228600"/>
            <a:ext cx="7158038" cy="1412875"/>
          </a:xfrm>
        </p:spPr>
        <p:txBody>
          <a:bodyPr/>
          <a:lstStyle/>
          <a:p>
            <a:pPr algn="ctr">
              <a:tabLst>
                <a:tab pos="3481388" algn="l"/>
              </a:tabLst>
              <a:defRPr/>
            </a:pPr>
            <a:r>
              <a:rPr lang="en-US" altLang="zh-TW" dirty="0"/>
              <a:t>Transaction Analysis-Rules</a:t>
            </a:r>
          </a:p>
        </p:txBody>
      </p:sp>
      <p:sp>
        <p:nvSpPr>
          <p:cNvPr id="52227" name="Rectangle 2"/>
          <p:cNvSpPr>
            <a:spLocks noGrp="1" noChangeArrowheads="1"/>
          </p:cNvSpPr>
          <p:nvPr>
            <p:ph sz="half" idx="1"/>
          </p:nvPr>
        </p:nvSpPr>
        <p:spPr>
          <a:xfrm>
            <a:off x="457200" y="1219200"/>
            <a:ext cx="8305800" cy="1447800"/>
          </a:xfrm>
          <a:noFill/>
        </p:spPr>
        <p:txBody>
          <a:bodyPr lIns="90488" tIns="44450" rIns="90488" bIns="44450"/>
          <a:lstStyle/>
          <a:p>
            <a:pPr marL="514350" indent="-514350" algn="ctr">
              <a:buFont typeface="Wingdings" panose="05000000000000000000" pitchFamily="2" charset="2"/>
              <a:buAutoNum type="arabicParenR"/>
            </a:pPr>
            <a:r>
              <a:rPr lang="en-US" altLang="zh-TW" dirty="0">
                <a:latin typeface="Times New Roman" panose="02020603050405020304" pitchFamily="18" charset="0"/>
                <a:ea typeface="PMingLiU" panose="02020500000000000000" pitchFamily="18" charset="-120"/>
                <a:cs typeface="Times New Roman" panose="02020603050405020304" pitchFamily="18" charset="0"/>
              </a:rPr>
              <a:t>Every transaction affects at least two items.</a:t>
            </a:r>
            <a:r>
              <a:rPr lang="en-US" altLang="zh-TW" dirty="0">
                <a:ea typeface="PMingLiU" panose="02020500000000000000" pitchFamily="18" charset="-120"/>
                <a:cs typeface="Times New Roman" panose="02020603050405020304" pitchFamily="18" charset="0"/>
              </a:rPr>
              <a:t>  </a:t>
            </a:r>
          </a:p>
          <a:p>
            <a:pPr marL="514350" indent="-514350" algn="ctr">
              <a:buFont typeface="Wingdings" panose="05000000000000000000" pitchFamily="2" charset="2"/>
              <a:buAutoNum type="arabicParenR"/>
            </a:pPr>
            <a:r>
              <a:rPr lang="en-US" altLang="zh-TW" dirty="0">
                <a:latin typeface="Times New Roman" panose="02020603050405020304" pitchFamily="18" charset="0"/>
                <a:ea typeface="PMingLiU" panose="02020500000000000000" pitchFamily="18" charset="-120"/>
                <a:cs typeface="Times New Roman" panose="02020603050405020304" pitchFamily="18" charset="0"/>
              </a:rPr>
              <a:t>The accounting equation MUST remain in balance after each transaction.</a:t>
            </a:r>
          </a:p>
        </p:txBody>
      </p:sp>
      <p:grpSp>
        <p:nvGrpSpPr>
          <p:cNvPr id="2" name="Group 13"/>
          <p:cNvGrpSpPr>
            <a:grpSpLocks/>
          </p:cNvGrpSpPr>
          <p:nvPr/>
        </p:nvGrpSpPr>
        <p:grpSpPr bwMode="auto">
          <a:xfrm>
            <a:off x="0" y="2819400"/>
            <a:ext cx="8788400" cy="1168400"/>
            <a:chOff x="80" y="768"/>
            <a:chExt cx="5536" cy="736"/>
          </a:xfrm>
        </p:grpSpPr>
        <p:sp>
          <p:nvSpPr>
            <p:cNvPr id="32782" name="Rectangle 14"/>
            <p:cNvSpPr>
              <a:spLocks noChangeArrowheads="1"/>
            </p:cNvSpPr>
            <p:nvPr/>
          </p:nvSpPr>
          <p:spPr bwMode="auto">
            <a:xfrm>
              <a:off x="80" y="768"/>
              <a:ext cx="5536" cy="736"/>
            </a:xfrm>
            <a:prstGeom prst="rect">
              <a:avLst/>
            </a:prstGeom>
            <a:solidFill>
              <a:schemeClr val="accent5">
                <a:lumMod val="75000"/>
              </a:schemeClr>
            </a:solidFill>
            <a:ln w="12700">
              <a:solidFill>
                <a:srgbClr val="414141"/>
              </a:solidFill>
              <a:miter lim="800000"/>
              <a:headEnd/>
              <a:tailEnd/>
            </a:ln>
            <a:effectLst>
              <a:outerShdw dist="107763" dir="2700000" algn="ctr" rotWithShape="0">
                <a:schemeClr val="bg2"/>
              </a:outerShdw>
            </a:effectLst>
          </p:spPr>
          <p:txBody>
            <a:bodyPr wrap="none" anchor="ctr"/>
            <a:lstStyle/>
            <a:p>
              <a:pPr algn="ctr">
                <a:defRPr/>
              </a:pPr>
              <a:endParaRPr lang="zh-TW" altLang="zh-TW">
                <a:solidFill>
                  <a:schemeClr val="bg1"/>
                </a:solidFill>
                <a:latin typeface="Arial" charset="0"/>
                <a:ea typeface="ＭＳ Ｐゴシック" pitchFamily="-108" charset="-128"/>
              </a:endParaRPr>
            </a:p>
          </p:txBody>
        </p:sp>
        <p:grpSp>
          <p:nvGrpSpPr>
            <p:cNvPr id="52232" name="Group 15"/>
            <p:cNvGrpSpPr>
              <a:grpSpLocks/>
            </p:cNvGrpSpPr>
            <p:nvPr/>
          </p:nvGrpSpPr>
          <p:grpSpPr bwMode="auto">
            <a:xfrm>
              <a:off x="212" y="821"/>
              <a:ext cx="5224" cy="574"/>
              <a:chOff x="244" y="2901"/>
              <a:chExt cx="5224" cy="574"/>
            </a:xfrm>
          </p:grpSpPr>
          <p:sp>
            <p:nvSpPr>
              <p:cNvPr id="52233" name="Rectangle 16" descr="Newsprint"/>
              <p:cNvSpPr>
                <a:spLocks noChangeArrowheads="1"/>
              </p:cNvSpPr>
              <p:nvPr/>
            </p:nvSpPr>
            <p:spPr bwMode="auto">
              <a:xfrm>
                <a:off x="2116" y="3028"/>
                <a:ext cx="1480" cy="376"/>
              </a:xfrm>
              <a:prstGeom prst="rect">
                <a:avLst/>
              </a:prstGeom>
              <a:blipFill dpi="0" rotWithShape="1">
                <a:blip r:embed="rId4"/>
                <a:srcRect/>
                <a:tile tx="0" ty="0" sx="100000" sy="100000" flip="none" algn="tl"/>
              </a:blipFill>
              <a:ln w="12700">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Liabilities</a:t>
                </a:r>
              </a:p>
            </p:txBody>
          </p:sp>
          <p:sp>
            <p:nvSpPr>
              <p:cNvPr id="52234" name="Rectangle 17" descr="Newsprint"/>
              <p:cNvSpPr>
                <a:spLocks noChangeArrowheads="1"/>
              </p:cNvSpPr>
              <p:nvPr/>
            </p:nvSpPr>
            <p:spPr bwMode="auto">
              <a:xfrm>
                <a:off x="4228" y="3028"/>
                <a:ext cx="1240" cy="376"/>
              </a:xfrm>
              <a:prstGeom prst="rect">
                <a:avLst/>
              </a:prstGeom>
              <a:blipFill dpi="0" rotWithShape="1">
                <a:blip r:embed="rId4"/>
                <a:srcRect/>
                <a:tile tx="0" ty="0" sx="100000" sy="100000" flip="none" algn="tl"/>
              </a:blipFill>
              <a:ln w="12700" algn="ctr">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Equity</a:t>
                </a:r>
              </a:p>
            </p:txBody>
          </p:sp>
          <p:sp>
            <p:nvSpPr>
              <p:cNvPr id="52235" name="Rectangle 18" descr="Newsprint"/>
              <p:cNvSpPr>
                <a:spLocks noChangeArrowheads="1"/>
              </p:cNvSpPr>
              <p:nvPr/>
            </p:nvSpPr>
            <p:spPr bwMode="auto">
              <a:xfrm>
                <a:off x="244" y="3028"/>
                <a:ext cx="1192" cy="376"/>
              </a:xfrm>
              <a:prstGeom prst="rect">
                <a:avLst/>
              </a:prstGeom>
              <a:blipFill dpi="0" rotWithShape="1">
                <a:blip r:embed="rId4"/>
                <a:srcRect/>
                <a:tile tx="0" ty="0" sx="100000" sy="100000" flip="none" algn="tl"/>
              </a:blipFill>
              <a:ln w="12700" algn="ctr">
                <a:solidFill>
                  <a:srgbClr val="9A2F6F"/>
                </a:solidFill>
                <a:miter lim="800000"/>
                <a:headEnd/>
                <a:tailEnd/>
              </a:ln>
              <a:effectLst>
                <a:outerShdw dist="107763" dir="18900000" algn="ctr" rotWithShape="0">
                  <a:schemeClr val="bg2"/>
                </a:outerShdw>
              </a:effectLst>
            </p:spPr>
            <p:txBody>
              <a:bodyPr wrap="none" lIns="90488" tIns="44450" rIns="90488" bIns="44450"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HK" sz="3600">
                    <a:solidFill>
                      <a:srgbClr val="9A2F6F"/>
                    </a:solidFill>
                    <a:latin typeface="Times New Roman" panose="02020603050405020304" pitchFamily="18" charset="0"/>
                  </a:rPr>
                  <a:t>Assets</a:t>
                </a:r>
              </a:p>
            </p:txBody>
          </p:sp>
          <p:grpSp>
            <p:nvGrpSpPr>
              <p:cNvPr id="52236" name="Group 19"/>
              <p:cNvGrpSpPr>
                <a:grpSpLocks/>
              </p:cNvGrpSpPr>
              <p:nvPr/>
            </p:nvGrpSpPr>
            <p:grpSpPr bwMode="auto">
              <a:xfrm>
                <a:off x="1581" y="2901"/>
                <a:ext cx="2550" cy="574"/>
                <a:chOff x="1581" y="2901"/>
                <a:chExt cx="2550" cy="574"/>
              </a:xfrm>
            </p:grpSpPr>
            <p:sp>
              <p:nvSpPr>
                <p:cNvPr id="52237" name="Rectangle 20"/>
                <p:cNvSpPr>
                  <a:spLocks noChangeArrowheads="1"/>
                </p:cNvSpPr>
                <p:nvPr/>
              </p:nvSpPr>
              <p:spPr bwMode="auto">
                <a:xfrm>
                  <a:off x="1581" y="2901"/>
                  <a:ext cx="39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5400">
                      <a:solidFill>
                        <a:schemeClr val="bg1"/>
                      </a:solidFill>
                      <a:latin typeface="Times New Roman" panose="02020603050405020304" pitchFamily="18" charset="0"/>
                    </a:rPr>
                    <a:t>=</a:t>
                  </a:r>
                </a:p>
              </p:txBody>
            </p:sp>
            <p:sp>
              <p:nvSpPr>
                <p:cNvPr id="52238" name="Rectangle 21"/>
                <p:cNvSpPr>
                  <a:spLocks noChangeArrowheads="1"/>
                </p:cNvSpPr>
                <p:nvPr/>
              </p:nvSpPr>
              <p:spPr bwMode="auto">
                <a:xfrm>
                  <a:off x="3741" y="2901"/>
                  <a:ext cx="390" cy="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TW" sz="5400">
                      <a:solidFill>
                        <a:schemeClr val="bg1"/>
                      </a:solidFill>
                      <a:latin typeface="Times New Roman" panose="02020603050405020304" pitchFamily="18" charset="0"/>
                    </a:rPr>
                    <a:t>+</a:t>
                  </a:r>
                </a:p>
              </p:txBody>
            </p:sp>
          </p:grpSp>
        </p:grpSp>
      </p:grpSp>
      <p:sp>
        <p:nvSpPr>
          <p:cNvPr id="52229"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en-US" sz="1800"/>
          </a:p>
        </p:txBody>
      </p:sp>
      <p:graphicFrame>
        <p:nvGraphicFramePr>
          <p:cNvPr id="52230" name="Object 16"/>
          <p:cNvGraphicFramePr>
            <a:graphicFrameLocks noChangeAspect="1"/>
          </p:cNvGraphicFramePr>
          <p:nvPr/>
        </p:nvGraphicFramePr>
        <p:xfrm>
          <a:off x="2362200" y="4114800"/>
          <a:ext cx="3962400" cy="2438400"/>
        </p:xfrm>
        <a:graphic>
          <a:graphicData uri="http://schemas.openxmlformats.org/presentationml/2006/ole">
            <mc:AlternateContent xmlns:mc="http://schemas.openxmlformats.org/markup-compatibility/2006">
              <mc:Choice xmlns:v="urn:schemas-microsoft-com:vml" Requires="v">
                <p:oleObj spid="_x0000_s3132" name="Picture" r:id="rId5" imgW="1781556" imgH="1420368" progId="Word.Picture.8">
                  <p:embed/>
                </p:oleObj>
              </mc:Choice>
              <mc:Fallback>
                <p:oleObj name="Picture" r:id="rId5" imgW="1781556" imgH="1420368" progId="Word.Picture.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4114800"/>
                        <a:ext cx="39624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87368870"/>
      </p:ext>
    </p:extLst>
  </p:cSld>
  <p:clrMapOvr>
    <a:masterClrMapping/>
  </p:clrMapOvr>
  <p:transition spd="med">
    <p:cover dir="l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bwMode="auto"/>
        <p:txBody>
          <a:bodyPr/>
          <a:lstStyle/>
          <a:p>
            <a:pPr algn="ctr">
              <a:defRPr/>
            </a:pPr>
            <a:r>
              <a:rPr lang="en-US" altLang="zh-TW" dirty="0"/>
              <a:t>Transaction Analysis-Exercises</a:t>
            </a:r>
            <a:endParaRPr lang="zh-TW" altLang="en-US" cap="none" dirty="0">
              <a:latin typeface="Arial" charset="0"/>
              <a:ea typeface="PMingLiU" pitchFamily="18" charset="-120"/>
              <a:cs typeface="Arial" charset="0"/>
            </a:endParaRPr>
          </a:p>
        </p:txBody>
      </p:sp>
      <p:sp>
        <p:nvSpPr>
          <p:cNvPr id="53251" name="Content Placeholder 2"/>
          <p:cNvSpPr>
            <a:spLocks noGrp="1"/>
          </p:cNvSpPr>
          <p:nvPr>
            <p:ph idx="1"/>
          </p:nvPr>
        </p:nvSpPr>
        <p:spPr>
          <a:xfrm>
            <a:off x="457200" y="1600200"/>
            <a:ext cx="8305800" cy="4873625"/>
          </a:xfrm>
        </p:spPr>
        <p:txBody>
          <a:bodyPr>
            <a:normAutofit/>
          </a:bodyPr>
          <a:lstStyle/>
          <a:p>
            <a:pPr marL="514350" indent="-514350">
              <a:buSzPct val="100000"/>
              <a:buFont typeface="Wingdings" panose="05000000000000000000" pitchFamily="2" charset="2"/>
              <a:buNone/>
            </a:pPr>
            <a:r>
              <a:rPr lang="en-US" altLang="zh-TW" sz="2600" dirty="0">
                <a:ea typeface="PMingLiU" panose="02020500000000000000" pitchFamily="18" charset="-120"/>
              </a:rPr>
              <a:t>Use the accounting equation to analyze the following transactions of FastForward for the month of December 2021.</a:t>
            </a:r>
          </a:p>
          <a:p>
            <a:pPr marL="514350" indent="-514350">
              <a:buSzPct val="100000"/>
              <a:buFont typeface="Century Schoolbook" panose="02040604050505020304" pitchFamily="18" charset="0"/>
              <a:buAutoNum type="arabicPeriod"/>
            </a:pPr>
            <a:r>
              <a:rPr lang="en-US" altLang="zh-TW" sz="2600" dirty="0">
                <a:ea typeface="PMingLiU" panose="02020500000000000000" pitchFamily="18" charset="-120"/>
              </a:rPr>
              <a:t>On December 1, 2021, Chuck Taylor invested $30,000 cash to start a consulting business: FastForward. </a:t>
            </a:r>
          </a:p>
          <a:p>
            <a:pPr marL="514350" indent="-514350">
              <a:buSzPct val="100000"/>
              <a:buFont typeface="Century Schoolbook" panose="02040604050505020304" pitchFamily="18" charset="0"/>
              <a:buAutoNum type="arabicPeriod"/>
            </a:pPr>
            <a:r>
              <a:rPr lang="en-US" altLang="zh-TW" sz="2600" dirty="0">
                <a:ea typeface="PMingLiU" panose="02020500000000000000" pitchFamily="18" charset="-120"/>
              </a:rPr>
              <a:t>purchased supplies paying $2,500 cash.</a:t>
            </a:r>
          </a:p>
          <a:p>
            <a:pPr marL="514350" indent="-514350">
              <a:buSzPct val="100000"/>
              <a:buFont typeface="Century Schoolbook" panose="02040604050505020304" pitchFamily="18" charset="0"/>
              <a:buAutoNum type="arabicPeriod"/>
            </a:pPr>
            <a:r>
              <a:rPr lang="en-US" altLang="zh-TW" sz="2600" dirty="0">
                <a:ea typeface="PMingLiU" panose="02020500000000000000" pitchFamily="18" charset="-120"/>
              </a:rPr>
              <a:t>purchased equipment paying $26,000 cash.</a:t>
            </a:r>
          </a:p>
          <a:p>
            <a:pPr marL="514350" indent="-514350">
              <a:buSzPct val="100000"/>
              <a:buFont typeface="Century Schoolbook" panose="02040604050505020304" pitchFamily="18" charset="0"/>
              <a:buAutoNum type="arabicPeriod"/>
            </a:pPr>
            <a:r>
              <a:rPr lang="en-US" altLang="zh-TW" sz="2600" dirty="0">
                <a:ea typeface="PMingLiU" panose="02020500000000000000" pitchFamily="18" charset="-120"/>
              </a:rPr>
              <a:t>purchased supplies of $7,100 on account from CalTech Supply Co.</a:t>
            </a:r>
          </a:p>
          <a:p>
            <a:pPr marL="514350" indent="-514350">
              <a:buSzPct val="100000"/>
              <a:buFont typeface="Century Schoolbook" panose="02040604050505020304" pitchFamily="18" charset="0"/>
              <a:buAutoNum type="arabicPeriod"/>
            </a:pPr>
            <a:r>
              <a:rPr lang="en-US" altLang="zh-TW" sz="2600" dirty="0">
                <a:ea typeface="PMingLiU" panose="02020500000000000000" pitchFamily="18" charset="-120"/>
              </a:rPr>
              <a:t>provided consulting services receiving $4,200 cash.</a:t>
            </a:r>
          </a:p>
          <a:p>
            <a:pPr marL="514350" indent="-514350">
              <a:buSzPct val="100000"/>
              <a:buFont typeface="Century Schoolbook" panose="02040604050505020304" pitchFamily="18" charset="0"/>
              <a:buAutoNum type="arabicPeriod"/>
            </a:pPr>
            <a:endParaRPr lang="en-US" altLang="zh-TW" sz="2600" dirty="0">
              <a:ea typeface="PMingLiU" panose="02020500000000000000" pitchFamily="18" charset="-120"/>
            </a:endParaRPr>
          </a:p>
          <a:p>
            <a:pPr marL="514350" indent="-514350"/>
            <a:endParaRPr lang="en-US" altLang="zh-TW" sz="2600" dirty="0">
              <a:ea typeface="PMingLiU" panose="02020500000000000000" pitchFamily="18" charset="-120"/>
            </a:endParaRPr>
          </a:p>
          <a:p>
            <a:pPr marL="514350" indent="-514350"/>
            <a:endParaRPr lang="en-US" altLang="zh-TW" sz="2600" dirty="0">
              <a:ea typeface="PMingLiU" panose="02020500000000000000" pitchFamily="18" charset="-120"/>
            </a:endParaRPr>
          </a:p>
          <a:p>
            <a:pPr marL="514350" indent="-514350"/>
            <a:endParaRPr lang="en-US" altLang="zh-TW" sz="2600" dirty="0">
              <a:ea typeface="PMingLiU" panose="02020500000000000000" pitchFamily="18" charset="-120"/>
            </a:endParaRPr>
          </a:p>
          <a:p>
            <a:pPr marL="514350" indent="-514350"/>
            <a:endParaRPr lang="zh-TW" altLang="en-US" sz="2600" dirty="0">
              <a:ea typeface="PMingLiU" panose="02020500000000000000" pitchFamily="18" charset="-120"/>
            </a:endParaRPr>
          </a:p>
        </p:txBody>
      </p:sp>
    </p:spTree>
    <p:extLst>
      <p:ext uri="{BB962C8B-B14F-4D97-AF65-F5344CB8AC3E}">
        <p14:creationId xmlns:p14="http://schemas.microsoft.com/office/powerpoint/2010/main" val="41423453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bwMode="auto"/>
        <p:txBody>
          <a:bodyPr/>
          <a:lstStyle/>
          <a:p>
            <a:pPr algn="ctr">
              <a:defRPr/>
            </a:pPr>
            <a:r>
              <a:rPr lang="en-US" altLang="zh-TW" dirty="0"/>
              <a:t>Transaction Analysis-Exercises</a:t>
            </a:r>
            <a:endParaRPr lang="zh-TW" altLang="en-US" cap="none" dirty="0">
              <a:latin typeface="Arial" charset="0"/>
              <a:ea typeface="PMingLiU" pitchFamily="18" charset="-120"/>
              <a:cs typeface="Arial" charset="0"/>
            </a:endParaRPr>
          </a:p>
        </p:txBody>
      </p:sp>
      <p:sp>
        <p:nvSpPr>
          <p:cNvPr id="54275" name="Content Placeholder 2"/>
          <p:cNvSpPr>
            <a:spLocks noGrp="1"/>
          </p:cNvSpPr>
          <p:nvPr>
            <p:ph idx="1"/>
          </p:nvPr>
        </p:nvSpPr>
        <p:spPr>
          <a:xfrm>
            <a:off x="457200" y="1600200"/>
            <a:ext cx="8305800" cy="4873625"/>
          </a:xfrm>
        </p:spPr>
        <p:txBody>
          <a:bodyPr>
            <a:normAutofit/>
          </a:bodyPr>
          <a:lstStyle/>
          <a:p>
            <a:pPr marL="514350" indent="-514350">
              <a:buSzPct val="100000"/>
              <a:buFont typeface="Century Schoolbook" panose="02040604050505020304" pitchFamily="18" charset="0"/>
              <a:buAutoNum type="arabicPeriod" startAt="6"/>
            </a:pPr>
            <a:r>
              <a:rPr lang="en-US" altLang="zh-TW" sz="2600" dirty="0">
                <a:ea typeface="PMingLiU" panose="02020500000000000000" pitchFamily="18" charset="-120"/>
              </a:rPr>
              <a:t>Paid $1,000 rent to the landlord of the building where its facilities are located.</a:t>
            </a:r>
          </a:p>
          <a:p>
            <a:pPr marL="514350" indent="-514350">
              <a:buSzPct val="100000"/>
              <a:buFont typeface="Century Schoolbook" panose="02040604050505020304" pitchFamily="18" charset="0"/>
              <a:buAutoNum type="arabicPeriod" startAt="6"/>
            </a:pPr>
            <a:r>
              <a:rPr lang="en-US" altLang="zh-TW" sz="2600" dirty="0">
                <a:ea typeface="PMingLiU" panose="02020500000000000000" pitchFamily="18" charset="-120"/>
              </a:rPr>
              <a:t>Paid salary of $700 to its employees.</a:t>
            </a:r>
          </a:p>
          <a:p>
            <a:pPr marL="514350" indent="-514350">
              <a:buSzPct val="100000"/>
              <a:buFont typeface="Century Schoolbook" panose="02040604050505020304" pitchFamily="18" charset="0"/>
              <a:buAutoNum type="arabicPeriod" startAt="6"/>
            </a:pPr>
            <a:r>
              <a:rPr lang="en-US" altLang="zh-TW" sz="2600" dirty="0">
                <a:ea typeface="PMingLiU" panose="02020500000000000000" pitchFamily="18" charset="-120"/>
              </a:rPr>
              <a:t>Provided consulting service of $1600 on credit and rented its test facilities for $300 to a sports club. </a:t>
            </a:r>
          </a:p>
          <a:p>
            <a:pPr marL="514350" indent="-514350">
              <a:buSzPct val="100000"/>
              <a:buFont typeface="Century Schoolbook" panose="02040604050505020304" pitchFamily="18" charset="0"/>
              <a:buAutoNum type="arabicPeriod" startAt="6"/>
            </a:pPr>
            <a:r>
              <a:rPr lang="en-US" altLang="zh-TW" sz="2600" dirty="0">
                <a:ea typeface="PMingLiU" panose="02020500000000000000" pitchFamily="18" charset="-120"/>
              </a:rPr>
              <a:t>Received the cash payment of $1,900 from the sports club ten days later.</a:t>
            </a:r>
          </a:p>
          <a:p>
            <a:pPr marL="514350" indent="-514350">
              <a:buSzPct val="100000"/>
              <a:buFont typeface="Century Schoolbook" panose="02040604050505020304" pitchFamily="18" charset="0"/>
              <a:buAutoNum type="arabicPeriod" startAt="6"/>
            </a:pPr>
            <a:r>
              <a:rPr lang="en-US" altLang="zh-TW" sz="2600" dirty="0">
                <a:ea typeface="PMingLiU" panose="02020500000000000000" pitchFamily="18" charset="-120"/>
              </a:rPr>
              <a:t>Paid CalTech Supply $900 cash as partial payment for its earlier $7,100 purchase of supplies.</a:t>
            </a:r>
          </a:p>
          <a:p>
            <a:pPr marL="514350" indent="-514350">
              <a:buSzPct val="100000"/>
              <a:buFont typeface="Century Schoolbook" panose="02040604050505020304" pitchFamily="18" charset="0"/>
              <a:buAutoNum type="arabicPeriod" startAt="6"/>
            </a:pPr>
            <a:r>
              <a:rPr lang="en-US" altLang="zh-TW" sz="2600" dirty="0">
                <a:ea typeface="PMingLiU" panose="02020500000000000000" pitchFamily="18" charset="-120"/>
              </a:rPr>
              <a:t>Cash dividend to owner of $200. </a:t>
            </a:r>
            <a:endParaRPr lang="zh-TW" altLang="en-US" sz="2600" dirty="0">
              <a:ea typeface="PMingLiU" panose="02020500000000000000" pitchFamily="18" charset="-120"/>
            </a:endParaRPr>
          </a:p>
        </p:txBody>
      </p:sp>
    </p:spTree>
    <p:extLst>
      <p:ext uri="{BB962C8B-B14F-4D97-AF65-F5344CB8AC3E}">
        <p14:creationId xmlns:p14="http://schemas.microsoft.com/office/powerpoint/2010/main" val="1719732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6"/>
          <p:cNvSpPr>
            <a:spLocks noGrp="1" noChangeArrowheads="1"/>
          </p:cNvSpPr>
          <p:nvPr>
            <p:ph type="title"/>
          </p:nvPr>
        </p:nvSpPr>
        <p:spPr>
          <a:xfrm>
            <a:off x="966848" y="422270"/>
            <a:ext cx="7158038" cy="1412875"/>
          </a:xfrm>
        </p:spPr>
        <p:txBody>
          <a:bodyPr/>
          <a:lstStyle/>
          <a:p>
            <a:pPr algn="ctr"/>
            <a:r>
              <a:rPr lang="en-US" b="1" dirty="0"/>
              <a:t>Transaction 1: </a:t>
            </a:r>
            <a:br>
              <a:rPr lang="en-US" b="1" dirty="0"/>
            </a:br>
            <a:r>
              <a:rPr lang="en-US" b="1" dirty="0"/>
              <a:t>Investment by Owner</a:t>
            </a:r>
          </a:p>
        </p:txBody>
      </p:sp>
      <p:sp>
        <p:nvSpPr>
          <p:cNvPr id="34818" name="Rectangle 2"/>
          <p:cNvSpPr>
            <a:spLocks noGrp="1" noChangeArrowheads="1"/>
          </p:cNvSpPr>
          <p:nvPr>
            <p:ph sz="half" idx="1"/>
          </p:nvPr>
        </p:nvSpPr>
        <p:spPr bwMode="auto">
          <a:xfrm>
            <a:off x="1185068" y="2640981"/>
            <a:ext cx="7161213" cy="307402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90488" tIns="44450" rIns="90488" bIns="44450">
            <a:normAutofit/>
          </a:bodyPr>
          <a:lstStyle/>
          <a:p>
            <a:pPr algn="ctr">
              <a:buFont typeface="Wingdings" panose="05000000000000000000" pitchFamily="2" charset="2"/>
              <a:buNone/>
            </a:pPr>
            <a:endParaRPr lang="en-US" dirty="0"/>
          </a:p>
          <a:p>
            <a:pPr algn="ctr">
              <a:buFont typeface="Wingdings" panose="05000000000000000000" pitchFamily="2" charset="2"/>
              <a:buNone/>
            </a:pPr>
            <a:endParaRPr lang="en-US" dirty="0"/>
          </a:p>
          <a:p>
            <a:pPr algn="ct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Cash</a:t>
            </a:r>
            <a:r>
              <a:rPr lang="en-US" b="1" dirty="0">
                <a:solidFill>
                  <a:schemeClr val="hlink"/>
                </a:solidFill>
              </a:rPr>
              <a:t> </a:t>
            </a:r>
            <a:r>
              <a:rPr lang="en-US" b="1" dirty="0">
                <a:solidFill>
                  <a:srgbClr val="9A2F6F"/>
                </a:solidFill>
              </a:rPr>
              <a:t>(asset)</a:t>
            </a:r>
          </a:p>
          <a:p>
            <a:pPr>
              <a:buFont typeface="Wingdings" panose="05000000000000000000" pitchFamily="2" charset="2"/>
              <a:buNone/>
            </a:pPr>
            <a:r>
              <a:rPr lang="en-US" b="1" dirty="0">
                <a:solidFill>
                  <a:schemeClr val="hlink"/>
                </a:solidFill>
              </a:rPr>
              <a:t>	</a:t>
            </a:r>
          </a:p>
          <a:p>
            <a:pPr>
              <a:buFont typeface="Wingdings" panose="05000000000000000000" pitchFamily="2" charset="2"/>
              <a:buNone/>
            </a:pPr>
            <a:r>
              <a:rPr lang="en-US" b="1" dirty="0">
                <a:solidFill>
                  <a:schemeClr val="hlink"/>
                </a:solidFill>
              </a:rPr>
              <a:t>                      </a:t>
            </a:r>
            <a:r>
              <a:rPr lang="en-US" b="1" dirty="0"/>
              <a:t>(2) Common Stock </a:t>
            </a:r>
            <a:r>
              <a:rPr lang="en-US" b="1" dirty="0">
                <a:solidFill>
                  <a:srgbClr val="9A2F6F"/>
                </a:solidFill>
              </a:rPr>
              <a:t>(equity)</a:t>
            </a:r>
          </a:p>
        </p:txBody>
      </p:sp>
      <p:sp>
        <p:nvSpPr>
          <p:cNvPr id="13" name="Slide Number Placeholder 3"/>
          <p:cNvSpPr>
            <a:spLocks noGrp="1"/>
          </p:cNvSpPr>
          <p:nvPr>
            <p:ph type="sldNum" sz="quarter" idx="12"/>
          </p:nvPr>
        </p:nvSpPr>
        <p:spPr bwMode="auto">
          <a:xfrm>
            <a:off x="6858000" y="646051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55</a:t>
            </a:fld>
            <a:endParaRPr lang="en-US" altLang="en-US" dirty="0">
              <a:solidFill>
                <a:srgbClr val="898989"/>
              </a:solidFill>
            </a:endParaRPr>
          </a:p>
        </p:txBody>
      </p:sp>
      <p:sp>
        <p:nvSpPr>
          <p:cNvPr id="34819" name="Rectangle 3"/>
          <p:cNvSpPr>
            <a:spLocks noChangeArrowheads="1"/>
          </p:cNvSpPr>
          <p:nvPr/>
        </p:nvSpPr>
        <p:spPr bwMode="auto">
          <a:xfrm>
            <a:off x="563510" y="1950268"/>
            <a:ext cx="8229600" cy="1160462"/>
          </a:xfrm>
          <a:prstGeom prst="rect">
            <a:avLst/>
          </a:prstGeom>
          <a:solidFill>
            <a:srgbClr val="FFFF99"/>
          </a:solidFill>
          <a:ln>
            <a:noFill/>
          </a:ln>
          <a:effectLst/>
        </p:spPr>
        <p:txBody>
          <a:bodyPr lIns="90488" tIns="44450" rIns="90488" bIns="44450"/>
          <a:lstStyle/>
          <a:p>
            <a:pPr algn="ctr">
              <a:spcBef>
                <a:spcPct val="20000"/>
              </a:spcBef>
            </a:pPr>
            <a:r>
              <a:rPr lang="en-US" sz="3200" b="1" dirty="0">
                <a:solidFill>
                  <a:prstClr val="black"/>
                </a:solidFill>
                <a:latin typeface="Arial" panose="020B0604020202020204" pitchFamily="34" charset="0"/>
              </a:rPr>
              <a:t>         Chas Taylor invests $30,000 cash to start a corporation named FastFoward.</a:t>
            </a:r>
            <a:endParaRPr lang="en-US" sz="3200" b="1" dirty="0">
              <a:solidFill>
                <a:srgbClr val="9900CC"/>
              </a:solidFill>
              <a:latin typeface="Arial" panose="020B0604020202020204" pitchFamily="34" charset="0"/>
            </a:endParaRPr>
          </a:p>
        </p:txBody>
      </p:sp>
      <p:sp>
        <p:nvSpPr>
          <p:cNvPr id="34820" name="AutoShape 4"/>
          <p:cNvSpPr>
            <a:spLocks noChangeArrowheads="1"/>
          </p:cNvSpPr>
          <p:nvPr/>
        </p:nvSpPr>
        <p:spPr bwMode="auto">
          <a:xfrm rot="16200000">
            <a:off x="4456060" y="3816593"/>
            <a:ext cx="444500" cy="330200"/>
          </a:xfrm>
          <a:prstGeom prst="rightArrow">
            <a:avLst>
              <a:gd name="adj1" fmla="val 50000"/>
              <a:gd name="adj2" fmla="val 67314"/>
            </a:avLst>
          </a:prstGeom>
          <a:solidFill>
            <a:srgbClr val="00B05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34821" name="AutoShape 5"/>
          <p:cNvSpPr>
            <a:spLocks noChangeArrowheads="1"/>
          </p:cNvSpPr>
          <p:nvPr/>
        </p:nvSpPr>
        <p:spPr bwMode="auto">
          <a:xfrm rot="16200000">
            <a:off x="5581650" y="4552950"/>
            <a:ext cx="444500" cy="330200"/>
          </a:xfrm>
          <a:prstGeom prst="rightArrow">
            <a:avLst>
              <a:gd name="adj1" fmla="val 50000"/>
              <a:gd name="adj2" fmla="val 67314"/>
            </a:avLst>
          </a:prstGeom>
          <a:solidFill>
            <a:srgbClr val="00B05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14" name="Rectangle 13"/>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416190083"/>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Effect transition="in" filter="fade">
                                      <p:cBhvr>
                                        <p:cTn id="7" dur="1000"/>
                                        <p:tgtEl>
                                          <p:spTgt spid="34819"/>
                                        </p:tgtEl>
                                      </p:cBhvr>
                                    </p:animEffect>
                                    <p:anim calcmode="lin" valueType="num">
                                      <p:cBhvr>
                                        <p:cTn id="8" dur="1000" fill="hold"/>
                                        <p:tgtEl>
                                          <p:spTgt spid="34819"/>
                                        </p:tgtEl>
                                        <p:attrNameLst>
                                          <p:attrName>ppt_x</p:attrName>
                                        </p:attrNameLst>
                                      </p:cBhvr>
                                      <p:tavLst>
                                        <p:tav tm="0">
                                          <p:val>
                                            <p:strVal val="#ppt_x"/>
                                          </p:val>
                                        </p:tav>
                                        <p:tav tm="100000">
                                          <p:val>
                                            <p:strVal val="#ppt_x"/>
                                          </p:val>
                                        </p:tav>
                                      </p:tavLst>
                                    </p:anim>
                                    <p:anim calcmode="lin" valueType="num">
                                      <p:cBhvr>
                                        <p:cTn id="9" dur="1000" fill="hold"/>
                                        <p:tgtEl>
                                          <p:spTgt spid="3481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9" presetClass="entr" presetSubtype="0" fill="hold" nodeType="afterEffect">
                                  <p:stCondLst>
                                    <p:cond delay="0"/>
                                  </p:stCondLst>
                                  <p:childTnLst>
                                    <p:set>
                                      <p:cBhvr>
                                        <p:cTn id="12" dur="1" fill="hold">
                                          <p:stCondLst>
                                            <p:cond delay="0"/>
                                          </p:stCondLst>
                                        </p:cTn>
                                        <p:tgtEl>
                                          <p:spTgt spid="34818">
                                            <p:txEl>
                                              <p:pRg st="2" end="2"/>
                                            </p:txEl>
                                          </p:spTgt>
                                        </p:tgtEl>
                                        <p:attrNameLst>
                                          <p:attrName>style.visibility</p:attrName>
                                        </p:attrNameLst>
                                      </p:cBhvr>
                                      <p:to>
                                        <p:strVal val="visible"/>
                                      </p:to>
                                    </p:set>
                                    <p:animEffect transition="in" filter="dissolve">
                                      <p:cBhvr>
                                        <p:cTn id="13" dur="500"/>
                                        <p:tgtEl>
                                          <p:spTgt spid="34818">
                                            <p:txEl>
                                              <p:pRg st="2" end="2"/>
                                            </p:txEl>
                                          </p:spTgt>
                                        </p:tgtEl>
                                      </p:cBhvr>
                                    </p:animEffect>
                                  </p:childTnLst>
                                </p:cTn>
                              </p:par>
                            </p:childTnLst>
                          </p:cTn>
                        </p:par>
                      </p:childTnLst>
                    </p:cTn>
                  </p:par>
                  <p:par>
                    <p:cTn id="14" fill="hold">
                      <p:stCondLst>
                        <p:cond delay="indefinite"/>
                      </p:stCondLst>
                      <p:childTnLst>
                        <p:par>
                          <p:cTn id="15" fill="hold" nodeType="afterGroup">
                            <p:stCondLst>
                              <p:cond delay="0"/>
                            </p:stCondLst>
                            <p:childTnLst>
                              <p:par>
                                <p:cTn id="16" presetID="9" presetClass="entr" presetSubtype="0" fill="hold" nodeType="clickEffect">
                                  <p:stCondLst>
                                    <p:cond delay="0"/>
                                  </p:stCondLst>
                                  <p:childTnLst>
                                    <p:set>
                                      <p:cBhvr>
                                        <p:cTn id="17" dur="1" fill="hold">
                                          <p:stCondLst>
                                            <p:cond delay="0"/>
                                          </p:stCondLst>
                                        </p:cTn>
                                        <p:tgtEl>
                                          <p:spTgt spid="34818">
                                            <p:txEl>
                                              <p:pRg st="3" end="3"/>
                                            </p:txEl>
                                          </p:spTgt>
                                        </p:tgtEl>
                                        <p:attrNameLst>
                                          <p:attrName>style.visibility</p:attrName>
                                        </p:attrNameLst>
                                      </p:cBhvr>
                                      <p:to>
                                        <p:strVal val="visible"/>
                                      </p:to>
                                    </p:set>
                                    <p:animEffect transition="in" filter="dissolve">
                                      <p:cBhvr>
                                        <p:cTn id="18" dur="1000"/>
                                        <p:tgtEl>
                                          <p:spTgt spid="34818">
                                            <p:txEl>
                                              <p:pRg st="3" end="3"/>
                                            </p:txEl>
                                          </p:spTgt>
                                        </p:tgtEl>
                                      </p:cBhvr>
                                    </p:animEffect>
                                  </p:childTnLst>
                                </p:cTn>
                              </p:par>
                            </p:childTnLst>
                          </p:cTn>
                        </p:par>
                        <p:par>
                          <p:cTn id="19" fill="hold" nodeType="afterGroup">
                            <p:stCondLst>
                              <p:cond delay="1000"/>
                            </p:stCondLst>
                            <p:childTnLst>
                              <p:par>
                                <p:cTn id="20" presetID="9" presetClass="entr" presetSubtype="0" fill="hold" nodeType="afterEffect">
                                  <p:stCondLst>
                                    <p:cond delay="0"/>
                                  </p:stCondLst>
                                  <p:childTnLst>
                                    <p:set>
                                      <p:cBhvr>
                                        <p:cTn id="21" dur="1" fill="hold">
                                          <p:stCondLst>
                                            <p:cond delay="0"/>
                                          </p:stCondLst>
                                        </p:cTn>
                                        <p:tgtEl>
                                          <p:spTgt spid="34818">
                                            <p:txEl>
                                              <p:pRg st="4" end="4"/>
                                            </p:txEl>
                                          </p:spTgt>
                                        </p:tgtEl>
                                        <p:attrNameLst>
                                          <p:attrName>style.visibility</p:attrName>
                                        </p:attrNameLst>
                                      </p:cBhvr>
                                      <p:to>
                                        <p:strVal val="visible"/>
                                      </p:to>
                                    </p:set>
                                    <p:animEffect transition="in" filter="dissolve">
                                      <p:cBhvr>
                                        <p:cTn id="22" dur="2000"/>
                                        <p:tgtEl>
                                          <p:spTgt spid="34818">
                                            <p:txEl>
                                              <p:pRg st="4" end="4"/>
                                            </p:txEl>
                                          </p:spTgt>
                                        </p:tgtEl>
                                      </p:cBhvr>
                                    </p:animEffect>
                                  </p:childTnLst>
                                </p:cTn>
                              </p:par>
                            </p:childTnLst>
                          </p:cTn>
                        </p:par>
                        <p:par>
                          <p:cTn id="23" fill="hold">
                            <p:stCondLst>
                              <p:cond delay="3000"/>
                            </p:stCondLst>
                            <p:childTnLst>
                              <p:par>
                                <p:cTn id="24" presetID="9" presetClass="entr" presetSubtype="0" fill="hold" nodeType="afterEffect">
                                  <p:stCondLst>
                                    <p:cond delay="0"/>
                                  </p:stCondLst>
                                  <p:childTnLst>
                                    <p:set>
                                      <p:cBhvr>
                                        <p:cTn id="25" dur="1" fill="hold">
                                          <p:stCondLst>
                                            <p:cond delay="0"/>
                                          </p:stCondLst>
                                        </p:cTn>
                                        <p:tgtEl>
                                          <p:spTgt spid="34818">
                                            <p:txEl>
                                              <p:pRg st="5" end="5"/>
                                            </p:txEl>
                                          </p:spTgt>
                                        </p:tgtEl>
                                        <p:attrNameLst>
                                          <p:attrName>style.visibility</p:attrName>
                                        </p:attrNameLst>
                                      </p:cBhvr>
                                      <p:to>
                                        <p:strVal val="visible"/>
                                      </p:to>
                                    </p:set>
                                    <p:animEffect transition="in" filter="dissolve">
                                      <p:cBhvr>
                                        <p:cTn id="26" dur="2000"/>
                                        <p:tgtEl>
                                          <p:spTgt spid="34818">
                                            <p:txEl>
                                              <p:pRg st="5" end="5"/>
                                            </p:txEl>
                                          </p:spTgt>
                                        </p:tgtEl>
                                      </p:cBhvr>
                                    </p:animEffect>
                                  </p:childTnLst>
                                </p:cTn>
                              </p:par>
                            </p:childTnLst>
                          </p:cTn>
                        </p:par>
                        <p:par>
                          <p:cTn id="27" fill="hold" nodeType="afterGroup">
                            <p:stCondLst>
                              <p:cond delay="5000"/>
                            </p:stCondLst>
                            <p:childTnLst>
                              <p:par>
                                <p:cTn id="28" presetID="29" presetClass="entr" presetSubtype="0" fill="hold" grpId="0" nodeType="afterEffect">
                                  <p:stCondLst>
                                    <p:cond delay="0"/>
                                  </p:stCondLst>
                                  <p:childTnLst>
                                    <p:set>
                                      <p:cBhvr>
                                        <p:cTn id="29" dur="1" fill="hold">
                                          <p:stCondLst>
                                            <p:cond delay="0"/>
                                          </p:stCondLst>
                                        </p:cTn>
                                        <p:tgtEl>
                                          <p:spTgt spid="34820"/>
                                        </p:tgtEl>
                                        <p:attrNameLst>
                                          <p:attrName>style.visibility</p:attrName>
                                        </p:attrNameLst>
                                      </p:cBhvr>
                                      <p:to>
                                        <p:strVal val="visible"/>
                                      </p:to>
                                    </p:set>
                                    <p:anim calcmode="lin" valueType="num">
                                      <p:cBhvr>
                                        <p:cTn id="30" dur="1000" fill="hold"/>
                                        <p:tgtEl>
                                          <p:spTgt spid="34820"/>
                                        </p:tgtEl>
                                        <p:attrNameLst>
                                          <p:attrName>ppt_x</p:attrName>
                                        </p:attrNameLst>
                                      </p:cBhvr>
                                      <p:tavLst>
                                        <p:tav tm="0">
                                          <p:val>
                                            <p:strVal val="#ppt_x-.2"/>
                                          </p:val>
                                        </p:tav>
                                        <p:tav tm="100000">
                                          <p:val>
                                            <p:strVal val="#ppt_x"/>
                                          </p:val>
                                        </p:tav>
                                      </p:tavLst>
                                    </p:anim>
                                    <p:anim calcmode="lin" valueType="num">
                                      <p:cBhvr>
                                        <p:cTn id="31" dur="1000" fill="hold"/>
                                        <p:tgtEl>
                                          <p:spTgt spid="34820"/>
                                        </p:tgtEl>
                                        <p:attrNameLst>
                                          <p:attrName>ppt_y</p:attrName>
                                        </p:attrNameLst>
                                      </p:cBhvr>
                                      <p:tavLst>
                                        <p:tav tm="0">
                                          <p:val>
                                            <p:strVal val="#ppt_y"/>
                                          </p:val>
                                        </p:tav>
                                        <p:tav tm="100000">
                                          <p:val>
                                            <p:strVal val="#ppt_y"/>
                                          </p:val>
                                        </p:tav>
                                      </p:tavLst>
                                    </p:anim>
                                    <p:animEffect transition="in" filter="wipe(right)" prLst="gradientSize: 0.1">
                                      <p:cBhvr>
                                        <p:cTn id="32" dur="1000"/>
                                        <p:tgtEl>
                                          <p:spTgt spid="34820"/>
                                        </p:tgtEl>
                                      </p:cBhvr>
                                    </p:animEffect>
                                  </p:childTnLst>
                                </p:cTn>
                              </p:par>
                            </p:childTnLst>
                          </p:cTn>
                        </p:par>
                        <p:par>
                          <p:cTn id="33" fill="hold" nodeType="afterGroup">
                            <p:stCondLst>
                              <p:cond delay="6000"/>
                            </p:stCondLst>
                            <p:childTnLst>
                              <p:par>
                                <p:cTn id="34" presetID="29" presetClass="entr" presetSubtype="0" fill="hold" grpId="0" nodeType="afterEffect">
                                  <p:stCondLst>
                                    <p:cond delay="0"/>
                                  </p:stCondLst>
                                  <p:childTnLst>
                                    <p:set>
                                      <p:cBhvr>
                                        <p:cTn id="35" dur="1" fill="hold">
                                          <p:stCondLst>
                                            <p:cond delay="0"/>
                                          </p:stCondLst>
                                        </p:cTn>
                                        <p:tgtEl>
                                          <p:spTgt spid="34821"/>
                                        </p:tgtEl>
                                        <p:attrNameLst>
                                          <p:attrName>style.visibility</p:attrName>
                                        </p:attrNameLst>
                                      </p:cBhvr>
                                      <p:to>
                                        <p:strVal val="visible"/>
                                      </p:to>
                                    </p:set>
                                    <p:anim calcmode="lin" valueType="num">
                                      <p:cBhvr>
                                        <p:cTn id="36" dur="1000" fill="hold"/>
                                        <p:tgtEl>
                                          <p:spTgt spid="34821"/>
                                        </p:tgtEl>
                                        <p:attrNameLst>
                                          <p:attrName>ppt_x</p:attrName>
                                        </p:attrNameLst>
                                      </p:cBhvr>
                                      <p:tavLst>
                                        <p:tav tm="0">
                                          <p:val>
                                            <p:strVal val="#ppt_x-.2"/>
                                          </p:val>
                                        </p:tav>
                                        <p:tav tm="100000">
                                          <p:val>
                                            <p:strVal val="#ppt_x"/>
                                          </p:val>
                                        </p:tav>
                                      </p:tavLst>
                                    </p:anim>
                                    <p:anim calcmode="lin" valueType="num">
                                      <p:cBhvr>
                                        <p:cTn id="37" dur="1000" fill="hold"/>
                                        <p:tgtEl>
                                          <p:spTgt spid="34821"/>
                                        </p:tgtEl>
                                        <p:attrNameLst>
                                          <p:attrName>ppt_y</p:attrName>
                                        </p:attrNameLst>
                                      </p:cBhvr>
                                      <p:tavLst>
                                        <p:tav tm="0">
                                          <p:val>
                                            <p:strVal val="#ppt_y"/>
                                          </p:val>
                                        </p:tav>
                                        <p:tav tm="100000">
                                          <p:val>
                                            <p:strVal val="#ppt_y"/>
                                          </p:val>
                                        </p:tav>
                                      </p:tavLst>
                                    </p:anim>
                                    <p:animEffect transition="in" filter="wipe(right)" prLst="gradientSize: 0.1">
                                      <p:cBhvr>
                                        <p:cTn id="38" dur="1000"/>
                                        <p:tgtEl>
                                          <p:spTgt spid="34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nimBg="1"/>
      <p:bldP spid="34820" grpId="0" animBg="1"/>
      <p:bldP spid="3482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840581" y="562829"/>
            <a:ext cx="7158038" cy="609600"/>
          </a:xfrm>
          <a:noFill/>
          <a:extLst>
            <a:ext uri="{909E8E84-426E-40dd-AFC4-6F175D3DCCD1}">
              <a14:hiddenFill xmlns:a14="http://schemas.microsoft.com/office/drawing/2010/main" xmlns="">
                <a:solidFill>
                  <a:srgbClr val="CCFF99"/>
                </a:solidFill>
              </a14:hiddenFill>
            </a:ext>
          </a:extLst>
        </p:spPr>
        <p:txBody>
          <a:bodyPr>
            <a:normAutofit/>
          </a:bodyPr>
          <a:lstStyle/>
          <a:p>
            <a:pPr algn="ctr"/>
            <a:r>
              <a:rPr lang="en-US" b="1" dirty="0"/>
              <a:t>Accounting Equation 1</a:t>
            </a:r>
          </a:p>
        </p:txBody>
      </p:sp>
      <p:sp>
        <p:nvSpPr>
          <p:cNvPr id="13" name="Slide Number Placeholder 3"/>
          <p:cNvSpPr>
            <a:spLocks noGrp="1"/>
          </p:cNvSpPr>
          <p:nvPr>
            <p:ph type="sldNum" sz="quarter" idx="12"/>
          </p:nvPr>
        </p:nvSpPr>
        <p:spPr bwMode="auto">
          <a:xfrm>
            <a:off x="6819900" y="6475240"/>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56</a:t>
            </a:fld>
            <a:endParaRPr lang="en-US" altLang="en-US" dirty="0">
              <a:solidFill>
                <a:srgbClr val="898989"/>
              </a:solidFill>
            </a:endParaRPr>
          </a:p>
        </p:txBody>
      </p:sp>
      <p:graphicFrame>
        <p:nvGraphicFramePr>
          <p:cNvPr id="36867" name="Object 3"/>
          <p:cNvGraphicFramePr>
            <a:graphicFrameLocks/>
          </p:cNvGraphicFramePr>
          <p:nvPr>
            <p:extLst>
              <p:ext uri="{D42A27DB-BD31-4B8C-83A1-F6EECF244321}">
                <p14:modId xmlns:p14="http://schemas.microsoft.com/office/powerpoint/2010/main" val="1445717925"/>
              </p:ext>
            </p:extLst>
          </p:nvPr>
        </p:nvGraphicFramePr>
        <p:xfrm>
          <a:off x="249238" y="2527300"/>
          <a:ext cx="8623300" cy="3798888"/>
        </p:xfrm>
        <a:graphic>
          <a:graphicData uri="http://schemas.openxmlformats.org/presentationml/2006/ole">
            <mc:AlternateContent xmlns:mc="http://schemas.openxmlformats.org/markup-compatibility/2006">
              <mc:Choice xmlns:v="urn:schemas-microsoft-com:vml" Requires="v">
                <p:oleObj spid="_x0000_s4157" name="Worksheet" r:id="rId4" imgW="4467360" imgH="1952607" progId="Excel.Sheet.8">
                  <p:embed/>
                </p:oleObj>
              </mc:Choice>
              <mc:Fallback>
                <p:oleObj name="Worksheet" r:id="rId4" imgW="4467360" imgH="1952607" progId="Excel.Sheet.8">
                  <p:embed/>
                  <p:pic>
                    <p:nvPicPr>
                      <p:cNvPr id="0" name=""/>
                      <p:cNvPicPr>
                        <a:picLocks noChangeArrowheads="1"/>
                      </p:cNvPicPr>
                      <p:nvPr/>
                    </p:nvPicPr>
                    <p:blipFill>
                      <a:blip r:embed="rId5"/>
                      <a:srcRect b="5867"/>
                      <a:stretch>
                        <a:fillRect/>
                      </a:stretch>
                    </p:blipFill>
                    <p:spPr bwMode="auto">
                      <a:xfrm>
                        <a:off x="249238" y="2527300"/>
                        <a:ext cx="8623300" cy="3798888"/>
                      </a:xfrm>
                      <a:prstGeom prst="rect">
                        <a:avLst/>
                      </a:prstGeom>
                      <a:noFill/>
                      <a:ln w="50800">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
        <p:nvSpPr>
          <p:cNvPr id="36869" name="Rectangle 5"/>
          <p:cNvSpPr>
            <a:spLocks noChangeArrowheads="1"/>
          </p:cNvSpPr>
          <p:nvPr/>
        </p:nvSpPr>
        <p:spPr bwMode="auto">
          <a:xfrm>
            <a:off x="446088" y="1283553"/>
            <a:ext cx="8229600" cy="1160463"/>
          </a:xfrm>
          <a:prstGeom prst="rect">
            <a:avLst/>
          </a:prstGeom>
          <a:solidFill>
            <a:schemeClr val="accent3">
              <a:lumMod val="40000"/>
              <a:lumOff val="60000"/>
            </a:schemeClr>
          </a:solidFill>
          <a:ln>
            <a:noFill/>
          </a:ln>
          <a:effectLst/>
        </p:spPr>
        <p:txBody>
          <a:bodyPr lIns="90488" tIns="44450" rIns="90488" bIns="44450"/>
          <a:lstStyle/>
          <a:p>
            <a:pPr algn="ctr">
              <a:spcBef>
                <a:spcPct val="20000"/>
              </a:spcBef>
            </a:pPr>
            <a:r>
              <a:rPr lang="en-US" sz="3200" b="1" dirty="0">
                <a:solidFill>
                  <a:prstClr val="black"/>
                </a:solidFill>
                <a:latin typeface="Arial" panose="020B0604020202020204" pitchFamily="34" charset="0"/>
              </a:rPr>
              <a:t>Chas Taylor invests $30,000 cash to start the business, </a:t>
            </a:r>
            <a:r>
              <a:rPr lang="en-US" sz="3200" b="1" i="1" dirty="0">
                <a:solidFill>
                  <a:prstClr val="black"/>
                </a:solidFill>
                <a:latin typeface="Arial" panose="020B0604020202020204" pitchFamily="34" charset="0"/>
              </a:rPr>
              <a:t>Fast Forward</a:t>
            </a:r>
            <a:r>
              <a:rPr lang="en-US" sz="3200" b="1" dirty="0">
                <a:solidFill>
                  <a:prstClr val="black"/>
                </a:solidFill>
                <a:latin typeface="Arial" panose="020B0604020202020204" pitchFamily="34" charset="0"/>
              </a:rPr>
              <a:t>.</a:t>
            </a:r>
          </a:p>
        </p:txBody>
      </p:sp>
      <p:sp>
        <p:nvSpPr>
          <p:cNvPr id="36871" name="Oval 7"/>
          <p:cNvSpPr>
            <a:spLocks noChangeArrowheads="1"/>
          </p:cNvSpPr>
          <p:nvPr/>
        </p:nvSpPr>
        <p:spPr bwMode="auto">
          <a:xfrm>
            <a:off x="685800" y="3499704"/>
            <a:ext cx="1219200" cy="462696"/>
          </a:xfrm>
          <a:prstGeom prst="ellipse">
            <a:avLst/>
          </a:prstGeom>
          <a:noFill/>
          <a:ln w="28575" algn="ctr">
            <a:solidFill>
              <a:srgbClr val="000099"/>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36872" name="Oval 8"/>
          <p:cNvSpPr>
            <a:spLocks noChangeArrowheads="1"/>
          </p:cNvSpPr>
          <p:nvPr/>
        </p:nvSpPr>
        <p:spPr bwMode="auto">
          <a:xfrm>
            <a:off x="7729538" y="3505200"/>
            <a:ext cx="1143000" cy="457200"/>
          </a:xfrm>
          <a:prstGeom prst="ellipse">
            <a:avLst/>
          </a:prstGeom>
          <a:noFill/>
          <a:ln w="28575" algn="ctr">
            <a:solidFill>
              <a:srgbClr val="000099"/>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36969" name="Oval 105"/>
          <p:cNvSpPr>
            <a:spLocks noChangeArrowheads="1"/>
          </p:cNvSpPr>
          <p:nvPr/>
        </p:nvSpPr>
        <p:spPr bwMode="auto">
          <a:xfrm>
            <a:off x="1752600" y="5697657"/>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36970" name="Oval 106"/>
          <p:cNvSpPr>
            <a:spLocks noChangeArrowheads="1"/>
          </p:cNvSpPr>
          <p:nvPr/>
        </p:nvSpPr>
        <p:spPr bwMode="auto">
          <a:xfrm>
            <a:off x="5791200" y="5716707"/>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4" name="Rectangle 13"/>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537672612"/>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animEffect transition="in" filter="fade">
                                      <p:cBhvr>
                                        <p:cTn id="7" dur="1000"/>
                                        <p:tgtEl>
                                          <p:spTgt spid="36869"/>
                                        </p:tgtEl>
                                      </p:cBhvr>
                                    </p:animEffect>
                                    <p:anim calcmode="lin" valueType="num">
                                      <p:cBhvr>
                                        <p:cTn id="8" dur="1000" fill="hold"/>
                                        <p:tgtEl>
                                          <p:spTgt spid="36869"/>
                                        </p:tgtEl>
                                        <p:attrNameLst>
                                          <p:attrName>ppt_x</p:attrName>
                                        </p:attrNameLst>
                                      </p:cBhvr>
                                      <p:tavLst>
                                        <p:tav tm="0">
                                          <p:val>
                                            <p:strVal val="#ppt_x"/>
                                          </p:val>
                                        </p:tav>
                                        <p:tav tm="100000">
                                          <p:val>
                                            <p:strVal val="#ppt_x"/>
                                          </p:val>
                                        </p:tav>
                                      </p:tavLst>
                                    </p:anim>
                                    <p:anim calcmode="lin" valueType="num">
                                      <p:cBhvr>
                                        <p:cTn id="9" dur="1000" fill="hold"/>
                                        <p:tgtEl>
                                          <p:spTgt spid="36869"/>
                                        </p:tgtEl>
                                        <p:attrNameLst>
                                          <p:attrName>ppt_y</p:attrName>
                                        </p:attrNameLst>
                                      </p:cBhvr>
                                      <p:tavLst>
                                        <p:tav tm="0">
                                          <p:val>
                                            <p:strVal val="#ppt_y+.1"/>
                                          </p:val>
                                        </p:tav>
                                        <p:tav tm="100000">
                                          <p:val>
                                            <p:strVal val="#ppt_y"/>
                                          </p:val>
                                        </p:tav>
                                      </p:tavLst>
                                    </p:anim>
                                  </p:childTnLst>
                                </p:cTn>
                              </p:par>
                              <p:par>
                                <p:cTn id="10" presetID="9" presetClass="entr" presetSubtype="0" fill="hold" nodeType="withEffect">
                                  <p:stCondLst>
                                    <p:cond delay="4000"/>
                                  </p:stCondLst>
                                  <p:childTnLst>
                                    <p:set>
                                      <p:cBhvr>
                                        <p:cTn id="11" dur="1" fill="hold">
                                          <p:stCondLst>
                                            <p:cond delay="0"/>
                                          </p:stCondLst>
                                        </p:cTn>
                                        <p:tgtEl>
                                          <p:spTgt spid="36867"/>
                                        </p:tgtEl>
                                        <p:attrNameLst>
                                          <p:attrName>style.visibility</p:attrName>
                                        </p:attrNameLst>
                                      </p:cBhvr>
                                      <p:to>
                                        <p:strVal val="visible"/>
                                      </p:to>
                                    </p:set>
                                    <p:animEffect transition="in" filter="dissolve">
                                      <p:cBhvr>
                                        <p:cTn id="12" dur="1000"/>
                                        <p:tgtEl>
                                          <p:spTgt spid="36867"/>
                                        </p:tgtEl>
                                      </p:cBhvr>
                                    </p:animEffect>
                                  </p:childTnLst>
                                </p:cTn>
                              </p:par>
                            </p:childTnLst>
                          </p:cTn>
                        </p:par>
                        <p:par>
                          <p:cTn id="13" fill="hold">
                            <p:stCondLst>
                              <p:cond delay="5000"/>
                            </p:stCondLst>
                            <p:childTnLst>
                              <p:par>
                                <p:cTn id="14" presetID="9" presetClass="entr" presetSubtype="0" fill="hold" grpId="0" nodeType="afterEffect">
                                  <p:stCondLst>
                                    <p:cond delay="0"/>
                                  </p:stCondLst>
                                  <p:childTnLst>
                                    <p:set>
                                      <p:cBhvr>
                                        <p:cTn id="15" dur="1" fill="hold">
                                          <p:stCondLst>
                                            <p:cond delay="0"/>
                                          </p:stCondLst>
                                        </p:cTn>
                                        <p:tgtEl>
                                          <p:spTgt spid="36871"/>
                                        </p:tgtEl>
                                        <p:attrNameLst>
                                          <p:attrName>style.visibility</p:attrName>
                                        </p:attrNameLst>
                                      </p:cBhvr>
                                      <p:to>
                                        <p:strVal val="visible"/>
                                      </p:to>
                                    </p:set>
                                    <p:animEffect transition="in" filter="dissolve">
                                      <p:cBhvr>
                                        <p:cTn id="16" dur="1000"/>
                                        <p:tgtEl>
                                          <p:spTgt spid="36871"/>
                                        </p:tgtEl>
                                      </p:cBhvr>
                                    </p:animEffect>
                                  </p:childTnLst>
                                </p:cTn>
                              </p:par>
                            </p:childTnLst>
                          </p:cTn>
                        </p:par>
                        <p:par>
                          <p:cTn id="17" fill="hold">
                            <p:stCondLst>
                              <p:cond delay="6000"/>
                            </p:stCondLst>
                            <p:childTnLst>
                              <p:par>
                                <p:cTn id="18" presetID="9" presetClass="entr" presetSubtype="0" fill="hold" grpId="0" nodeType="afterEffect">
                                  <p:stCondLst>
                                    <p:cond delay="0"/>
                                  </p:stCondLst>
                                  <p:childTnLst>
                                    <p:set>
                                      <p:cBhvr>
                                        <p:cTn id="19" dur="1" fill="hold">
                                          <p:stCondLst>
                                            <p:cond delay="0"/>
                                          </p:stCondLst>
                                        </p:cTn>
                                        <p:tgtEl>
                                          <p:spTgt spid="36872"/>
                                        </p:tgtEl>
                                        <p:attrNameLst>
                                          <p:attrName>style.visibility</p:attrName>
                                        </p:attrNameLst>
                                      </p:cBhvr>
                                      <p:to>
                                        <p:strVal val="visible"/>
                                      </p:to>
                                    </p:set>
                                    <p:animEffect transition="in" filter="dissolve">
                                      <p:cBhvr>
                                        <p:cTn id="20" dur="1000"/>
                                        <p:tgtEl>
                                          <p:spTgt spid="36872"/>
                                        </p:tgtEl>
                                      </p:cBhvr>
                                    </p:animEffect>
                                  </p:childTnLst>
                                </p:cTn>
                              </p:par>
                            </p:childTnLst>
                          </p:cTn>
                        </p:par>
                        <p:par>
                          <p:cTn id="21" fill="hold">
                            <p:stCondLst>
                              <p:cond delay="7000"/>
                            </p:stCondLst>
                            <p:childTnLst>
                              <p:par>
                                <p:cTn id="22" presetID="9" presetClass="entr" presetSubtype="0" fill="hold" grpId="0" nodeType="afterEffect">
                                  <p:stCondLst>
                                    <p:cond delay="0"/>
                                  </p:stCondLst>
                                  <p:childTnLst>
                                    <p:set>
                                      <p:cBhvr>
                                        <p:cTn id="23" dur="1" fill="hold">
                                          <p:stCondLst>
                                            <p:cond delay="0"/>
                                          </p:stCondLst>
                                        </p:cTn>
                                        <p:tgtEl>
                                          <p:spTgt spid="36969"/>
                                        </p:tgtEl>
                                        <p:attrNameLst>
                                          <p:attrName>style.visibility</p:attrName>
                                        </p:attrNameLst>
                                      </p:cBhvr>
                                      <p:to>
                                        <p:strVal val="visible"/>
                                      </p:to>
                                    </p:set>
                                    <p:animEffect transition="in" filter="dissolve">
                                      <p:cBhvr>
                                        <p:cTn id="24" dur="1000"/>
                                        <p:tgtEl>
                                          <p:spTgt spid="36969"/>
                                        </p:tgtEl>
                                      </p:cBhvr>
                                    </p:animEffect>
                                  </p:childTnLst>
                                </p:cTn>
                              </p:par>
                            </p:childTnLst>
                          </p:cTn>
                        </p:par>
                        <p:par>
                          <p:cTn id="25" fill="hold">
                            <p:stCondLst>
                              <p:cond delay="8000"/>
                            </p:stCondLst>
                            <p:childTnLst>
                              <p:par>
                                <p:cTn id="26" presetID="9" presetClass="entr" presetSubtype="0" fill="hold" grpId="0" nodeType="afterEffect">
                                  <p:stCondLst>
                                    <p:cond delay="0"/>
                                  </p:stCondLst>
                                  <p:childTnLst>
                                    <p:set>
                                      <p:cBhvr>
                                        <p:cTn id="27" dur="1" fill="hold">
                                          <p:stCondLst>
                                            <p:cond delay="0"/>
                                          </p:stCondLst>
                                        </p:cTn>
                                        <p:tgtEl>
                                          <p:spTgt spid="36970"/>
                                        </p:tgtEl>
                                        <p:attrNameLst>
                                          <p:attrName>style.visibility</p:attrName>
                                        </p:attrNameLst>
                                      </p:cBhvr>
                                      <p:to>
                                        <p:strVal val="visible"/>
                                      </p:to>
                                    </p:set>
                                    <p:animEffect transition="in" filter="dissolve">
                                      <p:cBhvr>
                                        <p:cTn id="28" dur="1000"/>
                                        <p:tgtEl>
                                          <p:spTgt spid="36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nimBg="1"/>
      <p:bldP spid="36871" grpId="0" animBg="1"/>
      <p:bldP spid="36872" grpId="0" animBg="1"/>
      <p:bldP spid="36969" grpId="0" animBg="1"/>
      <p:bldP spid="3697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5"/>
          <p:cNvSpPr>
            <a:spLocks noGrp="1" noChangeArrowheads="1"/>
          </p:cNvSpPr>
          <p:nvPr>
            <p:ph type="title"/>
          </p:nvPr>
        </p:nvSpPr>
        <p:spPr>
          <a:xfrm>
            <a:off x="743743" y="688983"/>
            <a:ext cx="7656513" cy="879475"/>
          </a:xfrm>
          <a:noFill/>
          <a:extLst>
            <a:ext uri="{909E8E84-426E-40dd-AFC4-6F175D3DCCD1}">
              <a14:hiddenFill xmlns:a14="http://schemas.microsoft.com/office/drawing/2010/main" xmlns="">
                <a:solidFill>
                  <a:srgbClr val="FFFF00"/>
                </a:solidFill>
              </a14:hiddenFill>
            </a:ext>
          </a:extLst>
        </p:spPr>
        <p:txBody>
          <a:bodyPr>
            <a:normAutofit fontScale="90000"/>
          </a:bodyPr>
          <a:lstStyle/>
          <a:p>
            <a:pPr algn="ctr"/>
            <a:r>
              <a:rPr lang="en-US" b="1" dirty="0"/>
              <a:t>Transaction 2: </a:t>
            </a:r>
            <a:br>
              <a:rPr lang="en-US" b="1" dirty="0"/>
            </a:br>
            <a:r>
              <a:rPr lang="en-US" b="1" dirty="0"/>
              <a:t>Purchase Supplies for Cash</a:t>
            </a:r>
            <a:endParaRPr lang="en-US" dirty="0"/>
          </a:p>
        </p:txBody>
      </p:sp>
      <p:sp>
        <p:nvSpPr>
          <p:cNvPr id="10" name="Slide Number Placeholder 3"/>
          <p:cNvSpPr>
            <a:spLocks noGrp="1"/>
          </p:cNvSpPr>
          <p:nvPr>
            <p:ph type="sldNum" sz="quarter" idx="12"/>
          </p:nvPr>
        </p:nvSpPr>
        <p:spPr bwMode="auto">
          <a:xfrm>
            <a:off x="6819900" y="6417283"/>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57</a:t>
            </a:fld>
            <a:endParaRPr lang="en-US" altLang="en-US" dirty="0">
              <a:solidFill>
                <a:srgbClr val="898989"/>
              </a:solidFill>
            </a:endParaRPr>
          </a:p>
        </p:txBody>
      </p:sp>
      <p:sp>
        <p:nvSpPr>
          <p:cNvPr id="38914" name="Rectangle 2"/>
          <p:cNvSpPr>
            <a:spLocks noGrp="1" noChangeArrowheads="1"/>
          </p:cNvSpPr>
          <p:nvPr>
            <p:ph type="body" idx="4294967295"/>
          </p:nvPr>
        </p:nvSpPr>
        <p:spPr bwMode="auto">
          <a:xfrm>
            <a:off x="1695450" y="2762250"/>
            <a:ext cx="7448550" cy="2857500"/>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90488" tIns="44450" rIns="90488" bIns="44450"/>
          <a:lstStyle/>
          <a:p>
            <a:pPr algn="ctr">
              <a:buFont typeface="Wingdings" panose="05000000000000000000" pitchFamily="2" charset="2"/>
              <a:buNone/>
            </a:pPr>
            <a:br>
              <a:rPr lang="en-US" dirty="0">
                <a:solidFill>
                  <a:schemeClr val="hlink"/>
                </a:solidFill>
              </a:rPr>
            </a:br>
            <a:endParaRPr lang="en-US" dirty="0">
              <a:solidFill>
                <a:srgbClr val="800080"/>
              </a:solidFill>
            </a:endParaRPr>
          </a:p>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Cash</a:t>
            </a:r>
            <a:r>
              <a:rPr lang="en-US" b="1" dirty="0">
                <a:solidFill>
                  <a:schemeClr val="hlink"/>
                </a:solidFill>
              </a:rPr>
              <a:t> </a:t>
            </a:r>
            <a:r>
              <a:rPr lang="en-US" b="1" dirty="0">
                <a:solidFill>
                  <a:srgbClr val="9A2F6F"/>
                </a:solidFill>
              </a:rPr>
              <a:t>(asset)</a:t>
            </a:r>
          </a:p>
          <a:p>
            <a:pPr>
              <a:buFont typeface="Wingdings" panose="05000000000000000000" pitchFamily="2" charset="2"/>
              <a:buNone/>
            </a:pPr>
            <a:endParaRPr lang="en-US" b="1" dirty="0">
              <a:solidFill>
                <a:srgbClr val="9A2F6F"/>
              </a:solidFill>
            </a:endParaRPr>
          </a:p>
          <a:p>
            <a:pPr>
              <a:buFont typeface="Wingdings" panose="05000000000000000000" pitchFamily="2" charset="2"/>
              <a:buNone/>
            </a:pPr>
            <a:r>
              <a:rPr lang="en-US" b="1" dirty="0">
                <a:solidFill>
                  <a:schemeClr val="hlink"/>
                </a:solidFill>
              </a:rPr>
              <a:t>	</a:t>
            </a:r>
            <a:r>
              <a:rPr lang="en-US" b="1" dirty="0"/>
              <a:t>(2) Supplies</a:t>
            </a:r>
            <a:r>
              <a:rPr lang="en-US" b="1" dirty="0">
                <a:solidFill>
                  <a:schemeClr val="hlink"/>
                </a:solidFill>
              </a:rPr>
              <a:t> </a:t>
            </a:r>
            <a:r>
              <a:rPr lang="en-US" b="1" dirty="0">
                <a:solidFill>
                  <a:srgbClr val="9A2F6F"/>
                </a:solidFill>
              </a:rPr>
              <a:t>(asset)</a:t>
            </a:r>
          </a:p>
        </p:txBody>
      </p:sp>
      <p:sp>
        <p:nvSpPr>
          <p:cNvPr id="38915" name="AutoShape 3"/>
          <p:cNvSpPr>
            <a:spLocks noChangeArrowheads="1"/>
          </p:cNvSpPr>
          <p:nvPr/>
        </p:nvSpPr>
        <p:spPr bwMode="auto">
          <a:xfrm rot="16200000">
            <a:off x="4349748" y="4622609"/>
            <a:ext cx="444500" cy="331788"/>
          </a:xfrm>
          <a:prstGeom prst="rightArrow">
            <a:avLst>
              <a:gd name="adj1" fmla="val 50000"/>
              <a:gd name="adj2" fmla="val 66992"/>
            </a:avLst>
          </a:prstGeom>
          <a:solidFill>
            <a:srgbClr val="00CC00"/>
          </a:solidFill>
          <a:ln w="12700">
            <a:solidFill>
              <a:schemeClr val="tx1"/>
            </a:solidFill>
            <a:miter lim="800000"/>
            <a:headEnd/>
            <a:tailEnd/>
          </a:ln>
          <a:effectLst>
            <a:outerShdw dist="71842" dir="2700000" algn="ctr" rotWithShape="0">
              <a:schemeClr val="bg2"/>
            </a:outerShdw>
          </a:effectLst>
        </p:spPr>
        <p:txBody>
          <a:bodyPr wrap="none" anchor="ctr"/>
          <a:lstStyle/>
          <a:p>
            <a:endParaRPr lang="en-US" dirty="0">
              <a:solidFill>
                <a:prstClr val="black"/>
              </a:solidFill>
            </a:endParaRPr>
          </a:p>
        </p:txBody>
      </p:sp>
      <p:sp>
        <p:nvSpPr>
          <p:cNvPr id="38916" name="AutoShape 4"/>
          <p:cNvSpPr>
            <a:spLocks noChangeArrowheads="1"/>
          </p:cNvSpPr>
          <p:nvPr/>
        </p:nvSpPr>
        <p:spPr bwMode="auto">
          <a:xfrm rot="16200000" flipH="1">
            <a:off x="4287044" y="3802856"/>
            <a:ext cx="444500" cy="331788"/>
          </a:xfrm>
          <a:prstGeom prst="rightArrow">
            <a:avLst>
              <a:gd name="adj1" fmla="val 50000"/>
              <a:gd name="adj2" fmla="val 66992"/>
            </a:avLst>
          </a:prstGeom>
          <a:solidFill>
            <a:srgbClr val="FF330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38918" name="Rectangle 6"/>
          <p:cNvSpPr>
            <a:spLocks noChangeArrowheads="1"/>
          </p:cNvSpPr>
          <p:nvPr/>
        </p:nvSpPr>
        <p:spPr bwMode="auto">
          <a:xfrm>
            <a:off x="569911" y="1954220"/>
            <a:ext cx="8004175" cy="1160463"/>
          </a:xfrm>
          <a:prstGeom prst="rect">
            <a:avLst/>
          </a:prstGeom>
          <a:solidFill>
            <a:srgbClr val="FFFF99"/>
          </a:solidFill>
          <a:ln>
            <a:noFill/>
          </a:ln>
          <a:effectLst/>
        </p:spPr>
        <p:txBody>
          <a:bodyPr lIns="90488" tIns="44450" rIns="90488" bIns="44450"/>
          <a:lstStyle/>
          <a:p>
            <a:pPr algn="ctr"/>
            <a:r>
              <a:rPr lang="en-US" sz="3200" b="1" dirty="0">
                <a:solidFill>
                  <a:prstClr val="black"/>
                </a:solidFill>
                <a:latin typeface="Arial" panose="020B0604020202020204" pitchFamily="34" charset="0"/>
              </a:rPr>
              <a:t> Company purchased supplies paying $2,500 cash.</a:t>
            </a:r>
          </a:p>
        </p:txBody>
      </p:sp>
      <p:sp>
        <p:nvSpPr>
          <p:cNvPr id="12" name="Rectangle 11"/>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337021753"/>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38918">
                                            <p:txEl>
                                              <p:pRg st="0" end="0"/>
                                            </p:txEl>
                                          </p:spTgt>
                                        </p:tgtEl>
                                        <p:attrNameLst>
                                          <p:attrName>style.visibility</p:attrName>
                                        </p:attrNameLst>
                                      </p:cBhvr>
                                      <p:to>
                                        <p:strVal val="visible"/>
                                      </p:to>
                                    </p:set>
                                    <p:animEffect transition="in" filter="fade">
                                      <p:cBhvr>
                                        <p:cTn id="7" dur="1000"/>
                                        <p:tgtEl>
                                          <p:spTgt spid="38918">
                                            <p:txEl>
                                              <p:pRg st="0" end="0"/>
                                            </p:txEl>
                                          </p:spTgt>
                                        </p:tgtEl>
                                      </p:cBhvr>
                                    </p:animEffect>
                                    <p:anim calcmode="lin" valueType="num">
                                      <p:cBhvr>
                                        <p:cTn id="8" dur="1000" fill="hold"/>
                                        <p:tgtEl>
                                          <p:spTgt spid="3891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9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nodeType="afterGroup">
                            <p:stCondLst>
                              <p:cond delay="0"/>
                            </p:stCondLst>
                            <p:childTnLst>
                              <p:par>
                                <p:cTn id="12" presetID="16" presetClass="entr" presetSubtype="21" fill="hold" nodeType="clickEffect">
                                  <p:stCondLst>
                                    <p:cond delay="0"/>
                                  </p:stCondLst>
                                  <p:childTnLst>
                                    <p:set>
                                      <p:cBhvr>
                                        <p:cTn id="13" dur="1" fill="hold">
                                          <p:stCondLst>
                                            <p:cond delay="0"/>
                                          </p:stCondLst>
                                        </p:cTn>
                                        <p:tgtEl>
                                          <p:spTgt spid="38914">
                                            <p:txEl>
                                              <p:pRg st="1" end="1"/>
                                            </p:txEl>
                                          </p:spTgt>
                                        </p:tgtEl>
                                        <p:attrNameLst>
                                          <p:attrName>style.visibility</p:attrName>
                                        </p:attrNameLst>
                                      </p:cBhvr>
                                      <p:to>
                                        <p:strVal val="visible"/>
                                      </p:to>
                                    </p:set>
                                    <p:animEffect transition="in" filter="barn(inVertical)">
                                      <p:cBhvr>
                                        <p:cTn id="14" dur="500"/>
                                        <p:tgtEl>
                                          <p:spTgt spid="38914">
                                            <p:txEl>
                                              <p:pRg st="1" end="1"/>
                                            </p:txEl>
                                          </p:spTgt>
                                        </p:tgtEl>
                                      </p:cBhvr>
                                    </p:animEffect>
                                  </p:childTnLst>
                                </p:cTn>
                              </p:par>
                            </p:childTnLst>
                          </p:cTn>
                        </p:par>
                      </p:childTnLst>
                    </p:cTn>
                  </p:par>
                  <p:par>
                    <p:cTn id="15" fill="hold">
                      <p:stCondLst>
                        <p:cond delay="indefinite"/>
                      </p:stCondLst>
                      <p:childTnLst>
                        <p:par>
                          <p:cTn id="16" fill="hold" nodeType="afterGroup">
                            <p:stCondLst>
                              <p:cond delay="0"/>
                            </p:stCondLst>
                            <p:childTnLst>
                              <p:par>
                                <p:cTn id="17" presetID="29" presetClass="entr" presetSubtype="0" fill="hold" nodeType="clickEffect">
                                  <p:stCondLst>
                                    <p:cond delay="0"/>
                                  </p:stCondLst>
                                  <p:childTnLst>
                                    <p:set>
                                      <p:cBhvr>
                                        <p:cTn id="18" dur="1" fill="hold">
                                          <p:stCondLst>
                                            <p:cond delay="0"/>
                                          </p:stCondLst>
                                        </p:cTn>
                                        <p:tgtEl>
                                          <p:spTgt spid="38914">
                                            <p:txEl>
                                              <p:pRg st="2" end="2"/>
                                            </p:txEl>
                                          </p:spTgt>
                                        </p:tgtEl>
                                        <p:attrNameLst>
                                          <p:attrName>style.visibility</p:attrName>
                                        </p:attrNameLst>
                                      </p:cBhvr>
                                      <p:to>
                                        <p:strVal val="visible"/>
                                      </p:to>
                                    </p:set>
                                    <p:anim calcmode="lin" valueType="num">
                                      <p:cBhvr>
                                        <p:cTn id="19" dur="1000" fill="hold"/>
                                        <p:tgtEl>
                                          <p:spTgt spid="38914">
                                            <p:txEl>
                                              <p:pRg st="2" end="2"/>
                                            </p:txEl>
                                          </p:spTgt>
                                        </p:tgtEl>
                                        <p:attrNameLst>
                                          <p:attrName>ppt_x</p:attrName>
                                        </p:attrNameLst>
                                      </p:cBhvr>
                                      <p:tavLst>
                                        <p:tav tm="0">
                                          <p:val>
                                            <p:strVal val="#ppt_x-.2"/>
                                          </p:val>
                                        </p:tav>
                                        <p:tav tm="100000">
                                          <p:val>
                                            <p:strVal val="#ppt_x"/>
                                          </p:val>
                                        </p:tav>
                                      </p:tavLst>
                                    </p:anim>
                                    <p:anim calcmode="lin" valueType="num">
                                      <p:cBhvr>
                                        <p:cTn id="20" dur="1000" fill="hold"/>
                                        <p:tgtEl>
                                          <p:spTgt spid="38914">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1" dur="1000"/>
                                        <p:tgtEl>
                                          <p:spTgt spid="38914">
                                            <p:txEl>
                                              <p:pRg st="2" end="2"/>
                                            </p:txEl>
                                          </p:spTgt>
                                        </p:tgtEl>
                                      </p:cBhvr>
                                    </p:animEffect>
                                  </p:childTnLst>
                                </p:cTn>
                              </p:par>
                            </p:childTnLst>
                          </p:cTn>
                        </p:par>
                        <p:par>
                          <p:cTn id="22" fill="hold" nodeType="afterGroup">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38916"/>
                                        </p:tgtEl>
                                        <p:attrNameLst>
                                          <p:attrName>style.visibility</p:attrName>
                                        </p:attrNameLst>
                                      </p:cBhvr>
                                      <p:to>
                                        <p:strVal val="visible"/>
                                      </p:to>
                                    </p:set>
                                    <p:animEffect transition="in" filter="fade">
                                      <p:cBhvr>
                                        <p:cTn id="25" dur="2000"/>
                                        <p:tgtEl>
                                          <p:spTgt spid="38916"/>
                                        </p:tgtEl>
                                      </p:cBhvr>
                                    </p:animEffect>
                                  </p:childTnLst>
                                </p:cTn>
                              </p:par>
                            </p:childTnLst>
                          </p:cTn>
                        </p:par>
                      </p:childTnLst>
                    </p:cTn>
                  </p:par>
                  <p:par>
                    <p:cTn id="26" fill="hold">
                      <p:stCondLst>
                        <p:cond delay="indefinite"/>
                      </p:stCondLst>
                      <p:childTnLst>
                        <p:par>
                          <p:cTn id="27" fill="hold">
                            <p:stCondLst>
                              <p:cond delay="0"/>
                            </p:stCondLst>
                            <p:childTnLst>
                              <p:par>
                                <p:cTn id="28" presetID="29" presetClass="entr" presetSubtype="0" fill="hold" nodeType="clickEffect">
                                  <p:stCondLst>
                                    <p:cond delay="0"/>
                                  </p:stCondLst>
                                  <p:childTnLst>
                                    <p:set>
                                      <p:cBhvr>
                                        <p:cTn id="29" dur="1" fill="hold">
                                          <p:stCondLst>
                                            <p:cond delay="0"/>
                                          </p:stCondLst>
                                        </p:cTn>
                                        <p:tgtEl>
                                          <p:spTgt spid="38914">
                                            <p:txEl>
                                              <p:pRg st="4" end="4"/>
                                            </p:txEl>
                                          </p:spTgt>
                                        </p:tgtEl>
                                        <p:attrNameLst>
                                          <p:attrName>style.visibility</p:attrName>
                                        </p:attrNameLst>
                                      </p:cBhvr>
                                      <p:to>
                                        <p:strVal val="visible"/>
                                      </p:to>
                                    </p:set>
                                    <p:anim calcmode="lin" valueType="num">
                                      <p:cBhvr>
                                        <p:cTn id="30" dur="1000" fill="hold"/>
                                        <p:tgtEl>
                                          <p:spTgt spid="38914">
                                            <p:txEl>
                                              <p:pRg st="4" end="4"/>
                                            </p:txEl>
                                          </p:spTgt>
                                        </p:tgtEl>
                                        <p:attrNameLst>
                                          <p:attrName>ppt_x</p:attrName>
                                        </p:attrNameLst>
                                      </p:cBhvr>
                                      <p:tavLst>
                                        <p:tav tm="0">
                                          <p:val>
                                            <p:strVal val="#ppt_x-.2"/>
                                          </p:val>
                                        </p:tav>
                                        <p:tav tm="100000">
                                          <p:val>
                                            <p:strVal val="#ppt_x"/>
                                          </p:val>
                                        </p:tav>
                                      </p:tavLst>
                                    </p:anim>
                                    <p:anim calcmode="lin" valueType="num">
                                      <p:cBhvr>
                                        <p:cTn id="31" dur="1000" fill="hold"/>
                                        <p:tgtEl>
                                          <p:spTgt spid="38914">
                                            <p:txEl>
                                              <p:pRg st="4" end="4"/>
                                            </p:txEl>
                                          </p:spTgt>
                                        </p:tgtEl>
                                        <p:attrNameLst>
                                          <p:attrName>ppt_y</p:attrName>
                                        </p:attrNameLst>
                                      </p:cBhvr>
                                      <p:tavLst>
                                        <p:tav tm="0">
                                          <p:val>
                                            <p:strVal val="#ppt_y"/>
                                          </p:val>
                                        </p:tav>
                                        <p:tav tm="100000">
                                          <p:val>
                                            <p:strVal val="#ppt_y"/>
                                          </p:val>
                                        </p:tav>
                                      </p:tavLst>
                                    </p:anim>
                                    <p:animEffect transition="in" filter="wipe(right)" prLst="gradientSize: 0.1">
                                      <p:cBhvr>
                                        <p:cTn id="32" dur="1000"/>
                                        <p:tgtEl>
                                          <p:spTgt spid="38914">
                                            <p:txEl>
                                              <p:pRg st="4" end="4"/>
                                            </p:txEl>
                                          </p:spTgt>
                                        </p:tgtEl>
                                      </p:cBhvr>
                                    </p:animEffect>
                                  </p:childTnLst>
                                </p:cTn>
                              </p:par>
                            </p:childTnLst>
                          </p:cTn>
                        </p:par>
                        <p:par>
                          <p:cTn id="33" fill="hold" nodeType="afterGroup">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38915"/>
                                        </p:tgtEl>
                                        <p:attrNameLst>
                                          <p:attrName>style.visibility</p:attrName>
                                        </p:attrNameLst>
                                      </p:cBhvr>
                                      <p:to>
                                        <p:strVal val="visible"/>
                                      </p:to>
                                    </p:set>
                                    <p:animEffect transition="in" filter="fade">
                                      <p:cBhvr>
                                        <p:cTn id="36" dur="20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animBg="1"/>
      <p:bldP spid="3891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14400" y="131457"/>
            <a:ext cx="7158038" cy="1412875"/>
          </a:xfrm>
        </p:spPr>
        <p:txBody>
          <a:bodyPr/>
          <a:lstStyle/>
          <a:p>
            <a:pPr algn="ctr"/>
            <a:r>
              <a:rPr lang="en-US" b="1" dirty="0"/>
              <a:t>Accounting Equation 2</a:t>
            </a:r>
          </a:p>
        </p:txBody>
      </p:sp>
      <p:sp>
        <p:nvSpPr>
          <p:cNvPr id="14" name="Slide Number Placeholder 3"/>
          <p:cNvSpPr>
            <a:spLocks noGrp="1"/>
          </p:cNvSpPr>
          <p:nvPr>
            <p:ph type="sldNum" sz="quarter" idx="12"/>
          </p:nvPr>
        </p:nvSpPr>
        <p:spPr bwMode="auto">
          <a:xfrm>
            <a:off x="6705600" y="6457526"/>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58</a:t>
            </a:fld>
            <a:endParaRPr lang="en-US" altLang="en-US" dirty="0">
              <a:solidFill>
                <a:srgbClr val="898989"/>
              </a:solidFill>
            </a:endParaRPr>
          </a:p>
        </p:txBody>
      </p:sp>
      <p:sp>
        <p:nvSpPr>
          <p:cNvPr id="40963" name="Rectangle 3"/>
          <p:cNvSpPr>
            <a:spLocks noChangeArrowheads="1"/>
          </p:cNvSpPr>
          <p:nvPr/>
        </p:nvSpPr>
        <p:spPr bwMode="auto">
          <a:xfrm>
            <a:off x="381000" y="1295400"/>
            <a:ext cx="8458200" cy="1160463"/>
          </a:xfrm>
          <a:prstGeom prst="rect">
            <a:avLst/>
          </a:prstGeom>
          <a:solidFill>
            <a:srgbClr val="FFFF99"/>
          </a:solidFill>
          <a:ln>
            <a:noFill/>
          </a:ln>
          <a:effectLst/>
        </p:spPr>
        <p:txBody>
          <a:bodyPr lIns="90488" tIns="44450" rIns="90488" bIns="44450"/>
          <a:lstStyle/>
          <a:p>
            <a:pPr algn="ctr"/>
            <a:r>
              <a:rPr lang="en-US" sz="3200" b="1" dirty="0">
                <a:solidFill>
                  <a:prstClr val="black"/>
                </a:solidFill>
                <a:latin typeface="Arial" panose="020B0604020202020204" pitchFamily="34" charset="0"/>
              </a:rPr>
              <a:t>Company purchased supplies paying $2,500 cash. </a:t>
            </a:r>
          </a:p>
        </p:txBody>
      </p:sp>
      <p:graphicFrame>
        <p:nvGraphicFramePr>
          <p:cNvPr id="40964" name="Object 4"/>
          <p:cNvGraphicFramePr>
            <a:graphicFrameLocks/>
          </p:cNvGraphicFramePr>
          <p:nvPr>
            <p:extLst>
              <p:ext uri="{D42A27DB-BD31-4B8C-83A1-F6EECF244321}">
                <p14:modId xmlns:p14="http://schemas.microsoft.com/office/powerpoint/2010/main" val="4115441046"/>
              </p:ext>
            </p:extLst>
          </p:nvPr>
        </p:nvGraphicFramePr>
        <p:xfrm>
          <a:off x="381000" y="2609303"/>
          <a:ext cx="8228013" cy="3797300"/>
        </p:xfrm>
        <a:graphic>
          <a:graphicData uri="http://schemas.openxmlformats.org/presentationml/2006/ole">
            <mc:AlternateContent xmlns:mc="http://schemas.openxmlformats.org/markup-compatibility/2006">
              <mc:Choice xmlns:v="urn:schemas-microsoft-com:vml" Requires="v">
                <p:oleObj spid="_x0000_s5181" name="Worksheet" r:id="rId4" imgW="4467360" imgH="1952607" progId="Excel.Sheet.8">
                  <p:embed/>
                </p:oleObj>
              </mc:Choice>
              <mc:Fallback>
                <p:oleObj name="Worksheet" r:id="rId4" imgW="4467360" imgH="1952607" progId="Excel.Sheet.8">
                  <p:embed/>
                  <p:pic>
                    <p:nvPicPr>
                      <p:cNvPr id="0" name=""/>
                      <p:cNvPicPr>
                        <a:picLocks noChangeArrowheads="1"/>
                      </p:cNvPicPr>
                      <p:nvPr/>
                    </p:nvPicPr>
                    <p:blipFill>
                      <a:blip r:embed="rId5"/>
                      <a:srcRect b="5867"/>
                      <a:stretch>
                        <a:fillRect/>
                      </a:stretch>
                    </p:blipFill>
                    <p:spPr bwMode="auto">
                      <a:xfrm>
                        <a:off x="381000" y="2609303"/>
                        <a:ext cx="8228013" cy="3797300"/>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40966" name="Oval 6"/>
          <p:cNvSpPr>
            <a:spLocks noChangeArrowheads="1"/>
          </p:cNvSpPr>
          <p:nvPr/>
        </p:nvSpPr>
        <p:spPr bwMode="auto">
          <a:xfrm>
            <a:off x="1123156" y="3871670"/>
            <a:ext cx="954088" cy="497986"/>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0969" name="Oval 9"/>
          <p:cNvSpPr>
            <a:spLocks noChangeArrowheads="1"/>
          </p:cNvSpPr>
          <p:nvPr/>
        </p:nvSpPr>
        <p:spPr bwMode="auto">
          <a:xfrm>
            <a:off x="2282825" y="3854939"/>
            <a:ext cx="990600" cy="497986"/>
          </a:xfrm>
          <a:prstGeom prst="ellipse">
            <a:avLst/>
          </a:prstGeom>
          <a:noFill/>
          <a:ln w="28575" algn="ctr">
            <a:solidFill>
              <a:srgbClr val="000099"/>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0970" name="Oval 10"/>
          <p:cNvSpPr>
            <a:spLocks noChangeArrowheads="1"/>
          </p:cNvSpPr>
          <p:nvPr/>
        </p:nvSpPr>
        <p:spPr bwMode="auto">
          <a:xfrm>
            <a:off x="1811338" y="5761038"/>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0971" name="Oval 11"/>
          <p:cNvSpPr>
            <a:spLocks noChangeArrowheads="1"/>
          </p:cNvSpPr>
          <p:nvPr/>
        </p:nvSpPr>
        <p:spPr bwMode="auto">
          <a:xfrm>
            <a:off x="5753100" y="5741195"/>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0972" name="AutoShape 12"/>
          <p:cNvSpPr>
            <a:spLocks noChangeArrowheads="1"/>
          </p:cNvSpPr>
          <p:nvPr/>
        </p:nvSpPr>
        <p:spPr bwMode="auto">
          <a:xfrm>
            <a:off x="4648200" y="3886200"/>
            <a:ext cx="2971800" cy="1295400"/>
          </a:xfrm>
          <a:prstGeom prst="wedgeRoundRectCallout">
            <a:avLst>
              <a:gd name="adj1" fmla="val -23718"/>
              <a:gd name="adj2" fmla="val 48773"/>
              <a:gd name="adj3" fmla="val 16667"/>
            </a:avLst>
          </a:prstGeom>
          <a:solidFill>
            <a:srgbClr val="0000FF"/>
          </a:solidFill>
          <a:ln w="127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pPr algn="ctr"/>
            <a:r>
              <a:rPr lang="en-US" sz="2000" b="1" dirty="0">
                <a:solidFill>
                  <a:srgbClr val="FFFFFF"/>
                </a:solidFill>
              </a:rPr>
              <a:t>Accounting Equation must remain in balance!!</a:t>
            </a:r>
          </a:p>
        </p:txBody>
      </p:sp>
      <p:sp>
        <p:nvSpPr>
          <p:cNvPr id="40973" name="Line 13"/>
          <p:cNvSpPr>
            <a:spLocks noChangeShapeType="1"/>
          </p:cNvSpPr>
          <p:nvPr/>
        </p:nvSpPr>
        <p:spPr bwMode="auto">
          <a:xfrm flipH="1">
            <a:off x="3505200" y="5486400"/>
            <a:ext cx="1219200" cy="457200"/>
          </a:xfrm>
          <a:prstGeom prst="line">
            <a:avLst/>
          </a:prstGeom>
          <a:noFill/>
          <a:ln w="571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endParaRPr lang="en-US" dirty="0">
              <a:solidFill>
                <a:prstClr val="black"/>
              </a:solidFill>
            </a:endParaRPr>
          </a:p>
        </p:txBody>
      </p:sp>
      <p:sp>
        <p:nvSpPr>
          <p:cNvPr id="40974" name="Line 14"/>
          <p:cNvSpPr>
            <a:spLocks noChangeShapeType="1"/>
          </p:cNvSpPr>
          <p:nvPr/>
        </p:nvSpPr>
        <p:spPr bwMode="auto">
          <a:xfrm>
            <a:off x="6400800" y="5334000"/>
            <a:ext cx="152400" cy="457200"/>
          </a:xfrm>
          <a:prstGeom prst="line">
            <a:avLst/>
          </a:prstGeom>
          <a:noFill/>
          <a:ln w="571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endParaRPr lang="en-US" dirty="0">
              <a:solidFill>
                <a:prstClr val="black"/>
              </a:solidFill>
            </a:endParaRPr>
          </a:p>
        </p:txBody>
      </p:sp>
      <p:sp>
        <p:nvSpPr>
          <p:cNvPr id="16" name="Rectangle 15"/>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3195089168"/>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fade">
                                      <p:cBhvr>
                                        <p:cTn id="7" dur="1000"/>
                                        <p:tgtEl>
                                          <p:spTgt spid="40963">
                                            <p:txEl>
                                              <p:pRg st="0" end="0"/>
                                            </p:txEl>
                                          </p:spTgt>
                                        </p:tgtEl>
                                      </p:cBhvr>
                                    </p:animEffect>
                                    <p:anim calcmode="lin" valueType="num">
                                      <p:cBhvr>
                                        <p:cTn id="8" dur="10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0963">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9" presetClass="entr" presetSubtype="0" fill="hold" nodeType="afterEffect">
                                  <p:stCondLst>
                                    <p:cond delay="0"/>
                                  </p:stCondLst>
                                  <p:childTnLst>
                                    <p:set>
                                      <p:cBhvr>
                                        <p:cTn id="12" dur="1" fill="hold">
                                          <p:stCondLst>
                                            <p:cond delay="0"/>
                                          </p:stCondLst>
                                        </p:cTn>
                                        <p:tgtEl>
                                          <p:spTgt spid="40964"/>
                                        </p:tgtEl>
                                        <p:attrNameLst>
                                          <p:attrName>style.visibility</p:attrName>
                                        </p:attrNameLst>
                                      </p:cBhvr>
                                      <p:to>
                                        <p:strVal val="visible"/>
                                      </p:to>
                                    </p:set>
                                    <p:animEffect transition="in" filter="dissolve">
                                      <p:cBhvr>
                                        <p:cTn id="13" dur="1000"/>
                                        <p:tgtEl>
                                          <p:spTgt spid="40964"/>
                                        </p:tgtEl>
                                      </p:cBhvr>
                                    </p:animEffect>
                                  </p:childTnLst>
                                </p:cTn>
                              </p:par>
                            </p:childTnLst>
                          </p:cTn>
                        </p:par>
                        <p:par>
                          <p:cTn id="14" fill="hold" nodeType="afterGroup">
                            <p:stCondLst>
                              <p:cond delay="2000"/>
                            </p:stCondLst>
                            <p:childTnLst>
                              <p:par>
                                <p:cTn id="15" presetID="9" presetClass="entr" presetSubtype="0" fill="hold" grpId="0" nodeType="afterEffect">
                                  <p:stCondLst>
                                    <p:cond delay="0"/>
                                  </p:stCondLst>
                                  <p:childTnLst>
                                    <p:set>
                                      <p:cBhvr>
                                        <p:cTn id="16" dur="1" fill="hold">
                                          <p:stCondLst>
                                            <p:cond delay="0"/>
                                          </p:stCondLst>
                                        </p:cTn>
                                        <p:tgtEl>
                                          <p:spTgt spid="40966"/>
                                        </p:tgtEl>
                                        <p:attrNameLst>
                                          <p:attrName>style.visibility</p:attrName>
                                        </p:attrNameLst>
                                      </p:cBhvr>
                                      <p:to>
                                        <p:strVal val="visible"/>
                                      </p:to>
                                    </p:set>
                                    <p:animEffect transition="in" filter="dissolve">
                                      <p:cBhvr>
                                        <p:cTn id="17" dur="1000"/>
                                        <p:tgtEl>
                                          <p:spTgt spid="40966"/>
                                        </p:tgtEl>
                                      </p:cBhvr>
                                    </p:animEffect>
                                  </p:childTnLst>
                                </p:cTn>
                              </p:par>
                            </p:childTnLst>
                          </p:cTn>
                        </p:par>
                        <p:par>
                          <p:cTn id="18" fill="hold" nodeType="afterGroup">
                            <p:stCondLst>
                              <p:cond delay="3000"/>
                            </p:stCondLst>
                            <p:childTnLst>
                              <p:par>
                                <p:cTn id="19" presetID="9" presetClass="entr" presetSubtype="0" fill="hold" grpId="0" nodeType="afterEffect">
                                  <p:stCondLst>
                                    <p:cond delay="0"/>
                                  </p:stCondLst>
                                  <p:childTnLst>
                                    <p:set>
                                      <p:cBhvr>
                                        <p:cTn id="20" dur="1" fill="hold">
                                          <p:stCondLst>
                                            <p:cond delay="0"/>
                                          </p:stCondLst>
                                        </p:cTn>
                                        <p:tgtEl>
                                          <p:spTgt spid="40969"/>
                                        </p:tgtEl>
                                        <p:attrNameLst>
                                          <p:attrName>style.visibility</p:attrName>
                                        </p:attrNameLst>
                                      </p:cBhvr>
                                      <p:to>
                                        <p:strVal val="visible"/>
                                      </p:to>
                                    </p:set>
                                    <p:animEffect transition="in" filter="dissolve">
                                      <p:cBhvr>
                                        <p:cTn id="21" dur="1000"/>
                                        <p:tgtEl>
                                          <p:spTgt spid="40969"/>
                                        </p:tgtEl>
                                      </p:cBhvr>
                                    </p:animEffect>
                                  </p:childTnLst>
                                </p:cTn>
                              </p:par>
                            </p:childTnLst>
                          </p:cTn>
                        </p:par>
                        <p:par>
                          <p:cTn id="22" fill="hold" nodeType="afterGroup">
                            <p:stCondLst>
                              <p:cond delay="4000"/>
                            </p:stCondLst>
                            <p:childTnLst>
                              <p:par>
                                <p:cTn id="23" presetID="10" presetClass="entr" presetSubtype="0" fill="hold" grpId="0" nodeType="afterEffect">
                                  <p:stCondLst>
                                    <p:cond delay="0"/>
                                  </p:stCondLst>
                                  <p:childTnLst>
                                    <p:set>
                                      <p:cBhvr>
                                        <p:cTn id="24" dur="1" fill="hold">
                                          <p:stCondLst>
                                            <p:cond delay="0"/>
                                          </p:stCondLst>
                                        </p:cTn>
                                        <p:tgtEl>
                                          <p:spTgt spid="40972"/>
                                        </p:tgtEl>
                                        <p:attrNameLst>
                                          <p:attrName>style.visibility</p:attrName>
                                        </p:attrNameLst>
                                      </p:cBhvr>
                                      <p:to>
                                        <p:strVal val="visible"/>
                                      </p:to>
                                    </p:set>
                                    <p:animEffect transition="in" filter="fade">
                                      <p:cBhvr>
                                        <p:cTn id="25" dur="1000"/>
                                        <p:tgtEl>
                                          <p:spTgt spid="40972"/>
                                        </p:tgtEl>
                                      </p:cBhvr>
                                    </p:animEffect>
                                  </p:childTnLst>
                                </p:cTn>
                              </p:par>
                            </p:childTnLst>
                          </p:cTn>
                        </p:par>
                      </p:childTnLst>
                    </p:cTn>
                  </p:par>
                  <p:par>
                    <p:cTn id="26" fill="hold">
                      <p:stCondLst>
                        <p:cond delay="indefinite"/>
                      </p:stCondLst>
                      <p:childTnLst>
                        <p:par>
                          <p:cTn id="27" fill="hold" nodeType="afterGroup">
                            <p:stCondLst>
                              <p:cond delay="0"/>
                            </p:stCondLst>
                            <p:childTnLst>
                              <p:par>
                                <p:cTn id="28" presetID="37" presetClass="entr" presetSubtype="0" fill="hold" grpId="0" nodeType="clickEffect">
                                  <p:stCondLst>
                                    <p:cond delay="0"/>
                                  </p:stCondLst>
                                  <p:childTnLst>
                                    <p:set>
                                      <p:cBhvr>
                                        <p:cTn id="29" dur="1" fill="hold">
                                          <p:stCondLst>
                                            <p:cond delay="0"/>
                                          </p:stCondLst>
                                        </p:cTn>
                                        <p:tgtEl>
                                          <p:spTgt spid="40973"/>
                                        </p:tgtEl>
                                        <p:attrNameLst>
                                          <p:attrName>style.visibility</p:attrName>
                                        </p:attrNameLst>
                                      </p:cBhvr>
                                      <p:to>
                                        <p:strVal val="visible"/>
                                      </p:to>
                                    </p:set>
                                    <p:animEffect transition="in" filter="fade">
                                      <p:cBhvr>
                                        <p:cTn id="30" dur="500"/>
                                        <p:tgtEl>
                                          <p:spTgt spid="40973"/>
                                        </p:tgtEl>
                                      </p:cBhvr>
                                    </p:animEffect>
                                    <p:anim calcmode="lin" valueType="num">
                                      <p:cBhvr>
                                        <p:cTn id="31" dur="500" fill="hold"/>
                                        <p:tgtEl>
                                          <p:spTgt spid="40973"/>
                                        </p:tgtEl>
                                        <p:attrNameLst>
                                          <p:attrName>ppt_x</p:attrName>
                                        </p:attrNameLst>
                                      </p:cBhvr>
                                      <p:tavLst>
                                        <p:tav tm="0">
                                          <p:val>
                                            <p:strVal val="#ppt_x"/>
                                          </p:val>
                                        </p:tav>
                                        <p:tav tm="100000">
                                          <p:val>
                                            <p:strVal val="#ppt_x"/>
                                          </p:val>
                                        </p:tav>
                                      </p:tavLst>
                                    </p:anim>
                                    <p:anim calcmode="lin" valueType="num">
                                      <p:cBhvr>
                                        <p:cTn id="32" dur="450" decel="100000" fill="hold"/>
                                        <p:tgtEl>
                                          <p:spTgt spid="40973"/>
                                        </p:tgtEl>
                                        <p:attrNameLst>
                                          <p:attrName>ppt_y</p:attrName>
                                        </p:attrNameLst>
                                      </p:cBhvr>
                                      <p:tavLst>
                                        <p:tav tm="0">
                                          <p:val>
                                            <p:strVal val="#ppt_y+1"/>
                                          </p:val>
                                        </p:tav>
                                        <p:tav tm="100000">
                                          <p:val>
                                            <p:strVal val="#ppt_y-.03"/>
                                          </p:val>
                                        </p:tav>
                                      </p:tavLst>
                                    </p:anim>
                                    <p:anim calcmode="lin" valueType="num">
                                      <p:cBhvr>
                                        <p:cTn id="33" dur="50" accel="100000" fill="hold">
                                          <p:stCondLst>
                                            <p:cond delay="450"/>
                                          </p:stCondLst>
                                        </p:cTn>
                                        <p:tgtEl>
                                          <p:spTgt spid="40973"/>
                                        </p:tgtEl>
                                        <p:attrNameLst>
                                          <p:attrName>ppt_y</p:attrName>
                                        </p:attrNameLst>
                                      </p:cBhvr>
                                      <p:tavLst>
                                        <p:tav tm="0">
                                          <p:val>
                                            <p:strVal val="#ppt_y-.03"/>
                                          </p:val>
                                        </p:tav>
                                        <p:tav tm="100000">
                                          <p:val>
                                            <p:strVal val="#ppt_y"/>
                                          </p:val>
                                        </p:tav>
                                      </p:tavLst>
                                    </p:anim>
                                  </p:childTnLst>
                                </p:cTn>
                              </p:par>
                            </p:childTnLst>
                          </p:cTn>
                        </p:par>
                        <p:par>
                          <p:cTn id="34" fill="hold" nodeType="afterGroup">
                            <p:stCondLst>
                              <p:cond delay="500"/>
                            </p:stCondLst>
                            <p:childTnLst>
                              <p:par>
                                <p:cTn id="35" presetID="37" presetClass="entr" presetSubtype="0" fill="hold" grpId="0" nodeType="afterEffect">
                                  <p:stCondLst>
                                    <p:cond delay="0"/>
                                  </p:stCondLst>
                                  <p:childTnLst>
                                    <p:set>
                                      <p:cBhvr>
                                        <p:cTn id="36" dur="1" fill="hold">
                                          <p:stCondLst>
                                            <p:cond delay="0"/>
                                          </p:stCondLst>
                                        </p:cTn>
                                        <p:tgtEl>
                                          <p:spTgt spid="40974"/>
                                        </p:tgtEl>
                                        <p:attrNameLst>
                                          <p:attrName>style.visibility</p:attrName>
                                        </p:attrNameLst>
                                      </p:cBhvr>
                                      <p:to>
                                        <p:strVal val="visible"/>
                                      </p:to>
                                    </p:set>
                                    <p:animEffect transition="in" filter="fade">
                                      <p:cBhvr>
                                        <p:cTn id="37" dur="500"/>
                                        <p:tgtEl>
                                          <p:spTgt spid="40974"/>
                                        </p:tgtEl>
                                      </p:cBhvr>
                                    </p:animEffect>
                                    <p:anim calcmode="lin" valueType="num">
                                      <p:cBhvr>
                                        <p:cTn id="38" dur="500" fill="hold"/>
                                        <p:tgtEl>
                                          <p:spTgt spid="40974"/>
                                        </p:tgtEl>
                                        <p:attrNameLst>
                                          <p:attrName>ppt_x</p:attrName>
                                        </p:attrNameLst>
                                      </p:cBhvr>
                                      <p:tavLst>
                                        <p:tav tm="0">
                                          <p:val>
                                            <p:strVal val="#ppt_x"/>
                                          </p:val>
                                        </p:tav>
                                        <p:tav tm="100000">
                                          <p:val>
                                            <p:strVal val="#ppt_x"/>
                                          </p:val>
                                        </p:tav>
                                      </p:tavLst>
                                    </p:anim>
                                    <p:anim calcmode="lin" valueType="num">
                                      <p:cBhvr>
                                        <p:cTn id="39" dur="450" decel="100000" fill="hold"/>
                                        <p:tgtEl>
                                          <p:spTgt spid="40974"/>
                                        </p:tgtEl>
                                        <p:attrNameLst>
                                          <p:attrName>ppt_y</p:attrName>
                                        </p:attrNameLst>
                                      </p:cBhvr>
                                      <p:tavLst>
                                        <p:tav tm="0">
                                          <p:val>
                                            <p:strVal val="#ppt_y+1"/>
                                          </p:val>
                                        </p:tav>
                                        <p:tav tm="100000">
                                          <p:val>
                                            <p:strVal val="#ppt_y-.03"/>
                                          </p:val>
                                        </p:tav>
                                      </p:tavLst>
                                    </p:anim>
                                    <p:anim calcmode="lin" valueType="num">
                                      <p:cBhvr>
                                        <p:cTn id="40" dur="50" accel="100000" fill="hold">
                                          <p:stCondLst>
                                            <p:cond delay="450"/>
                                          </p:stCondLst>
                                        </p:cTn>
                                        <p:tgtEl>
                                          <p:spTgt spid="40974"/>
                                        </p:tgtEl>
                                        <p:attrNameLst>
                                          <p:attrName>ppt_y</p:attrName>
                                        </p:attrNameLst>
                                      </p:cBhvr>
                                      <p:tavLst>
                                        <p:tav tm="0">
                                          <p:val>
                                            <p:strVal val="#ppt_y-.03"/>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40970"/>
                                        </p:tgtEl>
                                        <p:attrNameLst>
                                          <p:attrName>style.visibility</p:attrName>
                                        </p:attrNameLst>
                                      </p:cBhvr>
                                      <p:to>
                                        <p:strVal val="visible"/>
                                      </p:to>
                                    </p:set>
                                    <p:animEffect transition="in" filter="dissolve">
                                      <p:cBhvr>
                                        <p:cTn id="45" dur="1000"/>
                                        <p:tgtEl>
                                          <p:spTgt spid="40970"/>
                                        </p:tgtEl>
                                      </p:cBhvr>
                                    </p:animEffect>
                                  </p:childTnLst>
                                </p:cTn>
                              </p:par>
                            </p:childTnLst>
                          </p:cTn>
                        </p:par>
                        <p:par>
                          <p:cTn id="46" fill="hold" nodeType="afterGroup">
                            <p:stCondLst>
                              <p:cond delay="1000"/>
                            </p:stCondLst>
                            <p:childTnLst>
                              <p:par>
                                <p:cTn id="47" presetID="9" presetClass="entr" presetSubtype="0" fill="hold" grpId="0" nodeType="afterEffect">
                                  <p:stCondLst>
                                    <p:cond delay="0"/>
                                  </p:stCondLst>
                                  <p:childTnLst>
                                    <p:set>
                                      <p:cBhvr>
                                        <p:cTn id="48" dur="1" fill="hold">
                                          <p:stCondLst>
                                            <p:cond delay="0"/>
                                          </p:stCondLst>
                                        </p:cTn>
                                        <p:tgtEl>
                                          <p:spTgt spid="40971"/>
                                        </p:tgtEl>
                                        <p:attrNameLst>
                                          <p:attrName>style.visibility</p:attrName>
                                        </p:attrNameLst>
                                      </p:cBhvr>
                                      <p:to>
                                        <p:strVal val="visible"/>
                                      </p:to>
                                    </p:set>
                                    <p:animEffect transition="in" filter="dissolve">
                                      <p:cBhvr>
                                        <p:cTn id="49" dur="500"/>
                                        <p:tgtEl>
                                          <p:spTgt spid="40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6" grpId="0" animBg="1"/>
      <p:bldP spid="40969" grpId="0" animBg="1"/>
      <p:bldP spid="40970" grpId="0" animBg="1"/>
      <p:bldP spid="40971" grpId="0" animBg="1"/>
      <p:bldP spid="40972" grpId="0" animBg="1"/>
      <p:bldP spid="40973" grpId="0" animBg="1"/>
      <p:bldP spid="4097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5"/>
          <p:cNvSpPr>
            <a:spLocks noGrp="1" noChangeArrowheads="1"/>
          </p:cNvSpPr>
          <p:nvPr>
            <p:ph type="title"/>
          </p:nvPr>
        </p:nvSpPr>
        <p:spPr>
          <a:xfrm>
            <a:off x="838200" y="710358"/>
            <a:ext cx="7467600" cy="879475"/>
          </a:xfrm>
          <a:noFill/>
          <a:extLst>
            <a:ext uri="{909E8E84-426E-40dd-AFC4-6F175D3DCCD1}">
              <a14:hiddenFill xmlns:a14="http://schemas.microsoft.com/office/drawing/2010/main" xmlns="">
                <a:solidFill>
                  <a:srgbClr val="00CC00"/>
                </a:solidFill>
              </a14:hiddenFill>
            </a:ext>
          </a:extLst>
        </p:spPr>
        <p:txBody>
          <a:bodyPr>
            <a:normAutofit fontScale="90000"/>
          </a:bodyPr>
          <a:lstStyle/>
          <a:p>
            <a:pPr algn="ctr"/>
            <a:r>
              <a:rPr lang="en-US" b="1" dirty="0"/>
              <a:t>Transaction 3: </a:t>
            </a:r>
            <a:br>
              <a:rPr lang="en-US" b="1" dirty="0"/>
            </a:br>
            <a:r>
              <a:rPr lang="en-US" b="1" dirty="0"/>
              <a:t>Purchase Equipment for Cash</a:t>
            </a:r>
          </a:p>
        </p:txBody>
      </p:sp>
      <p:sp>
        <p:nvSpPr>
          <p:cNvPr id="11" name="Slide Number Placeholder 3"/>
          <p:cNvSpPr>
            <a:spLocks noGrp="1"/>
          </p:cNvSpPr>
          <p:nvPr>
            <p:ph type="sldNum" sz="quarter" idx="12"/>
          </p:nvPr>
        </p:nvSpPr>
        <p:spPr bwMode="auto">
          <a:xfrm>
            <a:off x="6858000" y="646051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59</a:t>
            </a:fld>
            <a:endParaRPr lang="en-US" altLang="en-US" dirty="0">
              <a:solidFill>
                <a:srgbClr val="898989"/>
              </a:solidFill>
            </a:endParaRPr>
          </a:p>
        </p:txBody>
      </p:sp>
      <p:sp>
        <p:nvSpPr>
          <p:cNvPr id="43010" name="Rectangle 2"/>
          <p:cNvSpPr>
            <a:spLocks noGrp="1" noChangeArrowheads="1"/>
          </p:cNvSpPr>
          <p:nvPr>
            <p:ph type="body" idx="4294967295"/>
          </p:nvPr>
        </p:nvSpPr>
        <p:spPr bwMode="auto">
          <a:xfrm>
            <a:off x="2189163" y="2701925"/>
            <a:ext cx="6954837" cy="358457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90488" tIns="44450" rIns="90488" bIns="44450"/>
          <a:lstStyle/>
          <a:p>
            <a:pPr algn="ctr">
              <a:buFont typeface="Wingdings" panose="05000000000000000000" pitchFamily="2" charset="2"/>
              <a:buNone/>
            </a:pPr>
            <a:endParaRPr lang="en-US" dirty="0"/>
          </a:p>
          <a:p>
            <a:pPr algn="ctr">
              <a:buFont typeface="Wingdings" panose="05000000000000000000" pitchFamily="2" charset="2"/>
              <a:buNone/>
            </a:pPr>
            <a:endParaRPr lang="en-US" dirty="0"/>
          </a:p>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Cash</a:t>
            </a:r>
            <a:r>
              <a:rPr lang="en-US" b="1" dirty="0">
                <a:solidFill>
                  <a:schemeClr val="hlink"/>
                </a:solidFill>
              </a:rPr>
              <a:t> </a:t>
            </a:r>
            <a:r>
              <a:rPr lang="en-US" b="1" dirty="0">
                <a:solidFill>
                  <a:srgbClr val="9A2F6F"/>
                </a:solidFill>
              </a:rPr>
              <a:t>(asset)</a:t>
            </a:r>
            <a:r>
              <a:rPr lang="en-US" b="1" dirty="0">
                <a:solidFill>
                  <a:schemeClr val="hlink"/>
                </a:solidFill>
              </a:rPr>
              <a:t> </a:t>
            </a:r>
          </a:p>
          <a:p>
            <a:pPr>
              <a:buFont typeface="Wingdings" panose="05000000000000000000" pitchFamily="2" charset="2"/>
              <a:buNone/>
            </a:pPr>
            <a:r>
              <a:rPr lang="en-US" b="1" dirty="0">
                <a:solidFill>
                  <a:schemeClr val="hlink"/>
                </a:solidFill>
              </a:rPr>
              <a:t>	</a:t>
            </a:r>
          </a:p>
          <a:p>
            <a:pPr>
              <a:buFont typeface="Wingdings" panose="05000000000000000000" pitchFamily="2" charset="2"/>
              <a:buNone/>
            </a:pPr>
            <a:r>
              <a:rPr lang="en-US" b="1" dirty="0"/>
              <a:t>(2) Equipment</a:t>
            </a:r>
            <a:r>
              <a:rPr lang="en-US" b="1" dirty="0">
                <a:solidFill>
                  <a:schemeClr val="hlink"/>
                </a:solidFill>
              </a:rPr>
              <a:t> </a:t>
            </a:r>
            <a:r>
              <a:rPr lang="en-US" b="1" dirty="0">
                <a:solidFill>
                  <a:srgbClr val="9A2F6F"/>
                </a:solidFill>
              </a:rPr>
              <a:t>(asset)</a:t>
            </a:r>
            <a:r>
              <a:rPr lang="en-US" b="1" dirty="0">
                <a:solidFill>
                  <a:schemeClr val="hlink"/>
                </a:solidFill>
              </a:rPr>
              <a:t> </a:t>
            </a:r>
          </a:p>
        </p:txBody>
      </p:sp>
      <p:sp>
        <p:nvSpPr>
          <p:cNvPr id="43011" name="AutoShape 3"/>
          <p:cNvSpPr>
            <a:spLocks noChangeArrowheads="1"/>
          </p:cNvSpPr>
          <p:nvPr/>
        </p:nvSpPr>
        <p:spPr bwMode="auto">
          <a:xfrm rot="16200000">
            <a:off x="4910139" y="4706273"/>
            <a:ext cx="533400" cy="396875"/>
          </a:xfrm>
          <a:prstGeom prst="rightArrow">
            <a:avLst>
              <a:gd name="adj1" fmla="val 50000"/>
              <a:gd name="adj2" fmla="val 67206"/>
            </a:avLst>
          </a:prstGeom>
          <a:solidFill>
            <a:srgbClr val="00CC00"/>
          </a:solidFill>
          <a:ln w="12700">
            <a:solidFill>
              <a:schemeClr val="tx1"/>
            </a:solidFill>
            <a:miter lim="800000"/>
            <a:headEnd/>
            <a:tailEnd/>
          </a:ln>
          <a:effectLst>
            <a:outerShdw dist="81320" dir="3080412" algn="ctr" rotWithShape="0">
              <a:schemeClr val="bg2"/>
            </a:outerShdw>
          </a:effectLst>
        </p:spPr>
        <p:txBody>
          <a:bodyPr wrap="none" anchor="ctr"/>
          <a:lstStyle/>
          <a:p>
            <a:endParaRPr lang="en-US" dirty="0">
              <a:solidFill>
                <a:prstClr val="black"/>
              </a:solidFill>
            </a:endParaRPr>
          </a:p>
        </p:txBody>
      </p:sp>
      <p:sp>
        <p:nvSpPr>
          <p:cNvPr id="43012" name="AutoShape 4"/>
          <p:cNvSpPr>
            <a:spLocks noChangeArrowheads="1"/>
          </p:cNvSpPr>
          <p:nvPr/>
        </p:nvSpPr>
        <p:spPr bwMode="auto">
          <a:xfrm rot="16200000" flipH="1">
            <a:off x="4513263" y="3921125"/>
            <a:ext cx="533400" cy="396875"/>
          </a:xfrm>
          <a:prstGeom prst="rightArrow">
            <a:avLst>
              <a:gd name="adj1" fmla="val 50000"/>
              <a:gd name="adj2" fmla="val 67206"/>
            </a:avLst>
          </a:prstGeom>
          <a:solidFill>
            <a:srgbClr val="FF3300"/>
          </a:solidFill>
          <a:ln w="12700">
            <a:solidFill>
              <a:schemeClr val="tx1"/>
            </a:solidFill>
            <a:miter lim="800000"/>
            <a:headEnd/>
            <a:tailEnd/>
          </a:ln>
          <a:effectLst>
            <a:outerShdw dist="74053" dir="3542175" algn="ctr" rotWithShape="0">
              <a:schemeClr val="bg2"/>
            </a:outerShdw>
          </a:effectLst>
        </p:spPr>
        <p:txBody>
          <a:bodyPr wrap="none" anchor="ctr"/>
          <a:lstStyle/>
          <a:p>
            <a:endParaRPr lang="en-US" dirty="0">
              <a:solidFill>
                <a:prstClr val="black"/>
              </a:solidFill>
            </a:endParaRPr>
          </a:p>
        </p:txBody>
      </p:sp>
      <p:sp>
        <p:nvSpPr>
          <p:cNvPr id="43014" name="Rectangle 6"/>
          <p:cNvSpPr>
            <a:spLocks noChangeArrowheads="1"/>
          </p:cNvSpPr>
          <p:nvPr/>
        </p:nvSpPr>
        <p:spPr bwMode="auto">
          <a:xfrm>
            <a:off x="581025" y="2024866"/>
            <a:ext cx="8001000" cy="914400"/>
          </a:xfrm>
          <a:prstGeom prst="rect">
            <a:avLst/>
          </a:prstGeom>
          <a:solidFill>
            <a:schemeClr val="accent3">
              <a:lumMod val="40000"/>
              <a:lumOff val="60000"/>
            </a:schemeClr>
          </a:solidFill>
          <a:ln>
            <a:noFill/>
          </a:ln>
          <a:effectLst/>
        </p:spPr>
        <p:txBody>
          <a:bodyPr lIns="90488" tIns="44450" rIns="90488" bIns="44450"/>
          <a:lstStyle/>
          <a:p>
            <a:pPr algn="ctr"/>
            <a:r>
              <a:rPr lang="en-US" sz="3200" b="1" dirty="0">
                <a:solidFill>
                  <a:prstClr val="black"/>
                </a:solidFill>
                <a:latin typeface="Arial" panose="020B0604020202020204" pitchFamily="34" charset="0"/>
              </a:rPr>
              <a:t>Purchased equipment for $26,000 cash.</a:t>
            </a:r>
            <a:endParaRPr lang="en-US" sz="3200" dirty="0">
              <a:solidFill>
                <a:prstClr val="black"/>
              </a:solidFill>
              <a:latin typeface="Arial" panose="020B0604020202020204" pitchFamily="34" charset="0"/>
            </a:endParaRPr>
          </a:p>
        </p:txBody>
      </p:sp>
      <p:sp>
        <p:nvSpPr>
          <p:cNvPr id="12" name="Rectangle 11"/>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147497273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fade">
                                      <p:cBhvr>
                                        <p:cTn id="7" dur="1000"/>
                                        <p:tgtEl>
                                          <p:spTgt spid="43014"/>
                                        </p:tgtEl>
                                      </p:cBhvr>
                                    </p:animEffect>
                                    <p:anim calcmode="lin" valueType="num">
                                      <p:cBhvr>
                                        <p:cTn id="8" dur="1000" fill="hold"/>
                                        <p:tgtEl>
                                          <p:spTgt spid="43014"/>
                                        </p:tgtEl>
                                        <p:attrNameLst>
                                          <p:attrName>ppt_x</p:attrName>
                                        </p:attrNameLst>
                                      </p:cBhvr>
                                      <p:tavLst>
                                        <p:tav tm="0">
                                          <p:val>
                                            <p:strVal val="#ppt_x"/>
                                          </p:val>
                                        </p:tav>
                                        <p:tav tm="100000">
                                          <p:val>
                                            <p:strVal val="#ppt_x"/>
                                          </p:val>
                                        </p:tav>
                                      </p:tavLst>
                                    </p:anim>
                                    <p:anim calcmode="lin" valueType="num">
                                      <p:cBhvr>
                                        <p:cTn id="9" dur="1000" fill="hold"/>
                                        <p:tgtEl>
                                          <p:spTgt spid="430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3010">
                                            <p:txEl>
                                              <p:pRg st="2" end="2"/>
                                            </p:txEl>
                                          </p:spTgt>
                                        </p:tgtEl>
                                        <p:attrNameLst>
                                          <p:attrName>style.visibility</p:attrName>
                                        </p:attrNameLst>
                                      </p:cBhvr>
                                      <p:to>
                                        <p:strVal val="visible"/>
                                      </p:to>
                                    </p:set>
                                    <p:animEffect transition="in" filter="barn(inVertical)">
                                      <p:cBhvr>
                                        <p:cTn id="14" dur="500"/>
                                        <p:tgtEl>
                                          <p:spTgt spid="43010">
                                            <p:txEl>
                                              <p:pRg st="2" end="2"/>
                                            </p:txEl>
                                          </p:spTgt>
                                        </p:tgtEl>
                                      </p:cBhvr>
                                    </p:animEffect>
                                  </p:childTnLst>
                                </p:cTn>
                              </p:par>
                            </p:childTnLst>
                          </p:cTn>
                        </p:par>
                      </p:childTnLst>
                    </p:cTn>
                  </p:par>
                  <p:par>
                    <p:cTn id="15" fill="hold">
                      <p:stCondLst>
                        <p:cond delay="indefinite"/>
                      </p:stCondLst>
                      <p:childTnLst>
                        <p:par>
                          <p:cTn id="16" fill="hold" nodeType="after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43010">
                                            <p:txEl>
                                              <p:pRg st="3" end="3"/>
                                            </p:txEl>
                                          </p:spTgt>
                                        </p:tgtEl>
                                        <p:attrNameLst>
                                          <p:attrName>style.visibility</p:attrName>
                                        </p:attrNameLst>
                                      </p:cBhvr>
                                      <p:to>
                                        <p:strVal val="visible"/>
                                      </p:to>
                                    </p:set>
                                    <p:animEffect transition="in" filter="fade">
                                      <p:cBhvr>
                                        <p:cTn id="19" dur="2000"/>
                                        <p:tgtEl>
                                          <p:spTgt spid="43010">
                                            <p:txEl>
                                              <p:pRg st="3" end="3"/>
                                            </p:txEl>
                                          </p:spTgt>
                                        </p:tgtEl>
                                      </p:cBhvr>
                                    </p:animEffect>
                                  </p:childTnLst>
                                </p:cTn>
                              </p:par>
                              <p:par>
                                <p:cTn id="20" presetID="17" presetClass="entr" presetSubtype="10" fill="hold" grpId="0" nodeType="withEffect">
                                  <p:stCondLst>
                                    <p:cond delay="0"/>
                                  </p:stCondLst>
                                  <p:childTnLst>
                                    <p:set>
                                      <p:cBhvr>
                                        <p:cTn id="21" dur="1" fill="hold">
                                          <p:stCondLst>
                                            <p:cond delay="0"/>
                                          </p:stCondLst>
                                        </p:cTn>
                                        <p:tgtEl>
                                          <p:spTgt spid="43012"/>
                                        </p:tgtEl>
                                        <p:attrNameLst>
                                          <p:attrName>style.visibility</p:attrName>
                                        </p:attrNameLst>
                                      </p:cBhvr>
                                      <p:to>
                                        <p:strVal val="visible"/>
                                      </p:to>
                                    </p:set>
                                    <p:anim calcmode="lin" valueType="num">
                                      <p:cBhvr>
                                        <p:cTn id="22" dur="2000" fill="hold"/>
                                        <p:tgtEl>
                                          <p:spTgt spid="43012"/>
                                        </p:tgtEl>
                                        <p:attrNameLst>
                                          <p:attrName>ppt_w</p:attrName>
                                        </p:attrNameLst>
                                      </p:cBhvr>
                                      <p:tavLst>
                                        <p:tav tm="0">
                                          <p:val>
                                            <p:fltVal val="0"/>
                                          </p:val>
                                        </p:tav>
                                        <p:tav tm="100000">
                                          <p:val>
                                            <p:strVal val="#ppt_w"/>
                                          </p:val>
                                        </p:tav>
                                      </p:tavLst>
                                    </p:anim>
                                    <p:anim calcmode="lin" valueType="num">
                                      <p:cBhvr>
                                        <p:cTn id="23" dur="2000" fill="hold"/>
                                        <p:tgtEl>
                                          <p:spTgt spid="43012"/>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3010">
                                            <p:txEl>
                                              <p:pRg st="4" end="4"/>
                                            </p:txEl>
                                          </p:spTgt>
                                        </p:tgtEl>
                                        <p:attrNameLst>
                                          <p:attrName>style.visibility</p:attrName>
                                        </p:attrNameLst>
                                      </p:cBhvr>
                                      <p:to>
                                        <p:strVal val="visible"/>
                                      </p:to>
                                    </p:set>
                                    <p:animEffect transition="in" filter="fade">
                                      <p:cBhvr>
                                        <p:cTn id="28" dur="1000"/>
                                        <p:tgtEl>
                                          <p:spTgt spid="43010">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3010">
                                            <p:txEl>
                                              <p:pRg st="5" end="5"/>
                                            </p:txEl>
                                          </p:spTgt>
                                        </p:tgtEl>
                                        <p:attrNameLst>
                                          <p:attrName>style.visibility</p:attrName>
                                        </p:attrNameLst>
                                      </p:cBhvr>
                                      <p:to>
                                        <p:strVal val="visible"/>
                                      </p:to>
                                    </p:set>
                                    <p:animEffect transition="in" filter="fade">
                                      <p:cBhvr>
                                        <p:cTn id="33" dur="1000"/>
                                        <p:tgtEl>
                                          <p:spTgt spid="43010">
                                            <p:txEl>
                                              <p:pRg st="5" end="5"/>
                                            </p:txEl>
                                          </p:spTgt>
                                        </p:tgtEl>
                                      </p:cBhvr>
                                    </p:animEffect>
                                  </p:childTnLst>
                                </p:cTn>
                              </p:par>
                            </p:childTnLst>
                          </p:cTn>
                        </p:par>
                        <p:par>
                          <p:cTn id="34" fill="hold" nodeType="afterGroup">
                            <p:stCondLst>
                              <p:cond delay="1000"/>
                            </p:stCondLst>
                            <p:childTnLst>
                              <p:par>
                                <p:cTn id="35" presetID="17" presetClass="entr" presetSubtype="10" fill="hold" grpId="0" nodeType="afterEffect">
                                  <p:stCondLst>
                                    <p:cond delay="0"/>
                                  </p:stCondLst>
                                  <p:childTnLst>
                                    <p:set>
                                      <p:cBhvr>
                                        <p:cTn id="36" dur="1" fill="hold">
                                          <p:stCondLst>
                                            <p:cond delay="0"/>
                                          </p:stCondLst>
                                        </p:cTn>
                                        <p:tgtEl>
                                          <p:spTgt spid="43011"/>
                                        </p:tgtEl>
                                        <p:attrNameLst>
                                          <p:attrName>style.visibility</p:attrName>
                                        </p:attrNameLst>
                                      </p:cBhvr>
                                      <p:to>
                                        <p:strVal val="visible"/>
                                      </p:to>
                                    </p:set>
                                    <p:anim calcmode="lin" valueType="num">
                                      <p:cBhvr>
                                        <p:cTn id="37" dur="2000" fill="hold"/>
                                        <p:tgtEl>
                                          <p:spTgt spid="43011"/>
                                        </p:tgtEl>
                                        <p:attrNameLst>
                                          <p:attrName>ppt_w</p:attrName>
                                        </p:attrNameLst>
                                      </p:cBhvr>
                                      <p:tavLst>
                                        <p:tav tm="0">
                                          <p:val>
                                            <p:fltVal val="0"/>
                                          </p:val>
                                        </p:tav>
                                        <p:tav tm="100000">
                                          <p:val>
                                            <p:strVal val="#ppt_w"/>
                                          </p:val>
                                        </p:tav>
                                      </p:tavLst>
                                    </p:anim>
                                    <p:anim calcmode="lin" valueType="num">
                                      <p:cBhvr>
                                        <p:cTn id="38" dur="2000" fill="hold"/>
                                        <p:tgtEl>
                                          <p:spTgt spid="430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animBg="1"/>
      <p:bldP spid="43012" grpId="0" animBg="1"/>
      <p:bldP spid="430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914400" y="381000"/>
            <a:ext cx="7543800" cy="879475"/>
          </a:xfrm>
          <a:noFill/>
          <a:extLst>
            <a:ext uri="{909E8E84-426E-40dd-AFC4-6F175D3DCCD1}">
              <a14:hiddenFill xmlns:a14="http://schemas.microsoft.com/office/drawing/2010/main" xmlns="">
                <a:solidFill>
                  <a:srgbClr val="FFFF00"/>
                </a:solidFill>
              </a14:hiddenFill>
            </a:ext>
          </a:extLst>
        </p:spPr>
        <p:txBody>
          <a:bodyPr/>
          <a:lstStyle/>
          <a:p>
            <a:pPr algn="ctr"/>
            <a:r>
              <a:rPr lang="en-US" b="1" dirty="0"/>
              <a:t>Accounting Equation 3</a:t>
            </a:r>
          </a:p>
        </p:txBody>
      </p:sp>
      <p:sp>
        <p:nvSpPr>
          <p:cNvPr id="16" name="Slide Number Placeholder 3"/>
          <p:cNvSpPr>
            <a:spLocks noGrp="1"/>
          </p:cNvSpPr>
          <p:nvPr>
            <p:ph type="sldNum" sz="quarter" idx="12"/>
          </p:nvPr>
        </p:nvSpPr>
        <p:spPr bwMode="auto">
          <a:xfrm>
            <a:off x="6876361" y="646051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60</a:t>
            </a:fld>
            <a:endParaRPr lang="en-US" altLang="en-US" dirty="0">
              <a:solidFill>
                <a:srgbClr val="898989"/>
              </a:solidFill>
            </a:endParaRPr>
          </a:p>
        </p:txBody>
      </p:sp>
      <p:graphicFrame>
        <p:nvGraphicFramePr>
          <p:cNvPr id="45060" name="Object 4"/>
          <p:cNvGraphicFramePr>
            <a:graphicFrameLocks/>
          </p:cNvGraphicFramePr>
          <p:nvPr>
            <p:extLst>
              <p:ext uri="{D42A27DB-BD31-4B8C-83A1-F6EECF244321}">
                <p14:modId xmlns:p14="http://schemas.microsoft.com/office/powerpoint/2010/main" val="277755259"/>
              </p:ext>
            </p:extLst>
          </p:nvPr>
        </p:nvGraphicFramePr>
        <p:xfrm>
          <a:off x="456406" y="2482852"/>
          <a:ext cx="8154988" cy="3656013"/>
        </p:xfrm>
        <a:graphic>
          <a:graphicData uri="http://schemas.openxmlformats.org/presentationml/2006/ole">
            <mc:AlternateContent xmlns:mc="http://schemas.openxmlformats.org/markup-compatibility/2006">
              <mc:Choice xmlns:v="urn:schemas-microsoft-com:vml" Requires="v">
                <p:oleObj spid="_x0000_s6205" name="Worksheet" r:id="rId4" imgW="4448160" imgH="1952607" progId="Excel.Sheet.8">
                  <p:embed/>
                </p:oleObj>
              </mc:Choice>
              <mc:Fallback>
                <p:oleObj name="Worksheet" r:id="rId4" imgW="4448160" imgH="1952607" progId="Excel.Sheet.8">
                  <p:embed/>
                  <p:pic>
                    <p:nvPicPr>
                      <p:cNvPr id="0" name=""/>
                      <p:cNvPicPr>
                        <a:picLocks noChangeArrowheads="1"/>
                      </p:cNvPicPr>
                      <p:nvPr/>
                    </p:nvPicPr>
                    <p:blipFill>
                      <a:blip r:embed="rId5"/>
                      <a:srcRect b="5867"/>
                      <a:stretch>
                        <a:fillRect/>
                      </a:stretch>
                    </p:blipFill>
                    <p:spPr bwMode="auto">
                      <a:xfrm>
                        <a:off x="456406" y="2482852"/>
                        <a:ext cx="8154988" cy="3656013"/>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45061" name="Rectangle 5"/>
          <p:cNvSpPr>
            <a:spLocks noChangeArrowheads="1"/>
          </p:cNvSpPr>
          <p:nvPr/>
        </p:nvSpPr>
        <p:spPr bwMode="auto">
          <a:xfrm>
            <a:off x="533400" y="1447801"/>
            <a:ext cx="8001000" cy="838200"/>
          </a:xfrm>
          <a:prstGeom prst="rect">
            <a:avLst/>
          </a:prstGeom>
          <a:solidFill>
            <a:schemeClr val="accent3">
              <a:lumMod val="40000"/>
              <a:lumOff val="60000"/>
            </a:schemeClr>
          </a:solidFill>
          <a:ln>
            <a:noFill/>
          </a:ln>
          <a:effectLst/>
        </p:spPr>
        <p:txBody>
          <a:bodyPr lIns="90488" tIns="44450" rIns="90488" bIns="44450"/>
          <a:lstStyle/>
          <a:p>
            <a:pPr algn="ctr"/>
            <a:r>
              <a:rPr lang="en-US" sz="3200" b="1" dirty="0">
                <a:solidFill>
                  <a:prstClr val="black"/>
                </a:solidFill>
              </a:rPr>
              <a:t>Purchased equipment for $26,000 cash.</a:t>
            </a:r>
          </a:p>
        </p:txBody>
      </p:sp>
      <p:sp>
        <p:nvSpPr>
          <p:cNvPr id="45064" name="Oval 8"/>
          <p:cNvSpPr>
            <a:spLocks noChangeArrowheads="1"/>
          </p:cNvSpPr>
          <p:nvPr/>
        </p:nvSpPr>
        <p:spPr bwMode="auto">
          <a:xfrm>
            <a:off x="3543300" y="3997814"/>
            <a:ext cx="990600" cy="533400"/>
          </a:xfrm>
          <a:prstGeom prst="ellipse">
            <a:avLst/>
          </a:prstGeom>
          <a:noFill/>
          <a:ln w="28575" algn="ctr">
            <a:solidFill>
              <a:srgbClr val="000099"/>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5066" name="Oval 10"/>
          <p:cNvSpPr>
            <a:spLocks noChangeArrowheads="1"/>
          </p:cNvSpPr>
          <p:nvPr/>
        </p:nvSpPr>
        <p:spPr bwMode="auto">
          <a:xfrm>
            <a:off x="5753100" y="5586414"/>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5067" name="AutoShape 11"/>
          <p:cNvSpPr>
            <a:spLocks noChangeArrowheads="1"/>
          </p:cNvSpPr>
          <p:nvPr/>
        </p:nvSpPr>
        <p:spPr bwMode="auto">
          <a:xfrm>
            <a:off x="4733192" y="3883514"/>
            <a:ext cx="2971800" cy="1295400"/>
          </a:xfrm>
          <a:prstGeom prst="wedgeRoundRectCallout">
            <a:avLst>
              <a:gd name="adj1" fmla="val -31412"/>
              <a:gd name="adj2" fmla="val 47417"/>
              <a:gd name="adj3" fmla="val 16667"/>
            </a:avLst>
          </a:prstGeom>
          <a:solidFill>
            <a:srgbClr val="0000FF"/>
          </a:solidFill>
          <a:ln w="127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pPr algn="ctr"/>
            <a:r>
              <a:rPr lang="en-US" sz="2000" b="1" dirty="0">
                <a:solidFill>
                  <a:srgbClr val="FFFFFF"/>
                </a:solidFill>
              </a:rPr>
              <a:t>Accounting Equation </a:t>
            </a:r>
            <a:r>
              <a:rPr lang="en-US" sz="2000" b="1" u="sng" dirty="0">
                <a:solidFill>
                  <a:srgbClr val="FFFFFF"/>
                </a:solidFill>
              </a:rPr>
              <a:t>still</a:t>
            </a:r>
            <a:r>
              <a:rPr lang="en-US" sz="2000" b="1" dirty="0">
                <a:solidFill>
                  <a:srgbClr val="FFFFFF"/>
                </a:solidFill>
              </a:rPr>
              <a:t> remains in balance!!</a:t>
            </a:r>
          </a:p>
        </p:txBody>
      </p:sp>
      <p:sp>
        <p:nvSpPr>
          <p:cNvPr id="45068" name="Line 12"/>
          <p:cNvSpPr>
            <a:spLocks noChangeShapeType="1"/>
          </p:cNvSpPr>
          <p:nvPr/>
        </p:nvSpPr>
        <p:spPr bwMode="auto">
          <a:xfrm flipH="1">
            <a:off x="3429000" y="5181600"/>
            <a:ext cx="1295400" cy="685800"/>
          </a:xfrm>
          <a:prstGeom prst="line">
            <a:avLst/>
          </a:prstGeom>
          <a:noFill/>
          <a:ln w="571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endParaRPr lang="en-US" dirty="0">
              <a:solidFill>
                <a:prstClr val="black"/>
              </a:solidFill>
            </a:endParaRPr>
          </a:p>
        </p:txBody>
      </p:sp>
      <p:sp>
        <p:nvSpPr>
          <p:cNvPr id="45069" name="Line 13"/>
          <p:cNvSpPr>
            <a:spLocks noChangeShapeType="1"/>
          </p:cNvSpPr>
          <p:nvPr/>
        </p:nvSpPr>
        <p:spPr bwMode="auto">
          <a:xfrm>
            <a:off x="6400800" y="5181600"/>
            <a:ext cx="152400" cy="457200"/>
          </a:xfrm>
          <a:prstGeom prst="line">
            <a:avLst/>
          </a:prstGeom>
          <a:noFill/>
          <a:ln w="571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endParaRPr lang="en-US" dirty="0">
              <a:solidFill>
                <a:prstClr val="black"/>
              </a:solidFill>
            </a:endParaRPr>
          </a:p>
        </p:txBody>
      </p:sp>
      <p:sp>
        <p:nvSpPr>
          <p:cNvPr id="14" name="Oval 8"/>
          <p:cNvSpPr>
            <a:spLocks noChangeArrowheads="1"/>
          </p:cNvSpPr>
          <p:nvPr/>
        </p:nvSpPr>
        <p:spPr bwMode="auto">
          <a:xfrm>
            <a:off x="1108899" y="4044158"/>
            <a:ext cx="990600" cy="533400"/>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5" name="Oval 10"/>
          <p:cNvSpPr>
            <a:spLocks noChangeArrowheads="1"/>
          </p:cNvSpPr>
          <p:nvPr/>
        </p:nvSpPr>
        <p:spPr bwMode="auto">
          <a:xfrm>
            <a:off x="1828800" y="5529264"/>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8" name="Rectangle 17"/>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591300966"/>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animEffect transition="in" filter="fade">
                                      <p:cBhvr>
                                        <p:cTn id="7" dur="1000"/>
                                        <p:tgtEl>
                                          <p:spTgt spid="45061">
                                            <p:txEl>
                                              <p:pRg st="0" end="0"/>
                                            </p:txEl>
                                          </p:spTgt>
                                        </p:tgtEl>
                                      </p:cBhvr>
                                    </p:animEffect>
                                    <p:anim calcmode="lin" valueType="num">
                                      <p:cBhvr>
                                        <p:cTn id="8" dur="1000" fill="hold"/>
                                        <p:tgtEl>
                                          <p:spTgt spid="4506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5061">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9" presetClass="entr" presetSubtype="0" fill="hold" grpId="0" nodeType="afterEffect">
                                  <p:stCondLst>
                                    <p:cond delay="0"/>
                                  </p:stCondLst>
                                  <p:childTnLst>
                                    <p:set>
                                      <p:cBhvr>
                                        <p:cTn id="12" dur="1" fill="hold">
                                          <p:stCondLst>
                                            <p:cond delay="0"/>
                                          </p:stCondLst>
                                        </p:cTn>
                                        <p:tgtEl>
                                          <p:spTgt spid="45064"/>
                                        </p:tgtEl>
                                        <p:attrNameLst>
                                          <p:attrName>style.visibility</p:attrName>
                                        </p:attrNameLst>
                                      </p:cBhvr>
                                      <p:to>
                                        <p:strVal val="visible"/>
                                      </p:to>
                                    </p:set>
                                    <p:animEffect transition="in" filter="dissolve">
                                      <p:cBhvr>
                                        <p:cTn id="13" dur="2000"/>
                                        <p:tgtEl>
                                          <p:spTgt spid="45064"/>
                                        </p:tgtEl>
                                      </p:cBhvr>
                                    </p:animEffect>
                                  </p:childTnLst>
                                </p:cTn>
                              </p:par>
                            </p:childTnLst>
                          </p:cTn>
                        </p:par>
                      </p:childTnLst>
                    </p:cTn>
                  </p:par>
                  <p:par>
                    <p:cTn id="14" fill="hold">
                      <p:stCondLst>
                        <p:cond delay="indefinite"/>
                      </p:stCondLst>
                      <p:childTnLst>
                        <p:par>
                          <p:cTn id="15" fill="hold" nodeType="after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5067"/>
                                        </p:tgtEl>
                                        <p:attrNameLst>
                                          <p:attrName>style.visibility</p:attrName>
                                        </p:attrNameLst>
                                      </p:cBhvr>
                                      <p:to>
                                        <p:strVal val="visible"/>
                                      </p:to>
                                    </p:set>
                                    <p:animEffect transition="in" filter="fade">
                                      <p:cBhvr>
                                        <p:cTn id="18" dur="2000"/>
                                        <p:tgtEl>
                                          <p:spTgt spid="45067"/>
                                        </p:tgtEl>
                                      </p:cBhvr>
                                    </p:animEffect>
                                  </p:childTnLst>
                                </p:cTn>
                              </p:par>
                            </p:childTnLst>
                          </p:cTn>
                        </p:par>
                        <p:par>
                          <p:cTn id="19" fill="hold" nodeType="afterGroup">
                            <p:stCondLst>
                              <p:cond delay="2000"/>
                            </p:stCondLst>
                            <p:childTnLst>
                              <p:par>
                                <p:cTn id="20" presetID="37" presetClass="entr" presetSubtype="0" fill="hold" grpId="0" nodeType="afterEffect">
                                  <p:stCondLst>
                                    <p:cond delay="0"/>
                                  </p:stCondLst>
                                  <p:childTnLst>
                                    <p:set>
                                      <p:cBhvr>
                                        <p:cTn id="21" dur="1" fill="hold">
                                          <p:stCondLst>
                                            <p:cond delay="0"/>
                                          </p:stCondLst>
                                        </p:cTn>
                                        <p:tgtEl>
                                          <p:spTgt spid="45068"/>
                                        </p:tgtEl>
                                        <p:attrNameLst>
                                          <p:attrName>style.visibility</p:attrName>
                                        </p:attrNameLst>
                                      </p:cBhvr>
                                      <p:to>
                                        <p:strVal val="visible"/>
                                      </p:to>
                                    </p:set>
                                    <p:animEffect transition="in" filter="fade">
                                      <p:cBhvr>
                                        <p:cTn id="22" dur="1000"/>
                                        <p:tgtEl>
                                          <p:spTgt spid="45068"/>
                                        </p:tgtEl>
                                      </p:cBhvr>
                                    </p:animEffect>
                                    <p:anim calcmode="lin" valueType="num">
                                      <p:cBhvr>
                                        <p:cTn id="23" dur="1000" fill="hold"/>
                                        <p:tgtEl>
                                          <p:spTgt spid="45068"/>
                                        </p:tgtEl>
                                        <p:attrNameLst>
                                          <p:attrName>ppt_x</p:attrName>
                                        </p:attrNameLst>
                                      </p:cBhvr>
                                      <p:tavLst>
                                        <p:tav tm="0">
                                          <p:val>
                                            <p:strVal val="#ppt_x"/>
                                          </p:val>
                                        </p:tav>
                                        <p:tav tm="100000">
                                          <p:val>
                                            <p:strVal val="#ppt_x"/>
                                          </p:val>
                                        </p:tav>
                                      </p:tavLst>
                                    </p:anim>
                                    <p:anim calcmode="lin" valueType="num">
                                      <p:cBhvr>
                                        <p:cTn id="24" dur="900" decel="100000" fill="hold"/>
                                        <p:tgtEl>
                                          <p:spTgt spid="45068"/>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45068"/>
                                        </p:tgtEl>
                                        <p:attrNameLst>
                                          <p:attrName>ppt_y</p:attrName>
                                        </p:attrNameLst>
                                      </p:cBhvr>
                                      <p:tavLst>
                                        <p:tav tm="0">
                                          <p:val>
                                            <p:strVal val="#ppt_y-.03"/>
                                          </p:val>
                                        </p:tav>
                                        <p:tav tm="100000">
                                          <p:val>
                                            <p:strVal val="#ppt_y"/>
                                          </p:val>
                                        </p:tav>
                                      </p:tavLst>
                                    </p:anim>
                                  </p:childTnLst>
                                </p:cTn>
                              </p:par>
                            </p:childTnLst>
                          </p:cTn>
                        </p:par>
                        <p:par>
                          <p:cTn id="26" fill="hold" nodeType="afterGroup">
                            <p:stCondLst>
                              <p:cond delay="3000"/>
                            </p:stCondLst>
                            <p:childTnLst>
                              <p:par>
                                <p:cTn id="27" presetID="37" presetClass="entr" presetSubtype="0" fill="hold" grpId="0" nodeType="afterEffect">
                                  <p:stCondLst>
                                    <p:cond delay="0"/>
                                  </p:stCondLst>
                                  <p:childTnLst>
                                    <p:set>
                                      <p:cBhvr>
                                        <p:cTn id="28" dur="1" fill="hold">
                                          <p:stCondLst>
                                            <p:cond delay="0"/>
                                          </p:stCondLst>
                                        </p:cTn>
                                        <p:tgtEl>
                                          <p:spTgt spid="45069"/>
                                        </p:tgtEl>
                                        <p:attrNameLst>
                                          <p:attrName>style.visibility</p:attrName>
                                        </p:attrNameLst>
                                      </p:cBhvr>
                                      <p:to>
                                        <p:strVal val="visible"/>
                                      </p:to>
                                    </p:set>
                                    <p:animEffect transition="in" filter="fade">
                                      <p:cBhvr>
                                        <p:cTn id="29" dur="1000"/>
                                        <p:tgtEl>
                                          <p:spTgt spid="45069"/>
                                        </p:tgtEl>
                                      </p:cBhvr>
                                    </p:animEffect>
                                    <p:anim calcmode="lin" valueType="num">
                                      <p:cBhvr>
                                        <p:cTn id="30" dur="1000" fill="hold"/>
                                        <p:tgtEl>
                                          <p:spTgt spid="45069"/>
                                        </p:tgtEl>
                                        <p:attrNameLst>
                                          <p:attrName>ppt_x</p:attrName>
                                        </p:attrNameLst>
                                      </p:cBhvr>
                                      <p:tavLst>
                                        <p:tav tm="0">
                                          <p:val>
                                            <p:strVal val="#ppt_x"/>
                                          </p:val>
                                        </p:tav>
                                        <p:tav tm="100000">
                                          <p:val>
                                            <p:strVal val="#ppt_x"/>
                                          </p:val>
                                        </p:tav>
                                      </p:tavLst>
                                    </p:anim>
                                    <p:anim calcmode="lin" valueType="num">
                                      <p:cBhvr>
                                        <p:cTn id="31" dur="900" decel="100000" fill="hold"/>
                                        <p:tgtEl>
                                          <p:spTgt spid="45069"/>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45069"/>
                                        </p:tgtEl>
                                        <p:attrNameLst>
                                          <p:attrName>ppt_y</p:attrName>
                                        </p:attrNameLst>
                                      </p:cBhvr>
                                      <p:tavLst>
                                        <p:tav tm="0">
                                          <p:val>
                                            <p:strVal val="#ppt_y-.03"/>
                                          </p:val>
                                        </p:tav>
                                        <p:tav tm="100000">
                                          <p:val>
                                            <p:strVal val="#ppt_y"/>
                                          </p:val>
                                        </p:tav>
                                      </p:tavLst>
                                    </p:anim>
                                  </p:childTnLst>
                                </p:cTn>
                              </p:par>
                            </p:childTnLst>
                          </p:cTn>
                        </p:par>
                        <p:par>
                          <p:cTn id="33" fill="hold" nodeType="afterGroup">
                            <p:stCondLst>
                              <p:cond delay="4000"/>
                            </p:stCondLst>
                            <p:childTnLst>
                              <p:par>
                                <p:cTn id="34" presetID="9" presetClass="entr" presetSubtype="0" fill="hold" grpId="0" nodeType="afterEffect">
                                  <p:stCondLst>
                                    <p:cond delay="0"/>
                                  </p:stCondLst>
                                  <p:childTnLst>
                                    <p:set>
                                      <p:cBhvr>
                                        <p:cTn id="35" dur="1" fill="hold">
                                          <p:stCondLst>
                                            <p:cond delay="0"/>
                                          </p:stCondLst>
                                        </p:cTn>
                                        <p:tgtEl>
                                          <p:spTgt spid="45066"/>
                                        </p:tgtEl>
                                        <p:attrNameLst>
                                          <p:attrName>style.visibility</p:attrName>
                                        </p:attrNameLst>
                                      </p:cBhvr>
                                      <p:to>
                                        <p:strVal val="visible"/>
                                      </p:to>
                                    </p:set>
                                    <p:animEffect transition="in" filter="dissolve">
                                      <p:cBhvr>
                                        <p:cTn id="36" dur="1000"/>
                                        <p:tgtEl>
                                          <p:spTgt spid="45066"/>
                                        </p:tgtEl>
                                      </p:cBhvr>
                                    </p:animEffect>
                                  </p:childTnLst>
                                </p:cTn>
                              </p:par>
                            </p:childTnLst>
                          </p:cTn>
                        </p:par>
                        <p:par>
                          <p:cTn id="37" fill="hold">
                            <p:stCondLst>
                              <p:cond delay="5000"/>
                            </p:stCondLst>
                            <p:childTnLst>
                              <p:par>
                                <p:cTn id="38" presetID="9"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2000"/>
                                        <p:tgtEl>
                                          <p:spTgt spid="14"/>
                                        </p:tgtEl>
                                      </p:cBhvr>
                                    </p:animEffect>
                                  </p:childTnLst>
                                </p:cTn>
                              </p:par>
                            </p:childTnLst>
                          </p:cTn>
                        </p:par>
                        <p:par>
                          <p:cTn id="41" fill="hold">
                            <p:stCondLst>
                              <p:cond delay="7000"/>
                            </p:stCondLst>
                            <p:childTnLst>
                              <p:par>
                                <p:cTn id="42" presetID="9" presetClass="entr" presetSubtype="0"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dissolve">
                                      <p:cBhvr>
                                        <p:cTn id="44"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4" grpId="0" animBg="1"/>
      <p:bldP spid="45066" grpId="0" animBg="1"/>
      <p:bldP spid="45067" grpId="0" animBg="1"/>
      <p:bldP spid="45068" grpId="0" animBg="1"/>
      <p:bldP spid="45069" grpId="0" animBg="1"/>
      <p:bldP spid="14" grpId="0" animBg="1"/>
      <p:bldP spid="1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2" name="Rectangle 8"/>
          <p:cNvSpPr>
            <a:spLocks noGrp="1" noChangeArrowheads="1"/>
          </p:cNvSpPr>
          <p:nvPr>
            <p:ph type="title"/>
          </p:nvPr>
        </p:nvSpPr>
        <p:spPr>
          <a:xfrm>
            <a:off x="992981" y="466015"/>
            <a:ext cx="7158038" cy="1412875"/>
          </a:xfrm>
        </p:spPr>
        <p:txBody>
          <a:bodyPr>
            <a:normAutofit/>
          </a:bodyPr>
          <a:lstStyle/>
          <a:p>
            <a:pPr algn="ctr"/>
            <a:r>
              <a:rPr lang="en-US" b="1" dirty="0"/>
              <a:t>Transaction 4: </a:t>
            </a:r>
            <a:br>
              <a:rPr lang="en-US" b="1" dirty="0"/>
            </a:br>
            <a:r>
              <a:rPr lang="en-US" b="1" dirty="0"/>
              <a:t>Purchase Supplies on Credit</a:t>
            </a:r>
          </a:p>
        </p:txBody>
      </p:sp>
      <p:sp>
        <p:nvSpPr>
          <p:cNvPr id="47106" name="Rectangle 2"/>
          <p:cNvSpPr>
            <a:spLocks noGrp="1" noChangeArrowheads="1"/>
          </p:cNvSpPr>
          <p:nvPr>
            <p:ph idx="1"/>
          </p:nvPr>
        </p:nvSpPr>
        <p:spPr bwMode="auto">
          <a:xfrm>
            <a:off x="1866900" y="2928552"/>
            <a:ext cx="6934200" cy="3691919"/>
          </a:xfrm>
          <a:solidFill>
            <a:srgbClr val="FFFFFF"/>
          </a:solidFill>
          <a:ln>
            <a:solidFill>
              <a:srgbClr val="000000"/>
            </a:solidFill>
            <a:miter lim="800000"/>
            <a:headEnd/>
            <a:tailEnd/>
          </a:ln>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br>
              <a:rPr lang="en-US" dirty="0"/>
            </a:b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Supplies</a:t>
            </a:r>
            <a:r>
              <a:rPr lang="en-US" b="1" dirty="0">
                <a:solidFill>
                  <a:schemeClr val="hlink"/>
                </a:solidFill>
              </a:rPr>
              <a:t> </a:t>
            </a:r>
            <a:r>
              <a:rPr lang="en-US" b="1" dirty="0">
                <a:solidFill>
                  <a:srgbClr val="9A2F6F"/>
                </a:solidFill>
              </a:rPr>
              <a:t>(asset)</a:t>
            </a:r>
          </a:p>
          <a:p>
            <a:pPr>
              <a:buFont typeface="Wingdings" panose="05000000000000000000" pitchFamily="2" charset="2"/>
              <a:buNone/>
            </a:pPr>
            <a:endParaRPr lang="en-US" b="1" dirty="0">
              <a:solidFill>
                <a:srgbClr val="9A2F6F"/>
              </a:solidFill>
            </a:endParaRPr>
          </a:p>
          <a:p>
            <a:pPr>
              <a:buFont typeface="Wingdings" panose="05000000000000000000" pitchFamily="2" charset="2"/>
              <a:buNone/>
            </a:pPr>
            <a:r>
              <a:rPr lang="en-US" b="1" dirty="0">
                <a:solidFill>
                  <a:schemeClr val="hlink"/>
                </a:solidFill>
              </a:rPr>
              <a:t>	</a:t>
            </a:r>
            <a:r>
              <a:rPr lang="en-US" b="1" dirty="0"/>
              <a:t>(2) Accounts Payable</a:t>
            </a:r>
            <a:r>
              <a:rPr lang="en-US" b="1" dirty="0">
                <a:solidFill>
                  <a:schemeClr val="hlink"/>
                </a:solidFill>
              </a:rPr>
              <a:t> </a:t>
            </a:r>
            <a:r>
              <a:rPr lang="en-US" b="1" dirty="0">
                <a:solidFill>
                  <a:srgbClr val="9A2F6F"/>
                </a:solidFill>
              </a:rPr>
              <a:t>(liability)</a:t>
            </a:r>
          </a:p>
        </p:txBody>
      </p:sp>
      <p:sp>
        <p:nvSpPr>
          <p:cNvPr id="14" name="Slide Number Placeholder 3"/>
          <p:cNvSpPr>
            <a:spLocks noGrp="1"/>
          </p:cNvSpPr>
          <p:nvPr>
            <p:ph type="sldNum" sz="quarter" idx="12"/>
          </p:nvPr>
        </p:nvSpPr>
        <p:spPr bwMode="auto">
          <a:xfrm>
            <a:off x="6787356" y="646051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61</a:t>
            </a:fld>
            <a:endParaRPr lang="en-US" altLang="en-US" dirty="0">
              <a:solidFill>
                <a:srgbClr val="898989"/>
              </a:solidFill>
            </a:endParaRPr>
          </a:p>
        </p:txBody>
      </p:sp>
      <p:sp>
        <p:nvSpPr>
          <p:cNvPr id="47107" name="Rectangle 3"/>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7108" name="Rectangle 4"/>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7109" name="AutoShape 5"/>
          <p:cNvSpPr>
            <a:spLocks noChangeArrowheads="1"/>
          </p:cNvSpPr>
          <p:nvPr/>
        </p:nvSpPr>
        <p:spPr bwMode="auto">
          <a:xfrm rot="16200000">
            <a:off x="4515644" y="3589286"/>
            <a:ext cx="444500" cy="331788"/>
          </a:xfrm>
          <a:prstGeom prst="rightArrow">
            <a:avLst>
              <a:gd name="adj1" fmla="val 50000"/>
              <a:gd name="adj2" fmla="val 66992"/>
            </a:avLst>
          </a:prstGeom>
          <a:solidFill>
            <a:srgbClr val="00CC0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47111" name="AutoShape 7"/>
          <p:cNvSpPr>
            <a:spLocks noChangeArrowheads="1"/>
          </p:cNvSpPr>
          <p:nvPr/>
        </p:nvSpPr>
        <p:spPr bwMode="auto">
          <a:xfrm rot="16200000">
            <a:off x="5506244" y="4463571"/>
            <a:ext cx="444500" cy="331788"/>
          </a:xfrm>
          <a:prstGeom prst="rightArrow">
            <a:avLst>
              <a:gd name="adj1" fmla="val 50000"/>
              <a:gd name="adj2" fmla="val 66992"/>
            </a:avLst>
          </a:prstGeom>
          <a:solidFill>
            <a:srgbClr val="00CC0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47113" name="Rectangle 9"/>
          <p:cNvSpPr>
            <a:spLocks noChangeArrowheads="1"/>
          </p:cNvSpPr>
          <p:nvPr/>
        </p:nvSpPr>
        <p:spPr bwMode="auto">
          <a:xfrm>
            <a:off x="381000" y="1896485"/>
            <a:ext cx="8305800" cy="492443"/>
          </a:xfrm>
          <a:prstGeom prst="rect">
            <a:avLst/>
          </a:prstGeom>
          <a:solidFill>
            <a:srgbClr val="FFFF99"/>
          </a:solidFill>
          <a:ln>
            <a:noFill/>
          </a:ln>
          <a:effectLst/>
        </p:spPr>
        <p:txBody>
          <a:bodyPr lIns="0" tIns="0" rIns="0" bIns="0">
            <a:spAutoFit/>
          </a:bodyPr>
          <a:lstStyle/>
          <a:p>
            <a:pPr algn="ctr"/>
            <a:r>
              <a:rPr lang="en-US" sz="3200" b="1" dirty="0">
                <a:solidFill>
                  <a:prstClr val="black"/>
                </a:solidFill>
              </a:rPr>
              <a:t>Purchased supplies of $7,100 on credit.</a:t>
            </a:r>
          </a:p>
        </p:txBody>
      </p:sp>
      <p:sp>
        <p:nvSpPr>
          <p:cNvPr id="15" name="Rectangle 14"/>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1708205896"/>
      </p:ext>
    </p:extLst>
  </p:cSld>
  <p:clrMapOvr>
    <a:masterClrMapping/>
  </p:clrMapOvr>
  <p:transition>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113"/>
                                        </p:tgtEl>
                                        <p:attrNameLst>
                                          <p:attrName>style.visibility</p:attrName>
                                        </p:attrNameLst>
                                      </p:cBhvr>
                                      <p:to>
                                        <p:strVal val="visible"/>
                                      </p:to>
                                    </p:set>
                                    <p:animEffect transition="in" filter="fade">
                                      <p:cBhvr>
                                        <p:cTn id="7" dur="1000"/>
                                        <p:tgtEl>
                                          <p:spTgt spid="47113"/>
                                        </p:tgtEl>
                                      </p:cBhvr>
                                    </p:animEffect>
                                    <p:anim calcmode="lin" valueType="num">
                                      <p:cBhvr>
                                        <p:cTn id="8" dur="1000" fill="hold"/>
                                        <p:tgtEl>
                                          <p:spTgt spid="47113"/>
                                        </p:tgtEl>
                                        <p:attrNameLst>
                                          <p:attrName>ppt_x</p:attrName>
                                        </p:attrNameLst>
                                      </p:cBhvr>
                                      <p:tavLst>
                                        <p:tav tm="0">
                                          <p:val>
                                            <p:strVal val="#ppt_x"/>
                                          </p:val>
                                        </p:tav>
                                        <p:tav tm="100000">
                                          <p:val>
                                            <p:strVal val="#ppt_x"/>
                                          </p:val>
                                        </p:tav>
                                      </p:tavLst>
                                    </p:anim>
                                    <p:anim calcmode="lin" valueType="num">
                                      <p:cBhvr>
                                        <p:cTn id="9" dur="1000" fill="hold"/>
                                        <p:tgtEl>
                                          <p:spTgt spid="4711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7" presetClass="entr" presetSubtype="0" fill="hold" nodeType="afterEffect">
                                  <p:stCondLst>
                                    <p:cond delay="0"/>
                                  </p:stCondLst>
                                  <p:iterate type="lt">
                                    <p:tmPct val="50000"/>
                                  </p:iterate>
                                  <p:childTnLst>
                                    <p:set>
                                      <p:cBhvr>
                                        <p:cTn id="12" dur="1" fill="hold">
                                          <p:stCondLst>
                                            <p:cond delay="0"/>
                                          </p:stCondLst>
                                        </p:cTn>
                                        <p:tgtEl>
                                          <p:spTgt spid="47106">
                                            <p:txEl>
                                              <p:pRg st="0" end="0"/>
                                            </p:txEl>
                                          </p:spTgt>
                                        </p:tgtEl>
                                        <p:attrNameLst>
                                          <p:attrName>style.visibility</p:attrName>
                                        </p:attrNameLst>
                                      </p:cBhvr>
                                      <p:to>
                                        <p:strVal val="visible"/>
                                      </p:to>
                                    </p:set>
                                    <p:anim calcmode="discrete" valueType="clr">
                                      <p:cBhvr override="childStyle">
                                        <p:cTn id="13" dur="80"/>
                                        <p:tgtEl>
                                          <p:spTgt spid="4710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47106">
                                            <p:txEl>
                                              <p:pRg st="0" end="0"/>
                                            </p:txEl>
                                          </p:spTgt>
                                        </p:tgtEl>
                                        <p:attrNameLst>
                                          <p:attrName>fillcolor</p:attrName>
                                        </p:attrNameLst>
                                      </p:cBhvr>
                                      <p:tavLst>
                                        <p:tav tm="0">
                                          <p:val>
                                            <p:clrVal>
                                              <a:schemeClr val="accent2"/>
                                            </p:clrVal>
                                          </p:val>
                                        </p:tav>
                                        <p:tav tm="50000">
                                          <p:val>
                                            <p:clrVal>
                                              <a:schemeClr val="hlink"/>
                                            </p:clrVal>
                                          </p:val>
                                        </p:tav>
                                      </p:tavLst>
                                    </p:anim>
                                    <p:set>
                                      <p:cBhvr>
                                        <p:cTn id="15" dur="80"/>
                                        <p:tgtEl>
                                          <p:spTgt spid="47106">
                                            <p:txEl>
                                              <p:pRg st="0" end="0"/>
                                            </p:txEl>
                                          </p:spTgt>
                                        </p:tgtEl>
                                        <p:attrNameLst>
                                          <p:attrName>fill.type</p:attrName>
                                        </p:attrNameLst>
                                      </p:cBhvr>
                                      <p:to>
                                        <p:strVal val="solid"/>
                                      </p:to>
                                    </p:set>
                                  </p:childTnLst>
                                </p:cTn>
                              </p:par>
                            </p:childTnLst>
                          </p:cTn>
                        </p:par>
                      </p:childTnLst>
                    </p:cTn>
                  </p:par>
                  <p:par>
                    <p:cTn id="16" fill="hold">
                      <p:stCondLst>
                        <p:cond delay="indefinite"/>
                      </p:stCondLst>
                      <p:childTnLst>
                        <p:par>
                          <p:cTn id="17" fill="hold" nodeType="afterGroup">
                            <p:stCondLst>
                              <p:cond delay="0"/>
                            </p:stCondLst>
                            <p:childTnLst>
                              <p:par>
                                <p:cTn id="18" presetID="9" presetClass="entr" presetSubtype="0" fill="hold" nodeType="clickEffect">
                                  <p:stCondLst>
                                    <p:cond delay="0"/>
                                  </p:stCondLst>
                                  <p:childTnLst>
                                    <p:set>
                                      <p:cBhvr>
                                        <p:cTn id="19" dur="1" fill="hold">
                                          <p:stCondLst>
                                            <p:cond delay="0"/>
                                          </p:stCondLst>
                                        </p:cTn>
                                        <p:tgtEl>
                                          <p:spTgt spid="47106">
                                            <p:txEl>
                                              <p:pRg st="1" end="1"/>
                                            </p:txEl>
                                          </p:spTgt>
                                        </p:tgtEl>
                                        <p:attrNameLst>
                                          <p:attrName>style.visibility</p:attrName>
                                        </p:attrNameLst>
                                      </p:cBhvr>
                                      <p:to>
                                        <p:strVal val="visible"/>
                                      </p:to>
                                    </p:set>
                                    <p:animEffect transition="in" filter="dissolve">
                                      <p:cBhvr>
                                        <p:cTn id="20" dur="1000"/>
                                        <p:tgtEl>
                                          <p:spTgt spid="47106">
                                            <p:txEl>
                                              <p:pRg st="1" end="1"/>
                                            </p:txEl>
                                          </p:spTgt>
                                        </p:tgtEl>
                                      </p:cBhvr>
                                    </p:animEffect>
                                  </p:childTnLst>
                                </p:cTn>
                              </p:par>
                            </p:childTnLst>
                          </p:cTn>
                        </p:par>
                      </p:childTnLst>
                    </p:cTn>
                  </p:par>
                  <p:par>
                    <p:cTn id="21" fill="hold">
                      <p:stCondLst>
                        <p:cond delay="indefinite"/>
                      </p:stCondLst>
                      <p:childTnLst>
                        <p:par>
                          <p:cTn id="22" fill="hold" nodeType="afterGroup">
                            <p:stCondLst>
                              <p:cond delay="0"/>
                            </p:stCondLst>
                            <p:childTnLst>
                              <p:par>
                                <p:cTn id="23" presetID="9" presetClass="entr" presetSubtype="0" fill="hold" nodeType="clickEffect">
                                  <p:stCondLst>
                                    <p:cond delay="0"/>
                                  </p:stCondLst>
                                  <p:childTnLst>
                                    <p:set>
                                      <p:cBhvr>
                                        <p:cTn id="24" dur="1" fill="hold">
                                          <p:stCondLst>
                                            <p:cond delay="0"/>
                                          </p:stCondLst>
                                        </p:cTn>
                                        <p:tgtEl>
                                          <p:spTgt spid="47106">
                                            <p:txEl>
                                              <p:pRg st="3" end="3"/>
                                            </p:txEl>
                                          </p:spTgt>
                                        </p:tgtEl>
                                        <p:attrNameLst>
                                          <p:attrName>style.visibility</p:attrName>
                                        </p:attrNameLst>
                                      </p:cBhvr>
                                      <p:to>
                                        <p:strVal val="visible"/>
                                      </p:to>
                                    </p:set>
                                    <p:animEffect transition="in" filter="dissolve">
                                      <p:cBhvr>
                                        <p:cTn id="25" dur="1000"/>
                                        <p:tgtEl>
                                          <p:spTgt spid="47106">
                                            <p:txEl>
                                              <p:pRg st="3" end="3"/>
                                            </p:txEl>
                                          </p:spTgt>
                                        </p:tgtEl>
                                      </p:cBhvr>
                                    </p:animEffect>
                                  </p:childTnLst>
                                </p:cTn>
                              </p:par>
                            </p:childTnLst>
                          </p:cTn>
                        </p:par>
                        <p:par>
                          <p:cTn id="26" fill="hold" nodeType="afterGroup">
                            <p:stCondLst>
                              <p:cond delay="1000"/>
                            </p:stCondLst>
                            <p:childTnLst>
                              <p:par>
                                <p:cTn id="27" presetID="54" presetClass="entr" presetSubtype="0" accel="100000" fill="hold" grpId="0" nodeType="afterEffect">
                                  <p:stCondLst>
                                    <p:cond delay="0"/>
                                  </p:stCondLst>
                                  <p:childTnLst>
                                    <p:set>
                                      <p:cBhvr>
                                        <p:cTn id="28" dur="1" fill="hold">
                                          <p:stCondLst>
                                            <p:cond delay="0"/>
                                          </p:stCondLst>
                                        </p:cTn>
                                        <p:tgtEl>
                                          <p:spTgt spid="47109"/>
                                        </p:tgtEl>
                                        <p:attrNameLst>
                                          <p:attrName>style.visibility</p:attrName>
                                        </p:attrNameLst>
                                      </p:cBhvr>
                                      <p:to>
                                        <p:strVal val="visible"/>
                                      </p:to>
                                    </p:set>
                                    <p:anim calcmode="lin" valueType="num">
                                      <p:cBhvr>
                                        <p:cTn id="29" dur="2000" fill="hold"/>
                                        <p:tgtEl>
                                          <p:spTgt spid="47109"/>
                                        </p:tgtEl>
                                        <p:attrNameLst>
                                          <p:attrName>ppt_w</p:attrName>
                                        </p:attrNameLst>
                                      </p:cBhvr>
                                      <p:tavLst>
                                        <p:tav tm="0">
                                          <p:val>
                                            <p:strVal val="#ppt_w*0.05"/>
                                          </p:val>
                                        </p:tav>
                                        <p:tav tm="100000">
                                          <p:val>
                                            <p:strVal val="#ppt_w"/>
                                          </p:val>
                                        </p:tav>
                                      </p:tavLst>
                                    </p:anim>
                                    <p:anim calcmode="lin" valueType="num">
                                      <p:cBhvr>
                                        <p:cTn id="30" dur="2000" fill="hold"/>
                                        <p:tgtEl>
                                          <p:spTgt spid="47109"/>
                                        </p:tgtEl>
                                        <p:attrNameLst>
                                          <p:attrName>ppt_h</p:attrName>
                                        </p:attrNameLst>
                                      </p:cBhvr>
                                      <p:tavLst>
                                        <p:tav tm="0">
                                          <p:val>
                                            <p:strVal val="#ppt_h"/>
                                          </p:val>
                                        </p:tav>
                                        <p:tav tm="100000">
                                          <p:val>
                                            <p:strVal val="#ppt_h"/>
                                          </p:val>
                                        </p:tav>
                                      </p:tavLst>
                                    </p:anim>
                                    <p:anim calcmode="lin" valueType="num">
                                      <p:cBhvr>
                                        <p:cTn id="31" dur="2000" fill="hold"/>
                                        <p:tgtEl>
                                          <p:spTgt spid="47109"/>
                                        </p:tgtEl>
                                        <p:attrNameLst>
                                          <p:attrName>ppt_x</p:attrName>
                                        </p:attrNameLst>
                                      </p:cBhvr>
                                      <p:tavLst>
                                        <p:tav tm="0">
                                          <p:val>
                                            <p:strVal val="#ppt_x-.2"/>
                                          </p:val>
                                        </p:tav>
                                        <p:tav tm="100000">
                                          <p:val>
                                            <p:strVal val="#ppt_x"/>
                                          </p:val>
                                        </p:tav>
                                      </p:tavLst>
                                    </p:anim>
                                    <p:anim calcmode="lin" valueType="num">
                                      <p:cBhvr>
                                        <p:cTn id="32" dur="2000" fill="hold"/>
                                        <p:tgtEl>
                                          <p:spTgt spid="47109"/>
                                        </p:tgtEl>
                                        <p:attrNameLst>
                                          <p:attrName>ppt_y</p:attrName>
                                        </p:attrNameLst>
                                      </p:cBhvr>
                                      <p:tavLst>
                                        <p:tav tm="0">
                                          <p:val>
                                            <p:strVal val="#ppt_y"/>
                                          </p:val>
                                        </p:tav>
                                        <p:tav tm="100000">
                                          <p:val>
                                            <p:strVal val="#ppt_y"/>
                                          </p:val>
                                        </p:tav>
                                      </p:tavLst>
                                    </p:anim>
                                    <p:animEffect transition="in" filter="fade">
                                      <p:cBhvr>
                                        <p:cTn id="33" dur="2000"/>
                                        <p:tgtEl>
                                          <p:spTgt spid="47109"/>
                                        </p:tgtEl>
                                      </p:cBhvr>
                                    </p:animEffect>
                                  </p:childTnLst>
                                </p:cTn>
                              </p:par>
                            </p:childTnLst>
                          </p:cTn>
                        </p:par>
                        <p:par>
                          <p:cTn id="34" fill="hold" nodeType="afterGroup">
                            <p:stCondLst>
                              <p:cond delay="3000"/>
                            </p:stCondLst>
                            <p:childTnLst>
                              <p:par>
                                <p:cTn id="35" presetID="54" presetClass="entr" presetSubtype="0" accel="100000" fill="hold" grpId="0" nodeType="afterEffect">
                                  <p:stCondLst>
                                    <p:cond delay="0"/>
                                  </p:stCondLst>
                                  <p:childTnLst>
                                    <p:set>
                                      <p:cBhvr>
                                        <p:cTn id="36" dur="1" fill="hold">
                                          <p:stCondLst>
                                            <p:cond delay="0"/>
                                          </p:stCondLst>
                                        </p:cTn>
                                        <p:tgtEl>
                                          <p:spTgt spid="47111"/>
                                        </p:tgtEl>
                                        <p:attrNameLst>
                                          <p:attrName>style.visibility</p:attrName>
                                        </p:attrNameLst>
                                      </p:cBhvr>
                                      <p:to>
                                        <p:strVal val="visible"/>
                                      </p:to>
                                    </p:set>
                                    <p:anim calcmode="lin" valueType="num">
                                      <p:cBhvr>
                                        <p:cTn id="37" dur="2000" fill="hold"/>
                                        <p:tgtEl>
                                          <p:spTgt spid="47111"/>
                                        </p:tgtEl>
                                        <p:attrNameLst>
                                          <p:attrName>ppt_w</p:attrName>
                                        </p:attrNameLst>
                                      </p:cBhvr>
                                      <p:tavLst>
                                        <p:tav tm="0">
                                          <p:val>
                                            <p:strVal val="#ppt_w*0.05"/>
                                          </p:val>
                                        </p:tav>
                                        <p:tav tm="100000">
                                          <p:val>
                                            <p:strVal val="#ppt_w"/>
                                          </p:val>
                                        </p:tav>
                                      </p:tavLst>
                                    </p:anim>
                                    <p:anim calcmode="lin" valueType="num">
                                      <p:cBhvr>
                                        <p:cTn id="38" dur="2000" fill="hold"/>
                                        <p:tgtEl>
                                          <p:spTgt spid="47111"/>
                                        </p:tgtEl>
                                        <p:attrNameLst>
                                          <p:attrName>ppt_h</p:attrName>
                                        </p:attrNameLst>
                                      </p:cBhvr>
                                      <p:tavLst>
                                        <p:tav tm="0">
                                          <p:val>
                                            <p:strVal val="#ppt_h"/>
                                          </p:val>
                                        </p:tav>
                                        <p:tav tm="100000">
                                          <p:val>
                                            <p:strVal val="#ppt_h"/>
                                          </p:val>
                                        </p:tav>
                                      </p:tavLst>
                                    </p:anim>
                                    <p:anim calcmode="lin" valueType="num">
                                      <p:cBhvr>
                                        <p:cTn id="39" dur="2000" fill="hold"/>
                                        <p:tgtEl>
                                          <p:spTgt spid="47111"/>
                                        </p:tgtEl>
                                        <p:attrNameLst>
                                          <p:attrName>ppt_x</p:attrName>
                                        </p:attrNameLst>
                                      </p:cBhvr>
                                      <p:tavLst>
                                        <p:tav tm="0">
                                          <p:val>
                                            <p:strVal val="#ppt_x-.2"/>
                                          </p:val>
                                        </p:tav>
                                        <p:tav tm="100000">
                                          <p:val>
                                            <p:strVal val="#ppt_x"/>
                                          </p:val>
                                        </p:tav>
                                      </p:tavLst>
                                    </p:anim>
                                    <p:anim calcmode="lin" valueType="num">
                                      <p:cBhvr>
                                        <p:cTn id="40" dur="2000" fill="hold"/>
                                        <p:tgtEl>
                                          <p:spTgt spid="47111"/>
                                        </p:tgtEl>
                                        <p:attrNameLst>
                                          <p:attrName>ppt_y</p:attrName>
                                        </p:attrNameLst>
                                      </p:cBhvr>
                                      <p:tavLst>
                                        <p:tav tm="0">
                                          <p:val>
                                            <p:strVal val="#ppt_y"/>
                                          </p:val>
                                        </p:tav>
                                        <p:tav tm="100000">
                                          <p:val>
                                            <p:strVal val="#ppt_y"/>
                                          </p:val>
                                        </p:tav>
                                      </p:tavLst>
                                    </p:anim>
                                    <p:animEffect transition="in" filter="fade">
                                      <p:cBhvr>
                                        <p:cTn id="41" dur="2000"/>
                                        <p:tgtEl>
                                          <p:spTgt spid="47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animBg="1"/>
      <p:bldP spid="47111" grpId="0" animBg="1"/>
      <p:bldP spid="471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685800" y="62484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9155" name="Rectangle 3"/>
          <p:cNvSpPr>
            <a:spLocks noChangeArrowheads="1"/>
          </p:cNvSpPr>
          <p:nvPr/>
        </p:nvSpPr>
        <p:spPr bwMode="auto">
          <a:xfrm>
            <a:off x="3124200" y="62484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9156" name="Rectangle 4"/>
          <p:cNvSpPr>
            <a:spLocks noGrp="1" noChangeArrowheads="1"/>
          </p:cNvSpPr>
          <p:nvPr>
            <p:ph type="title"/>
          </p:nvPr>
        </p:nvSpPr>
        <p:spPr>
          <a:xfrm>
            <a:off x="992981" y="225425"/>
            <a:ext cx="7158038" cy="1412875"/>
          </a:xfrm>
        </p:spPr>
        <p:txBody>
          <a:bodyPr/>
          <a:lstStyle/>
          <a:p>
            <a:pPr algn="ctr"/>
            <a:r>
              <a:rPr lang="en-US" b="1" dirty="0"/>
              <a:t>Accounting Equation 4</a:t>
            </a:r>
          </a:p>
        </p:txBody>
      </p:sp>
      <p:sp>
        <p:nvSpPr>
          <p:cNvPr id="18" name="Slide Number Placeholder 3"/>
          <p:cNvSpPr>
            <a:spLocks noGrp="1"/>
          </p:cNvSpPr>
          <p:nvPr>
            <p:ph type="sldNum" sz="quarter" idx="12"/>
          </p:nvPr>
        </p:nvSpPr>
        <p:spPr bwMode="auto">
          <a:xfrm>
            <a:off x="6891701" y="6440336"/>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62</a:t>
            </a:fld>
            <a:endParaRPr lang="en-US" altLang="en-US" dirty="0">
              <a:solidFill>
                <a:srgbClr val="898989"/>
              </a:solidFill>
            </a:endParaRPr>
          </a:p>
        </p:txBody>
      </p:sp>
      <p:graphicFrame>
        <p:nvGraphicFramePr>
          <p:cNvPr id="49158" name="Object 6"/>
          <p:cNvGraphicFramePr>
            <a:graphicFrameLocks/>
          </p:cNvGraphicFramePr>
          <p:nvPr>
            <p:extLst>
              <p:ext uri="{D42A27DB-BD31-4B8C-83A1-F6EECF244321}">
                <p14:modId xmlns:p14="http://schemas.microsoft.com/office/powerpoint/2010/main" val="2520925946"/>
              </p:ext>
            </p:extLst>
          </p:nvPr>
        </p:nvGraphicFramePr>
        <p:xfrm>
          <a:off x="304800" y="2301893"/>
          <a:ext cx="8375650" cy="3656013"/>
        </p:xfrm>
        <a:graphic>
          <a:graphicData uri="http://schemas.openxmlformats.org/presentationml/2006/ole">
            <mc:AlternateContent xmlns:mc="http://schemas.openxmlformats.org/markup-compatibility/2006">
              <mc:Choice xmlns:v="urn:schemas-microsoft-com:vml" Requires="v">
                <p:oleObj spid="_x0000_s7229" name="Worksheet" r:id="rId4" imgW="4476960" imgH="1952607" progId="Excel.Sheet.8">
                  <p:embed/>
                </p:oleObj>
              </mc:Choice>
              <mc:Fallback>
                <p:oleObj name="Worksheet" r:id="rId4" imgW="4476960" imgH="1952607" progId="Excel.Sheet.8">
                  <p:embed/>
                  <p:pic>
                    <p:nvPicPr>
                      <p:cNvPr id="0" name=""/>
                      <p:cNvPicPr>
                        <a:picLocks noChangeArrowheads="1"/>
                      </p:cNvPicPr>
                      <p:nvPr/>
                    </p:nvPicPr>
                    <p:blipFill>
                      <a:blip r:embed="rId5"/>
                      <a:srcRect b="5867"/>
                      <a:stretch>
                        <a:fillRect/>
                      </a:stretch>
                    </p:blipFill>
                    <p:spPr bwMode="auto">
                      <a:xfrm>
                        <a:off x="304800" y="2301893"/>
                        <a:ext cx="8375650" cy="3656013"/>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49161" name="Oval 9"/>
          <p:cNvSpPr>
            <a:spLocks noChangeArrowheads="1"/>
          </p:cNvSpPr>
          <p:nvPr/>
        </p:nvSpPr>
        <p:spPr bwMode="auto">
          <a:xfrm>
            <a:off x="2217421" y="4762500"/>
            <a:ext cx="1028699" cy="433754"/>
          </a:xfrm>
          <a:prstGeom prst="ellipse">
            <a:avLst/>
          </a:prstGeom>
          <a:noFill/>
          <a:ln w="28575" algn="ctr">
            <a:solidFill>
              <a:srgbClr val="000099"/>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9163" name="Oval 11"/>
          <p:cNvSpPr>
            <a:spLocks noChangeArrowheads="1"/>
          </p:cNvSpPr>
          <p:nvPr/>
        </p:nvSpPr>
        <p:spPr bwMode="auto">
          <a:xfrm>
            <a:off x="4953000" y="4762500"/>
            <a:ext cx="914400" cy="457200"/>
          </a:xfrm>
          <a:prstGeom prst="ellipse">
            <a:avLst/>
          </a:prstGeom>
          <a:noFill/>
          <a:ln w="28575" algn="ctr">
            <a:solidFill>
              <a:srgbClr val="000099"/>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9164" name="Rectangle 12"/>
          <p:cNvSpPr>
            <a:spLocks noChangeArrowheads="1"/>
          </p:cNvSpPr>
          <p:nvPr/>
        </p:nvSpPr>
        <p:spPr bwMode="auto">
          <a:xfrm>
            <a:off x="467336" y="1562576"/>
            <a:ext cx="8305800" cy="492443"/>
          </a:xfrm>
          <a:prstGeom prst="rect">
            <a:avLst/>
          </a:prstGeom>
          <a:solidFill>
            <a:srgbClr val="FFFF99"/>
          </a:solidFill>
          <a:ln>
            <a:noFill/>
          </a:ln>
          <a:effectLst/>
        </p:spPr>
        <p:txBody>
          <a:bodyPr lIns="0" tIns="0" rIns="0" bIns="0">
            <a:spAutoFit/>
          </a:bodyPr>
          <a:lstStyle/>
          <a:p>
            <a:pPr algn="ctr"/>
            <a:r>
              <a:rPr lang="en-US" sz="3200" b="1" dirty="0">
                <a:solidFill>
                  <a:prstClr val="black"/>
                </a:solidFill>
              </a:rPr>
              <a:t>Purchased Supplies of $7,100 on credit.</a:t>
            </a:r>
          </a:p>
        </p:txBody>
      </p:sp>
      <p:sp>
        <p:nvSpPr>
          <p:cNvPr id="49165" name="AutoShape 13"/>
          <p:cNvSpPr>
            <a:spLocks noChangeArrowheads="1"/>
          </p:cNvSpPr>
          <p:nvPr/>
        </p:nvSpPr>
        <p:spPr bwMode="auto">
          <a:xfrm>
            <a:off x="5791200" y="3962400"/>
            <a:ext cx="2970213" cy="604838"/>
          </a:xfrm>
          <a:prstGeom prst="wedgeRoundRectCallout">
            <a:avLst>
              <a:gd name="adj1" fmla="val 59564"/>
              <a:gd name="adj2" fmla="val 167234"/>
              <a:gd name="adj3" fmla="val 16667"/>
            </a:avLst>
          </a:prstGeom>
          <a:solidFill>
            <a:srgbClr val="000099"/>
          </a:solidFill>
          <a:ln w="12700" algn="ctr">
            <a:solidFill>
              <a:srgbClr val="000099"/>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0" tIns="0" rIns="0" bIns="0" anchor="ctr">
            <a:spAutoFit/>
          </a:bodyPr>
          <a:lstStyle/>
          <a:p>
            <a:pPr algn="ctr"/>
            <a:r>
              <a:rPr lang="en-US" b="1" dirty="0">
                <a:solidFill>
                  <a:srgbClr val="FFFFFF"/>
                </a:solidFill>
              </a:rPr>
              <a:t>Accounting Equation </a:t>
            </a:r>
            <a:r>
              <a:rPr lang="en-US" b="1" u="sng" dirty="0">
                <a:solidFill>
                  <a:srgbClr val="FFFFFF"/>
                </a:solidFill>
              </a:rPr>
              <a:t>still</a:t>
            </a:r>
            <a:r>
              <a:rPr lang="en-US" b="1" dirty="0">
                <a:solidFill>
                  <a:srgbClr val="FFFFFF"/>
                </a:solidFill>
              </a:rPr>
              <a:t> remains in balance!!</a:t>
            </a:r>
          </a:p>
        </p:txBody>
      </p:sp>
      <p:sp>
        <p:nvSpPr>
          <p:cNvPr id="49166" name="Oval 14"/>
          <p:cNvSpPr>
            <a:spLocks noChangeArrowheads="1"/>
          </p:cNvSpPr>
          <p:nvPr/>
        </p:nvSpPr>
        <p:spPr bwMode="auto">
          <a:xfrm>
            <a:off x="1679144" y="5424698"/>
            <a:ext cx="1516493" cy="747501"/>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9167" name="Oval 15"/>
          <p:cNvSpPr>
            <a:spLocks noChangeArrowheads="1"/>
          </p:cNvSpPr>
          <p:nvPr/>
        </p:nvSpPr>
        <p:spPr bwMode="auto">
          <a:xfrm>
            <a:off x="5746569" y="5378165"/>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49168" name="Line 16"/>
          <p:cNvSpPr>
            <a:spLocks noChangeShapeType="1"/>
          </p:cNvSpPr>
          <p:nvPr/>
        </p:nvSpPr>
        <p:spPr bwMode="auto">
          <a:xfrm flipH="1" flipV="1">
            <a:off x="3124200" y="5987765"/>
            <a:ext cx="914400" cy="565435"/>
          </a:xfrm>
          <a:prstGeom prst="line">
            <a:avLst/>
          </a:prstGeom>
          <a:noFill/>
          <a:ln w="571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endParaRPr lang="en-US" dirty="0">
              <a:solidFill>
                <a:prstClr val="black"/>
              </a:solidFill>
            </a:endParaRPr>
          </a:p>
        </p:txBody>
      </p:sp>
      <p:sp>
        <p:nvSpPr>
          <p:cNvPr id="49169" name="Line 17"/>
          <p:cNvSpPr>
            <a:spLocks noChangeShapeType="1"/>
          </p:cNvSpPr>
          <p:nvPr/>
        </p:nvSpPr>
        <p:spPr bwMode="auto">
          <a:xfrm flipH="1" flipV="1">
            <a:off x="7162800" y="5987763"/>
            <a:ext cx="838200" cy="565436"/>
          </a:xfrm>
          <a:prstGeom prst="line">
            <a:avLst/>
          </a:prstGeom>
          <a:noFill/>
          <a:ln w="57150">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nchor="ctr"/>
          <a:lstStyle/>
          <a:p>
            <a:endParaRPr lang="en-US" dirty="0">
              <a:solidFill>
                <a:prstClr val="black"/>
              </a:solidFill>
            </a:endParaRPr>
          </a:p>
        </p:txBody>
      </p:sp>
      <p:sp>
        <p:nvSpPr>
          <p:cNvPr id="19" name="Rectangle 1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39375684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9164">
                                            <p:txEl>
                                              <p:pRg st="0" end="0"/>
                                            </p:txEl>
                                          </p:spTgt>
                                        </p:tgtEl>
                                        <p:attrNameLst>
                                          <p:attrName>style.visibility</p:attrName>
                                        </p:attrNameLst>
                                      </p:cBhvr>
                                      <p:to>
                                        <p:strVal val="visible"/>
                                      </p:to>
                                    </p:set>
                                    <p:animEffect transition="in" filter="fade">
                                      <p:cBhvr>
                                        <p:cTn id="7" dur="1000"/>
                                        <p:tgtEl>
                                          <p:spTgt spid="49164">
                                            <p:txEl>
                                              <p:pRg st="0" end="0"/>
                                            </p:txEl>
                                          </p:spTgt>
                                        </p:tgtEl>
                                      </p:cBhvr>
                                    </p:animEffect>
                                    <p:anim calcmode="lin" valueType="num">
                                      <p:cBhvr>
                                        <p:cTn id="8" dur="1000" fill="hold"/>
                                        <p:tgtEl>
                                          <p:spTgt spid="4916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9164">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9" presetClass="entr" presetSubtype="0" fill="hold" nodeType="afterEffect">
                                  <p:stCondLst>
                                    <p:cond delay="0"/>
                                  </p:stCondLst>
                                  <p:childTnLst>
                                    <p:set>
                                      <p:cBhvr>
                                        <p:cTn id="12" dur="1" fill="hold">
                                          <p:stCondLst>
                                            <p:cond delay="0"/>
                                          </p:stCondLst>
                                        </p:cTn>
                                        <p:tgtEl>
                                          <p:spTgt spid="49158"/>
                                        </p:tgtEl>
                                        <p:attrNameLst>
                                          <p:attrName>style.visibility</p:attrName>
                                        </p:attrNameLst>
                                      </p:cBhvr>
                                      <p:to>
                                        <p:strVal val="visible"/>
                                      </p:to>
                                    </p:set>
                                    <p:animEffect transition="in" filter="dissolve">
                                      <p:cBhvr>
                                        <p:cTn id="13" dur="2000"/>
                                        <p:tgtEl>
                                          <p:spTgt spid="49158"/>
                                        </p:tgtEl>
                                      </p:cBhvr>
                                    </p:animEffect>
                                  </p:childTnLst>
                                </p:cTn>
                              </p:par>
                            </p:childTnLst>
                          </p:cTn>
                        </p:par>
                      </p:childTnLst>
                    </p:cTn>
                  </p:par>
                  <p:par>
                    <p:cTn id="14" fill="hold">
                      <p:stCondLst>
                        <p:cond delay="indefinite"/>
                      </p:stCondLst>
                      <p:childTnLst>
                        <p:par>
                          <p:cTn id="15" fill="hold" nodeType="after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9161"/>
                                        </p:tgtEl>
                                        <p:attrNameLst>
                                          <p:attrName>style.visibility</p:attrName>
                                        </p:attrNameLst>
                                      </p:cBhvr>
                                      <p:to>
                                        <p:strVal val="visible"/>
                                      </p:to>
                                    </p:set>
                                    <p:animEffect transition="in" filter="dissolve">
                                      <p:cBhvr>
                                        <p:cTn id="18" dur="2000"/>
                                        <p:tgtEl>
                                          <p:spTgt spid="49161"/>
                                        </p:tgtEl>
                                      </p:cBhvr>
                                    </p:animEffect>
                                  </p:childTnLst>
                                </p:cTn>
                              </p:par>
                            </p:childTnLst>
                          </p:cTn>
                        </p:par>
                        <p:par>
                          <p:cTn id="19" fill="hold" nodeType="afterGroup">
                            <p:stCondLst>
                              <p:cond delay="2000"/>
                            </p:stCondLst>
                            <p:childTnLst>
                              <p:par>
                                <p:cTn id="20" presetID="9" presetClass="entr" presetSubtype="0" fill="hold" grpId="0" nodeType="afterEffect">
                                  <p:stCondLst>
                                    <p:cond delay="0"/>
                                  </p:stCondLst>
                                  <p:childTnLst>
                                    <p:set>
                                      <p:cBhvr>
                                        <p:cTn id="21" dur="1" fill="hold">
                                          <p:stCondLst>
                                            <p:cond delay="0"/>
                                          </p:stCondLst>
                                        </p:cTn>
                                        <p:tgtEl>
                                          <p:spTgt spid="49163"/>
                                        </p:tgtEl>
                                        <p:attrNameLst>
                                          <p:attrName>style.visibility</p:attrName>
                                        </p:attrNameLst>
                                      </p:cBhvr>
                                      <p:to>
                                        <p:strVal val="visible"/>
                                      </p:to>
                                    </p:set>
                                    <p:animEffect transition="in" filter="dissolve">
                                      <p:cBhvr>
                                        <p:cTn id="22" dur="2000"/>
                                        <p:tgtEl>
                                          <p:spTgt spid="49163"/>
                                        </p:tgtEl>
                                      </p:cBhvr>
                                    </p:animEffect>
                                  </p:childTnLst>
                                </p:cTn>
                              </p:par>
                            </p:childTnLst>
                          </p:cTn>
                        </p:par>
                      </p:childTnLst>
                    </p:cTn>
                  </p:par>
                  <p:par>
                    <p:cTn id="23" fill="hold">
                      <p:stCondLst>
                        <p:cond delay="indefinite"/>
                      </p:stCondLst>
                      <p:childTnLst>
                        <p:par>
                          <p:cTn id="24" fill="hold" nodeType="after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9166"/>
                                        </p:tgtEl>
                                        <p:attrNameLst>
                                          <p:attrName>style.visibility</p:attrName>
                                        </p:attrNameLst>
                                      </p:cBhvr>
                                      <p:to>
                                        <p:strVal val="visible"/>
                                      </p:to>
                                    </p:set>
                                    <p:animEffect transition="in" filter="dissolve">
                                      <p:cBhvr>
                                        <p:cTn id="27" dur="1000"/>
                                        <p:tgtEl>
                                          <p:spTgt spid="49166"/>
                                        </p:tgtEl>
                                      </p:cBhvr>
                                    </p:animEffect>
                                  </p:childTnLst>
                                </p:cTn>
                              </p:par>
                            </p:childTnLst>
                          </p:cTn>
                        </p:par>
                        <p:par>
                          <p:cTn id="28" fill="hold" nodeType="afterGroup">
                            <p:stCondLst>
                              <p:cond delay="1000"/>
                            </p:stCondLst>
                            <p:childTnLst>
                              <p:par>
                                <p:cTn id="29" presetID="37" presetClass="entr" presetSubtype="0" fill="hold" grpId="0" nodeType="afterEffect">
                                  <p:stCondLst>
                                    <p:cond delay="0"/>
                                  </p:stCondLst>
                                  <p:childTnLst>
                                    <p:set>
                                      <p:cBhvr>
                                        <p:cTn id="30" dur="1" fill="hold">
                                          <p:stCondLst>
                                            <p:cond delay="0"/>
                                          </p:stCondLst>
                                        </p:cTn>
                                        <p:tgtEl>
                                          <p:spTgt spid="49168"/>
                                        </p:tgtEl>
                                        <p:attrNameLst>
                                          <p:attrName>style.visibility</p:attrName>
                                        </p:attrNameLst>
                                      </p:cBhvr>
                                      <p:to>
                                        <p:strVal val="visible"/>
                                      </p:to>
                                    </p:set>
                                    <p:animEffect transition="in" filter="fade">
                                      <p:cBhvr>
                                        <p:cTn id="31" dur="1000"/>
                                        <p:tgtEl>
                                          <p:spTgt spid="49168"/>
                                        </p:tgtEl>
                                      </p:cBhvr>
                                    </p:animEffect>
                                    <p:anim calcmode="lin" valueType="num">
                                      <p:cBhvr>
                                        <p:cTn id="32" dur="1000" fill="hold"/>
                                        <p:tgtEl>
                                          <p:spTgt spid="49168"/>
                                        </p:tgtEl>
                                        <p:attrNameLst>
                                          <p:attrName>ppt_x</p:attrName>
                                        </p:attrNameLst>
                                      </p:cBhvr>
                                      <p:tavLst>
                                        <p:tav tm="0">
                                          <p:val>
                                            <p:strVal val="#ppt_x"/>
                                          </p:val>
                                        </p:tav>
                                        <p:tav tm="100000">
                                          <p:val>
                                            <p:strVal val="#ppt_x"/>
                                          </p:val>
                                        </p:tav>
                                      </p:tavLst>
                                    </p:anim>
                                    <p:anim calcmode="lin" valueType="num">
                                      <p:cBhvr>
                                        <p:cTn id="33" dur="900" decel="100000" fill="hold"/>
                                        <p:tgtEl>
                                          <p:spTgt spid="49168"/>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49168"/>
                                        </p:tgtEl>
                                        <p:attrNameLst>
                                          <p:attrName>ppt_y</p:attrName>
                                        </p:attrNameLst>
                                      </p:cBhvr>
                                      <p:tavLst>
                                        <p:tav tm="0">
                                          <p:val>
                                            <p:strVal val="#ppt_y-.03"/>
                                          </p:val>
                                        </p:tav>
                                        <p:tav tm="100000">
                                          <p:val>
                                            <p:strVal val="#ppt_y"/>
                                          </p:val>
                                        </p:tav>
                                      </p:tavLst>
                                    </p:anim>
                                  </p:childTnLst>
                                </p:cTn>
                              </p:par>
                            </p:childTnLst>
                          </p:cTn>
                        </p:par>
                        <p:par>
                          <p:cTn id="35" fill="hold">
                            <p:stCondLst>
                              <p:cond delay="2000"/>
                            </p:stCondLst>
                            <p:childTnLst>
                              <p:par>
                                <p:cTn id="36" presetID="37" presetClass="entr" presetSubtype="0" fill="hold" grpId="0" nodeType="afterEffect">
                                  <p:stCondLst>
                                    <p:cond delay="0"/>
                                  </p:stCondLst>
                                  <p:childTnLst>
                                    <p:set>
                                      <p:cBhvr>
                                        <p:cTn id="37" dur="1" fill="hold">
                                          <p:stCondLst>
                                            <p:cond delay="0"/>
                                          </p:stCondLst>
                                        </p:cTn>
                                        <p:tgtEl>
                                          <p:spTgt spid="49169"/>
                                        </p:tgtEl>
                                        <p:attrNameLst>
                                          <p:attrName>style.visibility</p:attrName>
                                        </p:attrNameLst>
                                      </p:cBhvr>
                                      <p:to>
                                        <p:strVal val="visible"/>
                                      </p:to>
                                    </p:set>
                                    <p:animEffect transition="in" filter="fade">
                                      <p:cBhvr>
                                        <p:cTn id="38" dur="1000"/>
                                        <p:tgtEl>
                                          <p:spTgt spid="49169"/>
                                        </p:tgtEl>
                                      </p:cBhvr>
                                    </p:animEffect>
                                    <p:anim calcmode="lin" valueType="num">
                                      <p:cBhvr>
                                        <p:cTn id="39" dur="1000" fill="hold"/>
                                        <p:tgtEl>
                                          <p:spTgt spid="49169"/>
                                        </p:tgtEl>
                                        <p:attrNameLst>
                                          <p:attrName>ppt_x</p:attrName>
                                        </p:attrNameLst>
                                      </p:cBhvr>
                                      <p:tavLst>
                                        <p:tav tm="0">
                                          <p:val>
                                            <p:strVal val="#ppt_x"/>
                                          </p:val>
                                        </p:tav>
                                        <p:tav tm="100000">
                                          <p:val>
                                            <p:strVal val="#ppt_x"/>
                                          </p:val>
                                        </p:tav>
                                      </p:tavLst>
                                    </p:anim>
                                    <p:anim calcmode="lin" valueType="num">
                                      <p:cBhvr>
                                        <p:cTn id="40" dur="900" decel="100000" fill="hold"/>
                                        <p:tgtEl>
                                          <p:spTgt spid="49169"/>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49169"/>
                                        </p:tgtEl>
                                        <p:attrNameLst>
                                          <p:attrName>ppt_y</p:attrName>
                                        </p:attrNameLst>
                                      </p:cBhvr>
                                      <p:tavLst>
                                        <p:tav tm="0">
                                          <p:val>
                                            <p:strVal val="#ppt_y-.03"/>
                                          </p:val>
                                        </p:tav>
                                        <p:tav tm="100000">
                                          <p:val>
                                            <p:strVal val="#ppt_y"/>
                                          </p:val>
                                        </p:tav>
                                      </p:tavLst>
                                    </p:anim>
                                  </p:childTnLst>
                                </p:cTn>
                              </p:par>
                            </p:childTnLst>
                          </p:cTn>
                        </p:par>
                        <p:par>
                          <p:cTn id="42" fill="hold" nodeType="afterGroup">
                            <p:stCondLst>
                              <p:cond delay="3000"/>
                            </p:stCondLst>
                            <p:childTnLst>
                              <p:par>
                                <p:cTn id="43" presetID="9" presetClass="entr" presetSubtype="0" fill="hold" grpId="0" nodeType="afterEffect">
                                  <p:stCondLst>
                                    <p:cond delay="0"/>
                                  </p:stCondLst>
                                  <p:childTnLst>
                                    <p:set>
                                      <p:cBhvr>
                                        <p:cTn id="44" dur="1" fill="hold">
                                          <p:stCondLst>
                                            <p:cond delay="0"/>
                                          </p:stCondLst>
                                        </p:cTn>
                                        <p:tgtEl>
                                          <p:spTgt spid="49167"/>
                                        </p:tgtEl>
                                        <p:attrNameLst>
                                          <p:attrName>style.visibility</p:attrName>
                                        </p:attrNameLst>
                                      </p:cBhvr>
                                      <p:to>
                                        <p:strVal val="visible"/>
                                      </p:to>
                                    </p:set>
                                    <p:animEffect transition="in" filter="dissolve">
                                      <p:cBhvr>
                                        <p:cTn id="45" dur="1000"/>
                                        <p:tgtEl>
                                          <p:spTgt spid="4916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9165"/>
                                        </p:tgtEl>
                                        <p:attrNameLst>
                                          <p:attrName>style.visibility</p:attrName>
                                        </p:attrNameLst>
                                      </p:cBhvr>
                                      <p:to>
                                        <p:strVal val="visible"/>
                                      </p:to>
                                    </p:set>
                                    <p:animEffect transition="in" filter="fade">
                                      <p:cBhvr>
                                        <p:cTn id="50" dur="2000"/>
                                        <p:tgtEl>
                                          <p:spTgt spid="49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1" grpId="0" animBg="1"/>
      <p:bldP spid="49163" grpId="0" animBg="1"/>
      <p:bldP spid="49165" grpId="0" animBg="1"/>
      <p:bldP spid="49166" grpId="0" animBg="1"/>
      <p:bldP spid="49167" grpId="0" animBg="1"/>
      <p:bldP spid="49168" grpId="0" animBg="1"/>
      <p:bldP spid="4916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764381" y="560228"/>
            <a:ext cx="7615238" cy="1412875"/>
          </a:xfrm>
        </p:spPr>
        <p:txBody>
          <a:bodyPr>
            <a:normAutofit/>
          </a:bodyPr>
          <a:lstStyle/>
          <a:p>
            <a:pPr algn="ctr"/>
            <a:r>
              <a:rPr lang="en-US" b="1" dirty="0"/>
              <a:t>Transaction Analysis: Revenues, Expenses </a:t>
            </a:r>
            <a:r>
              <a:rPr lang="en-US" b="1"/>
              <a:t>and D</a:t>
            </a:r>
            <a:r>
              <a:rPr lang="en-US" altLang="zh-CN" b="1"/>
              <a:t>ividend</a:t>
            </a:r>
            <a:endParaRPr lang="en-US" b="1" dirty="0"/>
          </a:p>
        </p:txBody>
      </p:sp>
      <p:sp>
        <p:nvSpPr>
          <p:cNvPr id="223235" name="Rectangle 3"/>
          <p:cNvSpPr>
            <a:spLocks noGrp="1" noChangeArrowheads="1"/>
          </p:cNvSpPr>
          <p:nvPr>
            <p:ph idx="1"/>
          </p:nvPr>
        </p:nvSpPr>
        <p:spPr bwMode="auto">
          <a:xfrm>
            <a:off x="914400" y="2514600"/>
            <a:ext cx="7661275" cy="4114800"/>
          </a:xfrm>
          <a:solidFill>
            <a:srgbClr val="FFFFFF"/>
          </a:solid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0" hangingPunct="0">
              <a:spcBef>
                <a:spcPct val="0"/>
              </a:spcBef>
              <a:buClrTx/>
              <a:buSzTx/>
              <a:buFontTx/>
              <a:buNone/>
            </a:pPr>
            <a:r>
              <a:rPr lang="en-US" b="1" dirty="0"/>
              <a:t>Now, let’s look at transactions involving revenues, expenses and dividends.</a:t>
            </a:r>
          </a:p>
          <a:p>
            <a:endParaRPr lang="en-US" dirty="0"/>
          </a:p>
        </p:txBody>
      </p:sp>
      <p:sp>
        <p:nvSpPr>
          <p:cNvPr id="7" name="Slide Number Placeholder 3"/>
          <p:cNvSpPr>
            <a:spLocks noGrp="1"/>
          </p:cNvSpPr>
          <p:nvPr>
            <p:ph type="sldNum" sz="quarter" idx="12"/>
          </p:nvPr>
        </p:nvSpPr>
        <p:spPr bwMode="auto">
          <a:xfrm>
            <a:off x="6629400" y="643356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63</a:t>
            </a:fld>
            <a:endParaRPr lang="en-US" altLang="en-US" dirty="0">
              <a:solidFill>
                <a:srgbClr val="898989"/>
              </a:solidFill>
            </a:endParaRPr>
          </a:p>
        </p:txBody>
      </p:sp>
      <p:sp>
        <p:nvSpPr>
          <p:cNvPr id="223236" name="AutoShape 4"/>
          <p:cNvSpPr>
            <a:spLocks noChangeArrowheads="1"/>
          </p:cNvSpPr>
          <p:nvPr/>
        </p:nvSpPr>
        <p:spPr bwMode="auto">
          <a:xfrm>
            <a:off x="5257800" y="4724400"/>
            <a:ext cx="3276600" cy="381000"/>
          </a:xfrm>
          <a:prstGeom prst="rightArrow">
            <a:avLst>
              <a:gd name="adj1" fmla="val 50000"/>
              <a:gd name="adj2" fmla="val 215000"/>
            </a:avLst>
          </a:prstGeom>
          <a:solidFill>
            <a:srgbClr val="FF0000"/>
          </a:solidFill>
          <a:ln w="12700">
            <a:solidFill>
              <a:schemeClr val="tx1"/>
            </a:solidFill>
            <a:miter lim="800000"/>
            <a:headEnd/>
            <a:tailEnd/>
          </a:ln>
          <a:effectLst>
            <a:outerShdw dist="63500" dir="2212194" algn="ctr" rotWithShape="0">
              <a:schemeClr val="bg2"/>
            </a:outerShdw>
          </a:effectLst>
        </p:spPr>
        <p:txBody>
          <a:bodyPr wrap="none" anchor="ctr"/>
          <a:lstStyle/>
          <a:p>
            <a:endParaRPr lang="en-US" dirty="0">
              <a:solidFill>
                <a:prstClr val="black"/>
              </a:solidFill>
            </a:endParaRPr>
          </a:p>
        </p:txBody>
      </p:sp>
      <p:sp>
        <p:nvSpPr>
          <p:cNvPr id="9" name="Rectangle 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7053930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3236"/>
                                        </p:tgtEl>
                                        <p:attrNameLst>
                                          <p:attrName>style.visibility</p:attrName>
                                        </p:attrNameLst>
                                      </p:cBhvr>
                                      <p:to>
                                        <p:strVal val="visible"/>
                                      </p:to>
                                    </p:set>
                                    <p:anim calcmode="lin" valueType="num">
                                      <p:cBhvr>
                                        <p:cTn id="7" dur="1000" fill="hold"/>
                                        <p:tgtEl>
                                          <p:spTgt spid="223236"/>
                                        </p:tgtEl>
                                        <p:attrNameLst>
                                          <p:attrName>ppt_w</p:attrName>
                                        </p:attrNameLst>
                                      </p:cBhvr>
                                      <p:tavLst>
                                        <p:tav tm="0">
                                          <p:val>
                                            <p:fltVal val="0"/>
                                          </p:val>
                                        </p:tav>
                                        <p:tav tm="100000">
                                          <p:val>
                                            <p:strVal val="#ppt_w"/>
                                          </p:val>
                                        </p:tav>
                                      </p:tavLst>
                                    </p:anim>
                                    <p:anim calcmode="lin" valueType="num">
                                      <p:cBhvr>
                                        <p:cTn id="8" dur="1000" fill="hold"/>
                                        <p:tgtEl>
                                          <p:spTgt spid="2232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5"/>
          <p:cNvSpPr>
            <a:spLocks noGrp="1" noChangeArrowheads="1"/>
          </p:cNvSpPr>
          <p:nvPr>
            <p:ph type="title"/>
          </p:nvPr>
        </p:nvSpPr>
        <p:spPr>
          <a:xfrm>
            <a:off x="992981" y="400120"/>
            <a:ext cx="7158038" cy="1412875"/>
          </a:xfrm>
        </p:spPr>
        <p:txBody>
          <a:bodyPr>
            <a:normAutofit/>
          </a:bodyPr>
          <a:lstStyle/>
          <a:p>
            <a:pPr algn="ctr"/>
            <a:r>
              <a:rPr lang="en-US" b="1" dirty="0"/>
              <a:t>Transaction 5:</a:t>
            </a:r>
            <a:br>
              <a:rPr lang="en-US" b="1" dirty="0"/>
            </a:br>
            <a:r>
              <a:rPr lang="en-US" b="1" dirty="0"/>
              <a:t>Provide Services for Cash</a:t>
            </a:r>
          </a:p>
        </p:txBody>
      </p:sp>
      <p:sp>
        <p:nvSpPr>
          <p:cNvPr id="55298" name="Rectangle 2"/>
          <p:cNvSpPr>
            <a:spLocks noGrp="1" noChangeArrowheads="1"/>
          </p:cNvSpPr>
          <p:nvPr>
            <p:ph idx="1"/>
          </p:nvPr>
        </p:nvSpPr>
        <p:spPr bwMode="auto">
          <a:xfrm>
            <a:off x="838200" y="3144838"/>
            <a:ext cx="8153400" cy="2549526"/>
          </a:xfrm>
          <a:solidFill>
            <a:srgbClr val="FFFFFF"/>
          </a:solidFill>
          <a:ln>
            <a:solidFill>
              <a:schemeClr val="bg1"/>
            </a:solidFill>
            <a:miter lim="800000"/>
            <a:headEnd/>
            <a:tailEnd/>
          </a:ln>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Cash</a:t>
            </a:r>
            <a:r>
              <a:rPr lang="en-US" b="1" dirty="0">
                <a:solidFill>
                  <a:schemeClr val="hlink"/>
                </a:solidFill>
              </a:rPr>
              <a:t> </a:t>
            </a:r>
            <a:r>
              <a:rPr lang="en-US" b="1" dirty="0">
                <a:solidFill>
                  <a:srgbClr val="9A2F6F"/>
                </a:solidFill>
              </a:rPr>
              <a:t>(asset)</a:t>
            </a:r>
            <a:r>
              <a:rPr lang="en-US" b="1" dirty="0">
                <a:solidFill>
                  <a:schemeClr val="hlink"/>
                </a:solidFill>
              </a:rPr>
              <a:t> </a:t>
            </a:r>
          </a:p>
          <a:p>
            <a:pPr>
              <a:buFont typeface="Wingdings" panose="05000000000000000000" pitchFamily="2" charset="2"/>
              <a:buNone/>
            </a:pPr>
            <a:endParaRPr lang="en-US" b="1" dirty="0">
              <a:solidFill>
                <a:schemeClr val="hlink"/>
              </a:solidFill>
            </a:endParaRPr>
          </a:p>
          <a:p>
            <a:pPr>
              <a:buFont typeface="Wingdings" panose="05000000000000000000" pitchFamily="2" charset="2"/>
              <a:buNone/>
            </a:pPr>
            <a:r>
              <a:rPr lang="en-US" b="1" dirty="0">
                <a:solidFill>
                  <a:schemeClr val="hlink"/>
                </a:solidFill>
              </a:rPr>
              <a:t>	</a:t>
            </a:r>
            <a:r>
              <a:rPr lang="en-US" b="1" dirty="0"/>
              <a:t>(2) Revenues</a:t>
            </a:r>
            <a:r>
              <a:rPr lang="en-US" b="1" dirty="0">
                <a:solidFill>
                  <a:schemeClr val="hlink"/>
                </a:solidFill>
              </a:rPr>
              <a:t> </a:t>
            </a:r>
            <a:r>
              <a:rPr lang="en-US" b="1" dirty="0">
                <a:solidFill>
                  <a:srgbClr val="9A2F6F"/>
                </a:solidFill>
              </a:rPr>
              <a:t>(equity)</a:t>
            </a:r>
            <a:r>
              <a:rPr lang="en-US" dirty="0"/>
              <a:t> </a:t>
            </a:r>
          </a:p>
        </p:txBody>
      </p:sp>
      <p:sp>
        <p:nvSpPr>
          <p:cNvPr id="12" name="Slide Number Placeholder 3"/>
          <p:cNvSpPr>
            <a:spLocks noGrp="1"/>
          </p:cNvSpPr>
          <p:nvPr>
            <p:ph type="sldNum" sz="quarter" idx="12"/>
          </p:nvPr>
        </p:nvSpPr>
        <p:spPr bwMode="auto">
          <a:xfrm>
            <a:off x="6790063" y="6459499"/>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64</a:t>
            </a:fld>
            <a:endParaRPr lang="en-US" altLang="en-US" dirty="0">
              <a:solidFill>
                <a:srgbClr val="898989"/>
              </a:solidFill>
            </a:endParaRPr>
          </a:p>
        </p:txBody>
      </p:sp>
      <p:sp>
        <p:nvSpPr>
          <p:cNvPr id="55299" name="AutoShape 3"/>
          <p:cNvSpPr>
            <a:spLocks noChangeArrowheads="1"/>
          </p:cNvSpPr>
          <p:nvPr/>
        </p:nvSpPr>
        <p:spPr bwMode="auto">
          <a:xfrm rot="16200000">
            <a:off x="3716662" y="4387394"/>
            <a:ext cx="381000" cy="284163"/>
          </a:xfrm>
          <a:prstGeom prst="rightArrow">
            <a:avLst>
              <a:gd name="adj1" fmla="val 50000"/>
              <a:gd name="adj2" fmla="val 67045"/>
            </a:avLst>
          </a:prstGeom>
          <a:solidFill>
            <a:srgbClr val="00CC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55300" name="AutoShape 4"/>
          <p:cNvSpPr>
            <a:spLocks noChangeArrowheads="1"/>
          </p:cNvSpPr>
          <p:nvPr/>
        </p:nvSpPr>
        <p:spPr bwMode="auto">
          <a:xfrm rot="16200000">
            <a:off x="3304382" y="3497292"/>
            <a:ext cx="381000" cy="284163"/>
          </a:xfrm>
          <a:prstGeom prst="rightArrow">
            <a:avLst>
              <a:gd name="adj1" fmla="val 50000"/>
              <a:gd name="adj2" fmla="val 67045"/>
            </a:avLst>
          </a:prstGeom>
          <a:solidFill>
            <a:srgbClr val="00CC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55302" name="Rectangle 6"/>
          <p:cNvSpPr>
            <a:spLocks noChangeArrowheads="1"/>
          </p:cNvSpPr>
          <p:nvPr/>
        </p:nvSpPr>
        <p:spPr bwMode="auto">
          <a:xfrm>
            <a:off x="609600" y="1842931"/>
            <a:ext cx="7924800" cy="1160463"/>
          </a:xfrm>
          <a:prstGeom prst="rect">
            <a:avLst/>
          </a:prstGeom>
          <a:solidFill>
            <a:srgbClr val="FFFF99"/>
          </a:solidFill>
          <a:ln>
            <a:noFill/>
          </a:ln>
          <a:effectLst/>
        </p:spPr>
        <p:txBody>
          <a:bodyPr lIns="90488" tIns="44450" rIns="90488" bIns="44450"/>
          <a:lstStyle/>
          <a:p>
            <a:pPr algn="ctr"/>
            <a:r>
              <a:rPr lang="en-US" sz="2800" b="1" dirty="0">
                <a:solidFill>
                  <a:srgbClr val="0000FF"/>
                </a:solidFill>
                <a:latin typeface="Arial" panose="020B0604020202020204" pitchFamily="34" charset="0"/>
              </a:rPr>
              <a:t>Provided </a:t>
            </a:r>
            <a:r>
              <a:rPr lang="en-US" sz="2800" b="1" u="sng" dirty="0">
                <a:solidFill>
                  <a:srgbClr val="0000FF"/>
                </a:solidFill>
                <a:latin typeface="Arial" panose="020B0604020202020204" pitchFamily="34" charset="0"/>
              </a:rPr>
              <a:t>consulting services</a:t>
            </a:r>
            <a:r>
              <a:rPr lang="en-US" sz="2800" b="1" dirty="0">
                <a:solidFill>
                  <a:srgbClr val="0000FF"/>
                </a:solidFill>
                <a:latin typeface="Arial" panose="020B0604020202020204" pitchFamily="34" charset="0"/>
              </a:rPr>
              <a:t> to a customer </a:t>
            </a:r>
            <a:br>
              <a:rPr lang="en-US" sz="2800" b="1" dirty="0">
                <a:solidFill>
                  <a:srgbClr val="0000FF"/>
                </a:solidFill>
                <a:latin typeface="Arial" panose="020B0604020202020204" pitchFamily="34" charset="0"/>
              </a:rPr>
            </a:br>
            <a:r>
              <a:rPr lang="en-US" sz="2800" b="1" dirty="0">
                <a:solidFill>
                  <a:srgbClr val="0000FF"/>
                </a:solidFill>
                <a:latin typeface="Arial" panose="020B0604020202020204" pitchFamily="34" charset="0"/>
              </a:rPr>
              <a:t>and received $4,200 cash right away.</a:t>
            </a:r>
          </a:p>
        </p:txBody>
      </p:sp>
      <p:sp>
        <p:nvSpPr>
          <p:cNvPr id="13" name="Rectangle 12"/>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3553671612"/>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302"/>
                                        </p:tgtEl>
                                        <p:attrNameLst>
                                          <p:attrName>style.visibility</p:attrName>
                                        </p:attrNameLst>
                                      </p:cBhvr>
                                      <p:to>
                                        <p:strVal val="visible"/>
                                      </p:to>
                                    </p:set>
                                    <p:animEffect transition="in" filter="fade">
                                      <p:cBhvr>
                                        <p:cTn id="7" dur="1000"/>
                                        <p:tgtEl>
                                          <p:spTgt spid="55302"/>
                                        </p:tgtEl>
                                      </p:cBhvr>
                                    </p:animEffect>
                                    <p:anim calcmode="lin" valueType="num">
                                      <p:cBhvr>
                                        <p:cTn id="8" dur="1000" fill="hold"/>
                                        <p:tgtEl>
                                          <p:spTgt spid="55302"/>
                                        </p:tgtEl>
                                        <p:attrNameLst>
                                          <p:attrName>ppt_x</p:attrName>
                                        </p:attrNameLst>
                                      </p:cBhvr>
                                      <p:tavLst>
                                        <p:tav tm="0">
                                          <p:val>
                                            <p:strVal val="#ppt_x"/>
                                          </p:val>
                                        </p:tav>
                                        <p:tav tm="100000">
                                          <p:val>
                                            <p:strVal val="#ppt_x"/>
                                          </p:val>
                                        </p:tav>
                                      </p:tavLst>
                                    </p:anim>
                                    <p:anim calcmode="lin" valueType="num">
                                      <p:cBhvr>
                                        <p:cTn id="9" dur="1000" fill="hold"/>
                                        <p:tgtEl>
                                          <p:spTgt spid="5530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55298">
                                            <p:txEl>
                                              <p:pRg st="0" end="0"/>
                                            </p:txEl>
                                          </p:spTgt>
                                        </p:tgtEl>
                                        <p:attrNameLst>
                                          <p:attrName>style.visibility</p:attrName>
                                        </p:attrNameLst>
                                      </p:cBhvr>
                                      <p:to>
                                        <p:strVal val="visible"/>
                                      </p:to>
                                    </p:set>
                                    <p:anim calcmode="lin" valueType="num">
                                      <p:cBhvr additive="base">
                                        <p:cTn id="13" dur="500" fill="hold"/>
                                        <p:tgtEl>
                                          <p:spTgt spid="5529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54" presetClass="entr" presetSubtype="0" accel="100000" fill="hold" nodeType="clickEffect">
                                  <p:stCondLst>
                                    <p:cond delay="0"/>
                                  </p:stCondLst>
                                  <p:childTnLst>
                                    <p:set>
                                      <p:cBhvr>
                                        <p:cTn id="18" dur="1" fill="hold">
                                          <p:stCondLst>
                                            <p:cond delay="0"/>
                                          </p:stCondLst>
                                        </p:cTn>
                                        <p:tgtEl>
                                          <p:spTgt spid="55298">
                                            <p:txEl>
                                              <p:pRg st="1" end="1"/>
                                            </p:txEl>
                                          </p:spTgt>
                                        </p:tgtEl>
                                        <p:attrNameLst>
                                          <p:attrName>style.visibility</p:attrName>
                                        </p:attrNameLst>
                                      </p:cBhvr>
                                      <p:to>
                                        <p:strVal val="visible"/>
                                      </p:to>
                                    </p:set>
                                    <p:anim calcmode="lin" valueType="num">
                                      <p:cBhvr>
                                        <p:cTn id="19" dur="1000" fill="hold"/>
                                        <p:tgtEl>
                                          <p:spTgt spid="55298">
                                            <p:txEl>
                                              <p:pRg st="1" end="1"/>
                                            </p:txEl>
                                          </p:spTgt>
                                        </p:tgtEl>
                                        <p:attrNameLst>
                                          <p:attrName>ppt_w</p:attrName>
                                        </p:attrNameLst>
                                      </p:cBhvr>
                                      <p:tavLst>
                                        <p:tav tm="0">
                                          <p:val>
                                            <p:strVal val="#ppt_w*0.05"/>
                                          </p:val>
                                        </p:tav>
                                        <p:tav tm="100000">
                                          <p:val>
                                            <p:strVal val="#ppt_w"/>
                                          </p:val>
                                        </p:tav>
                                      </p:tavLst>
                                    </p:anim>
                                    <p:anim calcmode="lin" valueType="num">
                                      <p:cBhvr>
                                        <p:cTn id="20" dur="1000" fill="hold"/>
                                        <p:tgtEl>
                                          <p:spTgt spid="55298">
                                            <p:txEl>
                                              <p:pRg st="1" end="1"/>
                                            </p:txEl>
                                          </p:spTgt>
                                        </p:tgtEl>
                                        <p:attrNameLst>
                                          <p:attrName>ppt_h</p:attrName>
                                        </p:attrNameLst>
                                      </p:cBhvr>
                                      <p:tavLst>
                                        <p:tav tm="0">
                                          <p:val>
                                            <p:strVal val="#ppt_h"/>
                                          </p:val>
                                        </p:tav>
                                        <p:tav tm="100000">
                                          <p:val>
                                            <p:strVal val="#ppt_h"/>
                                          </p:val>
                                        </p:tav>
                                      </p:tavLst>
                                    </p:anim>
                                    <p:anim calcmode="lin" valueType="num">
                                      <p:cBhvr>
                                        <p:cTn id="21" dur="1000" fill="hold"/>
                                        <p:tgtEl>
                                          <p:spTgt spid="55298">
                                            <p:txEl>
                                              <p:pRg st="1" end="1"/>
                                            </p:txEl>
                                          </p:spTgt>
                                        </p:tgtEl>
                                        <p:attrNameLst>
                                          <p:attrName>ppt_x</p:attrName>
                                        </p:attrNameLst>
                                      </p:cBhvr>
                                      <p:tavLst>
                                        <p:tav tm="0">
                                          <p:val>
                                            <p:strVal val="#ppt_x-.2"/>
                                          </p:val>
                                        </p:tav>
                                        <p:tav tm="100000">
                                          <p:val>
                                            <p:strVal val="#ppt_x"/>
                                          </p:val>
                                        </p:tav>
                                      </p:tavLst>
                                    </p:anim>
                                    <p:anim calcmode="lin" valueType="num">
                                      <p:cBhvr>
                                        <p:cTn id="22" dur="1000" fill="hold"/>
                                        <p:tgtEl>
                                          <p:spTgt spid="55298">
                                            <p:txEl>
                                              <p:pRg st="1" end="1"/>
                                            </p:txEl>
                                          </p:spTgt>
                                        </p:tgtEl>
                                        <p:attrNameLst>
                                          <p:attrName>ppt_y</p:attrName>
                                        </p:attrNameLst>
                                      </p:cBhvr>
                                      <p:tavLst>
                                        <p:tav tm="0">
                                          <p:val>
                                            <p:strVal val="#ppt_y"/>
                                          </p:val>
                                        </p:tav>
                                        <p:tav tm="100000">
                                          <p:val>
                                            <p:strVal val="#ppt_y"/>
                                          </p:val>
                                        </p:tav>
                                      </p:tavLst>
                                    </p:anim>
                                    <p:animEffect transition="in" filter="fade">
                                      <p:cBhvr>
                                        <p:cTn id="23" dur="1000"/>
                                        <p:tgtEl>
                                          <p:spTgt spid="55298">
                                            <p:txEl>
                                              <p:pRg st="1" end="1"/>
                                            </p:txEl>
                                          </p:spTgt>
                                        </p:tgtEl>
                                      </p:cBhvr>
                                    </p:animEffect>
                                  </p:childTnLst>
                                </p:cTn>
                              </p:par>
                            </p:childTnLst>
                          </p:cTn>
                        </p:par>
                      </p:childTnLst>
                    </p:cTn>
                  </p:par>
                  <p:par>
                    <p:cTn id="24" fill="hold">
                      <p:stCondLst>
                        <p:cond delay="indefinite"/>
                      </p:stCondLst>
                      <p:childTnLst>
                        <p:par>
                          <p:cTn id="25" fill="hold" nodeType="afterGroup">
                            <p:stCondLst>
                              <p:cond delay="0"/>
                            </p:stCondLst>
                            <p:childTnLst>
                              <p:par>
                                <p:cTn id="26" presetID="54" presetClass="entr" presetSubtype="0" accel="100000" fill="hold" nodeType="clickEffect">
                                  <p:stCondLst>
                                    <p:cond delay="0"/>
                                  </p:stCondLst>
                                  <p:childTnLst>
                                    <p:set>
                                      <p:cBhvr>
                                        <p:cTn id="27" dur="1" fill="hold">
                                          <p:stCondLst>
                                            <p:cond delay="0"/>
                                          </p:stCondLst>
                                        </p:cTn>
                                        <p:tgtEl>
                                          <p:spTgt spid="55298">
                                            <p:txEl>
                                              <p:pRg st="3" end="3"/>
                                            </p:txEl>
                                          </p:spTgt>
                                        </p:tgtEl>
                                        <p:attrNameLst>
                                          <p:attrName>style.visibility</p:attrName>
                                        </p:attrNameLst>
                                      </p:cBhvr>
                                      <p:to>
                                        <p:strVal val="visible"/>
                                      </p:to>
                                    </p:set>
                                    <p:anim calcmode="lin" valueType="num">
                                      <p:cBhvr>
                                        <p:cTn id="28" dur="1000" fill="hold"/>
                                        <p:tgtEl>
                                          <p:spTgt spid="55298">
                                            <p:txEl>
                                              <p:pRg st="3" end="3"/>
                                            </p:txEl>
                                          </p:spTgt>
                                        </p:tgtEl>
                                        <p:attrNameLst>
                                          <p:attrName>ppt_w</p:attrName>
                                        </p:attrNameLst>
                                      </p:cBhvr>
                                      <p:tavLst>
                                        <p:tav tm="0">
                                          <p:val>
                                            <p:strVal val="#ppt_w*0.05"/>
                                          </p:val>
                                        </p:tav>
                                        <p:tav tm="100000">
                                          <p:val>
                                            <p:strVal val="#ppt_w"/>
                                          </p:val>
                                        </p:tav>
                                      </p:tavLst>
                                    </p:anim>
                                    <p:anim calcmode="lin" valueType="num">
                                      <p:cBhvr>
                                        <p:cTn id="29" dur="1000" fill="hold"/>
                                        <p:tgtEl>
                                          <p:spTgt spid="55298">
                                            <p:txEl>
                                              <p:pRg st="3" end="3"/>
                                            </p:txEl>
                                          </p:spTgt>
                                        </p:tgtEl>
                                        <p:attrNameLst>
                                          <p:attrName>ppt_h</p:attrName>
                                        </p:attrNameLst>
                                      </p:cBhvr>
                                      <p:tavLst>
                                        <p:tav tm="0">
                                          <p:val>
                                            <p:strVal val="#ppt_h"/>
                                          </p:val>
                                        </p:tav>
                                        <p:tav tm="100000">
                                          <p:val>
                                            <p:strVal val="#ppt_h"/>
                                          </p:val>
                                        </p:tav>
                                      </p:tavLst>
                                    </p:anim>
                                    <p:anim calcmode="lin" valueType="num">
                                      <p:cBhvr>
                                        <p:cTn id="30" dur="1000" fill="hold"/>
                                        <p:tgtEl>
                                          <p:spTgt spid="55298">
                                            <p:txEl>
                                              <p:pRg st="3" end="3"/>
                                            </p:txEl>
                                          </p:spTgt>
                                        </p:tgtEl>
                                        <p:attrNameLst>
                                          <p:attrName>ppt_x</p:attrName>
                                        </p:attrNameLst>
                                      </p:cBhvr>
                                      <p:tavLst>
                                        <p:tav tm="0">
                                          <p:val>
                                            <p:strVal val="#ppt_x-.2"/>
                                          </p:val>
                                        </p:tav>
                                        <p:tav tm="100000">
                                          <p:val>
                                            <p:strVal val="#ppt_x"/>
                                          </p:val>
                                        </p:tav>
                                      </p:tavLst>
                                    </p:anim>
                                    <p:anim calcmode="lin" valueType="num">
                                      <p:cBhvr>
                                        <p:cTn id="31" dur="1000" fill="hold"/>
                                        <p:tgtEl>
                                          <p:spTgt spid="55298">
                                            <p:txEl>
                                              <p:pRg st="3" end="3"/>
                                            </p:txEl>
                                          </p:spTgt>
                                        </p:tgtEl>
                                        <p:attrNameLst>
                                          <p:attrName>ppt_y</p:attrName>
                                        </p:attrNameLst>
                                      </p:cBhvr>
                                      <p:tavLst>
                                        <p:tav tm="0">
                                          <p:val>
                                            <p:strVal val="#ppt_y"/>
                                          </p:val>
                                        </p:tav>
                                        <p:tav tm="100000">
                                          <p:val>
                                            <p:strVal val="#ppt_y"/>
                                          </p:val>
                                        </p:tav>
                                      </p:tavLst>
                                    </p:anim>
                                    <p:animEffect transition="in" filter="fade">
                                      <p:cBhvr>
                                        <p:cTn id="32" dur="1000"/>
                                        <p:tgtEl>
                                          <p:spTgt spid="55298">
                                            <p:txEl>
                                              <p:pRg st="3" end="3"/>
                                            </p:txEl>
                                          </p:spTgt>
                                        </p:tgtEl>
                                      </p:cBhvr>
                                    </p:animEffect>
                                  </p:childTnLst>
                                </p:cTn>
                              </p:par>
                            </p:childTnLst>
                          </p:cTn>
                        </p:par>
                        <p:par>
                          <p:cTn id="33" fill="hold" nodeType="afterGroup">
                            <p:stCondLst>
                              <p:cond delay="1000"/>
                            </p:stCondLst>
                            <p:childTnLst>
                              <p:par>
                                <p:cTn id="34" presetID="29" presetClass="entr" presetSubtype="0" fill="hold" grpId="0" nodeType="afterEffect">
                                  <p:stCondLst>
                                    <p:cond delay="0"/>
                                  </p:stCondLst>
                                  <p:childTnLst>
                                    <p:set>
                                      <p:cBhvr>
                                        <p:cTn id="35" dur="1" fill="hold">
                                          <p:stCondLst>
                                            <p:cond delay="0"/>
                                          </p:stCondLst>
                                        </p:cTn>
                                        <p:tgtEl>
                                          <p:spTgt spid="55300"/>
                                        </p:tgtEl>
                                        <p:attrNameLst>
                                          <p:attrName>style.visibility</p:attrName>
                                        </p:attrNameLst>
                                      </p:cBhvr>
                                      <p:to>
                                        <p:strVal val="visible"/>
                                      </p:to>
                                    </p:set>
                                    <p:anim calcmode="lin" valueType="num">
                                      <p:cBhvr>
                                        <p:cTn id="36" dur="2000" fill="hold"/>
                                        <p:tgtEl>
                                          <p:spTgt spid="55300"/>
                                        </p:tgtEl>
                                        <p:attrNameLst>
                                          <p:attrName>ppt_x</p:attrName>
                                        </p:attrNameLst>
                                      </p:cBhvr>
                                      <p:tavLst>
                                        <p:tav tm="0">
                                          <p:val>
                                            <p:strVal val="#ppt_x-.2"/>
                                          </p:val>
                                        </p:tav>
                                        <p:tav tm="100000">
                                          <p:val>
                                            <p:strVal val="#ppt_x"/>
                                          </p:val>
                                        </p:tav>
                                      </p:tavLst>
                                    </p:anim>
                                    <p:anim calcmode="lin" valueType="num">
                                      <p:cBhvr>
                                        <p:cTn id="37" dur="2000" fill="hold"/>
                                        <p:tgtEl>
                                          <p:spTgt spid="55300"/>
                                        </p:tgtEl>
                                        <p:attrNameLst>
                                          <p:attrName>ppt_y</p:attrName>
                                        </p:attrNameLst>
                                      </p:cBhvr>
                                      <p:tavLst>
                                        <p:tav tm="0">
                                          <p:val>
                                            <p:strVal val="#ppt_y"/>
                                          </p:val>
                                        </p:tav>
                                        <p:tav tm="100000">
                                          <p:val>
                                            <p:strVal val="#ppt_y"/>
                                          </p:val>
                                        </p:tav>
                                      </p:tavLst>
                                    </p:anim>
                                    <p:animEffect transition="in" filter="wipe(right)" prLst="gradientSize: 0.1">
                                      <p:cBhvr>
                                        <p:cTn id="38" dur="2000"/>
                                        <p:tgtEl>
                                          <p:spTgt spid="55300"/>
                                        </p:tgtEl>
                                      </p:cBhvr>
                                    </p:animEffect>
                                  </p:childTnLst>
                                </p:cTn>
                              </p:par>
                            </p:childTnLst>
                          </p:cTn>
                        </p:par>
                        <p:par>
                          <p:cTn id="39" fill="hold" nodeType="afterGroup">
                            <p:stCondLst>
                              <p:cond delay="3000"/>
                            </p:stCondLst>
                            <p:childTnLst>
                              <p:par>
                                <p:cTn id="40" presetID="29" presetClass="entr" presetSubtype="0" fill="hold" grpId="0" nodeType="afterEffect">
                                  <p:stCondLst>
                                    <p:cond delay="0"/>
                                  </p:stCondLst>
                                  <p:childTnLst>
                                    <p:set>
                                      <p:cBhvr>
                                        <p:cTn id="41" dur="1" fill="hold">
                                          <p:stCondLst>
                                            <p:cond delay="0"/>
                                          </p:stCondLst>
                                        </p:cTn>
                                        <p:tgtEl>
                                          <p:spTgt spid="55299"/>
                                        </p:tgtEl>
                                        <p:attrNameLst>
                                          <p:attrName>style.visibility</p:attrName>
                                        </p:attrNameLst>
                                      </p:cBhvr>
                                      <p:to>
                                        <p:strVal val="visible"/>
                                      </p:to>
                                    </p:set>
                                    <p:anim calcmode="lin" valueType="num">
                                      <p:cBhvr>
                                        <p:cTn id="42" dur="2000" fill="hold"/>
                                        <p:tgtEl>
                                          <p:spTgt spid="55299"/>
                                        </p:tgtEl>
                                        <p:attrNameLst>
                                          <p:attrName>ppt_x</p:attrName>
                                        </p:attrNameLst>
                                      </p:cBhvr>
                                      <p:tavLst>
                                        <p:tav tm="0">
                                          <p:val>
                                            <p:strVal val="#ppt_x-.2"/>
                                          </p:val>
                                        </p:tav>
                                        <p:tav tm="100000">
                                          <p:val>
                                            <p:strVal val="#ppt_x"/>
                                          </p:val>
                                        </p:tav>
                                      </p:tavLst>
                                    </p:anim>
                                    <p:anim calcmode="lin" valueType="num">
                                      <p:cBhvr>
                                        <p:cTn id="43" dur="2000" fill="hold"/>
                                        <p:tgtEl>
                                          <p:spTgt spid="55299"/>
                                        </p:tgtEl>
                                        <p:attrNameLst>
                                          <p:attrName>ppt_y</p:attrName>
                                        </p:attrNameLst>
                                      </p:cBhvr>
                                      <p:tavLst>
                                        <p:tav tm="0">
                                          <p:val>
                                            <p:strVal val="#ppt_y"/>
                                          </p:val>
                                        </p:tav>
                                        <p:tav tm="100000">
                                          <p:val>
                                            <p:strVal val="#ppt_y"/>
                                          </p:val>
                                        </p:tav>
                                      </p:tavLst>
                                    </p:anim>
                                    <p:animEffect transition="in" filter="wipe(right)" prLst="gradientSize: 0.1">
                                      <p:cBhvr>
                                        <p:cTn id="44" dur="2000"/>
                                        <p:tgtEl>
                                          <p:spTgt spid="55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animBg="1"/>
      <p:bldP spid="55300" grpId="0" animBg="1"/>
      <p:bldP spid="5530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6" name="Object 2"/>
          <p:cNvGraphicFramePr>
            <a:graphicFrameLocks/>
          </p:cNvGraphicFramePr>
          <p:nvPr>
            <p:extLst>
              <p:ext uri="{D42A27DB-BD31-4B8C-83A1-F6EECF244321}">
                <p14:modId xmlns:p14="http://schemas.microsoft.com/office/powerpoint/2010/main" val="453222976"/>
              </p:ext>
            </p:extLst>
          </p:nvPr>
        </p:nvGraphicFramePr>
        <p:xfrm>
          <a:off x="180975" y="2665413"/>
          <a:ext cx="8516938" cy="3246437"/>
        </p:xfrm>
        <a:graphic>
          <a:graphicData uri="http://schemas.openxmlformats.org/presentationml/2006/ole">
            <mc:AlternateContent xmlns:mc="http://schemas.openxmlformats.org/markup-compatibility/2006">
              <mc:Choice xmlns:v="urn:schemas-microsoft-com:vml" Requires="v">
                <p:oleObj spid="_x0000_s8253" name="Worksheet" r:id="rId4" imgW="5162400" imgH="1828586" progId="Excel.Sheet.8">
                  <p:embed/>
                </p:oleObj>
              </mc:Choice>
              <mc:Fallback>
                <p:oleObj name="Worksheet" r:id="rId4" imgW="5162400" imgH="1828586" progId="Excel.Sheet.8">
                  <p:embed/>
                  <p:pic>
                    <p:nvPicPr>
                      <p:cNvPr id="0" name=""/>
                      <p:cNvPicPr>
                        <a:picLocks noChangeArrowheads="1"/>
                      </p:cNvPicPr>
                      <p:nvPr/>
                    </p:nvPicPr>
                    <p:blipFill>
                      <a:blip r:embed="rId5"/>
                      <a:srcRect b="5836"/>
                      <a:stretch>
                        <a:fillRect/>
                      </a:stretch>
                    </p:blipFill>
                    <p:spPr bwMode="auto">
                      <a:xfrm>
                        <a:off x="180975" y="2665413"/>
                        <a:ext cx="8516938" cy="3246437"/>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57347" name="Rectangle 3"/>
          <p:cNvSpPr>
            <a:spLocks noGrp="1" noChangeArrowheads="1"/>
          </p:cNvSpPr>
          <p:nvPr>
            <p:ph type="title"/>
          </p:nvPr>
        </p:nvSpPr>
        <p:spPr>
          <a:xfrm>
            <a:off x="916781" y="114178"/>
            <a:ext cx="7158038" cy="1412875"/>
          </a:xfrm>
        </p:spPr>
        <p:txBody>
          <a:bodyPr/>
          <a:lstStyle/>
          <a:p>
            <a:pPr algn="ctr"/>
            <a:r>
              <a:rPr lang="en-US" b="1" dirty="0"/>
              <a:t>Accounting Equation 5</a:t>
            </a:r>
          </a:p>
        </p:txBody>
      </p:sp>
      <p:sp>
        <p:nvSpPr>
          <p:cNvPr id="13" name="Slide Number Placeholder 3"/>
          <p:cNvSpPr>
            <a:spLocks noGrp="1"/>
          </p:cNvSpPr>
          <p:nvPr>
            <p:ph type="sldNum" sz="quarter" idx="12"/>
          </p:nvPr>
        </p:nvSpPr>
        <p:spPr bwMode="auto">
          <a:xfrm>
            <a:off x="6655413" y="646051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65</a:t>
            </a:fld>
            <a:endParaRPr lang="en-US" altLang="en-US" dirty="0">
              <a:solidFill>
                <a:srgbClr val="898989"/>
              </a:solidFill>
            </a:endParaRPr>
          </a:p>
        </p:txBody>
      </p:sp>
      <p:sp>
        <p:nvSpPr>
          <p:cNvPr id="57351" name="Oval 7"/>
          <p:cNvSpPr>
            <a:spLocks noChangeArrowheads="1"/>
          </p:cNvSpPr>
          <p:nvPr/>
        </p:nvSpPr>
        <p:spPr bwMode="auto">
          <a:xfrm>
            <a:off x="916781" y="3927964"/>
            <a:ext cx="988219" cy="403714"/>
          </a:xfrm>
          <a:prstGeom prst="ellipse">
            <a:avLst/>
          </a:prstGeom>
          <a:noFill/>
          <a:ln w="28575" algn="ctr">
            <a:solidFill>
              <a:srgbClr val="000099"/>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57352" name="Oval 8"/>
          <p:cNvSpPr>
            <a:spLocks noChangeArrowheads="1"/>
          </p:cNvSpPr>
          <p:nvPr/>
        </p:nvSpPr>
        <p:spPr bwMode="auto">
          <a:xfrm>
            <a:off x="7899401" y="3874478"/>
            <a:ext cx="762000" cy="457200"/>
          </a:xfrm>
          <a:prstGeom prst="ellipse">
            <a:avLst/>
          </a:prstGeom>
          <a:noFill/>
          <a:ln w="28575" algn="ctr">
            <a:solidFill>
              <a:srgbClr val="000099"/>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57353" name="Rectangle 9"/>
          <p:cNvSpPr>
            <a:spLocks noChangeArrowheads="1"/>
          </p:cNvSpPr>
          <p:nvPr/>
        </p:nvSpPr>
        <p:spPr bwMode="auto">
          <a:xfrm>
            <a:off x="457200" y="1308099"/>
            <a:ext cx="8077200" cy="1160463"/>
          </a:xfrm>
          <a:prstGeom prst="rect">
            <a:avLst/>
          </a:prstGeom>
          <a:solidFill>
            <a:schemeClr val="accent3">
              <a:lumMod val="40000"/>
              <a:lumOff val="60000"/>
            </a:schemeClr>
          </a:solidFill>
          <a:ln>
            <a:noFill/>
          </a:ln>
          <a:effectLst/>
        </p:spPr>
        <p:txBody>
          <a:bodyPr lIns="90488" tIns="44450" rIns="90488" bIns="44450"/>
          <a:lstStyle/>
          <a:p>
            <a:pPr algn="ctr"/>
            <a:r>
              <a:rPr lang="en-US" sz="2800" b="1" dirty="0">
                <a:solidFill>
                  <a:srgbClr val="0000FF"/>
                </a:solidFill>
                <a:latin typeface="Arial" panose="020B0604020202020204" pitchFamily="34" charset="0"/>
              </a:rPr>
              <a:t>Provided consulting services to a customer </a:t>
            </a:r>
            <a:br>
              <a:rPr lang="en-US" sz="2800" b="1" dirty="0">
                <a:solidFill>
                  <a:srgbClr val="0000FF"/>
                </a:solidFill>
                <a:latin typeface="Arial" panose="020B0604020202020204" pitchFamily="34" charset="0"/>
              </a:rPr>
            </a:br>
            <a:r>
              <a:rPr lang="en-US" sz="2800" b="1" dirty="0">
                <a:solidFill>
                  <a:srgbClr val="0000FF"/>
                </a:solidFill>
                <a:latin typeface="Arial" panose="020B0604020202020204" pitchFamily="34" charset="0"/>
              </a:rPr>
              <a:t>and received $4,200 cash right away.</a:t>
            </a:r>
          </a:p>
        </p:txBody>
      </p:sp>
      <p:sp>
        <p:nvSpPr>
          <p:cNvPr id="57354" name="Oval 10"/>
          <p:cNvSpPr>
            <a:spLocks noChangeArrowheads="1"/>
          </p:cNvSpPr>
          <p:nvPr/>
        </p:nvSpPr>
        <p:spPr bwMode="auto">
          <a:xfrm>
            <a:off x="1524000" y="5301947"/>
            <a:ext cx="1600200" cy="6858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57356" name="Oval 12"/>
          <p:cNvSpPr>
            <a:spLocks noChangeArrowheads="1"/>
          </p:cNvSpPr>
          <p:nvPr/>
        </p:nvSpPr>
        <p:spPr bwMode="auto">
          <a:xfrm>
            <a:off x="4953000" y="5301947"/>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4" name="Rectangle 13"/>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335132207"/>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57353">
                                            <p:txEl>
                                              <p:pRg st="0" end="0"/>
                                            </p:txEl>
                                          </p:spTgt>
                                        </p:tgtEl>
                                        <p:attrNameLst>
                                          <p:attrName>style.visibility</p:attrName>
                                        </p:attrNameLst>
                                      </p:cBhvr>
                                      <p:to>
                                        <p:strVal val="visible"/>
                                      </p:to>
                                    </p:set>
                                    <p:animEffect transition="in" filter="fade">
                                      <p:cBhvr>
                                        <p:cTn id="7" dur="1000"/>
                                        <p:tgtEl>
                                          <p:spTgt spid="57353">
                                            <p:txEl>
                                              <p:pRg st="0" end="0"/>
                                            </p:txEl>
                                          </p:spTgt>
                                        </p:tgtEl>
                                      </p:cBhvr>
                                    </p:animEffect>
                                    <p:anim calcmode="lin" valueType="num">
                                      <p:cBhvr>
                                        <p:cTn id="8" dur="1000" fill="hold"/>
                                        <p:tgtEl>
                                          <p:spTgt spid="5735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735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nodeType="afterGroup">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57351"/>
                                        </p:tgtEl>
                                        <p:attrNameLst>
                                          <p:attrName>style.visibility</p:attrName>
                                        </p:attrNameLst>
                                      </p:cBhvr>
                                      <p:to>
                                        <p:strVal val="visible"/>
                                      </p:to>
                                    </p:set>
                                    <p:animEffect transition="in" filter="dissolve">
                                      <p:cBhvr>
                                        <p:cTn id="14" dur="2000"/>
                                        <p:tgtEl>
                                          <p:spTgt spid="57351"/>
                                        </p:tgtEl>
                                      </p:cBhvr>
                                    </p:animEffect>
                                  </p:childTnLst>
                                </p:cTn>
                              </p:par>
                            </p:childTnLst>
                          </p:cTn>
                        </p:par>
                        <p:par>
                          <p:cTn id="15" fill="hold" nodeType="afterGroup">
                            <p:stCondLst>
                              <p:cond delay="2000"/>
                            </p:stCondLst>
                            <p:childTnLst>
                              <p:par>
                                <p:cTn id="16" presetID="9" presetClass="entr" presetSubtype="0" fill="hold" grpId="0" nodeType="afterEffect">
                                  <p:stCondLst>
                                    <p:cond delay="0"/>
                                  </p:stCondLst>
                                  <p:childTnLst>
                                    <p:set>
                                      <p:cBhvr>
                                        <p:cTn id="17" dur="1" fill="hold">
                                          <p:stCondLst>
                                            <p:cond delay="0"/>
                                          </p:stCondLst>
                                        </p:cTn>
                                        <p:tgtEl>
                                          <p:spTgt spid="57352"/>
                                        </p:tgtEl>
                                        <p:attrNameLst>
                                          <p:attrName>style.visibility</p:attrName>
                                        </p:attrNameLst>
                                      </p:cBhvr>
                                      <p:to>
                                        <p:strVal val="visible"/>
                                      </p:to>
                                    </p:set>
                                    <p:animEffect transition="in" filter="dissolve">
                                      <p:cBhvr>
                                        <p:cTn id="18" dur="1000"/>
                                        <p:tgtEl>
                                          <p:spTgt spid="57352"/>
                                        </p:tgtEl>
                                      </p:cBhvr>
                                    </p:animEffect>
                                  </p:childTnLst>
                                </p:cTn>
                              </p:par>
                            </p:childTnLst>
                          </p:cTn>
                        </p:par>
                      </p:childTnLst>
                    </p:cTn>
                  </p:par>
                  <p:par>
                    <p:cTn id="19" fill="hold">
                      <p:stCondLst>
                        <p:cond delay="indefinite"/>
                      </p:stCondLst>
                      <p:childTnLst>
                        <p:par>
                          <p:cTn id="20" fill="hold" nodeType="after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7354"/>
                                        </p:tgtEl>
                                        <p:attrNameLst>
                                          <p:attrName>style.visibility</p:attrName>
                                        </p:attrNameLst>
                                      </p:cBhvr>
                                      <p:to>
                                        <p:strVal val="visible"/>
                                      </p:to>
                                    </p:set>
                                    <p:animEffect transition="in" filter="dissolve">
                                      <p:cBhvr>
                                        <p:cTn id="23" dur="1000"/>
                                        <p:tgtEl>
                                          <p:spTgt spid="57354"/>
                                        </p:tgtEl>
                                      </p:cBhvr>
                                    </p:animEffect>
                                  </p:childTnLst>
                                </p:cTn>
                              </p:par>
                            </p:childTnLst>
                          </p:cTn>
                        </p:par>
                        <p:par>
                          <p:cTn id="24" fill="hold" nodeType="afterGroup">
                            <p:stCondLst>
                              <p:cond delay="1000"/>
                            </p:stCondLst>
                            <p:childTnLst>
                              <p:par>
                                <p:cTn id="25" presetID="9" presetClass="entr" presetSubtype="0" fill="hold" grpId="0" nodeType="afterEffect">
                                  <p:stCondLst>
                                    <p:cond delay="0"/>
                                  </p:stCondLst>
                                  <p:childTnLst>
                                    <p:set>
                                      <p:cBhvr>
                                        <p:cTn id="26" dur="1" fill="hold">
                                          <p:stCondLst>
                                            <p:cond delay="0"/>
                                          </p:stCondLst>
                                        </p:cTn>
                                        <p:tgtEl>
                                          <p:spTgt spid="57356"/>
                                        </p:tgtEl>
                                        <p:attrNameLst>
                                          <p:attrName>style.visibility</p:attrName>
                                        </p:attrNameLst>
                                      </p:cBhvr>
                                      <p:to>
                                        <p:strVal val="visible"/>
                                      </p:to>
                                    </p:set>
                                    <p:animEffect transition="in" filter="dissolve">
                                      <p:cBhvr>
                                        <p:cTn id="27" dur="1000"/>
                                        <p:tgtEl>
                                          <p:spTgt spid="57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1" grpId="0" animBg="1"/>
      <p:bldP spid="57352" grpId="0" animBg="1"/>
      <p:bldP spid="57354" grpId="0" animBg="1"/>
      <p:bldP spid="5735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5"/>
          <p:cNvSpPr>
            <a:spLocks noGrp="1" noChangeArrowheads="1"/>
          </p:cNvSpPr>
          <p:nvPr>
            <p:ph type="title"/>
          </p:nvPr>
        </p:nvSpPr>
        <p:spPr>
          <a:xfrm>
            <a:off x="905668" y="169863"/>
            <a:ext cx="7158038" cy="1412875"/>
          </a:xfrm>
        </p:spPr>
        <p:txBody>
          <a:bodyPr>
            <a:normAutofit/>
          </a:bodyPr>
          <a:lstStyle/>
          <a:p>
            <a:pPr algn="ctr"/>
            <a:r>
              <a:rPr lang="en-US" b="1" dirty="0"/>
              <a:t>Transactions 6 and 7:</a:t>
            </a:r>
            <a:br>
              <a:rPr lang="en-US" b="1" dirty="0"/>
            </a:br>
            <a:r>
              <a:rPr lang="en-US" b="1" dirty="0"/>
              <a:t>Payment of Expenses in Cash</a:t>
            </a:r>
          </a:p>
        </p:txBody>
      </p:sp>
      <p:sp>
        <p:nvSpPr>
          <p:cNvPr id="59394" name="Rectangle 2"/>
          <p:cNvSpPr>
            <a:spLocks noGrp="1" noChangeArrowheads="1"/>
          </p:cNvSpPr>
          <p:nvPr>
            <p:ph idx="1"/>
          </p:nvPr>
        </p:nvSpPr>
        <p:spPr bwMode="auto">
          <a:xfrm>
            <a:off x="685799" y="2389487"/>
            <a:ext cx="7661275" cy="3639109"/>
          </a:xfrm>
          <a:solidFill>
            <a:srgbClr val="FFFFFF"/>
          </a:solid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br>
              <a:rPr lang="en-US" dirty="0"/>
            </a:br>
            <a:endParaRPr lang="en-US" dirty="0">
              <a:solidFill>
                <a:srgbClr val="800080"/>
              </a:solidFill>
            </a:endParaRPr>
          </a:p>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Cash </a:t>
            </a:r>
            <a:r>
              <a:rPr lang="en-US" b="1" dirty="0">
                <a:solidFill>
                  <a:srgbClr val="9A2F6F"/>
                </a:solidFill>
              </a:rPr>
              <a:t>(asset)</a:t>
            </a:r>
          </a:p>
          <a:p>
            <a:pPr>
              <a:buFont typeface="Wingdings" panose="05000000000000000000" pitchFamily="2" charset="2"/>
              <a:buNone/>
            </a:pPr>
            <a:r>
              <a:rPr lang="en-US" b="1" dirty="0">
                <a:solidFill>
                  <a:schemeClr val="hlink"/>
                </a:solidFill>
              </a:rPr>
              <a:t>	</a:t>
            </a:r>
            <a:r>
              <a:rPr lang="en-US" b="1" dirty="0"/>
              <a:t>(2) Rent expense</a:t>
            </a:r>
            <a:r>
              <a:rPr lang="en-US" b="1" dirty="0">
                <a:solidFill>
                  <a:schemeClr val="hlink"/>
                </a:solidFill>
              </a:rPr>
              <a:t>           </a:t>
            </a:r>
            <a:r>
              <a:rPr lang="en-US" b="1" dirty="0">
                <a:solidFill>
                  <a:srgbClr val="9A2F6F"/>
                </a:solidFill>
              </a:rPr>
              <a:t>(equity)</a:t>
            </a:r>
          </a:p>
          <a:p>
            <a:pPr>
              <a:buNone/>
            </a:pPr>
            <a:r>
              <a:rPr lang="en-US" b="1" dirty="0"/>
              <a:t>   (3) Salaries expense</a:t>
            </a:r>
            <a:r>
              <a:rPr lang="en-US" b="1" dirty="0">
                <a:solidFill>
                  <a:schemeClr val="hlink"/>
                </a:solidFill>
              </a:rPr>
              <a:t>      </a:t>
            </a:r>
            <a:r>
              <a:rPr lang="en-US" b="1" dirty="0">
                <a:solidFill>
                  <a:srgbClr val="9A2F6F"/>
                </a:solidFill>
              </a:rPr>
              <a:t>(equity)</a:t>
            </a:r>
          </a:p>
          <a:p>
            <a:pPr>
              <a:buFont typeface="Wingdings" panose="05000000000000000000" pitchFamily="2" charset="2"/>
              <a:buNone/>
            </a:pPr>
            <a:endParaRPr lang="en-US" b="1" dirty="0">
              <a:solidFill>
                <a:srgbClr val="9A2F6F"/>
              </a:solidFill>
            </a:endParaRPr>
          </a:p>
        </p:txBody>
      </p:sp>
      <p:sp>
        <p:nvSpPr>
          <p:cNvPr id="16" name="Slide Number Placeholder 3"/>
          <p:cNvSpPr>
            <a:spLocks noGrp="1"/>
          </p:cNvSpPr>
          <p:nvPr>
            <p:ph type="sldNum" sz="quarter" idx="12"/>
          </p:nvPr>
        </p:nvSpPr>
        <p:spPr bwMode="auto">
          <a:xfrm>
            <a:off x="6781800" y="646051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66</a:t>
            </a:fld>
            <a:endParaRPr lang="en-US" altLang="en-US" dirty="0">
              <a:solidFill>
                <a:srgbClr val="898989"/>
              </a:solidFill>
            </a:endParaRPr>
          </a:p>
        </p:txBody>
      </p:sp>
      <p:sp>
        <p:nvSpPr>
          <p:cNvPr id="59395" name="AutoShape 3"/>
          <p:cNvSpPr>
            <a:spLocks noChangeArrowheads="1"/>
          </p:cNvSpPr>
          <p:nvPr/>
        </p:nvSpPr>
        <p:spPr bwMode="auto">
          <a:xfrm rot="16200000" flipH="1">
            <a:off x="4556125" y="3269521"/>
            <a:ext cx="520700" cy="387350"/>
          </a:xfrm>
          <a:prstGeom prst="rightArrow">
            <a:avLst>
              <a:gd name="adj1" fmla="val 50000"/>
              <a:gd name="adj2" fmla="val 67219"/>
            </a:avLst>
          </a:prstGeom>
          <a:solidFill>
            <a:srgbClr val="FF330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59398" name="Rectangle 6"/>
          <p:cNvSpPr>
            <a:spLocks noChangeArrowheads="1"/>
          </p:cNvSpPr>
          <p:nvPr/>
        </p:nvSpPr>
        <p:spPr bwMode="auto">
          <a:xfrm>
            <a:off x="685799" y="1636721"/>
            <a:ext cx="7597775" cy="1058228"/>
          </a:xfrm>
          <a:prstGeom prst="rect">
            <a:avLst/>
          </a:prstGeom>
          <a:solidFill>
            <a:srgbClr val="FFFF99"/>
          </a:solidFill>
          <a:ln>
            <a:noFill/>
          </a:ln>
          <a:effectLst/>
        </p:spPr>
        <p:txBody>
          <a:bodyPr lIns="90488" tIns="44450" rIns="90488" bIns="44450"/>
          <a:lstStyle/>
          <a:p>
            <a:pPr algn="ctr"/>
            <a:r>
              <a:rPr lang="en-US" sz="2800" b="1" dirty="0">
                <a:solidFill>
                  <a:prstClr val="black"/>
                </a:solidFill>
                <a:latin typeface="Arial" panose="020B0604020202020204" pitchFamily="34" charset="0"/>
              </a:rPr>
              <a:t>Paid rent of $1,000 and </a:t>
            </a:r>
            <a:br>
              <a:rPr lang="en-US" sz="2800" b="1" dirty="0">
                <a:solidFill>
                  <a:prstClr val="black"/>
                </a:solidFill>
                <a:latin typeface="Arial" panose="020B0604020202020204" pitchFamily="34" charset="0"/>
              </a:rPr>
            </a:br>
            <a:r>
              <a:rPr lang="en-US" sz="2800" b="1" dirty="0">
                <a:solidFill>
                  <a:prstClr val="black"/>
                </a:solidFill>
                <a:latin typeface="Arial" panose="020B0604020202020204" pitchFamily="34" charset="0"/>
              </a:rPr>
              <a:t>salaries of $700 to employees.</a:t>
            </a:r>
          </a:p>
        </p:txBody>
      </p:sp>
      <p:sp>
        <p:nvSpPr>
          <p:cNvPr id="59400" name="AutoShape 8"/>
          <p:cNvSpPr>
            <a:spLocks noChangeArrowheads="1"/>
          </p:cNvSpPr>
          <p:nvPr/>
        </p:nvSpPr>
        <p:spPr bwMode="auto">
          <a:xfrm rot="5400000">
            <a:off x="7128368" y="3885852"/>
            <a:ext cx="450289" cy="380573"/>
          </a:xfrm>
          <a:prstGeom prst="rightArrow">
            <a:avLst>
              <a:gd name="adj1" fmla="val 50000"/>
              <a:gd name="adj2" fmla="val 60006"/>
            </a:avLst>
          </a:prstGeom>
          <a:solidFill>
            <a:srgbClr val="FF00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59402" name="AutoShape 10"/>
          <p:cNvSpPr>
            <a:spLocks noChangeArrowheads="1"/>
          </p:cNvSpPr>
          <p:nvPr/>
        </p:nvSpPr>
        <p:spPr bwMode="auto">
          <a:xfrm>
            <a:off x="631826" y="5237639"/>
            <a:ext cx="7978774" cy="919401"/>
          </a:xfrm>
          <a:prstGeom prst="wedgeRoundRectCallout">
            <a:avLst>
              <a:gd name="adj1" fmla="val 48425"/>
              <a:gd name="adj2" fmla="val -5695"/>
              <a:gd name="adj3" fmla="val 16667"/>
            </a:avLst>
          </a:prstGeom>
          <a:solidFill>
            <a:schemeClr val="accent1">
              <a:lumMod val="20000"/>
              <a:lumOff val="80000"/>
            </a:schemeClr>
          </a:solidFill>
          <a:ln w="12700" algn="ctr">
            <a:solidFill>
              <a:schemeClr val="tx1"/>
            </a:solidFill>
            <a:miter lim="800000"/>
            <a:headEnd/>
            <a:tailEnd/>
          </a:ln>
          <a:effectLst/>
        </p:spPr>
        <p:txBody>
          <a:bodyPr wrap="square" lIns="0" tIns="0" rIns="0" bIns="0" anchor="ctr">
            <a:spAutoFit/>
          </a:bodyPr>
          <a:lstStyle/>
          <a:p>
            <a:pPr algn="ctr"/>
            <a:r>
              <a:rPr lang="en-US" b="1" dirty="0">
                <a:solidFill>
                  <a:prstClr val="black"/>
                </a:solidFill>
              </a:rPr>
              <a:t>Remember that the balance in the </a:t>
            </a:r>
            <a:r>
              <a:rPr lang="en-US" b="1" i="1" dirty="0">
                <a:solidFill>
                  <a:prstClr val="black"/>
                </a:solidFill>
              </a:rPr>
              <a:t>Expense</a:t>
            </a:r>
            <a:r>
              <a:rPr lang="en-US" b="1" dirty="0">
                <a:solidFill>
                  <a:prstClr val="black"/>
                </a:solidFill>
              </a:rPr>
              <a:t> accounts actually </a:t>
            </a:r>
            <a:r>
              <a:rPr lang="en-US" b="1" u="sng" dirty="0">
                <a:solidFill>
                  <a:prstClr val="black"/>
                </a:solidFill>
              </a:rPr>
              <a:t>increase</a:t>
            </a:r>
            <a:r>
              <a:rPr lang="en-US" b="1" dirty="0">
                <a:solidFill>
                  <a:prstClr val="black"/>
                </a:solidFill>
              </a:rPr>
              <a:t>.  </a:t>
            </a:r>
          </a:p>
          <a:p>
            <a:pPr algn="ctr"/>
            <a:endParaRPr lang="en-US" b="1" dirty="0">
              <a:solidFill>
                <a:prstClr val="black"/>
              </a:solidFill>
            </a:endParaRPr>
          </a:p>
          <a:p>
            <a:pPr algn="ctr"/>
            <a:r>
              <a:rPr lang="en-US" b="1" dirty="0">
                <a:solidFill>
                  <a:prstClr val="black"/>
                </a:solidFill>
              </a:rPr>
              <a:t>But, total Equity </a:t>
            </a:r>
            <a:r>
              <a:rPr lang="en-US" b="1" u="sng" dirty="0">
                <a:solidFill>
                  <a:prstClr val="black"/>
                </a:solidFill>
              </a:rPr>
              <a:t>decreases,</a:t>
            </a:r>
            <a:r>
              <a:rPr lang="en-US" b="1" dirty="0">
                <a:solidFill>
                  <a:prstClr val="black"/>
                </a:solidFill>
              </a:rPr>
              <a:t> because expenses </a:t>
            </a:r>
            <a:r>
              <a:rPr lang="en-US" b="1" u="sng" dirty="0">
                <a:solidFill>
                  <a:prstClr val="black"/>
                </a:solidFill>
              </a:rPr>
              <a:t>reduce</a:t>
            </a:r>
            <a:r>
              <a:rPr lang="en-US" b="1" dirty="0">
                <a:solidFill>
                  <a:prstClr val="black"/>
                </a:solidFill>
              </a:rPr>
              <a:t> equity.</a:t>
            </a:r>
          </a:p>
        </p:txBody>
      </p:sp>
      <p:sp>
        <p:nvSpPr>
          <p:cNvPr id="10" name="AutoShape 8"/>
          <p:cNvSpPr>
            <a:spLocks noChangeArrowheads="1"/>
          </p:cNvSpPr>
          <p:nvPr/>
        </p:nvSpPr>
        <p:spPr bwMode="auto">
          <a:xfrm rot="5400000">
            <a:off x="7125127" y="4449769"/>
            <a:ext cx="457200" cy="381000"/>
          </a:xfrm>
          <a:prstGeom prst="rightArrow">
            <a:avLst>
              <a:gd name="adj1" fmla="val 50000"/>
              <a:gd name="adj2" fmla="val 60006"/>
            </a:avLst>
          </a:prstGeom>
          <a:solidFill>
            <a:srgbClr val="FF00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11" name="AutoShape 8"/>
          <p:cNvSpPr>
            <a:spLocks noChangeArrowheads="1"/>
          </p:cNvSpPr>
          <p:nvPr/>
        </p:nvSpPr>
        <p:spPr bwMode="auto">
          <a:xfrm rot="16200000">
            <a:off x="4489118" y="3908034"/>
            <a:ext cx="450289" cy="314936"/>
          </a:xfrm>
          <a:prstGeom prst="rightArrow">
            <a:avLst>
              <a:gd name="adj1" fmla="val 50000"/>
              <a:gd name="adj2" fmla="val 60006"/>
            </a:avLst>
          </a:prstGeom>
          <a:solidFill>
            <a:srgbClr val="00B05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12" name="AutoShape 8"/>
          <p:cNvSpPr>
            <a:spLocks noChangeArrowheads="1"/>
          </p:cNvSpPr>
          <p:nvPr/>
        </p:nvSpPr>
        <p:spPr bwMode="auto">
          <a:xfrm rot="16200000">
            <a:off x="4804055" y="4445497"/>
            <a:ext cx="450289" cy="314936"/>
          </a:xfrm>
          <a:prstGeom prst="rightArrow">
            <a:avLst>
              <a:gd name="adj1" fmla="val 50000"/>
              <a:gd name="adj2" fmla="val 60006"/>
            </a:avLst>
          </a:prstGeom>
          <a:solidFill>
            <a:srgbClr val="00B05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Tree>
    <p:extLst>
      <p:ext uri="{BB962C8B-B14F-4D97-AF65-F5344CB8AC3E}">
        <p14:creationId xmlns:p14="http://schemas.microsoft.com/office/powerpoint/2010/main" val="1969703567"/>
      </p:ext>
    </p:extLst>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9398"/>
                                        </p:tgtEl>
                                        <p:attrNameLst>
                                          <p:attrName>style.visibility</p:attrName>
                                        </p:attrNameLst>
                                      </p:cBhvr>
                                      <p:to>
                                        <p:strVal val="visible"/>
                                      </p:to>
                                    </p:set>
                                    <p:animEffect transition="in" filter="fade">
                                      <p:cBhvr>
                                        <p:cTn id="7" dur="1000"/>
                                        <p:tgtEl>
                                          <p:spTgt spid="59398"/>
                                        </p:tgtEl>
                                      </p:cBhvr>
                                    </p:animEffect>
                                    <p:anim calcmode="lin" valueType="num">
                                      <p:cBhvr>
                                        <p:cTn id="8" dur="1000" fill="hold"/>
                                        <p:tgtEl>
                                          <p:spTgt spid="59398"/>
                                        </p:tgtEl>
                                        <p:attrNameLst>
                                          <p:attrName>ppt_x</p:attrName>
                                        </p:attrNameLst>
                                      </p:cBhvr>
                                      <p:tavLst>
                                        <p:tav tm="0">
                                          <p:val>
                                            <p:strVal val="#ppt_x"/>
                                          </p:val>
                                        </p:tav>
                                        <p:tav tm="100000">
                                          <p:val>
                                            <p:strVal val="#ppt_x"/>
                                          </p:val>
                                        </p:tav>
                                      </p:tavLst>
                                    </p:anim>
                                    <p:anim calcmode="lin" valueType="num">
                                      <p:cBhvr>
                                        <p:cTn id="9" dur="1000" fill="hold"/>
                                        <p:tgtEl>
                                          <p:spTgt spid="5939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nodeType="afterGroup">
                            <p:stCondLst>
                              <p:cond delay="0"/>
                            </p:stCondLst>
                            <p:childTnLst>
                              <p:par>
                                <p:cTn id="12" presetID="9" presetClass="entr" presetSubtype="0" fill="hold" nodeType="clickEffect">
                                  <p:stCondLst>
                                    <p:cond delay="0"/>
                                  </p:stCondLst>
                                  <p:childTnLst>
                                    <p:set>
                                      <p:cBhvr>
                                        <p:cTn id="13" dur="1" fill="hold">
                                          <p:stCondLst>
                                            <p:cond delay="0"/>
                                          </p:stCondLst>
                                        </p:cTn>
                                        <p:tgtEl>
                                          <p:spTgt spid="59394">
                                            <p:txEl>
                                              <p:pRg st="1" end="1"/>
                                            </p:txEl>
                                          </p:spTgt>
                                        </p:tgtEl>
                                        <p:attrNameLst>
                                          <p:attrName>style.visibility</p:attrName>
                                        </p:attrNameLst>
                                      </p:cBhvr>
                                      <p:to>
                                        <p:strVal val="visible"/>
                                      </p:to>
                                    </p:set>
                                    <p:animEffect transition="in" filter="dissolve">
                                      <p:cBhvr>
                                        <p:cTn id="14" dur="1000"/>
                                        <p:tgtEl>
                                          <p:spTgt spid="59394">
                                            <p:txEl>
                                              <p:pRg st="1" end="1"/>
                                            </p:txEl>
                                          </p:spTgt>
                                        </p:tgtEl>
                                      </p:cBhvr>
                                    </p:animEffect>
                                  </p:childTnLst>
                                </p:cTn>
                              </p:par>
                            </p:childTnLst>
                          </p:cTn>
                        </p:par>
                      </p:childTnLst>
                    </p:cTn>
                  </p:par>
                  <p:par>
                    <p:cTn id="15" fill="hold">
                      <p:stCondLst>
                        <p:cond delay="indefinite"/>
                      </p:stCondLst>
                      <p:childTnLst>
                        <p:par>
                          <p:cTn id="16" fill="hold" nodeType="afterGroup">
                            <p:stCondLst>
                              <p:cond delay="0"/>
                            </p:stCondLst>
                            <p:childTnLst>
                              <p:par>
                                <p:cTn id="17" presetID="55" presetClass="entr" presetSubtype="0" fill="hold" nodeType="clickEffect">
                                  <p:stCondLst>
                                    <p:cond delay="0"/>
                                  </p:stCondLst>
                                  <p:childTnLst>
                                    <p:set>
                                      <p:cBhvr>
                                        <p:cTn id="18" dur="1" fill="hold">
                                          <p:stCondLst>
                                            <p:cond delay="0"/>
                                          </p:stCondLst>
                                        </p:cTn>
                                        <p:tgtEl>
                                          <p:spTgt spid="59394">
                                            <p:txEl>
                                              <p:pRg st="2" end="2"/>
                                            </p:txEl>
                                          </p:spTgt>
                                        </p:tgtEl>
                                        <p:attrNameLst>
                                          <p:attrName>style.visibility</p:attrName>
                                        </p:attrNameLst>
                                      </p:cBhvr>
                                      <p:to>
                                        <p:strVal val="visible"/>
                                      </p:to>
                                    </p:set>
                                    <p:anim calcmode="lin" valueType="num">
                                      <p:cBhvr>
                                        <p:cTn id="19" dur="1000" fill="hold"/>
                                        <p:tgtEl>
                                          <p:spTgt spid="59394">
                                            <p:txEl>
                                              <p:pRg st="2" end="2"/>
                                            </p:txEl>
                                          </p:spTgt>
                                        </p:tgtEl>
                                        <p:attrNameLst>
                                          <p:attrName>ppt_w</p:attrName>
                                        </p:attrNameLst>
                                      </p:cBhvr>
                                      <p:tavLst>
                                        <p:tav tm="0">
                                          <p:val>
                                            <p:strVal val="#ppt_w*0.70"/>
                                          </p:val>
                                        </p:tav>
                                        <p:tav tm="100000">
                                          <p:val>
                                            <p:strVal val="#ppt_w"/>
                                          </p:val>
                                        </p:tav>
                                      </p:tavLst>
                                    </p:anim>
                                    <p:anim calcmode="lin" valueType="num">
                                      <p:cBhvr>
                                        <p:cTn id="20" dur="1000" fill="hold"/>
                                        <p:tgtEl>
                                          <p:spTgt spid="59394">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59394">
                                            <p:txEl>
                                              <p:pRg st="2" end="2"/>
                                            </p:txEl>
                                          </p:spTgt>
                                        </p:tgtEl>
                                      </p:cBhvr>
                                    </p:animEffect>
                                  </p:childTnLst>
                                </p:cTn>
                              </p:par>
                            </p:childTnLst>
                          </p:cTn>
                        </p:par>
                        <p:par>
                          <p:cTn id="22" fill="hold">
                            <p:stCondLst>
                              <p:cond delay="1000"/>
                            </p:stCondLst>
                            <p:childTnLst>
                              <p:par>
                                <p:cTn id="23" presetID="17" presetClass="entr" presetSubtype="10" fill="hold" grpId="0" nodeType="afterEffect">
                                  <p:stCondLst>
                                    <p:cond delay="0"/>
                                  </p:stCondLst>
                                  <p:childTnLst>
                                    <p:set>
                                      <p:cBhvr>
                                        <p:cTn id="24" dur="1" fill="hold">
                                          <p:stCondLst>
                                            <p:cond delay="0"/>
                                          </p:stCondLst>
                                        </p:cTn>
                                        <p:tgtEl>
                                          <p:spTgt spid="59395"/>
                                        </p:tgtEl>
                                        <p:attrNameLst>
                                          <p:attrName>style.visibility</p:attrName>
                                        </p:attrNameLst>
                                      </p:cBhvr>
                                      <p:to>
                                        <p:strVal val="visible"/>
                                      </p:to>
                                    </p:set>
                                    <p:anim calcmode="lin" valueType="num">
                                      <p:cBhvr>
                                        <p:cTn id="25" dur="1000" fill="hold"/>
                                        <p:tgtEl>
                                          <p:spTgt spid="59395"/>
                                        </p:tgtEl>
                                        <p:attrNameLst>
                                          <p:attrName>ppt_w</p:attrName>
                                        </p:attrNameLst>
                                      </p:cBhvr>
                                      <p:tavLst>
                                        <p:tav tm="0">
                                          <p:val>
                                            <p:fltVal val="0"/>
                                          </p:val>
                                        </p:tav>
                                        <p:tav tm="100000">
                                          <p:val>
                                            <p:strVal val="#ppt_w"/>
                                          </p:val>
                                        </p:tav>
                                      </p:tavLst>
                                    </p:anim>
                                    <p:anim calcmode="lin" valueType="num">
                                      <p:cBhvr>
                                        <p:cTn id="26" dur="1000" fill="hold"/>
                                        <p:tgtEl>
                                          <p:spTgt spid="59395"/>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nodeType="afterGroup">
                            <p:stCondLst>
                              <p:cond delay="0"/>
                            </p:stCondLst>
                            <p:childTnLst>
                              <p:par>
                                <p:cTn id="29" presetID="55" presetClass="entr" presetSubtype="0" fill="hold" nodeType="clickEffect">
                                  <p:stCondLst>
                                    <p:cond delay="0"/>
                                  </p:stCondLst>
                                  <p:childTnLst>
                                    <p:set>
                                      <p:cBhvr>
                                        <p:cTn id="30" dur="1" fill="hold">
                                          <p:stCondLst>
                                            <p:cond delay="0"/>
                                          </p:stCondLst>
                                        </p:cTn>
                                        <p:tgtEl>
                                          <p:spTgt spid="59394">
                                            <p:txEl>
                                              <p:pRg st="3" end="3"/>
                                            </p:txEl>
                                          </p:spTgt>
                                        </p:tgtEl>
                                        <p:attrNameLst>
                                          <p:attrName>style.visibility</p:attrName>
                                        </p:attrNameLst>
                                      </p:cBhvr>
                                      <p:to>
                                        <p:strVal val="visible"/>
                                      </p:to>
                                    </p:set>
                                    <p:anim calcmode="lin" valueType="num">
                                      <p:cBhvr>
                                        <p:cTn id="31" dur="1000" fill="hold"/>
                                        <p:tgtEl>
                                          <p:spTgt spid="59394">
                                            <p:txEl>
                                              <p:pRg st="3" end="3"/>
                                            </p:txEl>
                                          </p:spTgt>
                                        </p:tgtEl>
                                        <p:attrNameLst>
                                          <p:attrName>ppt_w</p:attrName>
                                        </p:attrNameLst>
                                      </p:cBhvr>
                                      <p:tavLst>
                                        <p:tav tm="0">
                                          <p:val>
                                            <p:strVal val="#ppt_w*0.70"/>
                                          </p:val>
                                        </p:tav>
                                        <p:tav tm="100000">
                                          <p:val>
                                            <p:strVal val="#ppt_w"/>
                                          </p:val>
                                        </p:tav>
                                      </p:tavLst>
                                    </p:anim>
                                    <p:anim calcmode="lin" valueType="num">
                                      <p:cBhvr>
                                        <p:cTn id="32" dur="1000" fill="hold"/>
                                        <p:tgtEl>
                                          <p:spTgt spid="59394">
                                            <p:txEl>
                                              <p:pRg st="3" end="3"/>
                                            </p:txEl>
                                          </p:spTgt>
                                        </p:tgtEl>
                                        <p:attrNameLst>
                                          <p:attrName>ppt_h</p:attrName>
                                        </p:attrNameLst>
                                      </p:cBhvr>
                                      <p:tavLst>
                                        <p:tav tm="0">
                                          <p:val>
                                            <p:strVal val="#ppt_h"/>
                                          </p:val>
                                        </p:tav>
                                        <p:tav tm="100000">
                                          <p:val>
                                            <p:strVal val="#ppt_h"/>
                                          </p:val>
                                        </p:tav>
                                      </p:tavLst>
                                    </p:anim>
                                    <p:animEffect transition="in" filter="fade">
                                      <p:cBhvr>
                                        <p:cTn id="33" dur="1000"/>
                                        <p:tgtEl>
                                          <p:spTgt spid="59394">
                                            <p:txEl>
                                              <p:pRg st="3" end="3"/>
                                            </p:txEl>
                                          </p:spTgt>
                                        </p:tgtEl>
                                      </p:cBhvr>
                                    </p:animEffect>
                                  </p:childTnLst>
                                </p:cTn>
                              </p:par>
                            </p:childTnLst>
                          </p:cTn>
                        </p:par>
                        <p:par>
                          <p:cTn id="34" fill="hold">
                            <p:stCondLst>
                              <p:cond delay="1000"/>
                            </p:stCondLst>
                            <p:childTnLst>
                              <p:par>
                                <p:cTn id="35" presetID="17" presetClass="entr" presetSubtype="1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strVal val="#ppt_h"/>
                                          </p:val>
                                        </p:tav>
                                        <p:tav tm="100000">
                                          <p:val>
                                            <p:strVal val="#ppt_h"/>
                                          </p:val>
                                        </p:tav>
                                      </p:tavLst>
                                    </p:anim>
                                  </p:childTnLst>
                                </p:cTn>
                              </p:par>
                            </p:childTnLst>
                          </p:cTn>
                        </p:par>
                        <p:par>
                          <p:cTn id="39" fill="hold">
                            <p:stCondLst>
                              <p:cond delay="2000"/>
                            </p:stCondLst>
                            <p:childTnLst>
                              <p:par>
                                <p:cTn id="40" presetID="17" presetClass="entr" presetSubtype="10" fill="hold" grpId="0" nodeType="afterEffect">
                                  <p:stCondLst>
                                    <p:cond delay="0"/>
                                  </p:stCondLst>
                                  <p:childTnLst>
                                    <p:set>
                                      <p:cBhvr>
                                        <p:cTn id="41" dur="1" fill="hold">
                                          <p:stCondLst>
                                            <p:cond delay="0"/>
                                          </p:stCondLst>
                                        </p:cTn>
                                        <p:tgtEl>
                                          <p:spTgt spid="59400"/>
                                        </p:tgtEl>
                                        <p:attrNameLst>
                                          <p:attrName>style.visibility</p:attrName>
                                        </p:attrNameLst>
                                      </p:cBhvr>
                                      <p:to>
                                        <p:strVal val="visible"/>
                                      </p:to>
                                    </p:set>
                                    <p:anim calcmode="lin" valueType="num">
                                      <p:cBhvr>
                                        <p:cTn id="42" dur="1000" fill="hold"/>
                                        <p:tgtEl>
                                          <p:spTgt spid="59400"/>
                                        </p:tgtEl>
                                        <p:attrNameLst>
                                          <p:attrName>ppt_w</p:attrName>
                                        </p:attrNameLst>
                                      </p:cBhvr>
                                      <p:tavLst>
                                        <p:tav tm="0">
                                          <p:val>
                                            <p:fltVal val="0"/>
                                          </p:val>
                                        </p:tav>
                                        <p:tav tm="100000">
                                          <p:val>
                                            <p:strVal val="#ppt_w"/>
                                          </p:val>
                                        </p:tav>
                                      </p:tavLst>
                                    </p:anim>
                                    <p:anim calcmode="lin" valueType="num">
                                      <p:cBhvr>
                                        <p:cTn id="43" dur="1000" fill="hold"/>
                                        <p:tgtEl>
                                          <p:spTgt spid="59400"/>
                                        </p:tgtEl>
                                        <p:attrNameLst>
                                          <p:attrName>ppt_h</p:attrName>
                                        </p:attrNameLst>
                                      </p:cBhvr>
                                      <p:tavLst>
                                        <p:tav tm="0">
                                          <p:val>
                                            <p:strVal val="#ppt_h"/>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nodeType="clickEffect">
                                  <p:stCondLst>
                                    <p:cond delay="0"/>
                                  </p:stCondLst>
                                  <p:childTnLst>
                                    <p:set>
                                      <p:cBhvr>
                                        <p:cTn id="47" dur="1" fill="hold">
                                          <p:stCondLst>
                                            <p:cond delay="0"/>
                                          </p:stCondLst>
                                        </p:cTn>
                                        <p:tgtEl>
                                          <p:spTgt spid="59394">
                                            <p:txEl>
                                              <p:pRg st="4" end="4"/>
                                            </p:txEl>
                                          </p:spTgt>
                                        </p:tgtEl>
                                        <p:attrNameLst>
                                          <p:attrName>style.visibility</p:attrName>
                                        </p:attrNameLst>
                                      </p:cBhvr>
                                      <p:to>
                                        <p:strVal val="visible"/>
                                      </p:to>
                                    </p:set>
                                    <p:anim calcmode="lin" valueType="num">
                                      <p:cBhvr>
                                        <p:cTn id="48" dur="1000" fill="hold"/>
                                        <p:tgtEl>
                                          <p:spTgt spid="59394">
                                            <p:txEl>
                                              <p:pRg st="4" end="4"/>
                                            </p:txEl>
                                          </p:spTgt>
                                        </p:tgtEl>
                                        <p:attrNameLst>
                                          <p:attrName>ppt_w</p:attrName>
                                        </p:attrNameLst>
                                      </p:cBhvr>
                                      <p:tavLst>
                                        <p:tav tm="0">
                                          <p:val>
                                            <p:strVal val="#ppt_w*0.70"/>
                                          </p:val>
                                        </p:tav>
                                        <p:tav tm="100000">
                                          <p:val>
                                            <p:strVal val="#ppt_w"/>
                                          </p:val>
                                        </p:tav>
                                      </p:tavLst>
                                    </p:anim>
                                    <p:anim calcmode="lin" valueType="num">
                                      <p:cBhvr>
                                        <p:cTn id="49" dur="1000" fill="hold"/>
                                        <p:tgtEl>
                                          <p:spTgt spid="59394">
                                            <p:txEl>
                                              <p:pRg st="4" end="4"/>
                                            </p:txEl>
                                          </p:spTgt>
                                        </p:tgtEl>
                                        <p:attrNameLst>
                                          <p:attrName>ppt_h</p:attrName>
                                        </p:attrNameLst>
                                      </p:cBhvr>
                                      <p:tavLst>
                                        <p:tav tm="0">
                                          <p:val>
                                            <p:strVal val="#ppt_h"/>
                                          </p:val>
                                        </p:tav>
                                        <p:tav tm="100000">
                                          <p:val>
                                            <p:strVal val="#ppt_h"/>
                                          </p:val>
                                        </p:tav>
                                      </p:tavLst>
                                    </p:anim>
                                    <p:animEffect transition="in" filter="fade">
                                      <p:cBhvr>
                                        <p:cTn id="50" dur="1000"/>
                                        <p:tgtEl>
                                          <p:spTgt spid="59394">
                                            <p:txEl>
                                              <p:pRg st="4" end="4"/>
                                            </p:txEl>
                                          </p:spTgt>
                                        </p:tgtEl>
                                      </p:cBhvr>
                                    </p:animEffect>
                                  </p:childTnLst>
                                </p:cTn>
                              </p:par>
                            </p:childTnLst>
                          </p:cTn>
                        </p:par>
                        <p:par>
                          <p:cTn id="51" fill="hold" nodeType="afterGroup">
                            <p:stCondLst>
                              <p:cond delay="1000"/>
                            </p:stCondLst>
                            <p:childTnLst>
                              <p:par>
                                <p:cTn id="52" presetID="17" presetClass="entr" presetSubtype="10" fill="hold" grpId="0" nodeType="after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p:cTn id="54" dur="1000" fill="hold"/>
                                        <p:tgtEl>
                                          <p:spTgt spid="12"/>
                                        </p:tgtEl>
                                        <p:attrNameLst>
                                          <p:attrName>ppt_w</p:attrName>
                                        </p:attrNameLst>
                                      </p:cBhvr>
                                      <p:tavLst>
                                        <p:tav tm="0">
                                          <p:val>
                                            <p:fltVal val="0"/>
                                          </p:val>
                                        </p:tav>
                                        <p:tav tm="100000">
                                          <p:val>
                                            <p:strVal val="#ppt_w"/>
                                          </p:val>
                                        </p:tav>
                                      </p:tavLst>
                                    </p:anim>
                                    <p:anim calcmode="lin" valueType="num">
                                      <p:cBhvr>
                                        <p:cTn id="55" dur="1000" fill="hold"/>
                                        <p:tgtEl>
                                          <p:spTgt spid="12"/>
                                        </p:tgtEl>
                                        <p:attrNameLst>
                                          <p:attrName>ppt_h</p:attrName>
                                        </p:attrNameLst>
                                      </p:cBhvr>
                                      <p:tavLst>
                                        <p:tav tm="0">
                                          <p:val>
                                            <p:strVal val="#ppt_h"/>
                                          </p:val>
                                        </p:tav>
                                        <p:tav tm="100000">
                                          <p:val>
                                            <p:strVal val="#ppt_h"/>
                                          </p:val>
                                        </p:tav>
                                      </p:tavLst>
                                    </p:anim>
                                  </p:childTnLst>
                                </p:cTn>
                              </p:par>
                            </p:childTnLst>
                          </p:cTn>
                        </p:par>
                        <p:par>
                          <p:cTn id="56" fill="hold" nodeType="afterGroup">
                            <p:stCondLst>
                              <p:cond delay="2000"/>
                            </p:stCondLst>
                            <p:childTnLst>
                              <p:par>
                                <p:cTn id="57" presetID="17" presetClass="entr" presetSubtype="10" fill="hold" grpId="0" nodeType="after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p:cTn id="59" dur="1000" fill="hold"/>
                                        <p:tgtEl>
                                          <p:spTgt spid="10"/>
                                        </p:tgtEl>
                                        <p:attrNameLst>
                                          <p:attrName>ppt_w</p:attrName>
                                        </p:attrNameLst>
                                      </p:cBhvr>
                                      <p:tavLst>
                                        <p:tav tm="0">
                                          <p:val>
                                            <p:fltVal val="0"/>
                                          </p:val>
                                        </p:tav>
                                        <p:tav tm="100000">
                                          <p:val>
                                            <p:strVal val="#ppt_w"/>
                                          </p:val>
                                        </p:tav>
                                      </p:tavLst>
                                    </p:anim>
                                    <p:anim calcmode="lin" valueType="num">
                                      <p:cBhvr>
                                        <p:cTn id="60" dur="1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nodeType="afterGroup">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59402"/>
                                        </p:tgtEl>
                                        <p:attrNameLst>
                                          <p:attrName>style.visibility</p:attrName>
                                        </p:attrNameLst>
                                      </p:cBhvr>
                                      <p:to>
                                        <p:strVal val="visible"/>
                                      </p:to>
                                    </p:set>
                                    <p:animEffect transition="in" filter="barn(inVertical)">
                                      <p:cBhvr>
                                        <p:cTn id="65" dur="500"/>
                                        <p:tgtEl>
                                          <p:spTgt spid="59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animBg="1"/>
      <p:bldP spid="59398" grpId="0" animBg="1"/>
      <p:bldP spid="59400" grpId="0" animBg="1"/>
      <p:bldP spid="59402" grpId="0" animBg="1"/>
      <p:bldP spid="10" grpId="0" animBg="1"/>
      <p:bldP spid="11" grpId="0" animBg="1"/>
      <p:bldP spid="1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53690" y="141044"/>
            <a:ext cx="7541419" cy="1412875"/>
          </a:xfrm>
        </p:spPr>
        <p:txBody>
          <a:bodyPr/>
          <a:lstStyle/>
          <a:p>
            <a:pPr algn="ctr"/>
            <a:r>
              <a:rPr lang="en-US" b="1" dirty="0"/>
              <a:t>Accounting Equation 6 and 7</a:t>
            </a:r>
          </a:p>
        </p:txBody>
      </p:sp>
      <p:sp>
        <p:nvSpPr>
          <p:cNvPr id="18" name="Slide Number Placeholder 3"/>
          <p:cNvSpPr>
            <a:spLocks noGrp="1"/>
          </p:cNvSpPr>
          <p:nvPr>
            <p:ph type="sldNum" sz="quarter" idx="12"/>
          </p:nvPr>
        </p:nvSpPr>
        <p:spPr bwMode="auto">
          <a:xfrm>
            <a:off x="6708726" y="6548970"/>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67</a:t>
            </a:fld>
            <a:endParaRPr lang="en-US" altLang="en-US" dirty="0">
              <a:solidFill>
                <a:srgbClr val="898989"/>
              </a:solidFill>
            </a:endParaRPr>
          </a:p>
        </p:txBody>
      </p:sp>
      <p:graphicFrame>
        <p:nvGraphicFramePr>
          <p:cNvPr id="60419" name="Object 3"/>
          <p:cNvGraphicFramePr>
            <a:graphicFrameLocks/>
          </p:cNvGraphicFramePr>
          <p:nvPr>
            <p:extLst>
              <p:ext uri="{D42A27DB-BD31-4B8C-83A1-F6EECF244321}">
                <p14:modId xmlns:p14="http://schemas.microsoft.com/office/powerpoint/2010/main" val="1036109919"/>
              </p:ext>
            </p:extLst>
          </p:nvPr>
        </p:nvGraphicFramePr>
        <p:xfrm>
          <a:off x="342106" y="2472709"/>
          <a:ext cx="8543925" cy="3121025"/>
        </p:xfrm>
        <a:graphic>
          <a:graphicData uri="http://schemas.openxmlformats.org/presentationml/2006/ole">
            <mc:AlternateContent xmlns:mc="http://schemas.openxmlformats.org/markup-compatibility/2006">
              <mc:Choice xmlns:v="urn:schemas-microsoft-com:vml" Requires="v">
                <p:oleObj spid="_x0000_s9277" name="Worksheet" r:id="rId4" imgW="5943840" imgH="1828586" progId="Excel.Sheet.8">
                  <p:embed/>
                </p:oleObj>
              </mc:Choice>
              <mc:Fallback>
                <p:oleObj name="Worksheet" r:id="rId4" imgW="5943840" imgH="1828586" progId="Excel.Sheet.8">
                  <p:embed/>
                  <p:pic>
                    <p:nvPicPr>
                      <p:cNvPr id="0" name=""/>
                      <p:cNvPicPr>
                        <a:picLocks noChangeArrowheads="1"/>
                      </p:cNvPicPr>
                      <p:nvPr/>
                    </p:nvPicPr>
                    <p:blipFill>
                      <a:blip r:embed="rId5"/>
                      <a:srcRect b="5836"/>
                      <a:stretch>
                        <a:fillRect/>
                      </a:stretch>
                    </p:blipFill>
                    <p:spPr bwMode="auto">
                      <a:xfrm>
                        <a:off x="342106" y="2472709"/>
                        <a:ext cx="8543925" cy="3121025"/>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60421" name="Text Box 5"/>
          <p:cNvSpPr txBox="1">
            <a:spLocks noChangeArrowheads="1"/>
          </p:cNvSpPr>
          <p:nvPr/>
        </p:nvSpPr>
        <p:spPr bwMode="auto">
          <a:xfrm>
            <a:off x="457200" y="5920114"/>
            <a:ext cx="8534400" cy="461665"/>
          </a:xfrm>
          <a:prstGeom prst="rect">
            <a:avLst/>
          </a:prstGeom>
          <a:solidFill>
            <a:schemeClr val="accent1">
              <a:lumMod val="20000"/>
              <a:lumOff val="80000"/>
            </a:schemeClr>
          </a:solidFill>
          <a:ln w="12700">
            <a:solidFill>
              <a:srgbClr val="9A2F6F"/>
            </a:solidFill>
            <a:miter lim="800000"/>
            <a:headEnd/>
            <a:tailEnd/>
          </a:ln>
          <a:effectLst/>
        </p:spPr>
        <p:txBody>
          <a:bodyPr>
            <a:spAutoFit/>
          </a:bodyPr>
          <a:lstStyle/>
          <a:p>
            <a:pPr algn="ctr">
              <a:spcBef>
                <a:spcPct val="50000"/>
              </a:spcBef>
            </a:pPr>
            <a:r>
              <a:rPr lang="en-US" sz="2400" b="1" dirty="0">
                <a:solidFill>
                  <a:prstClr val="black"/>
                </a:solidFill>
                <a:latin typeface="Arial" panose="020B0604020202020204" pitchFamily="34" charset="0"/>
              </a:rPr>
              <a:t>Remember that expenses</a:t>
            </a:r>
            <a:r>
              <a:rPr lang="en-US" sz="2400" b="1" dirty="0">
                <a:solidFill>
                  <a:srgbClr val="9A2F6F"/>
                </a:solidFill>
                <a:latin typeface="Arial" panose="020B0604020202020204" pitchFamily="34" charset="0"/>
              </a:rPr>
              <a:t> </a:t>
            </a:r>
            <a:r>
              <a:rPr lang="en-US" sz="2400" b="1" dirty="0">
                <a:solidFill>
                  <a:srgbClr val="800080"/>
                </a:solidFill>
                <a:latin typeface="Arial" panose="020B0604020202020204" pitchFamily="34" charset="0"/>
              </a:rPr>
              <a:t>decrease</a:t>
            </a:r>
            <a:r>
              <a:rPr lang="en-US" sz="2400" b="1" dirty="0">
                <a:solidFill>
                  <a:srgbClr val="9A2F6F"/>
                </a:solidFill>
                <a:latin typeface="Arial" panose="020B0604020202020204" pitchFamily="34" charset="0"/>
              </a:rPr>
              <a:t> </a:t>
            </a:r>
            <a:r>
              <a:rPr lang="en-US" sz="2400" b="1" dirty="0">
                <a:solidFill>
                  <a:prstClr val="black"/>
                </a:solidFill>
                <a:latin typeface="Arial" panose="020B0604020202020204" pitchFamily="34" charset="0"/>
              </a:rPr>
              <a:t>equity.</a:t>
            </a:r>
          </a:p>
        </p:txBody>
      </p:sp>
      <p:sp>
        <p:nvSpPr>
          <p:cNvPr id="60422" name="Rectangle 6"/>
          <p:cNvSpPr>
            <a:spLocks noChangeArrowheads="1"/>
          </p:cNvSpPr>
          <p:nvPr/>
        </p:nvSpPr>
        <p:spPr bwMode="auto">
          <a:xfrm>
            <a:off x="685800" y="1371600"/>
            <a:ext cx="7597775" cy="984250"/>
          </a:xfrm>
          <a:prstGeom prst="rect">
            <a:avLst/>
          </a:prstGeom>
          <a:solidFill>
            <a:schemeClr val="accent3">
              <a:lumMod val="40000"/>
              <a:lumOff val="60000"/>
            </a:schemeClr>
          </a:solidFill>
          <a:ln>
            <a:noFill/>
          </a:ln>
          <a:effectLst/>
        </p:spPr>
        <p:txBody>
          <a:bodyPr lIns="90488" tIns="44450" rIns="90488" bIns="44450"/>
          <a:lstStyle/>
          <a:p>
            <a:pPr algn="ctr"/>
            <a:r>
              <a:rPr lang="en-US" sz="2800" b="1" dirty="0">
                <a:solidFill>
                  <a:prstClr val="black"/>
                </a:solidFill>
                <a:latin typeface="Arial" panose="020B0604020202020204" pitchFamily="34" charset="0"/>
              </a:rPr>
              <a:t>Paid rent of $1,000 and </a:t>
            </a:r>
            <a:br>
              <a:rPr lang="en-US" sz="2800" b="1" dirty="0">
                <a:solidFill>
                  <a:prstClr val="black"/>
                </a:solidFill>
                <a:latin typeface="Arial" panose="020B0604020202020204" pitchFamily="34" charset="0"/>
              </a:rPr>
            </a:br>
            <a:r>
              <a:rPr lang="en-US" sz="2800" b="1" dirty="0">
                <a:solidFill>
                  <a:prstClr val="black"/>
                </a:solidFill>
                <a:latin typeface="Arial" panose="020B0604020202020204" pitchFamily="34" charset="0"/>
              </a:rPr>
              <a:t>salaries of $700 to employees.</a:t>
            </a:r>
          </a:p>
        </p:txBody>
      </p:sp>
      <p:sp>
        <p:nvSpPr>
          <p:cNvPr id="60425" name="Oval 9"/>
          <p:cNvSpPr>
            <a:spLocks noChangeArrowheads="1"/>
          </p:cNvSpPr>
          <p:nvPr/>
        </p:nvSpPr>
        <p:spPr bwMode="auto">
          <a:xfrm>
            <a:off x="8230790" y="3685416"/>
            <a:ext cx="708025" cy="346075"/>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6" name="Oval 10"/>
          <p:cNvSpPr>
            <a:spLocks noChangeArrowheads="1"/>
          </p:cNvSpPr>
          <p:nvPr/>
        </p:nvSpPr>
        <p:spPr bwMode="auto">
          <a:xfrm>
            <a:off x="1390650" y="4935243"/>
            <a:ext cx="1600200" cy="6858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8" name="Oval 12"/>
          <p:cNvSpPr>
            <a:spLocks noChangeArrowheads="1"/>
          </p:cNvSpPr>
          <p:nvPr/>
        </p:nvSpPr>
        <p:spPr bwMode="auto">
          <a:xfrm>
            <a:off x="4484687" y="5011443"/>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2" name="Oval 9"/>
          <p:cNvSpPr>
            <a:spLocks noChangeArrowheads="1"/>
          </p:cNvSpPr>
          <p:nvPr/>
        </p:nvSpPr>
        <p:spPr bwMode="auto">
          <a:xfrm>
            <a:off x="1066801" y="4031491"/>
            <a:ext cx="838200" cy="361096"/>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3" name="Oval 9"/>
          <p:cNvSpPr>
            <a:spLocks noChangeArrowheads="1"/>
          </p:cNvSpPr>
          <p:nvPr/>
        </p:nvSpPr>
        <p:spPr bwMode="auto">
          <a:xfrm>
            <a:off x="8283575" y="4015680"/>
            <a:ext cx="708025" cy="350471"/>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0" name="Line 4"/>
          <p:cNvSpPr>
            <a:spLocks noChangeShapeType="1"/>
          </p:cNvSpPr>
          <p:nvPr/>
        </p:nvSpPr>
        <p:spPr bwMode="auto">
          <a:xfrm flipV="1">
            <a:off x="6610350" y="5029199"/>
            <a:ext cx="1722437" cy="890915"/>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en-US" dirty="0">
              <a:solidFill>
                <a:prstClr val="black"/>
              </a:solidFill>
            </a:endParaRPr>
          </a:p>
        </p:txBody>
      </p:sp>
      <p:sp>
        <p:nvSpPr>
          <p:cNvPr id="16" name="Oval 9"/>
          <p:cNvSpPr>
            <a:spLocks noChangeArrowheads="1"/>
          </p:cNvSpPr>
          <p:nvPr/>
        </p:nvSpPr>
        <p:spPr bwMode="auto">
          <a:xfrm>
            <a:off x="1029891" y="3667011"/>
            <a:ext cx="912019" cy="361096"/>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9" name="Rectangle 1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931185292"/>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60422">
                                            <p:txEl>
                                              <p:pRg st="0" end="0"/>
                                            </p:txEl>
                                          </p:spTgt>
                                        </p:tgtEl>
                                        <p:attrNameLst>
                                          <p:attrName>style.visibility</p:attrName>
                                        </p:attrNameLst>
                                      </p:cBhvr>
                                      <p:to>
                                        <p:strVal val="visible"/>
                                      </p:to>
                                    </p:set>
                                    <p:animEffect transition="in" filter="fade">
                                      <p:cBhvr>
                                        <p:cTn id="7" dur="1000"/>
                                        <p:tgtEl>
                                          <p:spTgt spid="60422">
                                            <p:txEl>
                                              <p:pRg st="0" end="0"/>
                                            </p:txEl>
                                          </p:spTgt>
                                        </p:tgtEl>
                                      </p:cBhvr>
                                    </p:animEffect>
                                    <p:anim calcmode="lin" valueType="num">
                                      <p:cBhvr>
                                        <p:cTn id="8" dur="1000" fill="hold"/>
                                        <p:tgtEl>
                                          <p:spTgt spid="6042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0422">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9" presetClass="entr" presetSubtype="0" fill="hold" nodeType="afterEffect">
                                  <p:stCondLst>
                                    <p:cond delay="0"/>
                                  </p:stCondLst>
                                  <p:childTnLst>
                                    <p:set>
                                      <p:cBhvr>
                                        <p:cTn id="12" dur="1" fill="hold">
                                          <p:stCondLst>
                                            <p:cond delay="0"/>
                                          </p:stCondLst>
                                        </p:cTn>
                                        <p:tgtEl>
                                          <p:spTgt spid="60419"/>
                                        </p:tgtEl>
                                        <p:attrNameLst>
                                          <p:attrName>style.visibility</p:attrName>
                                        </p:attrNameLst>
                                      </p:cBhvr>
                                      <p:to>
                                        <p:strVal val="visible"/>
                                      </p:to>
                                    </p:set>
                                    <p:animEffect transition="in" filter="dissolve">
                                      <p:cBhvr>
                                        <p:cTn id="13" dur="1000"/>
                                        <p:tgtEl>
                                          <p:spTgt spid="60419"/>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dissolve">
                                      <p:cBhvr>
                                        <p:cTn id="18" dur="1000"/>
                                        <p:tgtEl>
                                          <p:spTgt spid="16"/>
                                        </p:tgtEl>
                                      </p:cBhvr>
                                    </p:animEffect>
                                  </p:childTnLst>
                                </p:cTn>
                              </p:par>
                            </p:childTnLst>
                          </p:cTn>
                        </p:par>
                        <p:par>
                          <p:cTn id="19" fill="hold">
                            <p:stCondLst>
                              <p:cond delay="1000"/>
                            </p:stCondLst>
                            <p:childTnLst>
                              <p:par>
                                <p:cTn id="20" presetID="9" presetClass="entr" presetSubtype="0" fill="hold" grpId="0" nodeType="afterEffect">
                                  <p:stCondLst>
                                    <p:cond delay="0"/>
                                  </p:stCondLst>
                                  <p:childTnLst>
                                    <p:set>
                                      <p:cBhvr>
                                        <p:cTn id="21" dur="1" fill="hold">
                                          <p:stCondLst>
                                            <p:cond delay="0"/>
                                          </p:stCondLst>
                                        </p:cTn>
                                        <p:tgtEl>
                                          <p:spTgt spid="60425"/>
                                        </p:tgtEl>
                                        <p:attrNameLst>
                                          <p:attrName>style.visibility</p:attrName>
                                        </p:attrNameLst>
                                      </p:cBhvr>
                                      <p:to>
                                        <p:strVal val="visible"/>
                                      </p:to>
                                    </p:set>
                                    <p:animEffect transition="in" filter="dissolve">
                                      <p:cBhvr>
                                        <p:cTn id="22" dur="1000"/>
                                        <p:tgtEl>
                                          <p:spTgt spid="6042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1000"/>
                                        <p:tgtEl>
                                          <p:spTgt spid="12"/>
                                        </p:tgtEl>
                                      </p:cBhvr>
                                    </p:animEffect>
                                  </p:childTnLst>
                                </p:cTn>
                              </p:par>
                            </p:childTnLst>
                          </p:cTn>
                        </p:par>
                        <p:par>
                          <p:cTn id="28" fill="hold">
                            <p:stCondLst>
                              <p:cond delay="1000"/>
                            </p:stCondLst>
                            <p:childTnLst>
                              <p:par>
                                <p:cTn id="29" presetID="9"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10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60426"/>
                                        </p:tgtEl>
                                        <p:attrNameLst>
                                          <p:attrName>style.visibility</p:attrName>
                                        </p:attrNameLst>
                                      </p:cBhvr>
                                      <p:to>
                                        <p:strVal val="visible"/>
                                      </p:to>
                                    </p:set>
                                    <p:animEffect transition="in" filter="dissolve">
                                      <p:cBhvr>
                                        <p:cTn id="36" dur="1000"/>
                                        <p:tgtEl>
                                          <p:spTgt spid="60426"/>
                                        </p:tgtEl>
                                      </p:cBhvr>
                                    </p:animEffect>
                                  </p:childTnLst>
                                </p:cTn>
                              </p:par>
                            </p:childTnLst>
                          </p:cTn>
                        </p:par>
                        <p:par>
                          <p:cTn id="37" fill="hold">
                            <p:stCondLst>
                              <p:cond delay="1000"/>
                            </p:stCondLst>
                            <p:childTnLst>
                              <p:par>
                                <p:cTn id="38" presetID="55" presetClass="entr" presetSubtype="0" fill="hold" grpId="0" nodeType="afterEffect">
                                  <p:stCondLst>
                                    <p:cond delay="0"/>
                                  </p:stCondLst>
                                  <p:childTnLst>
                                    <p:set>
                                      <p:cBhvr>
                                        <p:cTn id="39" dur="1" fill="hold">
                                          <p:stCondLst>
                                            <p:cond delay="0"/>
                                          </p:stCondLst>
                                        </p:cTn>
                                        <p:tgtEl>
                                          <p:spTgt spid="60420"/>
                                        </p:tgtEl>
                                        <p:attrNameLst>
                                          <p:attrName>style.visibility</p:attrName>
                                        </p:attrNameLst>
                                      </p:cBhvr>
                                      <p:to>
                                        <p:strVal val="visible"/>
                                      </p:to>
                                    </p:set>
                                    <p:anim calcmode="lin" valueType="num">
                                      <p:cBhvr>
                                        <p:cTn id="40" dur="1000" fill="hold"/>
                                        <p:tgtEl>
                                          <p:spTgt spid="60420"/>
                                        </p:tgtEl>
                                        <p:attrNameLst>
                                          <p:attrName>ppt_w</p:attrName>
                                        </p:attrNameLst>
                                      </p:cBhvr>
                                      <p:tavLst>
                                        <p:tav tm="0">
                                          <p:val>
                                            <p:strVal val="#ppt_w*0.70"/>
                                          </p:val>
                                        </p:tav>
                                        <p:tav tm="100000">
                                          <p:val>
                                            <p:strVal val="#ppt_w"/>
                                          </p:val>
                                        </p:tav>
                                      </p:tavLst>
                                    </p:anim>
                                    <p:anim calcmode="lin" valueType="num">
                                      <p:cBhvr>
                                        <p:cTn id="41" dur="1000" fill="hold"/>
                                        <p:tgtEl>
                                          <p:spTgt spid="60420"/>
                                        </p:tgtEl>
                                        <p:attrNameLst>
                                          <p:attrName>ppt_h</p:attrName>
                                        </p:attrNameLst>
                                      </p:cBhvr>
                                      <p:tavLst>
                                        <p:tav tm="0">
                                          <p:val>
                                            <p:strVal val="#ppt_h"/>
                                          </p:val>
                                        </p:tav>
                                        <p:tav tm="100000">
                                          <p:val>
                                            <p:strVal val="#ppt_h"/>
                                          </p:val>
                                        </p:tav>
                                      </p:tavLst>
                                    </p:anim>
                                    <p:animEffect transition="in" filter="fade">
                                      <p:cBhvr>
                                        <p:cTn id="42" dur="1000"/>
                                        <p:tgtEl>
                                          <p:spTgt spid="60420"/>
                                        </p:tgtEl>
                                      </p:cBhvr>
                                    </p:animEffect>
                                  </p:childTnLst>
                                </p:cTn>
                              </p:par>
                            </p:childTnLst>
                          </p:cTn>
                        </p:par>
                        <p:par>
                          <p:cTn id="43" fill="hold">
                            <p:stCondLst>
                              <p:cond delay="2000"/>
                            </p:stCondLst>
                            <p:childTnLst>
                              <p:par>
                                <p:cTn id="44" presetID="9" presetClass="entr" presetSubtype="0" fill="hold" grpId="0" nodeType="afterEffect">
                                  <p:stCondLst>
                                    <p:cond delay="0"/>
                                  </p:stCondLst>
                                  <p:childTnLst>
                                    <p:set>
                                      <p:cBhvr>
                                        <p:cTn id="45" dur="1" fill="hold">
                                          <p:stCondLst>
                                            <p:cond delay="0"/>
                                          </p:stCondLst>
                                        </p:cTn>
                                        <p:tgtEl>
                                          <p:spTgt spid="60428"/>
                                        </p:tgtEl>
                                        <p:attrNameLst>
                                          <p:attrName>style.visibility</p:attrName>
                                        </p:attrNameLst>
                                      </p:cBhvr>
                                      <p:to>
                                        <p:strVal val="visible"/>
                                      </p:to>
                                    </p:set>
                                    <p:animEffect transition="in" filter="dissolve">
                                      <p:cBhvr>
                                        <p:cTn id="46" dur="1000"/>
                                        <p:tgtEl>
                                          <p:spTgt spid="60428"/>
                                        </p:tgtEl>
                                      </p:cBhvr>
                                    </p:animEffect>
                                  </p:childTnLst>
                                </p:cTn>
                              </p:par>
                            </p:childTnLst>
                          </p:cTn>
                        </p:par>
                        <p:par>
                          <p:cTn id="47" fill="hold">
                            <p:stCondLst>
                              <p:cond delay="3000"/>
                            </p:stCondLst>
                            <p:childTnLst>
                              <p:par>
                                <p:cTn id="48" presetID="27" presetClass="entr" presetSubtype="0" fill="hold" nodeType="afterEffect">
                                  <p:stCondLst>
                                    <p:cond delay="0"/>
                                  </p:stCondLst>
                                  <p:iterate type="lt">
                                    <p:tmPct val="50000"/>
                                  </p:iterate>
                                  <p:childTnLst>
                                    <p:set>
                                      <p:cBhvr>
                                        <p:cTn id="49" dur="1" fill="hold">
                                          <p:stCondLst>
                                            <p:cond delay="0"/>
                                          </p:stCondLst>
                                        </p:cTn>
                                        <p:tgtEl>
                                          <p:spTgt spid="60421">
                                            <p:txEl>
                                              <p:pRg st="0" end="0"/>
                                            </p:txEl>
                                          </p:spTgt>
                                        </p:tgtEl>
                                        <p:attrNameLst>
                                          <p:attrName>style.visibility</p:attrName>
                                        </p:attrNameLst>
                                      </p:cBhvr>
                                      <p:to>
                                        <p:strVal val="visible"/>
                                      </p:to>
                                    </p:set>
                                    <p:anim calcmode="discrete" valueType="clr">
                                      <p:cBhvr override="childStyle">
                                        <p:cTn id="50" dur="80"/>
                                        <p:tgtEl>
                                          <p:spTgt spid="6042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60421">
                                            <p:txEl>
                                              <p:pRg st="0" end="0"/>
                                            </p:txEl>
                                          </p:spTgt>
                                        </p:tgtEl>
                                        <p:attrNameLst>
                                          <p:attrName>fillcolor</p:attrName>
                                        </p:attrNameLst>
                                      </p:cBhvr>
                                      <p:tavLst>
                                        <p:tav tm="0">
                                          <p:val>
                                            <p:clrVal>
                                              <a:schemeClr val="accent2"/>
                                            </p:clrVal>
                                          </p:val>
                                        </p:tav>
                                        <p:tav tm="50000">
                                          <p:val>
                                            <p:clrVal>
                                              <a:schemeClr val="hlink"/>
                                            </p:clrVal>
                                          </p:val>
                                        </p:tav>
                                      </p:tavLst>
                                    </p:anim>
                                    <p:set>
                                      <p:cBhvr>
                                        <p:cTn id="52" dur="80"/>
                                        <p:tgtEl>
                                          <p:spTgt spid="60421">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animBg="1"/>
      <p:bldP spid="60426" grpId="0" animBg="1"/>
      <p:bldP spid="60428" grpId="0" animBg="1"/>
      <p:bldP spid="12" grpId="0" animBg="1"/>
      <p:bldP spid="13" grpId="0" animBg="1"/>
      <p:bldP spid="60420" grpId="0" animBg="1"/>
      <p:bldP spid="1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5"/>
          <p:cNvSpPr>
            <a:spLocks noGrp="1" noChangeArrowheads="1"/>
          </p:cNvSpPr>
          <p:nvPr>
            <p:ph type="title"/>
          </p:nvPr>
        </p:nvSpPr>
        <p:spPr>
          <a:xfrm>
            <a:off x="390521" y="384748"/>
            <a:ext cx="8067679" cy="1412875"/>
          </a:xfrm>
        </p:spPr>
        <p:txBody>
          <a:bodyPr>
            <a:normAutofit/>
          </a:bodyPr>
          <a:lstStyle/>
          <a:p>
            <a:pPr algn="ctr"/>
            <a:r>
              <a:rPr lang="en-US" b="1" dirty="0"/>
              <a:t>Transaction 8:</a:t>
            </a:r>
            <a:br>
              <a:rPr lang="en-US" b="1" dirty="0"/>
            </a:br>
            <a:r>
              <a:rPr lang="en-US" sz="3600" b="1" dirty="0"/>
              <a:t>Provide Services and Facilities for Credit</a:t>
            </a:r>
          </a:p>
        </p:txBody>
      </p:sp>
      <p:sp>
        <p:nvSpPr>
          <p:cNvPr id="55298" name="Rectangle 2"/>
          <p:cNvSpPr>
            <a:spLocks noGrp="1" noChangeArrowheads="1"/>
          </p:cNvSpPr>
          <p:nvPr>
            <p:ph idx="1"/>
          </p:nvPr>
        </p:nvSpPr>
        <p:spPr bwMode="auto">
          <a:xfrm>
            <a:off x="1447800" y="2590799"/>
            <a:ext cx="8153400" cy="3505200"/>
          </a:xfrm>
          <a:solidFill>
            <a:srgbClr val="FFFFFF"/>
          </a:solidFill>
          <a:ln>
            <a:solidFill>
              <a:schemeClr val="bg1"/>
            </a:solidFill>
            <a:miter lim="800000"/>
            <a:headEnd/>
            <a:tailEnd/>
          </a:ln>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br>
              <a:rPr lang="en-US" dirty="0"/>
            </a:br>
            <a:endParaRPr lang="en-US" dirty="0"/>
          </a:p>
          <a:p>
            <a:pPr>
              <a:buFont typeface="Wingdings" panose="05000000000000000000" pitchFamily="2" charset="2"/>
              <a:buNone/>
            </a:pPr>
            <a:endParaRPr lang="en-US" b="1" dirty="0">
              <a:solidFill>
                <a:srgbClr val="800080"/>
              </a:solidFill>
            </a:endParaRPr>
          </a:p>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Accounts receivable</a:t>
            </a:r>
            <a:r>
              <a:rPr lang="en-US" b="1" dirty="0">
                <a:solidFill>
                  <a:schemeClr val="hlink"/>
                </a:solidFill>
              </a:rPr>
              <a:t> </a:t>
            </a:r>
            <a:r>
              <a:rPr lang="en-US" b="1" dirty="0">
                <a:solidFill>
                  <a:srgbClr val="9A2F6F"/>
                </a:solidFill>
              </a:rPr>
              <a:t>(asset)</a:t>
            </a:r>
            <a:r>
              <a:rPr lang="en-US" b="1" dirty="0">
                <a:solidFill>
                  <a:schemeClr val="hlink"/>
                </a:solidFill>
              </a:rPr>
              <a:t> </a:t>
            </a:r>
          </a:p>
          <a:p>
            <a:pPr>
              <a:buFont typeface="Wingdings" panose="05000000000000000000" pitchFamily="2" charset="2"/>
              <a:buNone/>
            </a:pPr>
            <a:r>
              <a:rPr lang="en-US" b="1" dirty="0">
                <a:solidFill>
                  <a:schemeClr val="hlink"/>
                </a:solidFill>
              </a:rPr>
              <a:t>	</a:t>
            </a:r>
            <a:r>
              <a:rPr lang="en-US" b="1" dirty="0"/>
              <a:t>(2) Consulting Revenues </a:t>
            </a:r>
            <a:r>
              <a:rPr lang="en-US" b="1" dirty="0">
                <a:solidFill>
                  <a:srgbClr val="9A2F6F"/>
                </a:solidFill>
              </a:rPr>
              <a:t>(equity)</a:t>
            </a:r>
            <a:r>
              <a:rPr lang="en-US" dirty="0"/>
              <a:t> </a:t>
            </a:r>
          </a:p>
          <a:p>
            <a:pPr>
              <a:buFont typeface="Wingdings" panose="05000000000000000000" pitchFamily="2" charset="2"/>
              <a:buNone/>
            </a:pPr>
            <a:r>
              <a:rPr lang="en-US" dirty="0"/>
              <a:t>    </a:t>
            </a:r>
            <a:r>
              <a:rPr lang="en-US" b="1" dirty="0"/>
              <a:t>(3) Rental Revenue </a:t>
            </a:r>
            <a:r>
              <a:rPr lang="en-US" b="1" dirty="0">
                <a:solidFill>
                  <a:srgbClr val="9A2F6F"/>
                </a:solidFill>
              </a:rPr>
              <a:t>(equity)</a:t>
            </a:r>
            <a:endParaRPr lang="en-US" b="1" dirty="0"/>
          </a:p>
        </p:txBody>
      </p:sp>
      <p:sp>
        <p:nvSpPr>
          <p:cNvPr id="14" name="Slide Number Placeholder 3"/>
          <p:cNvSpPr>
            <a:spLocks noGrp="1"/>
          </p:cNvSpPr>
          <p:nvPr>
            <p:ph type="sldNum" sz="quarter" idx="12"/>
          </p:nvPr>
        </p:nvSpPr>
        <p:spPr bwMode="auto">
          <a:xfrm>
            <a:off x="6781801" y="648422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68</a:t>
            </a:fld>
            <a:endParaRPr lang="en-US" altLang="en-US" dirty="0">
              <a:solidFill>
                <a:srgbClr val="898989"/>
              </a:solidFill>
            </a:endParaRPr>
          </a:p>
        </p:txBody>
      </p:sp>
      <p:sp>
        <p:nvSpPr>
          <p:cNvPr id="55300" name="AutoShape 4"/>
          <p:cNvSpPr>
            <a:spLocks noChangeArrowheads="1"/>
          </p:cNvSpPr>
          <p:nvPr/>
        </p:nvSpPr>
        <p:spPr bwMode="auto">
          <a:xfrm rot="16200000">
            <a:off x="5959531" y="3949206"/>
            <a:ext cx="397924" cy="304802"/>
          </a:xfrm>
          <a:prstGeom prst="rightArrow">
            <a:avLst>
              <a:gd name="adj1" fmla="val 50000"/>
              <a:gd name="adj2" fmla="val 67045"/>
            </a:avLst>
          </a:prstGeom>
          <a:solidFill>
            <a:srgbClr val="00CC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55302" name="Rectangle 6"/>
          <p:cNvSpPr>
            <a:spLocks noChangeArrowheads="1"/>
          </p:cNvSpPr>
          <p:nvPr/>
        </p:nvSpPr>
        <p:spPr bwMode="auto">
          <a:xfrm>
            <a:off x="523879" y="1988662"/>
            <a:ext cx="8153400" cy="1066800"/>
          </a:xfrm>
          <a:prstGeom prst="rect">
            <a:avLst/>
          </a:prstGeom>
          <a:solidFill>
            <a:srgbClr val="FFFF99"/>
          </a:solidFill>
          <a:ln>
            <a:noFill/>
          </a:ln>
          <a:effectLst/>
        </p:spPr>
        <p:txBody>
          <a:bodyPr lIns="90488" tIns="44450" rIns="90488" bIns="44450"/>
          <a:lstStyle/>
          <a:p>
            <a:pPr algn="ctr"/>
            <a:r>
              <a:rPr lang="en-US" sz="2600" b="1" dirty="0">
                <a:solidFill>
                  <a:prstClr val="black"/>
                </a:solidFill>
                <a:latin typeface="Arial" panose="020B0604020202020204" pitchFamily="34" charset="0"/>
              </a:rPr>
              <a:t>Provided consulting services of $1,600 and rents facilities for $300 to a customer for credit.</a:t>
            </a:r>
          </a:p>
        </p:txBody>
      </p:sp>
      <p:sp>
        <p:nvSpPr>
          <p:cNvPr id="11" name="AutoShape 4"/>
          <p:cNvSpPr>
            <a:spLocks noChangeArrowheads="1"/>
          </p:cNvSpPr>
          <p:nvPr/>
        </p:nvSpPr>
        <p:spPr bwMode="auto">
          <a:xfrm rot="16200000">
            <a:off x="6582839" y="4389961"/>
            <a:ext cx="397924" cy="304802"/>
          </a:xfrm>
          <a:prstGeom prst="rightArrow">
            <a:avLst>
              <a:gd name="adj1" fmla="val 50000"/>
              <a:gd name="adj2" fmla="val 67045"/>
            </a:avLst>
          </a:prstGeom>
          <a:solidFill>
            <a:srgbClr val="00CC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12" name="AutoShape 4"/>
          <p:cNvSpPr>
            <a:spLocks noChangeArrowheads="1"/>
          </p:cNvSpPr>
          <p:nvPr/>
        </p:nvSpPr>
        <p:spPr bwMode="auto">
          <a:xfrm rot="16200000">
            <a:off x="5897039" y="4847161"/>
            <a:ext cx="397924" cy="304802"/>
          </a:xfrm>
          <a:prstGeom prst="rightArrow">
            <a:avLst>
              <a:gd name="adj1" fmla="val 50000"/>
              <a:gd name="adj2" fmla="val 67045"/>
            </a:avLst>
          </a:prstGeom>
          <a:solidFill>
            <a:srgbClr val="00CC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15" name="Rectangle 14"/>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3530637599"/>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302"/>
                                        </p:tgtEl>
                                        <p:attrNameLst>
                                          <p:attrName>style.visibility</p:attrName>
                                        </p:attrNameLst>
                                      </p:cBhvr>
                                      <p:to>
                                        <p:strVal val="visible"/>
                                      </p:to>
                                    </p:set>
                                    <p:animEffect transition="in" filter="fade">
                                      <p:cBhvr>
                                        <p:cTn id="7" dur="1000"/>
                                        <p:tgtEl>
                                          <p:spTgt spid="55302"/>
                                        </p:tgtEl>
                                      </p:cBhvr>
                                    </p:animEffect>
                                    <p:anim calcmode="lin" valueType="num">
                                      <p:cBhvr>
                                        <p:cTn id="8" dur="1000" fill="hold"/>
                                        <p:tgtEl>
                                          <p:spTgt spid="55302"/>
                                        </p:tgtEl>
                                        <p:attrNameLst>
                                          <p:attrName>ppt_x</p:attrName>
                                        </p:attrNameLst>
                                      </p:cBhvr>
                                      <p:tavLst>
                                        <p:tav tm="0">
                                          <p:val>
                                            <p:strVal val="#ppt_x"/>
                                          </p:val>
                                        </p:tav>
                                        <p:tav tm="100000">
                                          <p:val>
                                            <p:strVal val="#ppt_x"/>
                                          </p:val>
                                        </p:tav>
                                      </p:tavLst>
                                    </p:anim>
                                    <p:anim calcmode="lin" valueType="num">
                                      <p:cBhvr>
                                        <p:cTn id="9" dur="1000" fill="hold"/>
                                        <p:tgtEl>
                                          <p:spTgt spid="5530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55298">
                                            <p:txEl>
                                              <p:pRg st="2" end="2"/>
                                            </p:txEl>
                                          </p:spTgt>
                                        </p:tgtEl>
                                        <p:attrNameLst>
                                          <p:attrName>style.visibility</p:attrName>
                                        </p:attrNameLst>
                                      </p:cBhvr>
                                      <p:to>
                                        <p:strVal val="visible"/>
                                      </p:to>
                                    </p:set>
                                    <p:anim calcmode="lin" valueType="num">
                                      <p:cBhvr additive="base">
                                        <p:cTn id="13" dur="500" fill="hold"/>
                                        <p:tgtEl>
                                          <p:spTgt spid="5529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54" presetClass="entr" presetSubtype="0" accel="100000" fill="hold" nodeType="clickEffect">
                                  <p:stCondLst>
                                    <p:cond delay="0"/>
                                  </p:stCondLst>
                                  <p:childTnLst>
                                    <p:set>
                                      <p:cBhvr>
                                        <p:cTn id="18" dur="1" fill="hold">
                                          <p:stCondLst>
                                            <p:cond delay="0"/>
                                          </p:stCondLst>
                                        </p:cTn>
                                        <p:tgtEl>
                                          <p:spTgt spid="55298">
                                            <p:txEl>
                                              <p:pRg st="3" end="3"/>
                                            </p:txEl>
                                          </p:spTgt>
                                        </p:tgtEl>
                                        <p:attrNameLst>
                                          <p:attrName>style.visibility</p:attrName>
                                        </p:attrNameLst>
                                      </p:cBhvr>
                                      <p:to>
                                        <p:strVal val="visible"/>
                                      </p:to>
                                    </p:set>
                                    <p:anim calcmode="lin" valueType="num">
                                      <p:cBhvr>
                                        <p:cTn id="19" dur="1000" fill="hold"/>
                                        <p:tgtEl>
                                          <p:spTgt spid="55298">
                                            <p:txEl>
                                              <p:pRg st="3" end="3"/>
                                            </p:txEl>
                                          </p:spTgt>
                                        </p:tgtEl>
                                        <p:attrNameLst>
                                          <p:attrName>ppt_w</p:attrName>
                                        </p:attrNameLst>
                                      </p:cBhvr>
                                      <p:tavLst>
                                        <p:tav tm="0">
                                          <p:val>
                                            <p:strVal val="#ppt_w*0.05"/>
                                          </p:val>
                                        </p:tav>
                                        <p:tav tm="100000">
                                          <p:val>
                                            <p:strVal val="#ppt_w"/>
                                          </p:val>
                                        </p:tav>
                                      </p:tavLst>
                                    </p:anim>
                                    <p:anim calcmode="lin" valueType="num">
                                      <p:cBhvr>
                                        <p:cTn id="20" dur="1000" fill="hold"/>
                                        <p:tgtEl>
                                          <p:spTgt spid="55298">
                                            <p:txEl>
                                              <p:pRg st="3" end="3"/>
                                            </p:txEl>
                                          </p:spTgt>
                                        </p:tgtEl>
                                        <p:attrNameLst>
                                          <p:attrName>ppt_h</p:attrName>
                                        </p:attrNameLst>
                                      </p:cBhvr>
                                      <p:tavLst>
                                        <p:tav tm="0">
                                          <p:val>
                                            <p:strVal val="#ppt_h"/>
                                          </p:val>
                                        </p:tav>
                                        <p:tav tm="100000">
                                          <p:val>
                                            <p:strVal val="#ppt_h"/>
                                          </p:val>
                                        </p:tav>
                                      </p:tavLst>
                                    </p:anim>
                                    <p:anim calcmode="lin" valueType="num">
                                      <p:cBhvr>
                                        <p:cTn id="21" dur="1000" fill="hold"/>
                                        <p:tgtEl>
                                          <p:spTgt spid="55298">
                                            <p:txEl>
                                              <p:pRg st="3" end="3"/>
                                            </p:txEl>
                                          </p:spTgt>
                                        </p:tgtEl>
                                        <p:attrNameLst>
                                          <p:attrName>ppt_x</p:attrName>
                                        </p:attrNameLst>
                                      </p:cBhvr>
                                      <p:tavLst>
                                        <p:tav tm="0">
                                          <p:val>
                                            <p:strVal val="#ppt_x-.2"/>
                                          </p:val>
                                        </p:tav>
                                        <p:tav tm="100000">
                                          <p:val>
                                            <p:strVal val="#ppt_x"/>
                                          </p:val>
                                        </p:tav>
                                      </p:tavLst>
                                    </p:anim>
                                    <p:anim calcmode="lin" valueType="num">
                                      <p:cBhvr>
                                        <p:cTn id="22" dur="1000" fill="hold"/>
                                        <p:tgtEl>
                                          <p:spTgt spid="55298">
                                            <p:txEl>
                                              <p:pRg st="3" end="3"/>
                                            </p:txEl>
                                          </p:spTgt>
                                        </p:tgtEl>
                                        <p:attrNameLst>
                                          <p:attrName>ppt_y</p:attrName>
                                        </p:attrNameLst>
                                      </p:cBhvr>
                                      <p:tavLst>
                                        <p:tav tm="0">
                                          <p:val>
                                            <p:strVal val="#ppt_y"/>
                                          </p:val>
                                        </p:tav>
                                        <p:tav tm="100000">
                                          <p:val>
                                            <p:strVal val="#ppt_y"/>
                                          </p:val>
                                        </p:tav>
                                      </p:tavLst>
                                    </p:anim>
                                    <p:animEffect transition="in" filter="fade">
                                      <p:cBhvr>
                                        <p:cTn id="23" dur="1000"/>
                                        <p:tgtEl>
                                          <p:spTgt spid="55298">
                                            <p:txEl>
                                              <p:pRg st="3" end="3"/>
                                            </p:txEl>
                                          </p:spTgt>
                                        </p:tgtEl>
                                      </p:cBhvr>
                                    </p:animEffect>
                                  </p:childTnLst>
                                </p:cTn>
                              </p:par>
                            </p:childTnLst>
                          </p:cTn>
                        </p:par>
                        <p:par>
                          <p:cTn id="24" fill="hold" nodeType="afterGroup">
                            <p:stCondLst>
                              <p:cond delay="1000"/>
                            </p:stCondLst>
                            <p:childTnLst>
                              <p:par>
                                <p:cTn id="25" presetID="29" presetClass="entr" presetSubtype="0" fill="hold" grpId="0" nodeType="afterEffect">
                                  <p:stCondLst>
                                    <p:cond delay="0"/>
                                  </p:stCondLst>
                                  <p:childTnLst>
                                    <p:set>
                                      <p:cBhvr>
                                        <p:cTn id="26" dur="1" fill="hold">
                                          <p:stCondLst>
                                            <p:cond delay="0"/>
                                          </p:stCondLst>
                                        </p:cTn>
                                        <p:tgtEl>
                                          <p:spTgt spid="55300"/>
                                        </p:tgtEl>
                                        <p:attrNameLst>
                                          <p:attrName>style.visibility</p:attrName>
                                        </p:attrNameLst>
                                      </p:cBhvr>
                                      <p:to>
                                        <p:strVal val="visible"/>
                                      </p:to>
                                    </p:set>
                                    <p:anim calcmode="lin" valueType="num">
                                      <p:cBhvr>
                                        <p:cTn id="27" dur="2000" fill="hold"/>
                                        <p:tgtEl>
                                          <p:spTgt spid="55300"/>
                                        </p:tgtEl>
                                        <p:attrNameLst>
                                          <p:attrName>ppt_x</p:attrName>
                                        </p:attrNameLst>
                                      </p:cBhvr>
                                      <p:tavLst>
                                        <p:tav tm="0">
                                          <p:val>
                                            <p:strVal val="#ppt_x-.2"/>
                                          </p:val>
                                        </p:tav>
                                        <p:tav tm="100000">
                                          <p:val>
                                            <p:strVal val="#ppt_x"/>
                                          </p:val>
                                        </p:tav>
                                      </p:tavLst>
                                    </p:anim>
                                    <p:anim calcmode="lin" valueType="num">
                                      <p:cBhvr>
                                        <p:cTn id="28" dur="2000" fill="hold"/>
                                        <p:tgtEl>
                                          <p:spTgt spid="55300"/>
                                        </p:tgtEl>
                                        <p:attrNameLst>
                                          <p:attrName>ppt_y</p:attrName>
                                        </p:attrNameLst>
                                      </p:cBhvr>
                                      <p:tavLst>
                                        <p:tav tm="0">
                                          <p:val>
                                            <p:strVal val="#ppt_y"/>
                                          </p:val>
                                        </p:tav>
                                        <p:tav tm="100000">
                                          <p:val>
                                            <p:strVal val="#ppt_y"/>
                                          </p:val>
                                        </p:tav>
                                      </p:tavLst>
                                    </p:anim>
                                    <p:animEffect transition="in" filter="wipe(right)" prLst="gradientSize: 0.1">
                                      <p:cBhvr>
                                        <p:cTn id="29" dur="2000"/>
                                        <p:tgtEl>
                                          <p:spTgt spid="55300"/>
                                        </p:tgtEl>
                                      </p:cBhvr>
                                    </p:animEffect>
                                  </p:childTnLst>
                                </p:cTn>
                              </p:par>
                            </p:childTnLst>
                          </p:cTn>
                        </p:par>
                      </p:childTnLst>
                    </p:cTn>
                  </p:par>
                  <p:par>
                    <p:cTn id="30" fill="hold">
                      <p:stCondLst>
                        <p:cond delay="indefinite"/>
                      </p:stCondLst>
                      <p:childTnLst>
                        <p:par>
                          <p:cTn id="31" fill="hold">
                            <p:stCondLst>
                              <p:cond delay="0"/>
                            </p:stCondLst>
                            <p:childTnLst>
                              <p:par>
                                <p:cTn id="32" presetID="54" presetClass="entr" presetSubtype="0" accel="100000" fill="hold" nodeType="clickEffect">
                                  <p:stCondLst>
                                    <p:cond delay="0"/>
                                  </p:stCondLst>
                                  <p:childTnLst>
                                    <p:set>
                                      <p:cBhvr>
                                        <p:cTn id="33" dur="1" fill="hold">
                                          <p:stCondLst>
                                            <p:cond delay="0"/>
                                          </p:stCondLst>
                                        </p:cTn>
                                        <p:tgtEl>
                                          <p:spTgt spid="55298">
                                            <p:txEl>
                                              <p:pRg st="4" end="4"/>
                                            </p:txEl>
                                          </p:spTgt>
                                        </p:tgtEl>
                                        <p:attrNameLst>
                                          <p:attrName>style.visibility</p:attrName>
                                        </p:attrNameLst>
                                      </p:cBhvr>
                                      <p:to>
                                        <p:strVal val="visible"/>
                                      </p:to>
                                    </p:set>
                                    <p:anim calcmode="lin" valueType="num">
                                      <p:cBhvr>
                                        <p:cTn id="34" dur="1000" fill="hold"/>
                                        <p:tgtEl>
                                          <p:spTgt spid="55298">
                                            <p:txEl>
                                              <p:pRg st="4" end="4"/>
                                            </p:txEl>
                                          </p:spTgt>
                                        </p:tgtEl>
                                        <p:attrNameLst>
                                          <p:attrName>ppt_w</p:attrName>
                                        </p:attrNameLst>
                                      </p:cBhvr>
                                      <p:tavLst>
                                        <p:tav tm="0">
                                          <p:val>
                                            <p:strVal val="#ppt_w*0.05"/>
                                          </p:val>
                                        </p:tav>
                                        <p:tav tm="100000">
                                          <p:val>
                                            <p:strVal val="#ppt_w"/>
                                          </p:val>
                                        </p:tav>
                                      </p:tavLst>
                                    </p:anim>
                                    <p:anim calcmode="lin" valueType="num">
                                      <p:cBhvr>
                                        <p:cTn id="35" dur="1000" fill="hold"/>
                                        <p:tgtEl>
                                          <p:spTgt spid="55298">
                                            <p:txEl>
                                              <p:pRg st="4" end="4"/>
                                            </p:txEl>
                                          </p:spTgt>
                                        </p:tgtEl>
                                        <p:attrNameLst>
                                          <p:attrName>ppt_h</p:attrName>
                                        </p:attrNameLst>
                                      </p:cBhvr>
                                      <p:tavLst>
                                        <p:tav tm="0">
                                          <p:val>
                                            <p:strVal val="#ppt_h"/>
                                          </p:val>
                                        </p:tav>
                                        <p:tav tm="100000">
                                          <p:val>
                                            <p:strVal val="#ppt_h"/>
                                          </p:val>
                                        </p:tav>
                                      </p:tavLst>
                                    </p:anim>
                                    <p:anim calcmode="lin" valueType="num">
                                      <p:cBhvr>
                                        <p:cTn id="36" dur="1000" fill="hold"/>
                                        <p:tgtEl>
                                          <p:spTgt spid="55298">
                                            <p:txEl>
                                              <p:pRg st="4" end="4"/>
                                            </p:txEl>
                                          </p:spTgt>
                                        </p:tgtEl>
                                        <p:attrNameLst>
                                          <p:attrName>ppt_x</p:attrName>
                                        </p:attrNameLst>
                                      </p:cBhvr>
                                      <p:tavLst>
                                        <p:tav tm="0">
                                          <p:val>
                                            <p:strVal val="#ppt_x-.2"/>
                                          </p:val>
                                        </p:tav>
                                        <p:tav tm="100000">
                                          <p:val>
                                            <p:strVal val="#ppt_x"/>
                                          </p:val>
                                        </p:tav>
                                      </p:tavLst>
                                    </p:anim>
                                    <p:anim calcmode="lin" valueType="num">
                                      <p:cBhvr>
                                        <p:cTn id="37" dur="1000" fill="hold"/>
                                        <p:tgtEl>
                                          <p:spTgt spid="55298">
                                            <p:txEl>
                                              <p:pRg st="4" end="4"/>
                                            </p:txEl>
                                          </p:spTgt>
                                        </p:tgtEl>
                                        <p:attrNameLst>
                                          <p:attrName>ppt_y</p:attrName>
                                        </p:attrNameLst>
                                      </p:cBhvr>
                                      <p:tavLst>
                                        <p:tav tm="0">
                                          <p:val>
                                            <p:strVal val="#ppt_y"/>
                                          </p:val>
                                        </p:tav>
                                        <p:tav tm="100000">
                                          <p:val>
                                            <p:strVal val="#ppt_y"/>
                                          </p:val>
                                        </p:tav>
                                      </p:tavLst>
                                    </p:anim>
                                    <p:animEffect transition="in" filter="fade">
                                      <p:cBhvr>
                                        <p:cTn id="38" dur="1000"/>
                                        <p:tgtEl>
                                          <p:spTgt spid="55298">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4" presetClass="entr" presetSubtype="0" accel="100000" fill="hold" nodeType="clickEffect">
                                  <p:stCondLst>
                                    <p:cond delay="0"/>
                                  </p:stCondLst>
                                  <p:childTnLst>
                                    <p:set>
                                      <p:cBhvr>
                                        <p:cTn id="42" dur="1" fill="hold">
                                          <p:stCondLst>
                                            <p:cond delay="0"/>
                                          </p:stCondLst>
                                        </p:cTn>
                                        <p:tgtEl>
                                          <p:spTgt spid="55298">
                                            <p:txEl>
                                              <p:pRg st="5" end="5"/>
                                            </p:txEl>
                                          </p:spTgt>
                                        </p:tgtEl>
                                        <p:attrNameLst>
                                          <p:attrName>style.visibility</p:attrName>
                                        </p:attrNameLst>
                                      </p:cBhvr>
                                      <p:to>
                                        <p:strVal val="visible"/>
                                      </p:to>
                                    </p:set>
                                    <p:anim calcmode="lin" valueType="num">
                                      <p:cBhvr>
                                        <p:cTn id="43" dur="1000" fill="hold"/>
                                        <p:tgtEl>
                                          <p:spTgt spid="55298">
                                            <p:txEl>
                                              <p:pRg st="5" end="5"/>
                                            </p:txEl>
                                          </p:spTgt>
                                        </p:tgtEl>
                                        <p:attrNameLst>
                                          <p:attrName>ppt_w</p:attrName>
                                        </p:attrNameLst>
                                      </p:cBhvr>
                                      <p:tavLst>
                                        <p:tav tm="0">
                                          <p:val>
                                            <p:strVal val="#ppt_w*0.05"/>
                                          </p:val>
                                        </p:tav>
                                        <p:tav tm="100000">
                                          <p:val>
                                            <p:strVal val="#ppt_w"/>
                                          </p:val>
                                        </p:tav>
                                      </p:tavLst>
                                    </p:anim>
                                    <p:anim calcmode="lin" valueType="num">
                                      <p:cBhvr>
                                        <p:cTn id="44" dur="1000" fill="hold"/>
                                        <p:tgtEl>
                                          <p:spTgt spid="55298">
                                            <p:txEl>
                                              <p:pRg st="5" end="5"/>
                                            </p:txEl>
                                          </p:spTgt>
                                        </p:tgtEl>
                                        <p:attrNameLst>
                                          <p:attrName>ppt_h</p:attrName>
                                        </p:attrNameLst>
                                      </p:cBhvr>
                                      <p:tavLst>
                                        <p:tav tm="0">
                                          <p:val>
                                            <p:strVal val="#ppt_h"/>
                                          </p:val>
                                        </p:tav>
                                        <p:tav tm="100000">
                                          <p:val>
                                            <p:strVal val="#ppt_h"/>
                                          </p:val>
                                        </p:tav>
                                      </p:tavLst>
                                    </p:anim>
                                    <p:anim calcmode="lin" valueType="num">
                                      <p:cBhvr>
                                        <p:cTn id="45" dur="1000" fill="hold"/>
                                        <p:tgtEl>
                                          <p:spTgt spid="55298">
                                            <p:txEl>
                                              <p:pRg st="5" end="5"/>
                                            </p:txEl>
                                          </p:spTgt>
                                        </p:tgtEl>
                                        <p:attrNameLst>
                                          <p:attrName>ppt_x</p:attrName>
                                        </p:attrNameLst>
                                      </p:cBhvr>
                                      <p:tavLst>
                                        <p:tav tm="0">
                                          <p:val>
                                            <p:strVal val="#ppt_x-.2"/>
                                          </p:val>
                                        </p:tav>
                                        <p:tav tm="100000">
                                          <p:val>
                                            <p:strVal val="#ppt_x"/>
                                          </p:val>
                                        </p:tav>
                                      </p:tavLst>
                                    </p:anim>
                                    <p:anim calcmode="lin" valueType="num">
                                      <p:cBhvr>
                                        <p:cTn id="46" dur="1000" fill="hold"/>
                                        <p:tgtEl>
                                          <p:spTgt spid="55298">
                                            <p:txEl>
                                              <p:pRg st="5" end="5"/>
                                            </p:txEl>
                                          </p:spTgt>
                                        </p:tgtEl>
                                        <p:attrNameLst>
                                          <p:attrName>ppt_y</p:attrName>
                                        </p:attrNameLst>
                                      </p:cBhvr>
                                      <p:tavLst>
                                        <p:tav tm="0">
                                          <p:val>
                                            <p:strVal val="#ppt_y"/>
                                          </p:val>
                                        </p:tav>
                                        <p:tav tm="100000">
                                          <p:val>
                                            <p:strVal val="#ppt_y"/>
                                          </p:val>
                                        </p:tav>
                                      </p:tavLst>
                                    </p:anim>
                                    <p:animEffect transition="in" filter="fade">
                                      <p:cBhvr>
                                        <p:cTn id="47" dur="1000"/>
                                        <p:tgtEl>
                                          <p:spTgt spid="55298">
                                            <p:txEl>
                                              <p:pRg st="5" end="5"/>
                                            </p:txEl>
                                          </p:spTgt>
                                        </p:tgtEl>
                                      </p:cBhvr>
                                    </p:animEffect>
                                  </p:childTnLst>
                                </p:cTn>
                              </p:par>
                            </p:childTnLst>
                          </p:cTn>
                        </p:par>
                        <p:par>
                          <p:cTn id="48" fill="hold">
                            <p:stCondLst>
                              <p:cond delay="1000"/>
                            </p:stCondLst>
                            <p:childTnLst>
                              <p:par>
                                <p:cTn id="49" presetID="29" presetClass="entr" presetSubtype="0"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2000" fill="hold"/>
                                        <p:tgtEl>
                                          <p:spTgt spid="11"/>
                                        </p:tgtEl>
                                        <p:attrNameLst>
                                          <p:attrName>ppt_x</p:attrName>
                                        </p:attrNameLst>
                                      </p:cBhvr>
                                      <p:tavLst>
                                        <p:tav tm="0">
                                          <p:val>
                                            <p:strVal val="#ppt_x-.2"/>
                                          </p:val>
                                        </p:tav>
                                        <p:tav tm="100000">
                                          <p:val>
                                            <p:strVal val="#ppt_x"/>
                                          </p:val>
                                        </p:tav>
                                      </p:tavLst>
                                    </p:anim>
                                    <p:anim calcmode="lin" valueType="num">
                                      <p:cBhvr>
                                        <p:cTn id="52" dur="20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53" dur="2000"/>
                                        <p:tgtEl>
                                          <p:spTgt spid="11"/>
                                        </p:tgtEl>
                                      </p:cBhvr>
                                    </p:animEffect>
                                  </p:childTnLst>
                                </p:cTn>
                              </p:par>
                            </p:childTnLst>
                          </p:cTn>
                        </p:par>
                        <p:par>
                          <p:cTn id="54" fill="hold">
                            <p:stCondLst>
                              <p:cond delay="3000"/>
                            </p:stCondLst>
                            <p:childTnLst>
                              <p:par>
                                <p:cTn id="55" presetID="29" presetClass="entr" presetSubtype="0" fill="hold" grpId="0" nodeType="after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2000" fill="hold"/>
                                        <p:tgtEl>
                                          <p:spTgt spid="12"/>
                                        </p:tgtEl>
                                        <p:attrNameLst>
                                          <p:attrName>ppt_x</p:attrName>
                                        </p:attrNameLst>
                                      </p:cBhvr>
                                      <p:tavLst>
                                        <p:tav tm="0">
                                          <p:val>
                                            <p:strVal val="#ppt_x-.2"/>
                                          </p:val>
                                        </p:tav>
                                        <p:tav tm="100000">
                                          <p:val>
                                            <p:strVal val="#ppt_x"/>
                                          </p:val>
                                        </p:tav>
                                      </p:tavLst>
                                    </p:anim>
                                    <p:anim calcmode="lin" valueType="num">
                                      <p:cBhvr>
                                        <p:cTn id="58" dur="20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59"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nimBg="1"/>
      <p:bldP spid="55302" grpId="0" animBg="1"/>
      <p:bldP spid="11" grpId="0" animBg="1"/>
      <p:bldP spid="1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16781" y="219002"/>
            <a:ext cx="7158038" cy="1221254"/>
          </a:xfrm>
        </p:spPr>
        <p:txBody>
          <a:bodyPr/>
          <a:lstStyle/>
          <a:p>
            <a:pPr algn="ctr"/>
            <a:r>
              <a:rPr lang="en-US" b="1" dirty="0"/>
              <a:t>Accounting Equation 8</a:t>
            </a:r>
          </a:p>
        </p:txBody>
      </p:sp>
      <p:sp>
        <p:nvSpPr>
          <p:cNvPr id="14" name="Slide Number Placeholder 3"/>
          <p:cNvSpPr>
            <a:spLocks noGrp="1"/>
          </p:cNvSpPr>
          <p:nvPr>
            <p:ph type="sldNum" sz="quarter" idx="12"/>
          </p:nvPr>
        </p:nvSpPr>
        <p:spPr bwMode="auto">
          <a:xfrm>
            <a:off x="6705600" y="6528713"/>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69</a:t>
            </a:fld>
            <a:endParaRPr lang="en-US" altLang="en-US" dirty="0">
              <a:solidFill>
                <a:srgbClr val="898989"/>
              </a:solidFill>
            </a:endParaRPr>
          </a:p>
        </p:txBody>
      </p:sp>
      <p:graphicFrame>
        <p:nvGraphicFramePr>
          <p:cNvPr id="60419" name="Object 3"/>
          <p:cNvGraphicFramePr>
            <a:graphicFrameLocks/>
          </p:cNvGraphicFramePr>
          <p:nvPr>
            <p:extLst>
              <p:ext uri="{D42A27DB-BD31-4B8C-83A1-F6EECF244321}">
                <p14:modId xmlns:p14="http://schemas.microsoft.com/office/powerpoint/2010/main" val="976183545"/>
              </p:ext>
            </p:extLst>
          </p:nvPr>
        </p:nvGraphicFramePr>
        <p:xfrm>
          <a:off x="255587" y="2511911"/>
          <a:ext cx="8736013" cy="3121025"/>
        </p:xfrm>
        <a:graphic>
          <a:graphicData uri="http://schemas.openxmlformats.org/presentationml/2006/ole">
            <mc:AlternateContent xmlns:mc="http://schemas.openxmlformats.org/markup-compatibility/2006">
              <mc:Choice xmlns:v="urn:schemas-microsoft-com:vml" Requires="v">
                <p:oleObj spid="_x0000_s10300" name="Worksheet" r:id="rId4" imgW="6076800" imgH="1828586" progId="Excel.Sheet.8">
                  <p:embed/>
                </p:oleObj>
              </mc:Choice>
              <mc:Fallback>
                <p:oleObj name="Worksheet" r:id="rId4" imgW="6076800" imgH="1828586" progId="Excel.Sheet.8">
                  <p:embed/>
                  <p:pic>
                    <p:nvPicPr>
                      <p:cNvPr id="0" name=""/>
                      <p:cNvPicPr>
                        <a:picLocks noChangeArrowheads="1"/>
                      </p:cNvPicPr>
                      <p:nvPr/>
                    </p:nvPicPr>
                    <p:blipFill>
                      <a:blip r:embed="rId5"/>
                      <a:srcRect b="5836"/>
                      <a:stretch>
                        <a:fillRect/>
                      </a:stretch>
                    </p:blipFill>
                    <p:spPr bwMode="auto">
                      <a:xfrm>
                        <a:off x="255587" y="2511911"/>
                        <a:ext cx="8736013" cy="3121025"/>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60422" name="Rectangle 6"/>
          <p:cNvSpPr>
            <a:spLocks noChangeArrowheads="1"/>
          </p:cNvSpPr>
          <p:nvPr/>
        </p:nvSpPr>
        <p:spPr bwMode="auto">
          <a:xfrm>
            <a:off x="685800" y="1371600"/>
            <a:ext cx="7597775" cy="984250"/>
          </a:xfrm>
          <a:prstGeom prst="rect">
            <a:avLst/>
          </a:prstGeom>
          <a:solidFill>
            <a:schemeClr val="accent3">
              <a:lumMod val="40000"/>
              <a:lumOff val="60000"/>
            </a:schemeClr>
          </a:solidFill>
          <a:ln>
            <a:noFill/>
          </a:ln>
          <a:effectLst/>
        </p:spPr>
        <p:txBody>
          <a:bodyPr lIns="90488" tIns="44450" rIns="90488" bIns="44450"/>
          <a:lstStyle/>
          <a:p>
            <a:pPr algn="ctr"/>
            <a:r>
              <a:rPr lang="en-US" sz="2400" b="1" dirty="0">
                <a:solidFill>
                  <a:srgbClr val="0000FF"/>
                </a:solidFill>
                <a:latin typeface="Arial" panose="020B0604020202020204" pitchFamily="34" charset="0"/>
              </a:rPr>
              <a:t>Provided consulting services of $1,600 and rents facilities for $300 to a customer for credit.</a:t>
            </a:r>
          </a:p>
        </p:txBody>
      </p:sp>
      <p:sp>
        <p:nvSpPr>
          <p:cNvPr id="60424" name="Oval 8"/>
          <p:cNvSpPr>
            <a:spLocks noChangeArrowheads="1"/>
          </p:cNvSpPr>
          <p:nvPr/>
        </p:nvSpPr>
        <p:spPr bwMode="auto">
          <a:xfrm>
            <a:off x="1905000" y="3767624"/>
            <a:ext cx="914400" cy="304800"/>
          </a:xfrm>
          <a:prstGeom prst="ellipse">
            <a:avLst/>
          </a:prstGeom>
          <a:noFill/>
          <a:ln w="28575" algn="ctr">
            <a:solidFill>
              <a:srgbClr val="1102D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5" name="Oval 9"/>
          <p:cNvSpPr>
            <a:spLocks noChangeArrowheads="1"/>
          </p:cNvSpPr>
          <p:nvPr/>
        </p:nvSpPr>
        <p:spPr bwMode="auto">
          <a:xfrm>
            <a:off x="7338219" y="3767624"/>
            <a:ext cx="736600" cy="276215"/>
          </a:xfrm>
          <a:prstGeom prst="ellipse">
            <a:avLst/>
          </a:prstGeom>
          <a:noFill/>
          <a:ln w="28575" algn="ctr">
            <a:solidFill>
              <a:srgbClr val="1102D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6" name="Oval 10"/>
          <p:cNvSpPr>
            <a:spLocks noChangeArrowheads="1"/>
          </p:cNvSpPr>
          <p:nvPr/>
        </p:nvSpPr>
        <p:spPr bwMode="auto">
          <a:xfrm>
            <a:off x="2324100" y="5045094"/>
            <a:ext cx="1600200" cy="6858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8" name="Oval 12"/>
          <p:cNvSpPr>
            <a:spLocks noChangeArrowheads="1"/>
          </p:cNvSpPr>
          <p:nvPr/>
        </p:nvSpPr>
        <p:spPr bwMode="auto">
          <a:xfrm>
            <a:off x="5738019" y="5075247"/>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3" name="Oval 9"/>
          <p:cNvSpPr>
            <a:spLocks noChangeArrowheads="1"/>
          </p:cNvSpPr>
          <p:nvPr/>
        </p:nvSpPr>
        <p:spPr bwMode="auto">
          <a:xfrm>
            <a:off x="7396956" y="4076075"/>
            <a:ext cx="619125" cy="247650"/>
          </a:xfrm>
          <a:prstGeom prst="ellipse">
            <a:avLst/>
          </a:prstGeom>
          <a:noFill/>
          <a:ln w="28575" algn="ctr">
            <a:solidFill>
              <a:srgbClr val="1102D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6" name="Rectangle 15"/>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446779335"/>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60422">
                                            <p:txEl>
                                              <p:pRg st="0" end="0"/>
                                            </p:txEl>
                                          </p:spTgt>
                                        </p:tgtEl>
                                        <p:attrNameLst>
                                          <p:attrName>style.visibility</p:attrName>
                                        </p:attrNameLst>
                                      </p:cBhvr>
                                      <p:to>
                                        <p:strVal val="visible"/>
                                      </p:to>
                                    </p:set>
                                    <p:animEffect transition="in" filter="fade">
                                      <p:cBhvr>
                                        <p:cTn id="7" dur="1000"/>
                                        <p:tgtEl>
                                          <p:spTgt spid="60422">
                                            <p:txEl>
                                              <p:pRg st="0" end="0"/>
                                            </p:txEl>
                                          </p:spTgt>
                                        </p:tgtEl>
                                      </p:cBhvr>
                                    </p:animEffect>
                                    <p:anim calcmode="lin" valueType="num">
                                      <p:cBhvr>
                                        <p:cTn id="8" dur="1000" fill="hold"/>
                                        <p:tgtEl>
                                          <p:spTgt spid="6042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0422">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9" presetClass="entr" presetSubtype="0" fill="hold" nodeType="afterEffect">
                                  <p:stCondLst>
                                    <p:cond delay="0"/>
                                  </p:stCondLst>
                                  <p:childTnLst>
                                    <p:set>
                                      <p:cBhvr>
                                        <p:cTn id="12" dur="1" fill="hold">
                                          <p:stCondLst>
                                            <p:cond delay="0"/>
                                          </p:stCondLst>
                                        </p:cTn>
                                        <p:tgtEl>
                                          <p:spTgt spid="60419"/>
                                        </p:tgtEl>
                                        <p:attrNameLst>
                                          <p:attrName>style.visibility</p:attrName>
                                        </p:attrNameLst>
                                      </p:cBhvr>
                                      <p:to>
                                        <p:strVal val="visible"/>
                                      </p:to>
                                    </p:set>
                                    <p:animEffect transition="in" filter="dissolve">
                                      <p:cBhvr>
                                        <p:cTn id="13" dur="1000"/>
                                        <p:tgtEl>
                                          <p:spTgt spid="60419"/>
                                        </p:tgtEl>
                                      </p:cBhvr>
                                    </p:animEffect>
                                  </p:childTnLst>
                                </p:cTn>
                              </p:par>
                            </p:childTnLst>
                          </p:cTn>
                        </p:par>
                      </p:childTnLst>
                    </p:cTn>
                  </p:par>
                  <p:par>
                    <p:cTn id="14" fill="hold">
                      <p:stCondLst>
                        <p:cond delay="indefinite"/>
                      </p:stCondLst>
                      <p:childTnLst>
                        <p:par>
                          <p:cTn id="15" fill="hold" nodeType="after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0424"/>
                                        </p:tgtEl>
                                        <p:attrNameLst>
                                          <p:attrName>style.visibility</p:attrName>
                                        </p:attrNameLst>
                                      </p:cBhvr>
                                      <p:to>
                                        <p:strVal val="visible"/>
                                      </p:to>
                                    </p:set>
                                    <p:animEffect transition="in" filter="dissolve">
                                      <p:cBhvr>
                                        <p:cTn id="18" dur="2000"/>
                                        <p:tgtEl>
                                          <p:spTgt spid="60424"/>
                                        </p:tgtEl>
                                      </p:cBhvr>
                                    </p:animEffect>
                                  </p:childTnLst>
                                </p:cTn>
                              </p:par>
                            </p:childTnLst>
                          </p:cTn>
                        </p:par>
                        <p:par>
                          <p:cTn id="19" fill="hold" nodeType="afterGroup">
                            <p:stCondLst>
                              <p:cond delay="2000"/>
                            </p:stCondLst>
                            <p:childTnLst>
                              <p:par>
                                <p:cTn id="20" presetID="9" presetClass="entr" presetSubtype="0" fill="hold" grpId="0" nodeType="afterEffect">
                                  <p:stCondLst>
                                    <p:cond delay="0"/>
                                  </p:stCondLst>
                                  <p:childTnLst>
                                    <p:set>
                                      <p:cBhvr>
                                        <p:cTn id="21" dur="1" fill="hold">
                                          <p:stCondLst>
                                            <p:cond delay="0"/>
                                          </p:stCondLst>
                                        </p:cTn>
                                        <p:tgtEl>
                                          <p:spTgt spid="60425"/>
                                        </p:tgtEl>
                                        <p:attrNameLst>
                                          <p:attrName>style.visibility</p:attrName>
                                        </p:attrNameLst>
                                      </p:cBhvr>
                                      <p:to>
                                        <p:strVal val="visible"/>
                                      </p:to>
                                    </p:set>
                                    <p:animEffect transition="in" filter="dissolve">
                                      <p:cBhvr>
                                        <p:cTn id="22" dur="1000"/>
                                        <p:tgtEl>
                                          <p:spTgt spid="60425"/>
                                        </p:tgtEl>
                                      </p:cBhvr>
                                    </p:animEffect>
                                  </p:childTnLst>
                                </p:cTn>
                              </p:par>
                            </p:childTnLst>
                          </p:cTn>
                        </p:par>
                        <p:par>
                          <p:cTn id="23" fill="hold">
                            <p:stCondLst>
                              <p:cond delay="3000"/>
                            </p:stCondLst>
                            <p:childTnLst>
                              <p:par>
                                <p:cTn id="24" presetID="9" presetClass="entr" presetSubtype="0" fill="hold" grpId="0" nodeType="after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dissolve">
                                      <p:cBhvr>
                                        <p:cTn id="26" dur="10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60426"/>
                                        </p:tgtEl>
                                        <p:attrNameLst>
                                          <p:attrName>style.visibility</p:attrName>
                                        </p:attrNameLst>
                                      </p:cBhvr>
                                      <p:to>
                                        <p:strVal val="visible"/>
                                      </p:to>
                                    </p:set>
                                    <p:animEffect transition="in" filter="dissolve">
                                      <p:cBhvr>
                                        <p:cTn id="31" dur="1000"/>
                                        <p:tgtEl>
                                          <p:spTgt spid="60426"/>
                                        </p:tgtEl>
                                      </p:cBhvr>
                                    </p:animEffect>
                                  </p:childTnLst>
                                </p:cTn>
                              </p:par>
                            </p:childTnLst>
                          </p:cTn>
                        </p:par>
                        <p:par>
                          <p:cTn id="32" fill="hold" nodeType="afterGroup">
                            <p:stCondLst>
                              <p:cond delay="1000"/>
                            </p:stCondLst>
                            <p:childTnLst>
                              <p:par>
                                <p:cTn id="33" presetID="9" presetClass="entr" presetSubtype="0" fill="hold" grpId="0" nodeType="afterEffect">
                                  <p:stCondLst>
                                    <p:cond delay="0"/>
                                  </p:stCondLst>
                                  <p:childTnLst>
                                    <p:set>
                                      <p:cBhvr>
                                        <p:cTn id="34" dur="1" fill="hold">
                                          <p:stCondLst>
                                            <p:cond delay="0"/>
                                          </p:stCondLst>
                                        </p:cTn>
                                        <p:tgtEl>
                                          <p:spTgt spid="60428"/>
                                        </p:tgtEl>
                                        <p:attrNameLst>
                                          <p:attrName>style.visibility</p:attrName>
                                        </p:attrNameLst>
                                      </p:cBhvr>
                                      <p:to>
                                        <p:strVal val="visible"/>
                                      </p:to>
                                    </p:set>
                                    <p:animEffect transition="in" filter="dissolve">
                                      <p:cBhvr>
                                        <p:cTn id="35" dur="1000"/>
                                        <p:tgtEl>
                                          <p:spTgt spid="60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4" grpId="0" animBg="1"/>
      <p:bldP spid="60425" grpId="0" animBg="1"/>
      <p:bldP spid="60426" grpId="0" animBg="1"/>
      <p:bldP spid="60428" grpId="0" animBg="1"/>
      <p:bldP spid="1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5"/>
          <p:cNvSpPr>
            <a:spLocks noGrp="1" noChangeArrowheads="1"/>
          </p:cNvSpPr>
          <p:nvPr>
            <p:ph type="title"/>
          </p:nvPr>
        </p:nvSpPr>
        <p:spPr>
          <a:xfrm>
            <a:off x="29378" y="434592"/>
            <a:ext cx="8915400" cy="1412875"/>
          </a:xfrm>
        </p:spPr>
        <p:txBody>
          <a:bodyPr>
            <a:normAutofit/>
          </a:bodyPr>
          <a:lstStyle/>
          <a:p>
            <a:pPr algn="ctr"/>
            <a:r>
              <a:rPr lang="en-US" b="1" dirty="0"/>
              <a:t>Transaction 9:</a:t>
            </a:r>
            <a:br>
              <a:rPr lang="en-US" b="1" dirty="0"/>
            </a:br>
            <a:r>
              <a:rPr lang="en-US" sz="3800" b="1" dirty="0"/>
              <a:t>Receipt of Cash from Accounts Receivable</a:t>
            </a:r>
          </a:p>
        </p:txBody>
      </p:sp>
      <p:sp>
        <p:nvSpPr>
          <p:cNvPr id="55298" name="Rectangle 2"/>
          <p:cNvSpPr>
            <a:spLocks noGrp="1" noChangeArrowheads="1"/>
          </p:cNvSpPr>
          <p:nvPr>
            <p:ph idx="1"/>
          </p:nvPr>
        </p:nvSpPr>
        <p:spPr bwMode="auto">
          <a:xfrm>
            <a:off x="457200" y="2743200"/>
            <a:ext cx="8153400" cy="3352800"/>
          </a:xfrm>
          <a:solidFill>
            <a:srgbClr val="FFFFFF"/>
          </a:solidFill>
          <a:ln>
            <a:solidFill>
              <a:schemeClr val="bg1"/>
            </a:solidFill>
            <a:miter lim="800000"/>
            <a:headEnd/>
            <a:tailEnd/>
          </a:ln>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br>
              <a:rPr lang="en-US" dirty="0"/>
            </a:br>
            <a:endParaRPr lang="en-US" dirty="0"/>
          </a:p>
          <a:p>
            <a:pPr>
              <a:buFont typeface="Wingdings" panose="05000000000000000000" pitchFamily="2" charset="2"/>
              <a:buNone/>
            </a:pPr>
            <a:endParaRPr lang="en-US" b="1" dirty="0">
              <a:solidFill>
                <a:srgbClr val="800080"/>
              </a:solidFill>
            </a:endParaRPr>
          </a:p>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Cash </a:t>
            </a:r>
            <a:r>
              <a:rPr lang="en-US" b="1" dirty="0">
                <a:solidFill>
                  <a:srgbClr val="9A2F6F"/>
                </a:solidFill>
              </a:rPr>
              <a:t>(asset)</a:t>
            </a:r>
            <a:r>
              <a:rPr lang="en-US" b="1" dirty="0">
                <a:solidFill>
                  <a:schemeClr val="hlink"/>
                </a:solidFill>
              </a:rPr>
              <a:t> </a:t>
            </a:r>
          </a:p>
          <a:p>
            <a:pPr>
              <a:buFont typeface="Wingdings" panose="05000000000000000000" pitchFamily="2" charset="2"/>
              <a:buNone/>
            </a:pPr>
            <a:r>
              <a:rPr lang="en-US" b="1" dirty="0">
                <a:solidFill>
                  <a:schemeClr val="hlink"/>
                </a:solidFill>
              </a:rPr>
              <a:t>	</a:t>
            </a:r>
            <a:r>
              <a:rPr lang="en-US" b="1" dirty="0"/>
              <a:t>(2) Accounts receivable </a:t>
            </a:r>
            <a:r>
              <a:rPr lang="en-US" b="1" dirty="0">
                <a:solidFill>
                  <a:srgbClr val="9A2F6F"/>
                </a:solidFill>
              </a:rPr>
              <a:t>(asset)</a:t>
            </a:r>
            <a:r>
              <a:rPr lang="en-US" dirty="0"/>
              <a:t> </a:t>
            </a:r>
          </a:p>
          <a:p>
            <a:pPr>
              <a:buFont typeface="Wingdings" panose="05000000000000000000" pitchFamily="2" charset="2"/>
              <a:buNone/>
            </a:pPr>
            <a:r>
              <a:rPr lang="en-US" dirty="0"/>
              <a:t>    </a:t>
            </a:r>
            <a:endParaRPr lang="en-US" b="1" dirty="0"/>
          </a:p>
        </p:txBody>
      </p:sp>
      <p:sp>
        <p:nvSpPr>
          <p:cNvPr id="12" name="Slide Number Placeholder 3"/>
          <p:cNvSpPr>
            <a:spLocks noGrp="1"/>
          </p:cNvSpPr>
          <p:nvPr>
            <p:ph type="sldNum" sz="quarter" idx="12"/>
          </p:nvPr>
        </p:nvSpPr>
        <p:spPr bwMode="auto">
          <a:xfrm>
            <a:off x="6629400" y="6492875"/>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70</a:t>
            </a:fld>
            <a:endParaRPr lang="en-US" altLang="en-US" dirty="0">
              <a:solidFill>
                <a:srgbClr val="898989"/>
              </a:solidFill>
            </a:endParaRPr>
          </a:p>
        </p:txBody>
      </p:sp>
      <p:sp>
        <p:nvSpPr>
          <p:cNvPr id="55300" name="AutoShape 4"/>
          <p:cNvSpPr>
            <a:spLocks noChangeArrowheads="1"/>
          </p:cNvSpPr>
          <p:nvPr/>
        </p:nvSpPr>
        <p:spPr bwMode="auto">
          <a:xfrm rot="16200000">
            <a:off x="3924301" y="4076699"/>
            <a:ext cx="381000" cy="304801"/>
          </a:xfrm>
          <a:prstGeom prst="rightArrow">
            <a:avLst>
              <a:gd name="adj1" fmla="val 50000"/>
              <a:gd name="adj2" fmla="val 67045"/>
            </a:avLst>
          </a:prstGeom>
          <a:solidFill>
            <a:srgbClr val="00CC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55302" name="Rectangle 6"/>
          <p:cNvSpPr>
            <a:spLocks noChangeArrowheads="1"/>
          </p:cNvSpPr>
          <p:nvPr/>
        </p:nvSpPr>
        <p:spPr bwMode="auto">
          <a:xfrm>
            <a:off x="408782" y="1987061"/>
            <a:ext cx="8153400" cy="914399"/>
          </a:xfrm>
          <a:prstGeom prst="rect">
            <a:avLst/>
          </a:prstGeom>
          <a:solidFill>
            <a:srgbClr val="FFFF99"/>
          </a:solidFill>
          <a:ln>
            <a:noFill/>
          </a:ln>
          <a:effectLst/>
        </p:spPr>
        <p:txBody>
          <a:bodyPr lIns="90488" tIns="44450" rIns="90488" bIns="44450"/>
          <a:lstStyle/>
          <a:p>
            <a:pPr algn="ctr"/>
            <a:r>
              <a:rPr lang="en-US" sz="2600" b="1" dirty="0">
                <a:solidFill>
                  <a:prstClr val="black"/>
                </a:solidFill>
                <a:latin typeface="Arial" panose="020B0604020202020204" pitchFamily="34" charset="0"/>
              </a:rPr>
              <a:t>Client in transaction 8 pays $1,900 for consulting services </a:t>
            </a:r>
            <a:r>
              <a:rPr lang="en-HK" sz="2600" b="1">
                <a:solidFill>
                  <a:prstClr val="black"/>
                </a:solidFill>
                <a:latin typeface="Arial" panose="020B0604020202020204" pitchFamily="34" charset="0"/>
              </a:rPr>
              <a:t>and facilities</a:t>
            </a:r>
            <a:r>
              <a:rPr lang="en-US" sz="2600" b="1">
                <a:solidFill>
                  <a:prstClr val="black"/>
                </a:solidFill>
                <a:latin typeface="Arial" panose="020B0604020202020204" pitchFamily="34" charset="0"/>
              </a:rPr>
              <a:t>.</a:t>
            </a:r>
            <a:endParaRPr lang="en-US" sz="2600" b="1" dirty="0">
              <a:solidFill>
                <a:prstClr val="black"/>
              </a:solidFill>
              <a:latin typeface="Arial" panose="020B0604020202020204" pitchFamily="34" charset="0"/>
            </a:endParaRPr>
          </a:p>
        </p:txBody>
      </p:sp>
      <p:sp>
        <p:nvSpPr>
          <p:cNvPr id="11" name="AutoShape 3"/>
          <p:cNvSpPr>
            <a:spLocks noChangeArrowheads="1"/>
          </p:cNvSpPr>
          <p:nvPr/>
        </p:nvSpPr>
        <p:spPr bwMode="auto">
          <a:xfrm rot="16200000" flipH="1">
            <a:off x="5286375" y="4555577"/>
            <a:ext cx="406400" cy="311150"/>
          </a:xfrm>
          <a:prstGeom prst="rightArrow">
            <a:avLst>
              <a:gd name="adj1" fmla="val 50000"/>
              <a:gd name="adj2" fmla="val 67219"/>
            </a:avLst>
          </a:prstGeom>
          <a:solidFill>
            <a:srgbClr val="FF330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13" name="Rectangle 12"/>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576827752"/>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302"/>
                                        </p:tgtEl>
                                        <p:attrNameLst>
                                          <p:attrName>style.visibility</p:attrName>
                                        </p:attrNameLst>
                                      </p:cBhvr>
                                      <p:to>
                                        <p:strVal val="visible"/>
                                      </p:to>
                                    </p:set>
                                    <p:animEffect transition="in" filter="fade">
                                      <p:cBhvr>
                                        <p:cTn id="7" dur="1000"/>
                                        <p:tgtEl>
                                          <p:spTgt spid="55302"/>
                                        </p:tgtEl>
                                      </p:cBhvr>
                                    </p:animEffect>
                                    <p:anim calcmode="lin" valueType="num">
                                      <p:cBhvr>
                                        <p:cTn id="8" dur="1000" fill="hold"/>
                                        <p:tgtEl>
                                          <p:spTgt spid="55302"/>
                                        </p:tgtEl>
                                        <p:attrNameLst>
                                          <p:attrName>ppt_x</p:attrName>
                                        </p:attrNameLst>
                                      </p:cBhvr>
                                      <p:tavLst>
                                        <p:tav tm="0">
                                          <p:val>
                                            <p:strVal val="#ppt_x"/>
                                          </p:val>
                                        </p:tav>
                                        <p:tav tm="100000">
                                          <p:val>
                                            <p:strVal val="#ppt_x"/>
                                          </p:val>
                                        </p:tav>
                                      </p:tavLst>
                                    </p:anim>
                                    <p:anim calcmode="lin" valueType="num">
                                      <p:cBhvr>
                                        <p:cTn id="9" dur="1000" fill="hold"/>
                                        <p:tgtEl>
                                          <p:spTgt spid="5530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55298">
                                            <p:txEl>
                                              <p:pRg st="2" end="2"/>
                                            </p:txEl>
                                          </p:spTgt>
                                        </p:tgtEl>
                                        <p:attrNameLst>
                                          <p:attrName>style.visibility</p:attrName>
                                        </p:attrNameLst>
                                      </p:cBhvr>
                                      <p:to>
                                        <p:strVal val="visible"/>
                                      </p:to>
                                    </p:set>
                                    <p:anim calcmode="lin" valueType="num">
                                      <p:cBhvr additive="base">
                                        <p:cTn id="13" dur="500" fill="hold"/>
                                        <p:tgtEl>
                                          <p:spTgt spid="5529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54" presetClass="entr" presetSubtype="0" accel="100000" fill="hold" nodeType="clickEffect">
                                  <p:stCondLst>
                                    <p:cond delay="0"/>
                                  </p:stCondLst>
                                  <p:childTnLst>
                                    <p:set>
                                      <p:cBhvr>
                                        <p:cTn id="18" dur="1" fill="hold">
                                          <p:stCondLst>
                                            <p:cond delay="0"/>
                                          </p:stCondLst>
                                        </p:cTn>
                                        <p:tgtEl>
                                          <p:spTgt spid="55298">
                                            <p:txEl>
                                              <p:pRg st="3" end="3"/>
                                            </p:txEl>
                                          </p:spTgt>
                                        </p:tgtEl>
                                        <p:attrNameLst>
                                          <p:attrName>style.visibility</p:attrName>
                                        </p:attrNameLst>
                                      </p:cBhvr>
                                      <p:to>
                                        <p:strVal val="visible"/>
                                      </p:to>
                                    </p:set>
                                    <p:anim calcmode="lin" valueType="num">
                                      <p:cBhvr>
                                        <p:cTn id="19" dur="1000" fill="hold"/>
                                        <p:tgtEl>
                                          <p:spTgt spid="55298">
                                            <p:txEl>
                                              <p:pRg st="3" end="3"/>
                                            </p:txEl>
                                          </p:spTgt>
                                        </p:tgtEl>
                                        <p:attrNameLst>
                                          <p:attrName>ppt_w</p:attrName>
                                        </p:attrNameLst>
                                      </p:cBhvr>
                                      <p:tavLst>
                                        <p:tav tm="0">
                                          <p:val>
                                            <p:strVal val="#ppt_w*0.05"/>
                                          </p:val>
                                        </p:tav>
                                        <p:tav tm="100000">
                                          <p:val>
                                            <p:strVal val="#ppt_w"/>
                                          </p:val>
                                        </p:tav>
                                      </p:tavLst>
                                    </p:anim>
                                    <p:anim calcmode="lin" valueType="num">
                                      <p:cBhvr>
                                        <p:cTn id="20" dur="1000" fill="hold"/>
                                        <p:tgtEl>
                                          <p:spTgt spid="55298">
                                            <p:txEl>
                                              <p:pRg st="3" end="3"/>
                                            </p:txEl>
                                          </p:spTgt>
                                        </p:tgtEl>
                                        <p:attrNameLst>
                                          <p:attrName>ppt_h</p:attrName>
                                        </p:attrNameLst>
                                      </p:cBhvr>
                                      <p:tavLst>
                                        <p:tav tm="0">
                                          <p:val>
                                            <p:strVal val="#ppt_h"/>
                                          </p:val>
                                        </p:tav>
                                        <p:tav tm="100000">
                                          <p:val>
                                            <p:strVal val="#ppt_h"/>
                                          </p:val>
                                        </p:tav>
                                      </p:tavLst>
                                    </p:anim>
                                    <p:anim calcmode="lin" valueType="num">
                                      <p:cBhvr>
                                        <p:cTn id="21" dur="1000" fill="hold"/>
                                        <p:tgtEl>
                                          <p:spTgt spid="55298">
                                            <p:txEl>
                                              <p:pRg st="3" end="3"/>
                                            </p:txEl>
                                          </p:spTgt>
                                        </p:tgtEl>
                                        <p:attrNameLst>
                                          <p:attrName>ppt_x</p:attrName>
                                        </p:attrNameLst>
                                      </p:cBhvr>
                                      <p:tavLst>
                                        <p:tav tm="0">
                                          <p:val>
                                            <p:strVal val="#ppt_x-.2"/>
                                          </p:val>
                                        </p:tav>
                                        <p:tav tm="100000">
                                          <p:val>
                                            <p:strVal val="#ppt_x"/>
                                          </p:val>
                                        </p:tav>
                                      </p:tavLst>
                                    </p:anim>
                                    <p:anim calcmode="lin" valueType="num">
                                      <p:cBhvr>
                                        <p:cTn id="22" dur="1000" fill="hold"/>
                                        <p:tgtEl>
                                          <p:spTgt spid="55298">
                                            <p:txEl>
                                              <p:pRg st="3" end="3"/>
                                            </p:txEl>
                                          </p:spTgt>
                                        </p:tgtEl>
                                        <p:attrNameLst>
                                          <p:attrName>ppt_y</p:attrName>
                                        </p:attrNameLst>
                                      </p:cBhvr>
                                      <p:tavLst>
                                        <p:tav tm="0">
                                          <p:val>
                                            <p:strVal val="#ppt_y"/>
                                          </p:val>
                                        </p:tav>
                                        <p:tav tm="100000">
                                          <p:val>
                                            <p:strVal val="#ppt_y"/>
                                          </p:val>
                                        </p:tav>
                                      </p:tavLst>
                                    </p:anim>
                                    <p:animEffect transition="in" filter="fade">
                                      <p:cBhvr>
                                        <p:cTn id="23" dur="1000"/>
                                        <p:tgtEl>
                                          <p:spTgt spid="55298">
                                            <p:txEl>
                                              <p:pRg st="3" end="3"/>
                                            </p:txEl>
                                          </p:spTgt>
                                        </p:tgtEl>
                                      </p:cBhvr>
                                    </p:animEffect>
                                  </p:childTnLst>
                                </p:cTn>
                              </p:par>
                            </p:childTnLst>
                          </p:cTn>
                        </p:par>
                        <p:par>
                          <p:cTn id="24" fill="hold" nodeType="afterGroup">
                            <p:stCondLst>
                              <p:cond delay="1000"/>
                            </p:stCondLst>
                            <p:childTnLst>
                              <p:par>
                                <p:cTn id="25" presetID="29" presetClass="entr" presetSubtype="0" fill="hold" grpId="0" nodeType="afterEffect">
                                  <p:stCondLst>
                                    <p:cond delay="0"/>
                                  </p:stCondLst>
                                  <p:childTnLst>
                                    <p:set>
                                      <p:cBhvr>
                                        <p:cTn id="26" dur="1" fill="hold">
                                          <p:stCondLst>
                                            <p:cond delay="0"/>
                                          </p:stCondLst>
                                        </p:cTn>
                                        <p:tgtEl>
                                          <p:spTgt spid="55300"/>
                                        </p:tgtEl>
                                        <p:attrNameLst>
                                          <p:attrName>style.visibility</p:attrName>
                                        </p:attrNameLst>
                                      </p:cBhvr>
                                      <p:to>
                                        <p:strVal val="visible"/>
                                      </p:to>
                                    </p:set>
                                    <p:anim calcmode="lin" valueType="num">
                                      <p:cBhvr>
                                        <p:cTn id="27" dur="2000" fill="hold"/>
                                        <p:tgtEl>
                                          <p:spTgt spid="55300"/>
                                        </p:tgtEl>
                                        <p:attrNameLst>
                                          <p:attrName>ppt_x</p:attrName>
                                        </p:attrNameLst>
                                      </p:cBhvr>
                                      <p:tavLst>
                                        <p:tav tm="0">
                                          <p:val>
                                            <p:strVal val="#ppt_x-.2"/>
                                          </p:val>
                                        </p:tav>
                                        <p:tav tm="100000">
                                          <p:val>
                                            <p:strVal val="#ppt_x"/>
                                          </p:val>
                                        </p:tav>
                                      </p:tavLst>
                                    </p:anim>
                                    <p:anim calcmode="lin" valueType="num">
                                      <p:cBhvr>
                                        <p:cTn id="28" dur="2000" fill="hold"/>
                                        <p:tgtEl>
                                          <p:spTgt spid="55300"/>
                                        </p:tgtEl>
                                        <p:attrNameLst>
                                          <p:attrName>ppt_y</p:attrName>
                                        </p:attrNameLst>
                                      </p:cBhvr>
                                      <p:tavLst>
                                        <p:tav tm="0">
                                          <p:val>
                                            <p:strVal val="#ppt_y"/>
                                          </p:val>
                                        </p:tav>
                                        <p:tav tm="100000">
                                          <p:val>
                                            <p:strVal val="#ppt_y"/>
                                          </p:val>
                                        </p:tav>
                                      </p:tavLst>
                                    </p:anim>
                                    <p:animEffect transition="in" filter="wipe(right)" prLst="gradientSize: 0.1">
                                      <p:cBhvr>
                                        <p:cTn id="29" dur="2000"/>
                                        <p:tgtEl>
                                          <p:spTgt spid="55300"/>
                                        </p:tgtEl>
                                      </p:cBhvr>
                                    </p:animEffect>
                                  </p:childTnLst>
                                </p:cTn>
                              </p:par>
                            </p:childTnLst>
                          </p:cTn>
                        </p:par>
                      </p:childTnLst>
                    </p:cTn>
                  </p:par>
                  <p:par>
                    <p:cTn id="30" fill="hold">
                      <p:stCondLst>
                        <p:cond delay="indefinite"/>
                      </p:stCondLst>
                      <p:childTnLst>
                        <p:par>
                          <p:cTn id="31" fill="hold">
                            <p:stCondLst>
                              <p:cond delay="0"/>
                            </p:stCondLst>
                            <p:childTnLst>
                              <p:par>
                                <p:cTn id="32" presetID="54" presetClass="entr" presetSubtype="0" accel="100000" fill="hold" nodeType="clickEffect">
                                  <p:stCondLst>
                                    <p:cond delay="0"/>
                                  </p:stCondLst>
                                  <p:childTnLst>
                                    <p:set>
                                      <p:cBhvr>
                                        <p:cTn id="33" dur="1" fill="hold">
                                          <p:stCondLst>
                                            <p:cond delay="0"/>
                                          </p:stCondLst>
                                        </p:cTn>
                                        <p:tgtEl>
                                          <p:spTgt spid="55298">
                                            <p:txEl>
                                              <p:pRg st="4" end="4"/>
                                            </p:txEl>
                                          </p:spTgt>
                                        </p:tgtEl>
                                        <p:attrNameLst>
                                          <p:attrName>style.visibility</p:attrName>
                                        </p:attrNameLst>
                                      </p:cBhvr>
                                      <p:to>
                                        <p:strVal val="visible"/>
                                      </p:to>
                                    </p:set>
                                    <p:anim calcmode="lin" valueType="num">
                                      <p:cBhvr>
                                        <p:cTn id="34" dur="1000" fill="hold"/>
                                        <p:tgtEl>
                                          <p:spTgt spid="55298">
                                            <p:txEl>
                                              <p:pRg st="4" end="4"/>
                                            </p:txEl>
                                          </p:spTgt>
                                        </p:tgtEl>
                                        <p:attrNameLst>
                                          <p:attrName>ppt_w</p:attrName>
                                        </p:attrNameLst>
                                      </p:cBhvr>
                                      <p:tavLst>
                                        <p:tav tm="0">
                                          <p:val>
                                            <p:strVal val="#ppt_w*0.05"/>
                                          </p:val>
                                        </p:tav>
                                        <p:tav tm="100000">
                                          <p:val>
                                            <p:strVal val="#ppt_w"/>
                                          </p:val>
                                        </p:tav>
                                      </p:tavLst>
                                    </p:anim>
                                    <p:anim calcmode="lin" valueType="num">
                                      <p:cBhvr>
                                        <p:cTn id="35" dur="1000" fill="hold"/>
                                        <p:tgtEl>
                                          <p:spTgt spid="55298">
                                            <p:txEl>
                                              <p:pRg st="4" end="4"/>
                                            </p:txEl>
                                          </p:spTgt>
                                        </p:tgtEl>
                                        <p:attrNameLst>
                                          <p:attrName>ppt_h</p:attrName>
                                        </p:attrNameLst>
                                      </p:cBhvr>
                                      <p:tavLst>
                                        <p:tav tm="0">
                                          <p:val>
                                            <p:strVal val="#ppt_h"/>
                                          </p:val>
                                        </p:tav>
                                        <p:tav tm="100000">
                                          <p:val>
                                            <p:strVal val="#ppt_h"/>
                                          </p:val>
                                        </p:tav>
                                      </p:tavLst>
                                    </p:anim>
                                    <p:anim calcmode="lin" valueType="num">
                                      <p:cBhvr>
                                        <p:cTn id="36" dur="1000" fill="hold"/>
                                        <p:tgtEl>
                                          <p:spTgt spid="55298">
                                            <p:txEl>
                                              <p:pRg st="4" end="4"/>
                                            </p:txEl>
                                          </p:spTgt>
                                        </p:tgtEl>
                                        <p:attrNameLst>
                                          <p:attrName>ppt_x</p:attrName>
                                        </p:attrNameLst>
                                      </p:cBhvr>
                                      <p:tavLst>
                                        <p:tav tm="0">
                                          <p:val>
                                            <p:strVal val="#ppt_x-.2"/>
                                          </p:val>
                                        </p:tav>
                                        <p:tav tm="100000">
                                          <p:val>
                                            <p:strVal val="#ppt_x"/>
                                          </p:val>
                                        </p:tav>
                                      </p:tavLst>
                                    </p:anim>
                                    <p:anim calcmode="lin" valueType="num">
                                      <p:cBhvr>
                                        <p:cTn id="37" dur="1000" fill="hold"/>
                                        <p:tgtEl>
                                          <p:spTgt spid="55298">
                                            <p:txEl>
                                              <p:pRg st="4" end="4"/>
                                            </p:txEl>
                                          </p:spTgt>
                                        </p:tgtEl>
                                        <p:attrNameLst>
                                          <p:attrName>ppt_y</p:attrName>
                                        </p:attrNameLst>
                                      </p:cBhvr>
                                      <p:tavLst>
                                        <p:tav tm="0">
                                          <p:val>
                                            <p:strVal val="#ppt_y"/>
                                          </p:val>
                                        </p:tav>
                                        <p:tav tm="100000">
                                          <p:val>
                                            <p:strVal val="#ppt_y"/>
                                          </p:val>
                                        </p:tav>
                                      </p:tavLst>
                                    </p:anim>
                                    <p:animEffect transition="in" filter="fade">
                                      <p:cBhvr>
                                        <p:cTn id="38" dur="1000"/>
                                        <p:tgtEl>
                                          <p:spTgt spid="55298">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4" presetClass="entr" presetSubtype="0" accel="100000" fill="hold" nodeType="clickEffect">
                                  <p:stCondLst>
                                    <p:cond delay="0"/>
                                  </p:stCondLst>
                                  <p:childTnLst>
                                    <p:set>
                                      <p:cBhvr>
                                        <p:cTn id="42" dur="1" fill="hold">
                                          <p:stCondLst>
                                            <p:cond delay="0"/>
                                          </p:stCondLst>
                                        </p:cTn>
                                        <p:tgtEl>
                                          <p:spTgt spid="55298">
                                            <p:txEl>
                                              <p:pRg st="5" end="5"/>
                                            </p:txEl>
                                          </p:spTgt>
                                        </p:tgtEl>
                                        <p:attrNameLst>
                                          <p:attrName>style.visibility</p:attrName>
                                        </p:attrNameLst>
                                      </p:cBhvr>
                                      <p:to>
                                        <p:strVal val="visible"/>
                                      </p:to>
                                    </p:set>
                                    <p:anim calcmode="lin" valueType="num">
                                      <p:cBhvr>
                                        <p:cTn id="43" dur="1000" fill="hold"/>
                                        <p:tgtEl>
                                          <p:spTgt spid="55298">
                                            <p:txEl>
                                              <p:pRg st="5" end="5"/>
                                            </p:txEl>
                                          </p:spTgt>
                                        </p:tgtEl>
                                        <p:attrNameLst>
                                          <p:attrName>ppt_w</p:attrName>
                                        </p:attrNameLst>
                                      </p:cBhvr>
                                      <p:tavLst>
                                        <p:tav tm="0">
                                          <p:val>
                                            <p:strVal val="#ppt_w*0.05"/>
                                          </p:val>
                                        </p:tav>
                                        <p:tav tm="100000">
                                          <p:val>
                                            <p:strVal val="#ppt_w"/>
                                          </p:val>
                                        </p:tav>
                                      </p:tavLst>
                                    </p:anim>
                                    <p:anim calcmode="lin" valueType="num">
                                      <p:cBhvr>
                                        <p:cTn id="44" dur="1000" fill="hold"/>
                                        <p:tgtEl>
                                          <p:spTgt spid="55298">
                                            <p:txEl>
                                              <p:pRg st="5" end="5"/>
                                            </p:txEl>
                                          </p:spTgt>
                                        </p:tgtEl>
                                        <p:attrNameLst>
                                          <p:attrName>ppt_h</p:attrName>
                                        </p:attrNameLst>
                                      </p:cBhvr>
                                      <p:tavLst>
                                        <p:tav tm="0">
                                          <p:val>
                                            <p:strVal val="#ppt_h"/>
                                          </p:val>
                                        </p:tav>
                                        <p:tav tm="100000">
                                          <p:val>
                                            <p:strVal val="#ppt_h"/>
                                          </p:val>
                                        </p:tav>
                                      </p:tavLst>
                                    </p:anim>
                                    <p:anim calcmode="lin" valueType="num">
                                      <p:cBhvr>
                                        <p:cTn id="45" dur="1000" fill="hold"/>
                                        <p:tgtEl>
                                          <p:spTgt spid="55298">
                                            <p:txEl>
                                              <p:pRg st="5" end="5"/>
                                            </p:txEl>
                                          </p:spTgt>
                                        </p:tgtEl>
                                        <p:attrNameLst>
                                          <p:attrName>ppt_x</p:attrName>
                                        </p:attrNameLst>
                                      </p:cBhvr>
                                      <p:tavLst>
                                        <p:tav tm="0">
                                          <p:val>
                                            <p:strVal val="#ppt_x-.2"/>
                                          </p:val>
                                        </p:tav>
                                        <p:tav tm="100000">
                                          <p:val>
                                            <p:strVal val="#ppt_x"/>
                                          </p:val>
                                        </p:tav>
                                      </p:tavLst>
                                    </p:anim>
                                    <p:anim calcmode="lin" valueType="num">
                                      <p:cBhvr>
                                        <p:cTn id="46" dur="1000" fill="hold"/>
                                        <p:tgtEl>
                                          <p:spTgt spid="55298">
                                            <p:txEl>
                                              <p:pRg st="5" end="5"/>
                                            </p:txEl>
                                          </p:spTgt>
                                        </p:tgtEl>
                                        <p:attrNameLst>
                                          <p:attrName>ppt_y</p:attrName>
                                        </p:attrNameLst>
                                      </p:cBhvr>
                                      <p:tavLst>
                                        <p:tav tm="0">
                                          <p:val>
                                            <p:strVal val="#ppt_y"/>
                                          </p:val>
                                        </p:tav>
                                        <p:tav tm="100000">
                                          <p:val>
                                            <p:strVal val="#ppt_y"/>
                                          </p:val>
                                        </p:tav>
                                      </p:tavLst>
                                    </p:anim>
                                    <p:animEffect transition="in" filter="fade">
                                      <p:cBhvr>
                                        <p:cTn id="47" dur="1000"/>
                                        <p:tgtEl>
                                          <p:spTgt spid="55298">
                                            <p:txEl>
                                              <p:pRg st="5" end="5"/>
                                            </p:txEl>
                                          </p:spTgt>
                                        </p:tgtEl>
                                      </p:cBhvr>
                                    </p:animEffect>
                                  </p:childTnLst>
                                </p:cTn>
                              </p:par>
                            </p:childTnLst>
                          </p:cTn>
                        </p:par>
                        <p:par>
                          <p:cTn id="48" fill="hold">
                            <p:stCondLst>
                              <p:cond delay="1000"/>
                            </p:stCondLst>
                            <p:childTnLst>
                              <p:par>
                                <p:cTn id="49" presetID="17" presetClass="entr" presetSubtype="10"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 calcmode="lin" valueType="num">
                                      <p:cBhvr>
                                        <p:cTn id="51" dur="1000" fill="hold"/>
                                        <p:tgtEl>
                                          <p:spTgt spid="11"/>
                                        </p:tgtEl>
                                        <p:attrNameLst>
                                          <p:attrName>ppt_w</p:attrName>
                                        </p:attrNameLst>
                                      </p:cBhvr>
                                      <p:tavLst>
                                        <p:tav tm="0">
                                          <p:val>
                                            <p:fltVal val="0"/>
                                          </p:val>
                                        </p:tav>
                                        <p:tav tm="100000">
                                          <p:val>
                                            <p:strVal val="#ppt_w"/>
                                          </p:val>
                                        </p:tav>
                                      </p:tavLst>
                                    </p:anim>
                                    <p:anim calcmode="lin" valueType="num">
                                      <p:cBhvr>
                                        <p:cTn id="52" dur="10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nimBg="1"/>
      <p:bldP spid="55302" grpId="0" animBg="1"/>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60437" y="184986"/>
            <a:ext cx="7158038" cy="1412875"/>
          </a:xfrm>
        </p:spPr>
        <p:txBody>
          <a:bodyPr/>
          <a:lstStyle/>
          <a:p>
            <a:pPr algn="ctr"/>
            <a:r>
              <a:rPr lang="en-US" b="1" dirty="0"/>
              <a:t>Accounting Equation 9</a:t>
            </a:r>
          </a:p>
        </p:txBody>
      </p:sp>
      <p:sp>
        <p:nvSpPr>
          <p:cNvPr id="12" name="Slide Number Placeholder 3"/>
          <p:cNvSpPr>
            <a:spLocks noGrp="1"/>
          </p:cNvSpPr>
          <p:nvPr>
            <p:ph type="sldNum" sz="quarter" idx="12"/>
          </p:nvPr>
        </p:nvSpPr>
        <p:spPr bwMode="auto">
          <a:xfrm>
            <a:off x="6547184" y="6532604"/>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71</a:t>
            </a:fld>
            <a:endParaRPr lang="en-US" altLang="en-US" dirty="0">
              <a:solidFill>
                <a:srgbClr val="898989"/>
              </a:solidFill>
            </a:endParaRPr>
          </a:p>
        </p:txBody>
      </p:sp>
      <p:graphicFrame>
        <p:nvGraphicFramePr>
          <p:cNvPr id="60419" name="Object 3"/>
          <p:cNvGraphicFramePr>
            <a:graphicFrameLocks/>
          </p:cNvGraphicFramePr>
          <p:nvPr>
            <p:extLst>
              <p:ext uri="{D42A27DB-BD31-4B8C-83A1-F6EECF244321}">
                <p14:modId xmlns:p14="http://schemas.microsoft.com/office/powerpoint/2010/main" val="1133377612"/>
              </p:ext>
            </p:extLst>
          </p:nvPr>
        </p:nvGraphicFramePr>
        <p:xfrm>
          <a:off x="171450" y="2120265"/>
          <a:ext cx="8736013" cy="3121025"/>
        </p:xfrm>
        <a:graphic>
          <a:graphicData uri="http://schemas.openxmlformats.org/presentationml/2006/ole">
            <mc:AlternateContent xmlns:mc="http://schemas.openxmlformats.org/markup-compatibility/2006">
              <mc:Choice xmlns:v="urn:schemas-microsoft-com:vml" Requires="v">
                <p:oleObj spid="_x0000_s11324" name="Worksheet" r:id="rId4" imgW="6076800" imgH="1828586" progId="Excel.Sheet.8">
                  <p:embed/>
                </p:oleObj>
              </mc:Choice>
              <mc:Fallback>
                <p:oleObj name="Worksheet" r:id="rId4" imgW="6076800" imgH="1828586" progId="Excel.Sheet.8">
                  <p:embed/>
                  <p:pic>
                    <p:nvPicPr>
                      <p:cNvPr id="0" name=""/>
                      <p:cNvPicPr>
                        <a:picLocks noChangeArrowheads="1"/>
                      </p:cNvPicPr>
                      <p:nvPr/>
                    </p:nvPicPr>
                    <p:blipFill>
                      <a:blip r:embed="rId5"/>
                      <a:srcRect b="5836"/>
                      <a:stretch>
                        <a:fillRect/>
                      </a:stretch>
                    </p:blipFill>
                    <p:spPr bwMode="auto">
                      <a:xfrm>
                        <a:off x="171450" y="2120265"/>
                        <a:ext cx="8736013" cy="3121025"/>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60422" name="Rectangle 6"/>
          <p:cNvSpPr>
            <a:spLocks noChangeArrowheads="1"/>
          </p:cNvSpPr>
          <p:nvPr/>
        </p:nvSpPr>
        <p:spPr bwMode="auto">
          <a:xfrm>
            <a:off x="203994" y="1317625"/>
            <a:ext cx="8736012" cy="632777"/>
          </a:xfrm>
          <a:prstGeom prst="rect">
            <a:avLst/>
          </a:prstGeom>
          <a:solidFill>
            <a:schemeClr val="accent3">
              <a:lumMod val="40000"/>
              <a:lumOff val="60000"/>
            </a:schemeClr>
          </a:solidFill>
          <a:ln>
            <a:noFill/>
          </a:ln>
          <a:effectLst/>
        </p:spPr>
        <p:txBody>
          <a:bodyPr lIns="90488" tIns="44450" rIns="90488" bIns="44450"/>
          <a:lstStyle/>
          <a:p>
            <a:pPr algn="ctr"/>
            <a:r>
              <a:rPr lang="en-US" sz="2400" b="1" dirty="0">
                <a:solidFill>
                  <a:prstClr val="black"/>
                </a:solidFill>
                <a:latin typeface="Arial" panose="020B0604020202020204" pitchFamily="34" charset="0"/>
              </a:rPr>
              <a:t>Client in transaction 8 pays $1,900 for consulting services.</a:t>
            </a:r>
          </a:p>
        </p:txBody>
      </p:sp>
      <p:sp>
        <p:nvSpPr>
          <p:cNvPr id="60424" name="Oval 8"/>
          <p:cNvSpPr>
            <a:spLocks noChangeArrowheads="1"/>
          </p:cNvSpPr>
          <p:nvPr/>
        </p:nvSpPr>
        <p:spPr bwMode="auto">
          <a:xfrm>
            <a:off x="838200" y="3389312"/>
            <a:ext cx="914400" cy="304800"/>
          </a:xfrm>
          <a:prstGeom prst="ellipse">
            <a:avLst/>
          </a:prstGeom>
          <a:noFill/>
          <a:ln w="28575" algn="ctr">
            <a:solidFill>
              <a:srgbClr val="1102D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8" name="Oval 12"/>
          <p:cNvSpPr>
            <a:spLocks noChangeArrowheads="1"/>
          </p:cNvSpPr>
          <p:nvPr/>
        </p:nvSpPr>
        <p:spPr bwMode="auto">
          <a:xfrm>
            <a:off x="5715000" y="4666614"/>
            <a:ext cx="1600200" cy="574675"/>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4" name="Oval 12"/>
          <p:cNvSpPr>
            <a:spLocks noChangeArrowheads="1"/>
          </p:cNvSpPr>
          <p:nvPr/>
        </p:nvSpPr>
        <p:spPr bwMode="auto">
          <a:xfrm>
            <a:off x="2238375" y="4666615"/>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7" name="Oval 8"/>
          <p:cNvSpPr>
            <a:spLocks noChangeArrowheads="1"/>
          </p:cNvSpPr>
          <p:nvPr/>
        </p:nvSpPr>
        <p:spPr bwMode="auto">
          <a:xfrm>
            <a:off x="1905000" y="3389312"/>
            <a:ext cx="838200" cy="304800"/>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3" name="Rectangle 12"/>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747025773"/>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0422">
                                            <p:txEl>
                                              <p:pRg st="0" end="0"/>
                                            </p:txEl>
                                          </p:spTgt>
                                        </p:tgtEl>
                                        <p:attrNameLst>
                                          <p:attrName>style.visibility</p:attrName>
                                        </p:attrNameLst>
                                      </p:cBhvr>
                                      <p:to>
                                        <p:strVal val="visible"/>
                                      </p:to>
                                    </p:set>
                                    <p:animEffect transition="in" filter="fade">
                                      <p:cBhvr>
                                        <p:cTn id="7" dur="1000"/>
                                        <p:tgtEl>
                                          <p:spTgt spid="60422">
                                            <p:txEl>
                                              <p:pRg st="0" end="0"/>
                                            </p:txEl>
                                          </p:spTgt>
                                        </p:tgtEl>
                                      </p:cBhvr>
                                    </p:animEffect>
                                    <p:anim calcmode="lin" valueType="num">
                                      <p:cBhvr>
                                        <p:cTn id="8" dur="1000" fill="hold"/>
                                        <p:tgtEl>
                                          <p:spTgt spid="6042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0422">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9" presetClass="entr" presetSubtype="0" fill="hold" nodeType="afterEffect">
                                  <p:stCondLst>
                                    <p:cond delay="0"/>
                                  </p:stCondLst>
                                  <p:childTnLst>
                                    <p:set>
                                      <p:cBhvr>
                                        <p:cTn id="12" dur="1" fill="hold">
                                          <p:stCondLst>
                                            <p:cond delay="0"/>
                                          </p:stCondLst>
                                        </p:cTn>
                                        <p:tgtEl>
                                          <p:spTgt spid="60419"/>
                                        </p:tgtEl>
                                        <p:attrNameLst>
                                          <p:attrName>style.visibility</p:attrName>
                                        </p:attrNameLst>
                                      </p:cBhvr>
                                      <p:to>
                                        <p:strVal val="visible"/>
                                      </p:to>
                                    </p:set>
                                    <p:animEffect transition="in" filter="dissolve">
                                      <p:cBhvr>
                                        <p:cTn id="13" dur="1000"/>
                                        <p:tgtEl>
                                          <p:spTgt spid="60419"/>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0424"/>
                                        </p:tgtEl>
                                        <p:attrNameLst>
                                          <p:attrName>style.visibility</p:attrName>
                                        </p:attrNameLst>
                                      </p:cBhvr>
                                      <p:to>
                                        <p:strVal val="visible"/>
                                      </p:to>
                                    </p:set>
                                    <p:animEffect transition="in" filter="dissolve">
                                      <p:cBhvr>
                                        <p:cTn id="18" dur="2000"/>
                                        <p:tgtEl>
                                          <p:spTgt spid="6042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dissolve">
                                      <p:cBhvr>
                                        <p:cTn id="23" dur="2000"/>
                                        <p:tgtEl>
                                          <p:spTgt spid="17"/>
                                        </p:tgtEl>
                                      </p:cBhvr>
                                    </p:animEffect>
                                  </p:childTnLst>
                                </p:cTn>
                              </p:par>
                            </p:childTnLst>
                          </p:cTn>
                        </p:par>
                        <p:par>
                          <p:cTn id="24" fill="hold">
                            <p:stCondLst>
                              <p:cond delay="2000"/>
                            </p:stCondLst>
                            <p:childTnLst>
                              <p:par>
                                <p:cTn id="25" presetID="9" presetClass="entr" presetSubtype="0"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1000"/>
                                        <p:tgtEl>
                                          <p:spTgt spid="14"/>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60428"/>
                                        </p:tgtEl>
                                        <p:attrNameLst>
                                          <p:attrName>style.visibility</p:attrName>
                                        </p:attrNameLst>
                                      </p:cBhvr>
                                      <p:to>
                                        <p:strVal val="visible"/>
                                      </p:to>
                                    </p:set>
                                    <p:animEffect transition="in" filter="dissolve">
                                      <p:cBhvr>
                                        <p:cTn id="31" dur="1000"/>
                                        <p:tgtEl>
                                          <p:spTgt spid="60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4" grpId="0" animBg="1"/>
      <p:bldP spid="60428" grpId="0" animBg="1"/>
      <p:bldP spid="14" grpId="0" animBg="1"/>
      <p:bldP spid="1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5"/>
          <p:cNvSpPr>
            <a:spLocks noGrp="1" noChangeArrowheads="1"/>
          </p:cNvSpPr>
          <p:nvPr>
            <p:ph type="title"/>
          </p:nvPr>
        </p:nvSpPr>
        <p:spPr>
          <a:xfrm>
            <a:off x="954881" y="471279"/>
            <a:ext cx="7158038" cy="1412875"/>
          </a:xfrm>
        </p:spPr>
        <p:txBody>
          <a:bodyPr>
            <a:normAutofit/>
          </a:bodyPr>
          <a:lstStyle/>
          <a:p>
            <a:pPr algn="ctr"/>
            <a:r>
              <a:rPr lang="en-US" b="1" dirty="0"/>
              <a:t>Transaction 10:</a:t>
            </a:r>
            <a:br>
              <a:rPr lang="en-US" b="1" dirty="0"/>
            </a:br>
            <a:r>
              <a:rPr lang="en-US" b="1" dirty="0"/>
              <a:t>Payment of Accounts Payable</a:t>
            </a:r>
          </a:p>
        </p:txBody>
      </p:sp>
      <p:sp>
        <p:nvSpPr>
          <p:cNvPr id="55298" name="Rectangle 2"/>
          <p:cNvSpPr>
            <a:spLocks noGrp="1" noChangeArrowheads="1"/>
          </p:cNvSpPr>
          <p:nvPr>
            <p:ph idx="1"/>
          </p:nvPr>
        </p:nvSpPr>
        <p:spPr bwMode="auto">
          <a:xfrm>
            <a:off x="1371600" y="2369600"/>
            <a:ext cx="8153400" cy="3740567"/>
          </a:xfrm>
          <a:solidFill>
            <a:srgbClr val="FFFFFF"/>
          </a:solidFill>
          <a:ln>
            <a:solidFill>
              <a:schemeClr val="bg1"/>
            </a:solidFill>
            <a:miter lim="800000"/>
            <a:headEnd/>
            <a:tailEnd/>
          </a:ln>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br>
              <a:rPr lang="en-US" dirty="0"/>
            </a:br>
            <a:endParaRPr lang="en-US" dirty="0"/>
          </a:p>
          <a:p>
            <a:pPr>
              <a:buFont typeface="Wingdings" panose="05000000000000000000" pitchFamily="2" charset="2"/>
              <a:buNone/>
            </a:pPr>
            <a:endParaRPr lang="en-US" b="1" dirty="0">
              <a:solidFill>
                <a:srgbClr val="800080"/>
              </a:solidFill>
            </a:endParaRPr>
          </a:p>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Cash </a:t>
            </a:r>
            <a:r>
              <a:rPr lang="en-US" b="1" dirty="0">
                <a:solidFill>
                  <a:srgbClr val="9A2F6F"/>
                </a:solidFill>
              </a:rPr>
              <a:t>(asset)</a:t>
            </a:r>
            <a:r>
              <a:rPr lang="en-US" b="1" dirty="0">
                <a:solidFill>
                  <a:schemeClr val="hlink"/>
                </a:solidFill>
              </a:rPr>
              <a:t> </a:t>
            </a:r>
          </a:p>
          <a:p>
            <a:pPr>
              <a:buFont typeface="Wingdings" panose="05000000000000000000" pitchFamily="2" charset="2"/>
              <a:buNone/>
            </a:pPr>
            <a:r>
              <a:rPr lang="en-US" b="1" dirty="0">
                <a:solidFill>
                  <a:schemeClr val="hlink"/>
                </a:solidFill>
              </a:rPr>
              <a:t>	</a:t>
            </a:r>
            <a:r>
              <a:rPr lang="en-US" b="1" dirty="0"/>
              <a:t>(2) Accounts payable </a:t>
            </a:r>
            <a:r>
              <a:rPr lang="en-US" b="1" dirty="0">
                <a:solidFill>
                  <a:srgbClr val="9A2F6F"/>
                </a:solidFill>
              </a:rPr>
              <a:t>(liability)</a:t>
            </a:r>
            <a:r>
              <a:rPr lang="en-US" dirty="0"/>
              <a:t> </a:t>
            </a:r>
          </a:p>
          <a:p>
            <a:pPr>
              <a:buFont typeface="Wingdings" panose="05000000000000000000" pitchFamily="2" charset="2"/>
              <a:buNone/>
            </a:pPr>
            <a:r>
              <a:rPr lang="en-US" dirty="0"/>
              <a:t>    </a:t>
            </a:r>
            <a:endParaRPr lang="en-US" b="1" dirty="0"/>
          </a:p>
        </p:txBody>
      </p:sp>
      <p:sp>
        <p:nvSpPr>
          <p:cNvPr id="13" name="Slide Number Placeholder 3"/>
          <p:cNvSpPr>
            <a:spLocks noGrp="1"/>
          </p:cNvSpPr>
          <p:nvPr>
            <p:ph type="sldNum" sz="quarter" idx="12"/>
          </p:nvPr>
        </p:nvSpPr>
        <p:spPr bwMode="auto">
          <a:xfrm>
            <a:off x="6558547" y="6492875"/>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72</a:t>
            </a:fld>
            <a:endParaRPr lang="en-US" altLang="en-US" dirty="0">
              <a:solidFill>
                <a:srgbClr val="898989"/>
              </a:solidFill>
            </a:endParaRPr>
          </a:p>
        </p:txBody>
      </p:sp>
      <p:sp>
        <p:nvSpPr>
          <p:cNvPr id="55302" name="Rectangle 6"/>
          <p:cNvSpPr>
            <a:spLocks noChangeArrowheads="1"/>
          </p:cNvSpPr>
          <p:nvPr/>
        </p:nvSpPr>
        <p:spPr bwMode="auto">
          <a:xfrm>
            <a:off x="457200" y="1989034"/>
            <a:ext cx="8153400" cy="914399"/>
          </a:xfrm>
          <a:prstGeom prst="rect">
            <a:avLst/>
          </a:prstGeom>
          <a:solidFill>
            <a:srgbClr val="FFFF99"/>
          </a:solidFill>
          <a:ln>
            <a:noFill/>
          </a:ln>
          <a:effectLst/>
        </p:spPr>
        <p:txBody>
          <a:bodyPr lIns="90488" tIns="44450" rIns="90488" bIns="44450"/>
          <a:lstStyle/>
          <a:p>
            <a:pPr algn="ctr"/>
            <a:r>
              <a:rPr lang="en-US" sz="2600" b="1" dirty="0">
                <a:solidFill>
                  <a:prstClr val="black"/>
                </a:solidFill>
                <a:latin typeface="Arial" panose="020B0604020202020204" pitchFamily="34" charset="0"/>
              </a:rPr>
              <a:t>FastForward pays $900 as partial payment for supplies purchased in transaction 4.</a:t>
            </a:r>
          </a:p>
        </p:txBody>
      </p:sp>
      <p:sp>
        <p:nvSpPr>
          <p:cNvPr id="9" name="AutoShape 3"/>
          <p:cNvSpPr>
            <a:spLocks noChangeArrowheads="1"/>
          </p:cNvSpPr>
          <p:nvPr/>
        </p:nvSpPr>
        <p:spPr bwMode="auto">
          <a:xfrm rot="16200000" flipH="1">
            <a:off x="3618401" y="3753949"/>
            <a:ext cx="427648" cy="349250"/>
          </a:xfrm>
          <a:prstGeom prst="rightArrow">
            <a:avLst>
              <a:gd name="adj1" fmla="val 50000"/>
              <a:gd name="adj2" fmla="val 67219"/>
            </a:avLst>
          </a:prstGeom>
          <a:solidFill>
            <a:srgbClr val="FF330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11" name="AutoShape 3"/>
          <p:cNvSpPr>
            <a:spLocks noChangeArrowheads="1"/>
          </p:cNvSpPr>
          <p:nvPr/>
        </p:nvSpPr>
        <p:spPr bwMode="auto">
          <a:xfrm rot="16200000" flipH="1">
            <a:off x="5085425" y="4190010"/>
            <a:ext cx="427648" cy="349250"/>
          </a:xfrm>
          <a:prstGeom prst="rightArrow">
            <a:avLst>
              <a:gd name="adj1" fmla="val 50000"/>
              <a:gd name="adj2" fmla="val 67219"/>
            </a:avLst>
          </a:prstGeom>
          <a:solidFill>
            <a:srgbClr val="FF3300"/>
          </a:solidFill>
          <a:ln w="12700">
            <a:solidFill>
              <a:schemeClr val="tx1"/>
            </a:solidFill>
            <a:miter lim="800000"/>
            <a:headEnd/>
            <a:tailEnd/>
          </a:ln>
          <a:effectLst>
            <a:outerShdw dist="63500" dir="3187806" algn="ctr" rotWithShape="0">
              <a:schemeClr val="bg2"/>
            </a:outerShdw>
          </a:effectLst>
        </p:spPr>
        <p:txBody>
          <a:bodyPr wrap="none" anchor="ctr"/>
          <a:lstStyle/>
          <a:p>
            <a:endParaRPr lang="en-US" dirty="0">
              <a:solidFill>
                <a:prstClr val="black"/>
              </a:solidFill>
            </a:endParaRPr>
          </a:p>
        </p:txBody>
      </p:sp>
      <p:sp>
        <p:nvSpPr>
          <p:cNvPr id="14" name="Rectangle 13"/>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512919298"/>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5302"/>
                                        </p:tgtEl>
                                        <p:attrNameLst>
                                          <p:attrName>style.visibility</p:attrName>
                                        </p:attrNameLst>
                                      </p:cBhvr>
                                      <p:to>
                                        <p:strVal val="visible"/>
                                      </p:to>
                                    </p:set>
                                    <p:animEffect transition="in" filter="fade">
                                      <p:cBhvr>
                                        <p:cTn id="7" dur="1000"/>
                                        <p:tgtEl>
                                          <p:spTgt spid="55302"/>
                                        </p:tgtEl>
                                      </p:cBhvr>
                                    </p:animEffect>
                                    <p:anim calcmode="lin" valueType="num">
                                      <p:cBhvr>
                                        <p:cTn id="8" dur="1000" fill="hold"/>
                                        <p:tgtEl>
                                          <p:spTgt spid="55302"/>
                                        </p:tgtEl>
                                        <p:attrNameLst>
                                          <p:attrName>ppt_x</p:attrName>
                                        </p:attrNameLst>
                                      </p:cBhvr>
                                      <p:tavLst>
                                        <p:tav tm="0">
                                          <p:val>
                                            <p:strVal val="#ppt_x"/>
                                          </p:val>
                                        </p:tav>
                                        <p:tav tm="100000">
                                          <p:val>
                                            <p:strVal val="#ppt_x"/>
                                          </p:val>
                                        </p:tav>
                                      </p:tavLst>
                                    </p:anim>
                                    <p:anim calcmode="lin" valueType="num">
                                      <p:cBhvr>
                                        <p:cTn id="9" dur="1000" fill="hold"/>
                                        <p:tgtEl>
                                          <p:spTgt spid="5530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4" fill="hold" nodeType="afterEffect">
                                  <p:stCondLst>
                                    <p:cond delay="0"/>
                                  </p:stCondLst>
                                  <p:childTnLst>
                                    <p:set>
                                      <p:cBhvr>
                                        <p:cTn id="12" dur="1" fill="hold">
                                          <p:stCondLst>
                                            <p:cond delay="0"/>
                                          </p:stCondLst>
                                        </p:cTn>
                                        <p:tgtEl>
                                          <p:spTgt spid="55298">
                                            <p:txEl>
                                              <p:pRg st="2" end="2"/>
                                            </p:txEl>
                                          </p:spTgt>
                                        </p:tgtEl>
                                        <p:attrNameLst>
                                          <p:attrName>style.visibility</p:attrName>
                                        </p:attrNameLst>
                                      </p:cBhvr>
                                      <p:to>
                                        <p:strVal val="visible"/>
                                      </p:to>
                                    </p:set>
                                    <p:anim calcmode="lin" valueType="num">
                                      <p:cBhvr additive="base">
                                        <p:cTn id="13" dur="500" fill="hold"/>
                                        <p:tgtEl>
                                          <p:spTgt spid="5529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nodeType="afterGroup">
                            <p:stCondLst>
                              <p:cond delay="0"/>
                            </p:stCondLst>
                            <p:childTnLst>
                              <p:par>
                                <p:cTn id="17" presetID="54" presetClass="entr" presetSubtype="0" accel="100000" fill="hold" nodeType="clickEffect">
                                  <p:stCondLst>
                                    <p:cond delay="0"/>
                                  </p:stCondLst>
                                  <p:childTnLst>
                                    <p:set>
                                      <p:cBhvr>
                                        <p:cTn id="18" dur="1" fill="hold">
                                          <p:stCondLst>
                                            <p:cond delay="0"/>
                                          </p:stCondLst>
                                        </p:cTn>
                                        <p:tgtEl>
                                          <p:spTgt spid="55298">
                                            <p:txEl>
                                              <p:pRg st="3" end="3"/>
                                            </p:txEl>
                                          </p:spTgt>
                                        </p:tgtEl>
                                        <p:attrNameLst>
                                          <p:attrName>style.visibility</p:attrName>
                                        </p:attrNameLst>
                                      </p:cBhvr>
                                      <p:to>
                                        <p:strVal val="visible"/>
                                      </p:to>
                                    </p:set>
                                    <p:anim calcmode="lin" valueType="num">
                                      <p:cBhvr>
                                        <p:cTn id="19" dur="1000" fill="hold"/>
                                        <p:tgtEl>
                                          <p:spTgt spid="55298">
                                            <p:txEl>
                                              <p:pRg st="3" end="3"/>
                                            </p:txEl>
                                          </p:spTgt>
                                        </p:tgtEl>
                                        <p:attrNameLst>
                                          <p:attrName>ppt_w</p:attrName>
                                        </p:attrNameLst>
                                      </p:cBhvr>
                                      <p:tavLst>
                                        <p:tav tm="0">
                                          <p:val>
                                            <p:strVal val="#ppt_w*0.05"/>
                                          </p:val>
                                        </p:tav>
                                        <p:tav tm="100000">
                                          <p:val>
                                            <p:strVal val="#ppt_w"/>
                                          </p:val>
                                        </p:tav>
                                      </p:tavLst>
                                    </p:anim>
                                    <p:anim calcmode="lin" valueType="num">
                                      <p:cBhvr>
                                        <p:cTn id="20" dur="1000" fill="hold"/>
                                        <p:tgtEl>
                                          <p:spTgt spid="55298">
                                            <p:txEl>
                                              <p:pRg st="3" end="3"/>
                                            </p:txEl>
                                          </p:spTgt>
                                        </p:tgtEl>
                                        <p:attrNameLst>
                                          <p:attrName>ppt_h</p:attrName>
                                        </p:attrNameLst>
                                      </p:cBhvr>
                                      <p:tavLst>
                                        <p:tav tm="0">
                                          <p:val>
                                            <p:strVal val="#ppt_h"/>
                                          </p:val>
                                        </p:tav>
                                        <p:tav tm="100000">
                                          <p:val>
                                            <p:strVal val="#ppt_h"/>
                                          </p:val>
                                        </p:tav>
                                      </p:tavLst>
                                    </p:anim>
                                    <p:anim calcmode="lin" valueType="num">
                                      <p:cBhvr>
                                        <p:cTn id="21" dur="1000" fill="hold"/>
                                        <p:tgtEl>
                                          <p:spTgt spid="55298">
                                            <p:txEl>
                                              <p:pRg st="3" end="3"/>
                                            </p:txEl>
                                          </p:spTgt>
                                        </p:tgtEl>
                                        <p:attrNameLst>
                                          <p:attrName>ppt_x</p:attrName>
                                        </p:attrNameLst>
                                      </p:cBhvr>
                                      <p:tavLst>
                                        <p:tav tm="0">
                                          <p:val>
                                            <p:strVal val="#ppt_x-.2"/>
                                          </p:val>
                                        </p:tav>
                                        <p:tav tm="100000">
                                          <p:val>
                                            <p:strVal val="#ppt_x"/>
                                          </p:val>
                                        </p:tav>
                                      </p:tavLst>
                                    </p:anim>
                                    <p:anim calcmode="lin" valueType="num">
                                      <p:cBhvr>
                                        <p:cTn id="22" dur="1000" fill="hold"/>
                                        <p:tgtEl>
                                          <p:spTgt spid="55298">
                                            <p:txEl>
                                              <p:pRg st="3" end="3"/>
                                            </p:txEl>
                                          </p:spTgt>
                                        </p:tgtEl>
                                        <p:attrNameLst>
                                          <p:attrName>ppt_y</p:attrName>
                                        </p:attrNameLst>
                                      </p:cBhvr>
                                      <p:tavLst>
                                        <p:tav tm="0">
                                          <p:val>
                                            <p:strVal val="#ppt_y"/>
                                          </p:val>
                                        </p:tav>
                                        <p:tav tm="100000">
                                          <p:val>
                                            <p:strVal val="#ppt_y"/>
                                          </p:val>
                                        </p:tav>
                                      </p:tavLst>
                                    </p:anim>
                                    <p:animEffect transition="in" filter="fade">
                                      <p:cBhvr>
                                        <p:cTn id="23" dur="1000"/>
                                        <p:tgtEl>
                                          <p:spTgt spid="5529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4" presetClass="entr" presetSubtype="0" accel="100000" fill="hold" nodeType="clickEffect">
                                  <p:stCondLst>
                                    <p:cond delay="0"/>
                                  </p:stCondLst>
                                  <p:childTnLst>
                                    <p:set>
                                      <p:cBhvr>
                                        <p:cTn id="27" dur="1" fill="hold">
                                          <p:stCondLst>
                                            <p:cond delay="0"/>
                                          </p:stCondLst>
                                        </p:cTn>
                                        <p:tgtEl>
                                          <p:spTgt spid="55298">
                                            <p:txEl>
                                              <p:pRg st="4" end="4"/>
                                            </p:txEl>
                                          </p:spTgt>
                                        </p:tgtEl>
                                        <p:attrNameLst>
                                          <p:attrName>style.visibility</p:attrName>
                                        </p:attrNameLst>
                                      </p:cBhvr>
                                      <p:to>
                                        <p:strVal val="visible"/>
                                      </p:to>
                                    </p:set>
                                    <p:anim calcmode="lin" valueType="num">
                                      <p:cBhvr>
                                        <p:cTn id="28" dur="1000" fill="hold"/>
                                        <p:tgtEl>
                                          <p:spTgt spid="55298">
                                            <p:txEl>
                                              <p:pRg st="4" end="4"/>
                                            </p:txEl>
                                          </p:spTgt>
                                        </p:tgtEl>
                                        <p:attrNameLst>
                                          <p:attrName>ppt_w</p:attrName>
                                        </p:attrNameLst>
                                      </p:cBhvr>
                                      <p:tavLst>
                                        <p:tav tm="0">
                                          <p:val>
                                            <p:strVal val="#ppt_w*0.05"/>
                                          </p:val>
                                        </p:tav>
                                        <p:tav tm="100000">
                                          <p:val>
                                            <p:strVal val="#ppt_w"/>
                                          </p:val>
                                        </p:tav>
                                      </p:tavLst>
                                    </p:anim>
                                    <p:anim calcmode="lin" valueType="num">
                                      <p:cBhvr>
                                        <p:cTn id="29" dur="1000" fill="hold"/>
                                        <p:tgtEl>
                                          <p:spTgt spid="55298">
                                            <p:txEl>
                                              <p:pRg st="4" end="4"/>
                                            </p:txEl>
                                          </p:spTgt>
                                        </p:tgtEl>
                                        <p:attrNameLst>
                                          <p:attrName>ppt_h</p:attrName>
                                        </p:attrNameLst>
                                      </p:cBhvr>
                                      <p:tavLst>
                                        <p:tav tm="0">
                                          <p:val>
                                            <p:strVal val="#ppt_h"/>
                                          </p:val>
                                        </p:tav>
                                        <p:tav tm="100000">
                                          <p:val>
                                            <p:strVal val="#ppt_h"/>
                                          </p:val>
                                        </p:tav>
                                      </p:tavLst>
                                    </p:anim>
                                    <p:anim calcmode="lin" valueType="num">
                                      <p:cBhvr>
                                        <p:cTn id="30" dur="1000" fill="hold"/>
                                        <p:tgtEl>
                                          <p:spTgt spid="55298">
                                            <p:txEl>
                                              <p:pRg st="4" end="4"/>
                                            </p:txEl>
                                          </p:spTgt>
                                        </p:tgtEl>
                                        <p:attrNameLst>
                                          <p:attrName>ppt_x</p:attrName>
                                        </p:attrNameLst>
                                      </p:cBhvr>
                                      <p:tavLst>
                                        <p:tav tm="0">
                                          <p:val>
                                            <p:strVal val="#ppt_x-.2"/>
                                          </p:val>
                                        </p:tav>
                                        <p:tav tm="100000">
                                          <p:val>
                                            <p:strVal val="#ppt_x"/>
                                          </p:val>
                                        </p:tav>
                                      </p:tavLst>
                                    </p:anim>
                                    <p:anim calcmode="lin" valueType="num">
                                      <p:cBhvr>
                                        <p:cTn id="31" dur="1000" fill="hold"/>
                                        <p:tgtEl>
                                          <p:spTgt spid="55298">
                                            <p:txEl>
                                              <p:pRg st="4" end="4"/>
                                            </p:txEl>
                                          </p:spTgt>
                                        </p:tgtEl>
                                        <p:attrNameLst>
                                          <p:attrName>ppt_y</p:attrName>
                                        </p:attrNameLst>
                                      </p:cBhvr>
                                      <p:tavLst>
                                        <p:tav tm="0">
                                          <p:val>
                                            <p:strVal val="#ppt_y"/>
                                          </p:val>
                                        </p:tav>
                                        <p:tav tm="100000">
                                          <p:val>
                                            <p:strVal val="#ppt_y"/>
                                          </p:val>
                                        </p:tav>
                                      </p:tavLst>
                                    </p:anim>
                                    <p:animEffect transition="in" filter="fade">
                                      <p:cBhvr>
                                        <p:cTn id="32" dur="1000"/>
                                        <p:tgtEl>
                                          <p:spTgt spid="5529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4" presetClass="entr" presetSubtype="0" accel="100000" fill="hold" nodeType="clickEffect">
                                  <p:stCondLst>
                                    <p:cond delay="0"/>
                                  </p:stCondLst>
                                  <p:childTnLst>
                                    <p:set>
                                      <p:cBhvr>
                                        <p:cTn id="36" dur="1" fill="hold">
                                          <p:stCondLst>
                                            <p:cond delay="0"/>
                                          </p:stCondLst>
                                        </p:cTn>
                                        <p:tgtEl>
                                          <p:spTgt spid="55298">
                                            <p:txEl>
                                              <p:pRg st="5" end="5"/>
                                            </p:txEl>
                                          </p:spTgt>
                                        </p:tgtEl>
                                        <p:attrNameLst>
                                          <p:attrName>style.visibility</p:attrName>
                                        </p:attrNameLst>
                                      </p:cBhvr>
                                      <p:to>
                                        <p:strVal val="visible"/>
                                      </p:to>
                                    </p:set>
                                    <p:anim calcmode="lin" valueType="num">
                                      <p:cBhvr>
                                        <p:cTn id="37" dur="1000" fill="hold"/>
                                        <p:tgtEl>
                                          <p:spTgt spid="55298">
                                            <p:txEl>
                                              <p:pRg st="5" end="5"/>
                                            </p:txEl>
                                          </p:spTgt>
                                        </p:tgtEl>
                                        <p:attrNameLst>
                                          <p:attrName>ppt_w</p:attrName>
                                        </p:attrNameLst>
                                      </p:cBhvr>
                                      <p:tavLst>
                                        <p:tav tm="0">
                                          <p:val>
                                            <p:strVal val="#ppt_w*0.05"/>
                                          </p:val>
                                        </p:tav>
                                        <p:tav tm="100000">
                                          <p:val>
                                            <p:strVal val="#ppt_w"/>
                                          </p:val>
                                        </p:tav>
                                      </p:tavLst>
                                    </p:anim>
                                    <p:anim calcmode="lin" valueType="num">
                                      <p:cBhvr>
                                        <p:cTn id="38" dur="1000" fill="hold"/>
                                        <p:tgtEl>
                                          <p:spTgt spid="55298">
                                            <p:txEl>
                                              <p:pRg st="5" end="5"/>
                                            </p:txEl>
                                          </p:spTgt>
                                        </p:tgtEl>
                                        <p:attrNameLst>
                                          <p:attrName>ppt_h</p:attrName>
                                        </p:attrNameLst>
                                      </p:cBhvr>
                                      <p:tavLst>
                                        <p:tav tm="0">
                                          <p:val>
                                            <p:strVal val="#ppt_h"/>
                                          </p:val>
                                        </p:tav>
                                        <p:tav tm="100000">
                                          <p:val>
                                            <p:strVal val="#ppt_h"/>
                                          </p:val>
                                        </p:tav>
                                      </p:tavLst>
                                    </p:anim>
                                    <p:anim calcmode="lin" valueType="num">
                                      <p:cBhvr>
                                        <p:cTn id="39" dur="1000" fill="hold"/>
                                        <p:tgtEl>
                                          <p:spTgt spid="55298">
                                            <p:txEl>
                                              <p:pRg st="5" end="5"/>
                                            </p:txEl>
                                          </p:spTgt>
                                        </p:tgtEl>
                                        <p:attrNameLst>
                                          <p:attrName>ppt_x</p:attrName>
                                        </p:attrNameLst>
                                      </p:cBhvr>
                                      <p:tavLst>
                                        <p:tav tm="0">
                                          <p:val>
                                            <p:strVal val="#ppt_x-.2"/>
                                          </p:val>
                                        </p:tav>
                                        <p:tav tm="100000">
                                          <p:val>
                                            <p:strVal val="#ppt_x"/>
                                          </p:val>
                                        </p:tav>
                                      </p:tavLst>
                                    </p:anim>
                                    <p:anim calcmode="lin" valueType="num">
                                      <p:cBhvr>
                                        <p:cTn id="40" dur="1000" fill="hold"/>
                                        <p:tgtEl>
                                          <p:spTgt spid="55298">
                                            <p:txEl>
                                              <p:pRg st="5" end="5"/>
                                            </p:txEl>
                                          </p:spTgt>
                                        </p:tgtEl>
                                        <p:attrNameLst>
                                          <p:attrName>ppt_y</p:attrName>
                                        </p:attrNameLst>
                                      </p:cBhvr>
                                      <p:tavLst>
                                        <p:tav tm="0">
                                          <p:val>
                                            <p:strVal val="#ppt_y"/>
                                          </p:val>
                                        </p:tav>
                                        <p:tav tm="100000">
                                          <p:val>
                                            <p:strVal val="#ppt_y"/>
                                          </p:val>
                                        </p:tav>
                                      </p:tavLst>
                                    </p:anim>
                                    <p:animEffect transition="in" filter="fade">
                                      <p:cBhvr>
                                        <p:cTn id="41" dur="1000"/>
                                        <p:tgtEl>
                                          <p:spTgt spid="55298">
                                            <p:txEl>
                                              <p:pRg st="5" end="5"/>
                                            </p:txEl>
                                          </p:spTgt>
                                        </p:tgtEl>
                                      </p:cBhvr>
                                    </p:animEffect>
                                  </p:childTnLst>
                                </p:cTn>
                              </p:par>
                            </p:childTnLst>
                          </p:cTn>
                        </p:par>
                        <p:par>
                          <p:cTn id="42" fill="hold">
                            <p:stCondLst>
                              <p:cond delay="1000"/>
                            </p:stCondLst>
                            <p:childTnLst>
                              <p:par>
                                <p:cTn id="43" presetID="17" presetClass="entr" presetSubtype="10" fill="hold" grpId="0" nodeType="after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p:cTn id="45" dur="1000" fill="hold"/>
                                        <p:tgtEl>
                                          <p:spTgt spid="9"/>
                                        </p:tgtEl>
                                        <p:attrNameLst>
                                          <p:attrName>ppt_w</p:attrName>
                                        </p:attrNameLst>
                                      </p:cBhvr>
                                      <p:tavLst>
                                        <p:tav tm="0">
                                          <p:val>
                                            <p:fltVal val="0"/>
                                          </p:val>
                                        </p:tav>
                                        <p:tav tm="100000">
                                          <p:val>
                                            <p:strVal val="#ppt_w"/>
                                          </p:val>
                                        </p:tav>
                                      </p:tavLst>
                                    </p:anim>
                                    <p:anim calcmode="lin" valueType="num">
                                      <p:cBhvr>
                                        <p:cTn id="46" dur="1000" fill="hold"/>
                                        <p:tgtEl>
                                          <p:spTgt spid="9"/>
                                        </p:tgtEl>
                                        <p:attrNameLst>
                                          <p:attrName>ppt_h</p:attrName>
                                        </p:attrNameLst>
                                      </p:cBhvr>
                                      <p:tavLst>
                                        <p:tav tm="0">
                                          <p:val>
                                            <p:strVal val="#ppt_h"/>
                                          </p:val>
                                        </p:tav>
                                        <p:tav tm="100000">
                                          <p:val>
                                            <p:strVal val="#ppt_h"/>
                                          </p:val>
                                        </p:tav>
                                      </p:tavLst>
                                    </p:anim>
                                  </p:childTnLst>
                                </p:cTn>
                              </p:par>
                            </p:childTnLst>
                          </p:cTn>
                        </p:par>
                        <p:par>
                          <p:cTn id="47" fill="hold">
                            <p:stCondLst>
                              <p:cond delay="2000"/>
                            </p:stCondLst>
                            <p:childTnLst>
                              <p:par>
                                <p:cTn id="48" presetID="17" presetClass="entr" presetSubtype="10"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1000" fill="hold"/>
                                        <p:tgtEl>
                                          <p:spTgt spid="11"/>
                                        </p:tgtEl>
                                        <p:attrNameLst>
                                          <p:attrName>ppt_w</p:attrName>
                                        </p:attrNameLst>
                                      </p:cBhvr>
                                      <p:tavLst>
                                        <p:tav tm="0">
                                          <p:val>
                                            <p:fltVal val="0"/>
                                          </p:val>
                                        </p:tav>
                                        <p:tav tm="100000">
                                          <p:val>
                                            <p:strVal val="#ppt_w"/>
                                          </p:val>
                                        </p:tav>
                                      </p:tavLst>
                                    </p:anim>
                                    <p:anim calcmode="lin" valueType="num">
                                      <p:cBhvr>
                                        <p:cTn id="51" dur="1000" fill="hold"/>
                                        <p:tgtEl>
                                          <p:spTgt spid="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2" grpId="0" animBg="1"/>
      <p:bldP spid="9" grpId="0" animBg="1"/>
      <p:bldP spid="11"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16781" y="52388"/>
            <a:ext cx="7158038" cy="1412875"/>
          </a:xfrm>
        </p:spPr>
        <p:txBody>
          <a:bodyPr/>
          <a:lstStyle/>
          <a:p>
            <a:pPr algn="ctr"/>
            <a:r>
              <a:rPr lang="en-US" b="1" dirty="0"/>
              <a:t>Accounting Equation 10</a:t>
            </a:r>
          </a:p>
        </p:txBody>
      </p:sp>
      <p:sp>
        <p:nvSpPr>
          <p:cNvPr id="12" name="Slide Number Placeholder 3"/>
          <p:cNvSpPr>
            <a:spLocks noGrp="1"/>
          </p:cNvSpPr>
          <p:nvPr>
            <p:ph type="sldNum" sz="quarter" idx="12"/>
          </p:nvPr>
        </p:nvSpPr>
        <p:spPr bwMode="auto">
          <a:xfrm>
            <a:off x="6652190" y="6410068"/>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73</a:t>
            </a:fld>
            <a:endParaRPr lang="en-US" altLang="en-US" dirty="0">
              <a:solidFill>
                <a:srgbClr val="898989"/>
              </a:solidFill>
            </a:endParaRPr>
          </a:p>
        </p:txBody>
      </p:sp>
      <p:graphicFrame>
        <p:nvGraphicFramePr>
          <p:cNvPr id="60419" name="Object 3"/>
          <p:cNvGraphicFramePr>
            <a:graphicFrameLocks/>
          </p:cNvGraphicFramePr>
          <p:nvPr>
            <p:extLst>
              <p:ext uri="{D42A27DB-BD31-4B8C-83A1-F6EECF244321}">
                <p14:modId xmlns:p14="http://schemas.microsoft.com/office/powerpoint/2010/main" val="20757040"/>
              </p:ext>
            </p:extLst>
          </p:nvPr>
        </p:nvGraphicFramePr>
        <p:xfrm>
          <a:off x="184943" y="2133600"/>
          <a:ext cx="8736013" cy="3121025"/>
        </p:xfrm>
        <a:graphic>
          <a:graphicData uri="http://schemas.openxmlformats.org/presentationml/2006/ole">
            <mc:AlternateContent xmlns:mc="http://schemas.openxmlformats.org/markup-compatibility/2006">
              <mc:Choice xmlns:v="urn:schemas-microsoft-com:vml" Requires="v">
                <p:oleObj spid="_x0000_s12348" name="Worksheet" r:id="rId4" imgW="6076800" imgH="1828586" progId="Excel.Sheet.8">
                  <p:embed/>
                </p:oleObj>
              </mc:Choice>
              <mc:Fallback>
                <p:oleObj name="Worksheet" r:id="rId4" imgW="6076800" imgH="1828586" progId="Excel.Sheet.8">
                  <p:embed/>
                  <p:pic>
                    <p:nvPicPr>
                      <p:cNvPr id="0" name=""/>
                      <p:cNvPicPr>
                        <a:picLocks noChangeArrowheads="1"/>
                      </p:cNvPicPr>
                      <p:nvPr/>
                    </p:nvPicPr>
                    <p:blipFill>
                      <a:blip r:embed="rId5"/>
                      <a:srcRect b="5836"/>
                      <a:stretch>
                        <a:fillRect/>
                      </a:stretch>
                    </p:blipFill>
                    <p:spPr bwMode="auto">
                      <a:xfrm>
                        <a:off x="184943" y="2133600"/>
                        <a:ext cx="8736013" cy="3121025"/>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60422" name="Rectangle 6"/>
          <p:cNvSpPr>
            <a:spLocks noChangeArrowheads="1"/>
          </p:cNvSpPr>
          <p:nvPr/>
        </p:nvSpPr>
        <p:spPr bwMode="auto">
          <a:xfrm>
            <a:off x="184944" y="1196022"/>
            <a:ext cx="8736012" cy="785178"/>
          </a:xfrm>
          <a:prstGeom prst="rect">
            <a:avLst/>
          </a:prstGeom>
          <a:solidFill>
            <a:schemeClr val="accent3">
              <a:lumMod val="40000"/>
              <a:lumOff val="60000"/>
            </a:schemeClr>
          </a:solidFill>
          <a:ln>
            <a:noFill/>
          </a:ln>
          <a:effectLst/>
        </p:spPr>
        <p:txBody>
          <a:bodyPr lIns="90488" tIns="44450" rIns="90488" bIns="44450"/>
          <a:lstStyle/>
          <a:p>
            <a:pPr algn="ctr"/>
            <a:r>
              <a:rPr lang="en-US" sz="2400" b="1" dirty="0">
                <a:solidFill>
                  <a:prstClr val="black"/>
                </a:solidFill>
                <a:latin typeface="Arial" panose="020B0604020202020204" pitchFamily="34" charset="0"/>
              </a:rPr>
              <a:t>FastForward pays $900 as partial payment for supplies purchased in transaction 4.</a:t>
            </a:r>
          </a:p>
        </p:txBody>
      </p:sp>
      <p:sp>
        <p:nvSpPr>
          <p:cNvPr id="60424" name="Oval 8"/>
          <p:cNvSpPr>
            <a:spLocks noChangeArrowheads="1"/>
          </p:cNvSpPr>
          <p:nvPr/>
        </p:nvSpPr>
        <p:spPr bwMode="auto">
          <a:xfrm>
            <a:off x="838200" y="3389312"/>
            <a:ext cx="990600" cy="304800"/>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8" name="Oval 12"/>
          <p:cNvSpPr>
            <a:spLocks noChangeArrowheads="1"/>
          </p:cNvSpPr>
          <p:nvPr/>
        </p:nvSpPr>
        <p:spPr bwMode="auto">
          <a:xfrm>
            <a:off x="5715000" y="4685030"/>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4" name="Oval 12"/>
          <p:cNvSpPr>
            <a:spLocks noChangeArrowheads="1"/>
          </p:cNvSpPr>
          <p:nvPr/>
        </p:nvSpPr>
        <p:spPr bwMode="auto">
          <a:xfrm>
            <a:off x="2238375" y="4666615"/>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7" name="Oval 8"/>
          <p:cNvSpPr>
            <a:spLocks noChangeArrowheads="1"/>
          </p:cNvSpPr>
          <p:nvPr/>
        </p:nvSpPr>
        <p:spPr bwMode="auto">
          <a:xfrm>
            <a:off x="5029200" y="3389312"/>
            <a:ext cx="990600" cy="304800"/>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Tree>
    <p:extLst>
      <p:ext uri="{BB962C8B-B14F-4D97-AF65-F5344CB8AC3E}">
        <p14:creationId xmlns:p14="http://schemas.microsoft.com/office/powerpoint/2010/main" val="3735841644"/>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60422">
                                            <p:txEl>
                                              <p:pRg st="0" end="0"/>
                                            </p:txEl>
                                          </p:spTgt>
                                        </p:tgtEl>
                                        <p:attrNameLst>
                                          <p:attrName>style.visibility</p:attrName>
                                        </p:attrNameLst>
                                      </p:cBhvr>
                                      <p:to>
                                        <p:strVal val="visible"/>
                                      </p:to>
                                    </p:set>
                                    <p:animEffect transition="in" filter="fade">
                                      <p:cBhvr>
                                        <p:cTn id="7" dur="1000"/>
                                        <p:tgtEl>
                                          <p:spTgt spid="60422">
                                            <p:txEl>
                                              <p:pRg st="0" end="0"/>
                                            </p:txEl>
                                          </p:spTgt>
                                        </p:tgtEl>
                                      </p:cBhvr>
                                    </p:animEffect>
                                    <p:anim calcmode="lin" valueType="num">
                                      <p:cBhvr>
                                        <p:cTn id="8" dur="1000" fill="hold"/>
                                        <p:tgtEl>
                                          <p:spTgt spid="6042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0422">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9" presetClass="entr" presetSubtype="0" fill="hold" nodeType="afterEffect">
                                  <p:stCondLst>
                                    <p:cond delay="0"/>
                                  </p:stCondLst>
                                  <p:childTnLst>
                                    <p:set>
                                      <p:cBhvr>
                                        <p:cTn id="12" dur="1" fill="hold">
                                          <p:stCondLst>
                                            <p:cond delay="0"/>
                                          </p:stCondLst>
                                        </p:cTn>
                                        <p:tgtEl>
                                          <p:spTgt spid="60419"/>
                                        </p:tgtEl>
                                        <p:attrNameLst>
                                          <p:attrName>style.visibility</p:attrName>
                                        </p:attrNameLst>
                                      </p:cBhvr>
                                      <p:to>
                                        <p:strVal val="visible"/>
                                      </p:to>
                                    </p:set>
                                    <p:animEffect transition="in" filter="dissolve">
                                      <p:cBhvr>
                                        <p:cTn id="13" dur="1000"/>
                                        <p:tgtEl>
                                          <p:spTgt spid="60419"/>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0424"/>
                                        </p:tgtEl>
                                        <p:attrNameLst>
                                          <p:attrName>style.visibility</p:attrName>
                                        </p:attrNameLst>
                                      </p:cBhvr>
                                      <p:to>
                                        <p:strVal val="visible"/>
                                      </p:to>
                                    </p:set>
                                    <p:animEffect transition="in" filter="dissolve">
                                      <p:cBhvr>
                                        <p:cTn id="18" dur="2000"/>
                                        <p:tgtEl>
                                          <p:spTgt spid="6042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dissolve">
                                      <p:cBhvr>
                                        <p:cTn id="23" dur="2000"/>
                                        <p:tgtEl>
                                          <p:spTgt spid="17"/>
                                        </p:tgtEl>
                                      </p:cBhvr>
                                    </p:animEffect>
                                  </p:childTnLst>
                                </p:cTn>
                              </p:par>
                            </p:childTnLst>
                          </p:cTn>
                        </p:par>
                        <p:par>
                          <p:cTn id="24" fill="hold">
                            <p:stCondLst>
                              <p:cond delay="2000"/>
                            </p:stCondLst>
                            <p:childTnLst>
                              <p:par>
                                <p:cTn id="25" presetID="9" presetClass="entr" presetSubtype="0" fill="hold" grpId="0" nodeType="afterEffect">
                                  <p:stCondLst>
                                    <p:cond delay="0"/>
                                  </p:stCondLst>
                                  <p:childTnLst>
                                    <p:set>
                                      <p:cBhvr>
                                        <p:cTn id="26" dur="1" fill="hold">
                                          <p:stCondLst>
                                            <p:cond delay="0"/>
                                          </p:stCondLst>
                                        </p:cTn>
                                        <p:tgtEl>
                                          <p:spTgt spid="60428"/>
                                        </p:tgtEl>
                                        <p:attrNameLst>
                                          <p:attrName>style.visibility</p:attrName>
                                        </p:attrNameLst>
                                      </p:cBhvr>
                                      <p:to>
                                        <p:strVal val="visible"/>
                                      </p:to>
                                    </p:set>
                                    <p:animEffect transition="in" filter="dissolve">
                                      <p:cBhvr>
                                        <p:cTn id="27" dur="1000"/>
                                        <p:tgtEl>
                                          <p:spTgt spid="60428"/>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dissolve">
                                      <p:cBhvr>
                                        <p:cTn id="3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4" grpId="0" animBg="1"/>
      <p:bldP spid="60428" grpId="0" animBg="1"/>
      <p:bldP spid="14" grpId="0" animBg="1"/>
      <p:bldP spid="1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5"/>
          <p:cNvSpPr>
            <a:spLocks noGrp="1" noChangeArrowheads="1"/>
          </p:cNvSpPr>
          <p:nvPr>
            <p:ph type="title"/>
          </p:nvPr>
        </p:nvSpPr>
        <p:spPr>
          <a:xfrm>
            <a:off x="-1143000" y="466266"/>
            <a:ext cx="10972800" cy="1412875"/>
          </a:xfrm>
        </p:spPr>
        <p:txBody>
          <a:bodyPr>
            <a:normAutofit/>
          </a:bodyPr>
          <a:lstStyle/>
          <a:p>
            <a:pPr algn="ctr"/>
            <a:r>
              <a:rPr lang="en-US" b="1" dirty="0"/>
              <a:t>Transaction 11:</a:t>
            </a:r>
            <a:br>
              <a:rPr lang="en-US" b="1" dirty="0"/>
            </a:br>
            <a:r>
              <a:rPr lang="en-US" sz="3600" b="1" dirty="0"/>
              <a:t>Payment of Cash Dividend to Shareholders</a:t>
            </a:r>
            <a:endParaRPr lang="en-US" b="1" dirty="0"/>
          </a:p>
        </p:txBody>
      </p:sp>
      <p:sp>
        <p:nvSpPr>
          <p:cNvPr id="61442" name="Rectangle 2"/>
          <p:cNvSpPr>
            <a:spLocks noGrp="1" noChangeArrowheads="1"/>
          </p:cNvSpPr>
          <p:nvPr>
            <p:ph idx="1"/>
          </p:nvPr>
        </p:nvSpPr>
        <p:spPr bwMode="auto">
          <a:xfrm>
            <a:off x="609600" y="2397805"/>
            <a:ext cx="7661275" cy="3217193"/>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 typeface="Wingdings" panose="05000000000000000000" pitchFamily="2" charset="2"/>
              <a:buNone/>
            </a:pPr>
            <a:br>
              <a:rPr lang="en-US" dirty="0"/>
            </a:br>
            <a:endParaRPr lang="en-US" dirty="0"/>
          </a:p>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solidFill>
                  <a:schemeClr val="hlink"/>
                </a:solidFill>
              </a:rPr>
              <a:t>	</a:t>
            </a:r>
            <a:r>
              <a:rPr lang="en-US" b="1" dirty="0"/>
              <a:t>(1) Cash </a:t>
            </a:r>
            <a:r>
              <a:rPr lang="en-US" b="1" dirty="0">
                <a:solidFill>
                  <a:srgbClr val="9A2F6F"/>
                </a:solidFill>
              </a:rPr>
              <a:t>(asset)</a:t>
            </a:r>
          </a:p>
          <a:p>
            <a:pPr>
              <a:buFont typeface="Wingdings" panose="05000000000000000000" pitchFamily="2" charset="2"/>
              <a:buNone/>
            </a:pPr>
            <a:r>
              <a:rPr lang="en-US" b="1" dirty="0">
                <a:solidFill>
                  <a:schemeClr val="hlink"/>
                </a:solidFill>
              </a:rPr>
              <a:t>	</a:t>
            </a:r>
            <a:r>
              <a:rPr lang="en-US" b="1" dirty="0"/>
              <a:t>(2) Dividends       </a:t>
            </a:r>
            <a:r>
              <a:rPr lang="en-US" b="1" dirty="0">
                <a:solidFill>
                  <a:srgbClr val="9A2F6F"/>
                </a:solidFill>
              </a:rPr>
              <a:t>(equity)</a:t>
            </a:r>
          </a:p>
        </p:txBody>
      </p:sp>
      <p:sp>
        <p:nvSpPr>
          <p:cNvPr id="13" name="Slide Number Placeholder 3"/>
          <p:cNvSpPr>
            <a:spLocks noGrp="1"/>
          </p:cNvSpPr>
          <p:nvPr>
            <p:ph type="sldNum" sz="quarter" idx="12"/>
          </p:nvPr>
        </p:nvSpPr>
        <p:spPr bwMode="auto">
          <a:xfrm>
            <a:off x="6629400" y="6536713"/>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74</a:t>
            </a:fld>
            <a:endParaRPr lang="en-US" altLang="en-US" dirty="0">
              <a:solidFill>
                <a:srgbClr val="898989"/>
              </a:solidFill>
            </a:endParaRPr>
          </a:p>
        </p:txBody>
      </p:sp>
      <p:sp>
        <p:nvSpPr>
          <p:cNvPr id="61443" name="AutoShape 3"/>
          <p:cNvSpPr>
            <a:spLocks noChangeArrowheads="1"/>
          </p:cNvSpPr>
          <p:nvPr/>
        </p:nvSpPr>
        <p:spPr bwMode="auto">
          <a:xfrm rot="16200000" flipH="1">
            <a:off x="3971925" y="3256756"/>
            <a:ext cx="444500" cy="311150"/>
          </a:xfrm>
          <a:prstGeom prst="rightArrow">
            <a:avLst>
              <a:gd name="adj1" fmla="val 50000"/>
              <a:gd name="adj2" fmla="val 67219"/>
            </a:avLst>
          </a:prstGeom>
          <a:solidFill>
            <a:srgbClr val="FF33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
        <p:nvSpPr>
          <p:cNvPr id="61446" name="Rectangle 6"/>
          <p:cNvSpPr>
            <a:spLocks noChangeArrowheads="1"/>
          </p:cNvSpPr>
          <p:nvPr/>
        </p:nvSpPr>
        <p:spPr bwMode="auto">
          <a:xfrm>
            <a:off x="137160" y="1807145"/>
            <a:ext cx="9006840" cy="703263"/>
          </a:xfrm>
          <a:prstGeom prst="rect">
            <a:avLst/>
          </a:prstGeom>
          <a:solidFill>
            <a:srgbClr val="FFFF99"/>
          </a:solidFill>
          <a:ln>
            <a:noFill/>
          </a:ln>
          <a:effectLst/>
        </p:spPr>
        <p:txBody>
          <a:bodyPr lIns="90488" tIns="44450" rIns="90488" bIns="44450"/>
          <a:lstStyle/>
          <a:p>
            <a:pPr algn="ctr"/>
            <a:r>
              <a:rPr lang="en-US" sz="3200" b="1" dirty="0">
                <a:solidFill>
                  <a:prstClr val="black"/>
                </a:solidFill>
                <a:latin typeface="Arial" panose="020B0604020202020204" pitchFamily="34" charset="0"/>
              </a:rPr>
              <a:t>FastForward pays $200 cash dividend.</a:t>
            </a:r>
          </a:p>
        </p:txBody>
      </p:sp>
      <p:sp>
        <p:nvSpPr>
          <p:cNvPr id="61448" name="AutoShape 8"/>
          <p:cNvSpPr>
            <a:spLocks noChangeArrowheads="1"/>
          </p:cNvSpPr>
          <p:nvPr/>
        </p:nvSpPr>
        <p:spPr bwMode="auto">
          <a:xfrm rot="16200000">
            <a:off x="3823345" y="3747490"/>
            <a:ext cx="430510" cy="381000"/>
          </a:xfrm>
          <a:prstGeom prst="rightArrow">
            <a:avLst>
              <a:gd name="adj1" fmla="val 50000"/>
              <a:gd name="adj2" fmla="val 50005"/>
            </a:avLst>
          </a:prstGeom>
          <a:solidFill>
            <a:srgbClr val="00CC00"/>
          </a:solidFill>
          <a:ln w="12700">
            <a:solidFill>
              <a:schemeClr val="tx1"/>
            </a:solidFill>
            <a:miter lim="800000"/>
            <a:headEnd/>
            <a:tailEnd/>
          </a:ln>
          <a:effectLst>
            <a:outerShdw dist="53882" dir="2700000" algn="ctr" rotWithShape="0">
              <a:schemeClr val="bg2"/>
            </a:outerShdw>
          </a:effectLst>
        </p:spPr>
        <p:txBody>
          <a:bodyPr vert="eaVert" wrap="none" anchor="ctr"/>
          <a:lstStyle/>
          <a:p>
            <a:pPr algn="ctr"/>
            <a:endParaRPr lang="en-US" sz="2400" dirty="0">
              <a:solidFill>
                <a:prstClr val="black"/>
              </a:solidFill>
              <a:latin typeface="Arial" panose="020B0604020202020204" pitchFamily="34" charset="0"/>
            </a:endParaRPr>
          </a:p>
        </p:txBody>
      </p:sp>
      <p:sp>
        <p:nvSpPr>
          <p:cNvPr id="61452" name="AutoShape 12"/>
          <p:cNvSpPr>
            <a:spLocks noChangeArrowheads="1"/>
          </p:cNvSpPr>
          <p:nvPr/>
        </p:nvSpPr>
        <p:spPr bwMode="auto">
          <a:xfrm>
            <a:off x="228600" y="4539714"/>
            <a:ext cx="8686800" cy="1846659"/>
          </a:xfrm>
          <a:prstGeom prst="wedgeRectCallout">
            <a:avLst>
              <a:gd name="adj1" fmla="val -47257"/>
              <a:gd name="adj2" fmla="val 20851"/>
            </a:avLst>
          </a:prstGeom>
          <a:solidFill>
            <a:schemeClr val="accent1">
              <a:lumMod val="20000"/>
              <a:lumOff val="80000"/>
            </a:schemeClr>
          </a:solidFill>
          <a:ln w="12700" algn="ctr">
            <a:solidFill>
              <a:schemeClr val="tx1"/>
            </a:solidFill>
            <a:miter lim="800000"/>
            <a:headEnd/>
            <a:tailEnd/>
          </a:ln>
          <a:effectLst/>
        </p:spPr>
        <p:txBody>
          <a:bodyPr wrap="square" lIns="0" tIns="0" rIns="0" bIns="0" anchor="ctr">
            <a:spAutoFit/>
          </a:bodyPr>
          <a:lstStyle/>
          <a:p>
            <a:pPr algn="ctr"/>
            <a:r>
              <a:rPr lang="en-US" sz="2000" b="1" dirty="0">
                <a:solidFill>
                  <a:prstClr val="black"/>
                </a:solidFill>
              </a:rPr>
              <a:t>Remember that the Dividends account actually increases (just like our Expense accounts).</a:t>
            </a:r>
          </a:p>
          <a:p>
            <a:pPr algn="ctr"/>
            <a:endParaRPr lang="en-US" sz="2000" b="1" dirty="0">
              <a:solidFill>
                <a:prstClr val="black"/>
              </a:solidFill>
            </a:endParaRPr>
          </a:p>
          <a:p>
            <a:pPr algn="ctr"/>
            <a:r>
              <a:rPr lang="en-US" sz="2000" b="1" dirty="0">
                <a:solidFill>
                  <a:prstClr val="black"/>
                </a:solidFill>
              </a:rPr>
              <a:t>But, </a:t>
            </a:r>
            <a:r>
              <a:rPr lang="en-US" sz="2000" b="1" u="sng" dirty="0">
                <a:solidFill>
                  <a:prstClr val="black"/>
                </a:solidFill>
              </a:rPr>
              <a:t>total Equity</a:t>
            </a:r>
            <a:r>
              <a:rPr lang="en-US" sz="2000" b="1" dirty="0">
                <a:solidFill>
                  <a:prstClr val="black"/>
                </a:solidFill>
              </a:rPr>
              <a:t> decreases because dividends </a:t>
            </a:r>
            <a:r>
              <a:rPr lang="en-US" sz="2000" b="1" u="sng" dirty="0">
                <a:solidFill>
                  <a:prstClr val="black"/>
                </a:solidFill>
              </a:rPr>
              <a:t>cause </a:t>
            </a:r>
            <a:r>
              <a:rPr lang="en-US" sz="2000" b="1" dirty="0">
                <a:solidFill>
                  <a:prstClr val="black"/>
                </a:solidFill>
              </a:rPr>
              <a:t>equity to go down!!</a:t>
            </a:r>
          </a:p>
          <a:p>
            <a:pPr algn="ctr"/>
            <a:endParaRPr lang="en-US" sz="2000" b="1" dirty="0">
              <a:solidFill>
                <a:prstClr val="black"/>
              </a:solidFill>
            </a:endParaRPr>
          </a:p>
        </p:txBody>
      </p:sp>
      <p:sp>
        <p:nvSpPr>
          <p:cNvPr id="15" name="Rectangle 14"/>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
        <p:nvSpPr>
          <p:cNvPr id="12" name="AutoShape 3"/>
          <p:cNvSpPr>
            <a:spLocks noChangeArrowheads="1"/>
          </p:cNvSpPr>
          <p:nvPr/>
        </p:nvSpPr>
        <p:spPr bwMode="auto">
          <a:xfrm rot="16200000" flipH="1">
            <a:off x="5572125" y="3850828"/>
            <a:ext cx="444500" cy="311150"/>
          </a:xfrm>
          <a:prstGeom prst="rightArrow">
            <a:avLst>
              <a:gd name="adj1" fmla="val 50000"/>
              <a:gd name="adj2" fmla="val 67219"/>
            </a:avLst>
          </a:prstGeom>
          <a:solidFill>
            <a:srgbClr val="FF3300"/>
          </a:solidFill>
          <a:ln w="12700">
            <a:solidFill>
              <a:schemeClr val="tx1"/>
            </a:solidFill>
            <a:miter lim="800000"/>
            <a:headEnd/>
            <a:tailEnd/>
          </a:ln>
          <a:effectLst>
            <a:outerShdw dist="53882" dir="2700000" algn="ctr" rotWithShape="0">
              <a:schemeClr val="bg2"/>
            </a:outerShdw>
          </a:effectLst>
        </p:spPr>
        <p:txBody>
          <a:bodyPr wrap="none" anchor="ctr"/>
          <a:lstStyle/>
          <a:p>
            <a:endParaRPr lang="en-US" dirty="0">
              <a:solidFill>
                <a:prstClr val="black"/>
              </a:solidFill>
            </a:endParaRPr>
          </a:p>
        </p:txBody>
      </p:sp>
    </p:spTree>
    <p:extLst>
      <p:ext uri="{BB962C8B-B14F-4D97-AF65-F5344CB8AC3E}">
        <p14:creationId xmlns:p14="http://schemas.microsoft.com/office/powerpoint/2010/main" val="2657929304"/>
      </p:ext>
    </p:extLst>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1446"/>
                                        </p:tgtEl>
                                        <p:attrNameLst>
                                          <p:attrName>style.visibility</p:attrName>
                                        </p:attrNameLst>
                                      </p:cBhvr>
                                      <p:to>
                                        <p:strVal val="visible"/>
                                      </p:to>
                                    </p:set>
                                    <p:animEffect transition="in" filter="fade">
                                      <p:cBhvr>
                                        <p:cTn id="7" dur="1000"/>
                                        <p:tgtEl>
                                          <p:spTgt spid="61446"/>
                                        </p:tgtEl>
                                      </p:cBhvr>
                                    </p:animEffect>
                                    <p:anim calcmode="lin" valueType="num">
                                      <p:cBhvr>
                                        <p:cTn id="8" dur="1000" fill="hold"/>
                                        <p:tgtEl>
                                          <p:spTgt spid="61446"/>
                                        </p:tgtEl>
                                        <p:attrNameLst>
                                          <p:attrName>ppt_x</p:attrName>
                                        </p:attrNameLst>
                                      </p:cBhvr>
                                      <p:tavLst>
                                        <p:tav tm="0">
                                          <p:val>
                                            <p:strVal val="#ppt_x"/>
                                          </p:val>
                                        </p:tav>
                                        <p:tav tm="100000">
                                          <p:val>
                                            <p:strVal val="#ppt_x"/>
                                          </p:val>
                                        </p:tav>
                                      </p:tavLst>
                                    </p:anim>
                                    <p:anim calcmode="lin" valueType="num">
                                      <p:cBhvr>
                                        <p:cTn id="9" dur="1000" fill="hold"/>
                                        <p:tgtEl>
                                          <p:spTgt spid="61446"/>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55" presetClass="entr" presetSubtype="0" fill="hold" nodeType="afterEffect">
                                  <p:stCondLst>
                                    <p:cond delay="0"/>
                                  </p:stCondLst>
                                  <p:childTnLst>
                                    <p:set>
                                      <p:cBhvr>
                                        <p:cTn id="12" dur="1" fill="hold">
                                          <p:stCondLst>
                                            <p:cond delay="0"/>
                                          </p:stCondLst>
                                        </p:cTn>
                                        <p:tgtEl>
                                          <p:spTgt spid="61442">
                                            <p:txEl>
                                              <p:pRg st="1" end="1"/>
                                            </p:txEl>
                                          </p:spTgt>
                                        </p:tgtEl>
                                        <p:attrNameLst>
                                          <p:attrName>style.visibility</p:attrName>
                                        </p:attrNameLst>
                                      </p:cBhvr>
                                      <p:to>
                                        <p:strVal val="visible"/>
                                      </p:to>
                                    </p:set>
                                    <p:anim calcmode="lin" valueType="num">
                                      <p:cBhvr>
                                        <p:cTn id="13" dur="1000" fill="hold"/>
                                        <p:tgtEl>
                                          <p:spTgt spid="61442">
                                            <p:txEl>
                                              <p:pRg st="1" end="1"/>
                                            </p:txEl>
                                          </p:spTgt>
                                        </p:tgtEl>
                                        <p:attrNameLst>
                                          <p:attrName>ppt_w</p:attrName>
                                        </p:attrNameLst>
                                      </p:cBhvr>
                                      <p:tavLst>
                                        <p:tav tm="0">
                                          <p:val>
                                            <p:strVal val="#ppt_w*0.70"/>
                                          </p:val>
                                        </p:tav>
                                        <p:tav tm="100000">
                                          <p:val>
                                            <p:strVal val="#ppt_w"/>
                                          </p:val>
                                        </p:tav>
                                      </p:tavLst>
                                    </p:anim>
                                    <p:anim calcmode="lin" valueType="num">
                                      <p:cBhvr>
                                        <p:cTn id="14" dur="1000" fill="hold"/>
                                        <p:tgtEl>
                                          <p:spTgt spid="61442">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61442">
                                            <p:txEl>
                                              <p:pRg st="1" end="1"/>
                                            </p:txEl>
                                          </p:spTgt>
                                        </p:tgtEl>
                                      </p:cBhvr>
                                    </p:animEffect>
                                  </p:childTnLst>
                                </p:cTn>
                              </p:par>
                            </p:childTnLst>
                          </p:cTn>
                        </p:par>
                      </p:childTnLst>
                    </p:cTn>
                  </p:par>
                  <p:par>
                    <p:cTn id="16" fill="hold">
                      <p:stCondLst>
                        <p:cond delay="indefinite"/>
                      </p:stCondLst>
                      <p:childTnLst>
                        <p:par>
                          <p:cTn id="17" fill="hold" nodeType="afterGroup">
                            <p:stCondLst>
                              <p:cond delay="0"/>
                            </p:stCondLst>
                            <p:childTnLst>
                              <p:par>
                                <p:cTn id="18" presetID="26" presetClass="entr" presetSubtype="0" fill="hold" nodeType="clickEffect">
                                  <p:stCondLst>
                                    <p:cond delay="0"/>
                                  </p:stCondLst>
                                  <p:childTnLst>
                                    <p:set>
                                      <p:cBhvr>
                                        <p:cTn id="19" dur="1" fill="hold">
                                          <p:stCondLst>
                                            <p:cond delay="0"/>
                                          </p:stCondLst>
                                        </p:cTn>
                                        <p:tgtEl>
                                          <p:spTgt spid="61442">
                                            <p:txEl>
                                              <p:pRg st="2" end="2"/>
                                            </p:txEl>
                                          </p:spTgt>
                                        </p:tgtEl>
                                        <p:attrNameLst>
                                          <p:attrName>style.visibility</p:attrName>
                                        </p:attrNameLst>
                                      </p:cBhvr>
                                      <p:to>
                                        <p:strVal val="visible"/>
                                      </p:to>
                                    </p:set>
                                    <p:animEffect transition="in" filter="wipe(down)">
                                      <p:cBhvr>
                                        <p:cTn id="20" dur="580">
                                          <p:stCondLst>
                                            <p:cond delay="0"/>
                                          </p:stCondLst>
                                        </p:cTn>
                                        <p:tgtEl>
                                          <p:spTgt spid="61442">
                                            <p:txEl>
                                              <p:pRg st="2" end="2"/>
                                            </p:txEl>
                                          </p:spTgt>
                                        </p:tgtEl>
                                      </p:cBhvr>
                                    </p:animEffect>
                                    <p:anim calcmode="lin" valueType="num">
                                      <p:cBhvr>
                                        <p:cTn id="21" dur="1822" tmFilter="0,0; 0.14,0.36; 0.43,0.73; 0.71,0.91; 1.0,1.0">
                                          <p:stCondLst>
                                            <p:cond delay="0"/>
                                          </p:stCondLst>
                                        </p:cTn>
                                        <p:tgtEl>
                                          <p:spTgt spid="61442">
                                            <p:txEl>
                                              <p:pRg st="2" end="2"/>
                                            </p:txEl>
                                          </p:spTgt>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61442">
                                            <p:txEl>
                                              <p:pRg st="2" end="2"/>
                                            </p:txEl>
                                          </p:spTgt>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61442">
                                            <p:txEl>
                                              <p:pRg st="2" end="2"/>
                                            </p:txEl>
                                          </p:spTgt>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61442">
                                            <p:txEl>
                                              <p:pRg st="2" end="2"/>
                                            </p:txEl>
                                          </p:spTgt>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61442">
                                            <p:txEl>
                                              <p:pRg st="2" end="2"/>
                                            </p:txEl>
                                          </p:spTgt>
                                        </p:tgtEl>
                                        <p:attrNameLst>
                                          <p:attrName>ppt_y</p:attrName>
                                        </p:attrNameLst>
                                      </p:cBhvr>
                                      <p:tavLst>
                                        <p:tav tm="0" fmla="#ppt_y-sin(pi*$)/81">
                                          <p:val>
                                            <p:fltVal val="0"/>
                                          </p:val>
                                        </p:tav>
                                        <p:tav tm="100000">
                                          <p:val>
                                            <p:fltVal val="1"/>
                                          </p:val>
                                        </p:tav>
                                      </p:tavLst>
                                    </p:anim>
                                    <p:animScale>
                                      <p:cBhvr>
                                        <p:cTn id="26" dur="26">
                                          <p:stCondLst>
                                            <p:cond delay="650"/>
                                          </p:stCondLst>
                                        </p:cTn>
                                        <p:tgtEl>
                                          <p:spTgt spid="61442">
                                            <p:txEl>
                                              <p:pRg st="2" end="2"/>
                                            </p:txEl>
                                          </p:spTgt>
                                        </p:tgtEl>
                                      </p:cBhvr>
                                      <p:to x="100000" y="60000"/>
                                    </p:animScale>
                                    <p:animScale>
                                      <p:cBhvr>
                                        <p:cTn id="27" dur="166" decel="50000">
                                          <p:stCondLst>
                                            <p:cond delay="676"/>
                                          </p:stCondLst>
                                        </p:cTn>
                                        <p:tgtEl>
                                          <p:spTgt spid="61442">
                                            <p:txEl>
                                              <p:pRg st="2" end="2"/>
                                            </p:txEl>
                                          </p:spTgt>
                                        </p:tgtEl>
                                      </p:cBhvr>
                                      <p:to x="100000" y="100000"/>
                                    </p:animScale>
                                    <p:animScale>
                                      <p:cBhvr>
                                        <p:cTn id="28" dur="26">
                                          <p:stCondLst>
                                            <p:cond delay="1312"/>
                                          </p:stCondLst>
                                        </p:cTn>
                                        <p:tgtEl>
                                          <p:spTgt spid="61442">
                                            <p:txEl>
                                              <p:pRg st="2" end="2"/>
                                            </p:txEl>
                                          </p:spTgt>
                                        </p:tgtEl>
                                      </p:cBhvr>
                                      <p:to x="100000" y="80000"/>
                                    </p:animScale>
                                    <p:animScale>
                                      <p:cBhvr>
                                        <p:cTn id="29" dur="166" decel="50000">
                                          <p:stCondLst>
                                            <p:cond delay="1338"/>
                                          </p:stCondLst>
                                        </p:cTn>
                                        <p:tgtEl>
                                          <p:spTgt spid="61442">
                                            <p:txEl>
                                              <p:pRg st="2" end="2"/>
                                            </p:txEl>
                                          </p:spTgt>
                                        </p:tgtEl>
                                      </p:cBhvr>
                                      <p:to x="100000" y="100000"/>
                                    </p:animScale>
                                    <p:animScale>
                                      <p:cBhvr>
                                        <p:cTn id="30" dur="26">
                                          <p:stCondLst>
                                            <p:cond delay="1642"/>
                                          </p:stCondLst>
                                        </p:cTn>
                                        <p:tgtEl>
                                          <p:spTgt spid="61442">
                                            <p:txEl>
                                              <p:pRg st="2" end="2"/>
                                            </p:txEl>
                                          </p:spTgt>
                                        </p:tgtEl>
                                      </p:cBhvr>
                                      <p:to x="100000" y="90000"/>
                                    </p:animScale>
                                    <p:animScale>
                                      <p:cBhvr>
                                        <p:cTn id="31" dur="166" decel="50000">
                                          <p:stCondLst>
                                            <p:cond delay="1668"/>
                                          </p:stCondLst>
                                        </p:cTn>
                                        <p:tgtEl>
                                          <p:spTgt spid="61442">
                                            <p:txEl>
                                              <p:pRg st="2" end="2"/>
                                            </p:txEl>
                                          </p:spTgt>
                                        </p:tgtEl>
                                      </p:cBhvr>
                                      <p:to x="100000" y="100000"/>
                                    </p:animScale>
                                    <p:animScale>
                                      <p:cBhvr>
                                        <p:cTn id="32" dur="26">
                                          <p:stCondLst>
                                            <p:cond delay="1808"/>
                                          </p:stCondLst>
                                        </p:cTn>
                                        <p:tgtEl>
                                          <p:spTgt spid="61442">
                                            <p:txEl>
                                              <p:pRg st="2" end="2"/>
                                            </p:txEl>
                                          </p:spTgt>
                                        </p:tgtEl>
                                      </p:cBhvr>
                                      <p:to x="100000" y="95000"/>
                                    </p:animScale>
                                    <p:animScale>
                                      <p:cBhvr>
                                        <p:cTn id="33" dur="166" decel="50000">
                                          <p:stCondLst>
                                            <p:cond delay="1834"/>
                                          </p:stCondLst>
                                        </p:cTn>
                                        <p:tgtEl>
                                          <p:spTgt spid="61442">
                                            <p:txEl>
                                              <p:pRg st="2" end="2"/>
                                            </p:txEl>
                                          </p:spTgt>
                                        </p:tgtEl>
                                      </p:cBhvr>
                                      <p:to x="100000" y="100000"/>
                                    </p:animScale>
                                  </p:childTnLst>
                                </p:cTn>
                              </p:par>
                            </p:childTnLst>
                          </p:cTn>
                        </p:par>
                      </p:childTnLst>
                    </p:cTn>
                  </p:par>
                  <p:par>
                    <p:cTn id="34" fill="hold">
                      <p:stCondLst>
                        <p:cond delay="indefinite"/>
                      </p:stCondLst>
                      <p:childTnLst>
                        <p:par>
                          <p:cTn id="35" fill="hold" nodeType="afterGroup">
                            <p:stCondLst>
                              <p:cond delay="0"/>
                            </p:stCondLst>
                            <p:childTnLst>
                              <p:par>
                                <p:cTn id="36" presetID="26" presetClass="entr" presetSubtype="0" fill="hold" nodeType="clickEffect">
                                  <p:stCondLst>
                                    <p:cond delay="0"/>
                                  </p:stCondLst>
                                  <p:childTnLst>
                                    <p:set>
                                      <p:cBhvr>
                                        <p:cTn id="37" dur="1" fill="hold">
                                          <p:stCondLst>
                                            <p:cond delay="0"/>
                                          </p:stCondLst>
                                        </p:cTn>
                                        <p:tgtEl>
                                          <p:spTgt spid="61442">
                                            <p:txEl>
                                              <p:pRg st="3" end="3"/>
                                            </p:txEl>
                                          </p:spTgt>
                                        </p:tgtEl>
                                        <p:attrNameLst>
                                          <p:attrName>style.visibility</p:attrName>
                                        </p:attrNameLst>
                                      </p:cBhvr>
                                      <p:to>
                                        <p:strVal val="visible"/>
                                      </p:to>
                                    </p:set>
                                    <p:animEffect transition="in" filter="wipe(down)">
                                      <p:cBhvr>
                                        <p:cTn id="38" dur="580">
                                          <p:stCondLst>
                                            <p:cond delay="0"/>
                                          </p:stCondLst>
                                        </p:cTn>
                                        <p:tgtEl>
                                          <p:spTgt spid="61442">
                                            <p:txEl>
                                              <p:pRg st="3" end="3"/>
                                            </p:txEl>
                                          </p:spTgt>
                                        </p:tgtEl>
                                      </p:cBhvr>
                                    </p:animEffect>
                                    <p:anim calcmode="lin" valueType="num">
                                      <p:cBhvr>
                                        <p:cTn id="39" dur="1822" tmFilter="0,0; 0.14,0.36; 0.43,0.73; 0.71,0.91; 1.0,1.0">
                                          <p:stCondLst>
                                            <p:cond delay="0"/>
                                          </p:stCondLst>
                                        </p:cTn>
                                        <p:tgtEl>
                                          <p:spTgt spid="61442">
                                            <p:txEl>
                                              <p:pRg st="3" end="3"/>
                                            </p:txEl>
                                          </p:spTgt>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61442">
                                            <p:txEl>
                                              <p:pRg st="3" end="3"/>
                                            </p:txEl>
                                          </p:spTgt>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61442">
                                            <p:txEl>
                                              <p:pRg st="3" end="3"/>
                                            </p:txEl>
                                          </p:spTgt>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61442">
                                            <p:txEl>
                                              <p:pRg st="3" end="3"/>
                                            </p:txEl>
                                          </p:spTgt>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61442">
                                            <p:txEl>
                                              <p:pRg st="3" end="3"/>
                                            </p:txEl>
                                          </p:spTgt>
                                        </p:tgtEl>
                                        <p:attrNameLst>
                                          <p:attrName>ppt_y</p:attrName>
                                        </p:attrNameLst>
                                      </p:cBhvr>
                                      <p:tavLst>
                                        <p:tav tm="0" fmla="#ppt_y-sin(pi*$)/81">
                                          <p:val>
                                            <p:fltVal val="0"/>
                                          </p:val>
                                        </p:tav>
                                        <p:tav tm="100000">
                                          <p:val>
                                            <p:fltVal val="1"/>
                                          </p:val>
                                        </p:tav>
                                      </p:tavLst>
                                    </p:anim>
                                    <p:animScale>
                                      <p:cBhvr>
                                        <p:cTn id="44" dur="26">
                                          <p:stCondLst>
                                            <p:cond delay="650"/>
                                          </p:stCondLst>
                                        </p:cTn>
                                        <p:tgtEl>
                                          <p:spTgt spid="61442">
                                            <p:txEl>
                                              <p:pRg st="3" end="3"/>
                                            </p:txEl>
                                          </p:spTgt>
                                        </p:tgtEl>
                                      </p:cBhvr>
                                      <p:to x="100000" y="60000"/>
                                    </p:animScale>
                                    <p:animScale>
                                      <p:cBhvr>
                                        <p:cTn id="45" dur="166" decel="50000">
                                          <p:stCondLst>
                                            <p:cond delay="676"/>
                                          </p:stCondLst>
                                        </p:cTn>
                                        <p:tgtEl>
                                          <p:spTgt spid="61442">
                                            <p:txEl>
                                              <p:pRg st="3" end="3"/>
                                            </p:txEl>
                                          </p:spTgt>
                                        </p:tgtEl>
                                      </p:cBhvr>
                                      <p:to x="100000" y="100000"/>
                                    </p:animScale>
                                    <p:animScale>
                                      <p:cBhvr>
                                        <p:cTn id="46" dur="26">
                                          <p:stCondLst>
                                            <p:cond delay="1312"/>
                                          </p:stCondLst>
                                        </p:cTn>
                                        <p:tgtEl>
                                          <p:spTgt spid="61442">
                                            <p:txEl>
                                              <p:pRg st="3" end="3"/>
                                            </p:txEl>
                                          </p:spTgt>
                                        </p:tgtEl>
                                      </p:cBhvr>
                                      <p:to x="100000" y="80000"/>
                                    </p:animScale>
                                    <p:animScale>
                                      <p:cBhvr>
                                        <p:cTn id="47" dur="166" decel="50000">
                                          <p:stCondLst>
                                            <p:cond delay="1338"/>
                                          </p:stCondLst>
                                        </p:cTn>
                                        <p:tgtEl>
                                          <p:spTgt spid="61442">
                                            <p:txEl>
                                              <p:pRg st="3" end="3"/>
                                            </p:txEl>
                                          </p:spTgt>
                                        </p:tgtEl>
                                      </p:cBhvr>
                                      <p:to x="100000" y="100000"/>
                                    </p:animScale>
                                    <p:animScale>
                                      <p:cBhvr>
                                        <p:cTn id="48" dur="26">
                                          <p:stCondLst>
                                            <p:cond delay="1642"/>
                                          </p:stCondLst>
                                        </p:cTn>
                                        <p:tgtEl>
                                          <p:spTgt spid="61442">
                                            <p:txEl>
                                              <p:pRg st="3" end="3"/>
                                            </p:txEl>
                                          </p:spTgt>
                                        </p:tgtEl>
                                      </p:cBhvr>
                                      <p:to x="100000" y="90000"/>
                                    </p:animScale>
                                    <p:animScale>
                                      <p:cBhvr>
                                        <p:cTn id="49" dur="166" decel="50000">
                                          <p:stCondLst>
                                            <p:cond delay="1668"/>
                                          </p:stCondLst>
                                        </p:cTn>
                                        <p:tgtEl>
                                          <p:spTgt spid="61442">
                                            <p:txEl>
                                              <p:pRg st="3" end="3"/>
                                            </p:txEl>
                                          </p:spTgt>
                                        </p:tgtEl>
                                      </p:cBhvr>
                                      <p:to x="100000" y="100000"/>
                                    </p:animScale>
                                    <p:animScale>
                                      <p:cBhvr>
                                        <p:cTn id="50" dur="26">
                                          <p:stCondLst>
                                            <p:cond delay="1808"/>
                                          </p:stCondLst>
                                        </p:cTn>
                                        <p:tgtEl>
                                          <p:spTgt spid="61442">
                                            <p:txEl>
                                              <p:pRg st="3" end="3"/>
                                            </p:txEl>
                                          </p:spTgt>
                                        </p:tgtEl>
                                      </p:cBhvr>
                                      <p:to x="100000" y="95000"/>
                                    </p:animScale>
                                    <p:animScale>
                                      <p:cBhvr>
                                        <p:cTn id="51" dur="166" decel="50000">
                                          <p:stCondLst>
                                            <p:cond delay="1834"/>
                                          </p:stCondLst>
                                        </p:cTn>
                                        <p:tgtEl>
                                          <p:spTgt spid="61442">
                                            <p:txEl>
                                              <p:pRg st="3" end="3"/>
                                            </p:txEl>
                                          </p:spTgt>
                                        </p:tgtEl>
                                      </p:cBhvr>
                                      <p:to x="100000" y="100000"/>
                                    </p:animScale>
                                  </p:childTnLst>
                                </p:cTn>
                              </p:par>
                            </p:childTnLst>
                          </p:cTn>
                        </p:par>
                        <p:par>
                          <p:cTn id="52" fill="hold" nodeType="afterGroup">
                            <p:stCondLst>
                              <p:cond delay="2000"/>
                            </p:stCondLst>
                            <p:childTnLst>
                              <p:par>
                                <p:cTn id="53" presetID="9" presetClass="entr" presetSubtype="0" fill="hold" grpId="0" nodeType="afterEffect">
                                  <p:stCondLst>
                                    <p:cond delay="0"/>
                                  </p:stCondLst>
                                  <p:childTnLst>
                                    <p:set>
                                      <p:cBhvr>
                                        <p:cTn id="54" dur="1" fill="hold">
                                          <p:stCondLst>
                                            <p:cond delay="0"/>
                                          </p:stCondLst>
                                        </p:cTn>
                                        <p:tgtEl>
                                          <p:spTgt spid="61443"/>
                                        </p:tgtEl>
                                        <p:attrNameLst>
                                          <p:attrName>style.visibility</p:attrName>
                                        </p:attrNameLst>
                                      </p:cBhvr>
                                      <p:to>
                                        <p:strVal val="visible"/>
                                      </p:to>
                                    </p:set>
                                    <p:animEffect transition="in" filter="dissolve">
                                      <p:cBhvr>
                                        <p:cTn id="55" dur="1000"/>
                                        <p:tgtEl>
                                          <p:spTgt spid="61443"/>
                                        </p:tgtEl>
                                      </p:cBhvr>
                                    </p:animEffect>
                                  </p:childTnLst>
                                </p:cTn>
                              </p:par>
                            </p:childTnLst>
                          </p:cTn>
                        </p:par>
                        <p:par>
                          <p:cTn id="56" fill="hold" nodeType="afterGroup">
                            <p:stCondLst>
                              <p:cond delay="3000"/>
                            </p:stCondLst>
                            <p:childTnLst>
                              <p:par>
                                <p:cTn id="57" presetID="9" presetClass="entr" presetSubtype="0" fill="hold" grpId="0" nodeType="afterEffect">
                                  <p:stCondLst>
                                    <p:cond delay="0"/>
                                  </p:stCondLst>
                                  <p:childTnLst>
                                    <p:set>
                                      <p:cBhvr>
                                        <p:cTn id="58" dur="1" fill="hold">
                                          <p:stCondLst>
                                            <p:cond delay="0"/>
                                          </p:stCondLst>
                                        </p:cTn>
                                        <p:tgtEl>
                                          <p:spTgt spid="61448"/>
                                        </p:tgtEl>
                                        <p:attrNameLst>
                                          <p:attrName>style.visibility</p:attrName>
                                        </p:attrNameLst>
                                      </p:cBhvr>
                                      <p:to>
                                        <p:strVal val="visible"/>
                                      </p:to>
                                    </p:set>
                                    <p:animEffect transition="in" filter="dissolve">
                                      <p:cBhvr>
                                        <p:cTn id="59" dur="1000"/>
                                        <p:tgtEl>
                                          <p:spTgt spid="61448"/>
                                        </p:tgtEl>
                                      </p:cBhvr>
                                    </p:animEffect>
                                  </p:childTnLst>
                                </p:cTn>
                              </p:par>
                            </p:childTnLst>
                          </p:cTn>
                        </p:par>
                        <p:par>
                          <p:cTn id="60" fill="hold" nodeType="afterGroup">
                            <p:stCondLst>
                              <p:cond delay="4000"/>
                            </p:stCondLst>
                            <p:childTnLst>
                              <p:par>
                                <p:cTn id="61" presetID="9" presetClass="entr" presetSubtype="0" fill="hold" grpId="0" nodeType="afterEffect">
                                  <p:stCondLst>
                                    <p:cond delay="0"/>
                                  </p:stCondLst>
                                  <p:childTnLst>
                                    <p:set>
                                      <p:cBhvr>
                                        <p:cTn id="62" dur="1" fill="hold">
                                          <p:stCondLst>
                                            <p:cond delay="0"/>
                                          </p:stCondLst>
                                        </p:cTn>
                                        <p:tgtEl>
                                          <p:spTgt spid="61452"/>
                                        </p:tgtEl>
                                        <p:attrNameLst>
                                          <p:attrName>style.visibility</p:attrName>
                                        </p:attrNameLst>
                                      </p:cBhvr>
                                      <p:to>
                                        <p:strVal val="visible"/>
                                      </p:to>
                                    </p:set>
                                    <p:animEffect transition="in" filter="dissolve">
                                      <p:cBhvr>
                                        <p:cTn id="63" dur="3000"/>
                                        <p:tgtEl>
                                          <p:spTgt spid="61452"/>
                                        </p:tgtEl>
                                      </p:cBhvr>
                                    </p:animEffect>
                                  </p:childTnLst>
                                </p:cTn>
                              </p:par>
                            </p:childTnLst>
                          </p:cTn>
                        </p:par>
                        <p:par>
                          <p:cTn id="64" fill="hold">
                            <p:stCondLst>
                              <p:cond delay="7000"/>
                            </p:stCondLst>
                            <p:childTnLst>
                              <p:par>
                                <p:cTn id="65" presetID="9" presetClass="entr" presetSubtype="0" fill="hold" grpId="0" nodeType="after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dissolve">
                                      <p:cBhvr>
                                        <p:cTn id="6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animBg="1"/>
      <p:bldP spid="61446" grpId="0" animBg="1"/>
      <p:bldP spid="61448" grpId="0" animBg="1"/>
      <p:bldP spid="61452" grpId="0" animBg="1"/>
      <p:bldP spid="1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16781" y="88746"/>
            <a:ext cx="7158038" cy="1376517"/>
          </a:xfrm>
        </p:spPr>
        <p:txBody>
          <a:bodyPr/>
          <a:lstStyle/>
          <a:p>
            <a:pPr algn="ctr"/>
            <a:r>
              <a:rPr lang="en-US" b="1" dirty="0"/>
              <a:t>Accounting Equation 11</a:t>
            </a:r>
          </a:p>
        </p:txBody>
      </p:sp>
      <p:sp>
        <p:nvSpPr>
          <p:cNvPr id="12" name="Slide Number Placeholder 3"/>
          <p:cNvSpPr>
            <a:spLocks noGrp="1"/>
          </p:cNvSpPr>
          <p:nvPr>
            <p:ph type="sldNum" sz="quarter" idx="12"/>
          </p:nvPr>
        </p:nvSpPr>
        <p:spPr bwMode="auto">
          <a:xfrm>
            <a:off x="6710152" y="6400193"/>
            <a:ext cx="2133600" cy="365125"/>
          </a:xfrm>
          <a:noFill/>
          <a:ln>
            <a:miter lim="800000"/>
            <a:headEnd/>
            <a:tailEnd/>
          </a:ln>
        </p:spPr>
        <p:txBody>
          <a:bodyPr wrap="square" numCol="1" anchorCtr="0" compatLnSpc="1">
            <a:prstTxWarp prst="textNoShape">
              <a:avLst/>
            </a:prstTxWarp>
            <a:normAutofit/>
          </a:bodyPr>
          <a:lstStyle/>
          <a:p>
            <a:fld id="{B119A4F8-1B21-44AA-97CF-B3BE3340BA9F}" type="slidenum">
              <a:rPr lang="en-US" altLang="en-US" smtClean="0">
                <a:solidFill>
                  <a:srgbClr val="898989"/>
                </a:solidFill>
              </a:rPr>
              <a:pPr/>
              <a:t>75</a:t>
            </a:fld>
            <a:endParaRPr lang="en-US" altLang="en-US" dirty="0">
              <a:solidFill>
                <a:srgbClr val="898989"/>
              </a:solidFill>
            </a:endParaRPr>
          </a:p>
        </p:txBody>
      </p:sp>
      <p:graphicFrame>
        <p:nvGraphicFramePr>
          <p:cNvPr id="60419" name="Object 3"/>
          <p:cNvGraphicFramePr>
            <a:graphicFrameLocks/>
          </p:cNvGraphicFramePr>
          <p:nvPr>
            <p:extLst>
              <p:ext uri="{D42A27DB-BD31-4B8C-83A1-F6EECF244321}">
                <p14:modId xmlns:p14="http://schemas.microsoft.com/office/powerpoint/2010/main" val="644355931"/>
              </p:ext>
            </p:extLst>
          </p:nvPr>
        </p:nvGraphicFramePr>
        <p:xfrm>
          <a:off x="184150" y="2133600"/>
          <a:ext cx="8693150" cy="3121025"/>
        </p:xfrm>
        <a:graphic>
          <a:graphicData uri="http://schemas.openxmlformats.org/presentationml/2006/ole">
            <mc:AlternateContent xmlns:mc="http://schemas.openxmlformats.org/markup-compatibility/2006">
              <mc:Choice xmlns:v="urn:schemas-microsoft-com:vml" Requires="v">
                <p:oleObj spid="_x0000_s13372" name="Worksheet" r:id="rId4" imgW="6248640" imgH="1828586" progId="Excel.Sheet.8">
                  <p:embed/>
                </p:oleObj>
              </mc:Choice>
              <mc:Fallback>
                <p:oleObj name="Worksheet" r:id="rId4" imgW="6248640" imgH="1828586" progId="Excel.Sheet.8">
                  <p:embed/>
                  <p:pic>
                    <p:nvPicPr>
                      <p:cNvPr id="0" name=""/>
                      <p:cNvPicPr>
                        <a:picLocks noChangeArrowheads="1"/>
                      </p:cNvPicPr>
                      <p:nvPr/>
                    </p:nvPicPr>
                    <p:blipFill>
                      <a:blip r:embed="rId5"/>
                      <a:srcRect b="5836"/>
                      <a:stretch>
                        <a:fillRect/>
                      </a:stretch>
                    </p:blipFill>
                    <p:spPr bwMode="auto">
                      <a:xfrm>
                        <a:off x="184150" y="2133600"/>
                        <a:ext cx="8693150" cy="3121025"/>
                      </a:xfrm>
                      <a:prstGeom prst="rect">
                        <a:avLst/>
                      </a:prstGeom>
                      <a:noFill/>
                      <a:ln w="50800">
                        <a:solidFill>
                          <a:schemeClr val="bg2"/>
                        </a:solidFill>
                        <a:miter lim="800000"/>
                        <a:headEnd/>
                        <a:tailEnd/>
                      </a:ln>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60422" name="Rectangle 6"/>
          <p:cNvSpPr>
            <a:spLocks noChangeArrowheads="1"/>
          </p:cNvSpPr>
          <p:nvPr/>
        </p:nvSpPr>
        <p:spPr bwMode="auto">
          <a:xfrm>
            <a:off x="184150" y="1231709"/>
            <a:ext cx="8736012" cy="708978"/>
          </a:xfrm>
          <a:prstGeom prst="rect">
            <a:avLst/>
          </a:prstGeom>
          <a:solidFill>
            <a:schemeClr val="accent3">
              <a:lumMod val="40000"/>
              <a:lumOff val="60000"/>
            </a:schemeClr>
          </a:solidFill>
          <a:ln>
            <a:noFill/>
          </a:ln>
          <a:effectLst/>
        </p:spPr>
        <p:txBody>
          <a:bodyPr lIns="90488" tIns="44450" rIns="90488" bIns="44450"/>
          <a:lstStyle/>
          <a:p>
            <a:pPr algn="ctr"/>
            <a:r>
              <a:rPr lang="en-US" sz="2400" b="1" dirty="0">
                <a:solidFill>
                  <a:prstClr val="black"/>
                </a:solidFill>
                <a:latin typeface="Arial" panose="020B0604020202020204" pitchFamily="34" charset="0"/>
              </a:rPr>
              <a:t>FastForward pays $200 cash dividend.</a:t>
            </a:r>
          </a:p>
          <a:p>
            <a:pPr algn="ctr"/>
            <a:endParaRPr lang="en-US" sz="2400" b="1" dirty="0">
              <a:solidFill>
                <a:prstClr val="black"/>
              </a:solidFill>
              <a:latin typeface="Arial" panose="020B0604020202020204" pitchFamily="34" charset="0"/>
            </a:endParaRPr>
          </a:p>
        </p:txBody>
      </p:sp>
      <p:sp>
        <p:nvSpPr>
          <p:cNvPr id="60424" name="Oval 8"/>
          <p:cNvSpPr>
            <a:spLocks noChangeArrowheads="1"/>
          </p:cNvSpPr>
          <p:nvPr/>
        </p:nvSpPr>
        <p:spPr bwMode="auto">
          <a:xfrm>
            <a:off x="762000" y="3389312"/>
            <a:ext cx="609600" cy="304800"/>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60428" name="Oval 12"/>
          <p:cNvSpPr>
            <a:spLocks noChangeArrowheads="1"/>
          </p:cNvSpPr>
          <p:nvPr/>
        </p:nvSpPr>
        <p:spPr bwMode="auto">
          <a:xfrm>
            <a:off x="5029200" y="4636481"/>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4" name="Oval 12"/>
          <p:cNvSpPr>
            <a:spLocks noChangeArrowheads="1"/>
          </p:cNvSpPr>
          <p:nvPr/>
        </p:nvSpPr>
        <p:spPr bwMode="auto">
          <a:xfrm>
            <a:off x="1943100" y="4664075"/>
            <a:ext cx="1600200" cy="609600"/>
          </a:xfrm>
          <a:prstGeom prst="ellipse">
            <a:avLst/>
          </a:prstGeom>
          <a:noFill/>
          <a:ln w="47625" algn="ctr">
            <a:solidFill>
              <a:srgbClr val="00CC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7" name="Oval 8"/>
          <p:cNvSpPr>
            <a:spLocks noChangeArrowheads="1"/>
          </p:cNvSpPr>
          <p:nvPr/>
        </p:nvSpPr>
        <p:spPr bwMode="auto">
          <a:xfrm>
            <a:off x="6477000" y="3389312"/>
            <a:ext cx="685800" cy="304800"/>
          </a:xfrm>
          <a:prstGeom prst="ellipse">
            <a:avLst/>
          </a:prstGeom>
          <a:noFill/>
          <a:ln w="28575" algn="ctr">
            <a:solidFill>
              <a:srgbClr val="FF0000"/>
            </a:solidFill>
            <a:round/>
            <a:headEnd/>
            <a:tailEnd/>
          </a:ln>
          <a:effectLst/>
          <a:extLst>
            <a:ext uri="{909E8E84-426E-40dd-AFC4-6F175D3DCCD1}">
              <a14:hiddenFill xmlns:a14="http://schemas.microsoft.com/office/drawing/2010/main" xmlns="">
                <a:solidFill>
                  <a:srgbClr val="0000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dirty="0">
              <a:solidFill>
                <a:prstClr val="black"/>
              </a:solidFill>
            </a:endParaRPr>
          </a:p>
        </p:txBody>
      </p:sp>
      <p:sp>
        <p:nvSpPr>
          <p:cNvPr id="13" name="Rectangle 12"/>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3878046692"/>
      </p:ext>
    </p:extLst>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afterEffect">
                                  <p:stCondLst>
                                    <p:cond delay="0"/>
                                  </p:stCondLst>
                                  <p:childTnLst>
                                    <p:set>
                                      <p:cBhvr>
                                        <p:cTn id="6" dur="1" fill="hold">
                                          <p:stCondLst>
                                            <p:cond delay="0"/>
                                          </p:stCondLst>
                                        </p:cTn>
                                        <p:tgtEl>
                                          <p:spTgt spid="60422">
                                            <p:txEl>
                                              <p:pRg st="0" end="0"/>
                                            </p:txEl>
                                          </p:spTgt>
                                        </p:tgtEl>
                                        <p:attrNameLst>
                                          <p:attrName>style.visibility</p:attrName>
                                        </p:attrNameLst>
                                      </p:cBhvr>
                                      <p:to>
                                        <p:strVal val="visible"/>
                                      </p:to>
                                    </p:set>
                                    <p:animEffect transition="in" filter="fade">
                                      <p:cBhvr>
                                        <p:cTn id="7" dur="1000"/>
                                        <p:tgtEl>
                                          <p:spTgt spid="60422">
                                            <p:txEl>
                                              <p:pRg st="0" end="0"/>
                                            </p:txEl>
                                          </p:spTgt>
                                        </p:tgtEl>
                                      </p:cBhvr>
                                    </p:animEffect>
                                    <p:anim calcmode="lin" valueType="num">
                                      <p:cBhvr>
                                        <p:cTn id="8" dur="1000" fill="hold"/>
                                        <p:tgtEl>
                                          <p:spTgt spid="6042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0422">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9" presetClass="entr" presetSubtype="0" fill="hold" nodeType="afterEffect">
                                  <p:stCondLst>
                                    <p:cond delay="0"/>
                                  </p:stCondLst>
                                  <p:childTnLst>
                                    <p:set>
                                      <p:cBhvr>
                                        <p:cTn id="12" dur="1" fill="hold">
                                          <p:stCondLst>
                                            <p:cond delay="0"/>
                                          </p:stCondLst>
                                        </p:cTn>
                                        <p:tgtEl>
                                          <p:spTgt spid="60419"/>
                                        </p:tgtEl>
                                        <p:attrNameLst>
                                          <p:attrName>style.visibility</p:attrName>
                                        </p:attrNameLst>
                                      </p:cBhvr>
                                      <p:to>
                                        <p:strVal val="visible"/>
                                      </p:to>
                                    </p:set>
                                    <p:animEffect transition="in" filter="dissolve">
                                      <p:cBhvr>
                                        <p:cTn id="13" dur="1000"/>
                                        <p:tgtEl>
                                          <p:spTgt spid="60419"/>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0424"/>
                                        </p:tgtEl>
                                        <p:attrNameLst>
                                          <p:attrName>style.visibility</p:attrName>
                                        </p:attrNameLst>
                                      </p:cBhvr>
                                      <p:to>
                                        <p:strVal val="visible"/>
                                      </p:to>
                                    </p:set>
                                    <p:animEffect transition="in" filter="dissolve">
                                      <p:cBhvr>
                                        <p:cTn id="18" dur="2000"/>
                                        <p:tgtEl>
                                          <p:spTgt spid="60424"/>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dissolve">
                                      <p:cBhvr>
                                        <p:cTn id="23" dur="2000"/>
                                        <p:tgtEl>
                                          <p:spTgt spid="17"/>
                                        </p:tgtEl>
                                      </p:cBhvr>
                                    </p:animEffect>
                                  </p:childTnLst>
                                </p:cTn>
                              </p:par>
                            </p:childTnLst>
                          </p:cTn>
                        </p:par>
                        <p:par>
                          <p:cTn id="24" fill="hold">
                            <p:stCondLst>
                              <p:cond delay="2000"/>
                            </p:stCondLst>
                            <p:childTnLst>
                              <p:par>
                                <p:cTn id="25" presetID="9" presetClass="entr" presetSubtype="0" fill="hold" grpId="0" nodeType="afterEffect">
                                  <p:stCondLst>
                                    <p:cond delay="0"/>
                                  </p:stCondLst>
                                  <p:childTnLst>
                                    <p:set>
                                      <p:cBhvr>
                                        <p:cTn id="26" dur="1" fill="hold">
                                          <p:stCondLst>
                                            <p:cond delay="0"/>
                                          </p:stCondLst>
                                        </p:cTn>
                                        <p:tgtEl>
                                          <p:spTgt spid="60428"/>
                                        </p:tgtEl>
                                        <p:attrNameLst>
                                          <p:attrName>style.visibility</p:attrName>
                                        </p:attrNameLst>
                                      </p:cBhvr>
                                      <p:to>
                                        <p:strVal val="visible"/>
                                      </p:to>
                                    </p:set>
                                    <p:animEffect transition="in" filter="dissolve">
                                      <p:cBhvr>
                                        <p:cTn id="27" dur="1000"/>
                                        <p:tgtEl>
                                          <p:spTgt spid="60428"/>
                                        </p:tgtEl>
                                      </p:cBhvr>
                                    </p:animEffect>
                                  </p:childTnLst>
                                </p:cTn>
                              </p:par>
                            </p:childTnLst>
                          </p:cTn>
                        </p:par>
                        <p:par>
                          <p:cTn id="28" fill="hold">
                            <p:stCondLst>
                              <p:cond delay="3000"/>
                            </p:stCondLst>
                            <p:childTnLst>
                              <p:par>
                                <p:cTn id="29" presetID="9"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dissolve">
                                      <p:cBhvr>
                                        <p:cTn id="3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4" grpId="0" animBg="1"/>
      <p:bldP spid="60428" grpId="0" animBg="1"/>
      <p:bldP spid="14" grpId="0" animBg="1"/>
      <p:bldP spid="17"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579" y="345019"/>
            <a:ext cx="8229600" cy="831896"/>
          </a:xfrm>
        </p:spPr>
        <p:txBody>
          <a:bodyPr/>
          <a:lstStyle/>
          <a:p>
            <a:r>
              <a:rPr lang="en-US" b="1" dirty="0"/>
              <a:t>Summary of Transactions</a:t>
            </a:r>
          </a:p>
        </p:txBody>
      </p:sp>
      <p:sp>
        <p:nvSpPr>
          <p:cNvPr id="3" name="Slide Number Placeholder 2"/>
          <p:cNvSpPr>
            <a:spLocks noGrp="1"/>
          </p:cNvSpPr>
          <p:nvPr>
            <p:ph type="sldNum" sz="quarter" idx="12"/>
          </p:nvPr>
        </p:nvSpPr>
        <p:spPr>
          <a:xfrm>
            <a:off x="6629400" y="6405344"/>
            <a:ext cx="2133600" cy="365125"/>
          </a:xfrm>
        </p:spPr>
        <p:txBody>
          <a:bodyPr>
            <a:normAutofit/>
          </a:bodyPr>
          <a:lstStyle/>
          <a:p>
            <a:pPr>
              <a:defRPr/>
            </a:pPr>
            <a:fld id="{1A502F59-C9C5-4CFC-ACAE-314DC3CCBC8D}" type="slidenum">
              <a:rPr lang="en-US" smtClean="0"/>
              <a:pPr>
                <a:defRPr/>
              </a:pPr>
              <a:t>76</a:t>
            </a:fld>
            <a:endParaRPr lang="en-US" dirty="0"/>
          </a:p>
        </p:txBody>
      </p:sp>
      <p:pic>
        <p:nvPicPr>
          <p:cNvPr id="4" name="Picture 3">
            <a:extLst>
              <a:ext uri="{FF2B5EF4-FFF2-40B4-BE49-F238E27FC236}">
                <a16:creationId xmlns:a16="http://schemas.microsoft.com/office/drawing/2014/main" id="{6A5E0138-F772-4693-83AB-C8D2D2774AA2}"/>
              </a:ext>
            </a:extLst>
          </p:cNvPr>
          <p:cNvPicPr>
            <a:picLocks noChangeAspect="1"/>
          </p:cNvPicPr>
          <p:nvPr/>
        </p:nvPicPr>
        <p:blipFill>
          <a:blip r:embed="rId3"/>
          <a:stretch>
            <a:fillRect/>
          </a:stretch>
        </p:blipFill>
        <p:spPr>
          <a:xfrm>
            <a:off x="304800" y="1228464"/>
            <a:ext cx="8445137" cy="5297129"/>
          </a:xfrm>
          <a:prstGeom prst="rect">
            <a:avLst/>
          </a:prstGeom>
        </p:spPr>
      </p:pic>
    </p:spTree>
    <p:extLst>
      <p:ext uri="{BB962C8B-B14F-4D97-AF65-F5344CB8AC3E}">
        <p14:creationId xmlns:p14="http://schemas.microsoft.com/office/powerpoint/2010/main" val="36790442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4"/>
          <p:cNvSpPr>
            <a:spLocks noGrp="1"/>
          </p:cNvSpPr>
          <p:nvPr>
            <p:ph type="ctrTitle"/>
          </p:nvPr>
        </p:nvSpPr>
        <p:spPr>
          <a:xfrm>
            <a:off x="381000" y="1693315"/>
            <a:ext cx="8153400" cy="3124200"/>
          </a:xfrm>
        </p:spPr>
        <p:txBody>
          <a:bodyPr>
            <a:normAutofit fontScale="90000"/>
          </a:bodyPr>
          <a:lstStyle/>
          <a:p>
            <a:br>
              <a:rPr lang="en-US" altLang="en-US" dirty="0"/>
            </a:br>
            <a:br>
              <a:rPr lang="en-US" altLang="en-US" dirty="0"/>
            </a:br>
            <a:r>
              <a:rPr lang="en-US" altLang="en-US" dirty="0"/>
              <a:t> </a:t>
            </a:r>
            <a:r>
              <a:rPr lang="en-US" dirty="0"/>
              <a:t>Identify and prepare basic financial statements and explain how they interrelate.</a:t>
            </a:r>
            <a:br>
              <a:rPr lang="en-US" altLang="en-US" dirty="0"/>
            </a:br>
            <a:endParaRPr lang="en-US" altLang="en-US" dirty="0"/>
          </a:p>
        </p:txBody>
      </p:sp>
      <p:sp>
        <p:nvSpPr>
          <p:cNvPr id="130051" name="Slide Number Placeholder 3"/>
          <p:cNvSpPr>
            <a:spLocks noGrp="1"/>
          </p:cNvSpPr>
          <p:nvPr>
            <p:ph type="sldNum" sz="quarter" idx="12"/>
          </p:nvPr>
        </p:nvSpPr>
        <p:spPr bwMode="auto">
          <a:noFill/>
          <a:ln>
            <a:miter lim="800000"/>
            <a:headEnd/>
            <a:tailEnd/>
          </a:ln>
        </p:spPr>
        <p:txBody>
          <a:bodyPr wrap="square" numCol="1" anchorCtr="0" compatLnSpc="1">
            <a:prstTxWarp prst="textNoShape">
              <a:avLst/>
            </a:prstTxWarp>
          </a:bodyPr>
          <a:lstStyle/>
          <a:p>
            <a:fld id="{B119A4F8-1B21-44AA-97CF-B3BE3340BA9F}" type="slidenum">
              <a:rPr lang="en-US" altLang="en-US" smtClean="0">
                <a:solidFill>
                  <a:srgbClr val="898989"/>
                </a:solidFill>
              </a:rPr>
              <a:pPr/>
              <a:t>77</a:t>
            </a:fld>
            <a:endParaRPr lang="en-US" altLang="en-US" dirty="0">
              <a:solidFill>
                <a:srgbClr val="898989"/>
              </a:solidFill>
            </a:endParaRPr>
          </a:p>
        </p:txBody>
      </p:sp>
      <p:pic>
        <p:nvPicPr>
          <p:cNvPr id="130053" name="Picture 2"/>
          <p:cNvPicPr>
            <a:picLocks noChangeAspect="1" noChangeArrowheads="1"/>
          </p:cNvPicPr>
          <p:nvPr/>
        </p:nvPicPr>
        <p:blipFill>
          <a:blip r:embed="rId3" cstate="print"/>
          <a:srcRect/>
          <a:stretch>
            <a:fillRect/>
          </a:stretch>
        </p:blipFill>
        <p:spPr bwMode="auto">
          <a:xfrm>
            <a:off x="914400" y="1862907"/>
            <a:ext cx="7315200" cy="87312"/>
          </a:xfrm>
          <a:prstGeom prst="rect">
            <a:avLst/>
          </a:prstGeom>
          <a:noFill/>
          <a:ln w="9525">
            <a:noFill/>
            <a:miter lim="800000"/>
            <a:headEnd/>
            <a:tailEnd/>
          </a:ln>
        </p:spPr>
      </p:pic>
      <p:pic>
        <p:nvPicPr>
          <p:cNvPr id="130054" name="Picture 2"/>
          <p:cNvPicPr>
            <a:picLocks noChangeAspect="1" noChangeArrowheads="1"/>
          </p:cNvPicPr>
          <p:nvPr/>
        </p:nvPicPr>
        <p:blipFill>
          <a:blip r:embed="rId3" cstate="print"/>
          <a:srcRect/>
          <a:stretch>
            <a:fillRect/>
          </a:stretch>
        </p:blipFill>
        <p:spPr bwMode="auto">
          <a:xfrm>
            <a:off x="800100" y="5345959"/>
            <a:ext cx="7315200" cy="87313"/>
          </a:xfrm>
          <a:prstGeom prst="rect">
            <a:avLst/>
          </a:prstGeom>
          <a:noFill/>
          <a:ln w="9525">
            <a:noFill/>
            <a:miter lim="800000"/>
            <a:headEnd/>
            <a:tailEnd/>
          </a:ln>
        </p:spPr>
      </p:pic>
      <p:sp>
        <p:nvSpPr>
          <p:cNvPr id="9" name="Rectangle 8"/>
          <p:cNvSpPr/>
          <p:nvPr/>
        </p:nvSpPr>
        <p:spPr>
          <a:xfrm>
            <a:off x="0" y="0"/>
            <a:ext cx="9144000" cy="533400"/>
          </a:xfrm>
          <a:prstGeom prst="rect">
            <a:avLst/>
          </a:prstGeom>
          <a:solidFill>
            <a:srgbClr val="006991"/>
          </a:solidFill>
          <a:ln w="28575" cap="flat" cmpd="sng" algn="ctr">
            <a:solidFill>
              <a:srgbClr val="6076B4">
                <a:shade val="50000"/>
              </a:srgbClr>
            </a:solidFill>
            <a:prstDash val="solid"/>
          </a:ln>
          <a:effectLst/>
        </p:spPr>
        <p:txBody>
          <a:bodyPr anchor="ctr"/>
          <a:lstStyle/>
          <a:p>
            <a:pPr algn="ctr" fontAlgn="auto">
              <a:spcBef>
                <a:spcPts val="0"/>
              </a:spcBef>
              <a:spcAft>
                <a:spcPts val="0"/>
              </a:spcAft>
              <a:defRPr/>
            </a:pPr>
            <a:endParaRPr lang="en-US" kern="0" dirty="0">
              <a:solidFill>
                <a:sysClr val="window" lastClr="FFFFFF"/>
              </a:solidFill>
              <a:latin typeface="Palatino Linotype"/>
              <a:cs typeface="+mn-cs"/>
            </a:endParaRPr>
          </a:p>
        </p:txBody>
      </p:sp>
    </p:spTree>
    <p:extLst>
      <p:ext uri="{BB962C8B-B14F-4D97-AF65-F5344CB8AC3E}">
        <p14:creationId xmlns:p14="http://schemas.microsoft.com/office/powerpoint/2010/main" val="2404759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title"/>
          </p:nvPr>
        </p:nvSpPr>
        <p:spPr>
          <a:xfrm>
            <a:off x="914400" y="228600"/>
            <a:ext cx="7158038" cy="1031875"/>
          </a:xfrm>
        </p:spPr>
        <p:txBody>
          <a:bodyPr/>
          <a:lstStyle/>
          <a:p>
            <a:pPr algn="ctr">
              <a:defRPr/>
            </a:pPr>
            <a:r>
              <a:rPr lang="en-US" dirty="0">
                <a:ea typeface="+mj-ea"/>
              </a:rPr>
              <a:t>Financial Statements</a:t>
            </a:r>
          </a:p>
        </p:txBody>
      </p:sp>
      <p:sp>
        <p:nvSpPr>
          <p:cNvPr id="57347" name="Rectangle 4"/>
          <p:cNvSpPr>
            <a:spLocks noGrp="1" noChangeArrowheads="1"/>
          </p:cNvSpPr>
          <p:nvPr>
            <p:ph idx="1"/>
          </p:nvPr>
        </p:nvSpPr>
        <p:spPr>
          <a:xfrm>
            <a:off x="457200" y="1447800"/>
            <a:ext cx="8305800" cy="1219200"/>
          </a:xfrm>
        </p:spPr>
        <p:txBody>
          <a:bodyPr/>
          <a:lstStyle/>
          <a:p>
            <a:pPr algn="ctr">
              <a:buFont typeface="Wingdings" panose="05000000000000000000" pitchFamily="2" charset="2"/>
              <a:buNone/>
            </a:pPr>
            <a:r>
              <a:rPr lang="en-US" altLang="zh-HK" dirty="0">
                <a:solidFill>
                  <a:srgbClr val="862110"/>
                </a:solidFill>
                <a:ea typeface="ＭＳ Ｐゴシック" panose="020B0600070205080204" pitchFamily="34" charset="-128"/>
              </a:rPr>
              <a:t>Let</a:t>
            </a:r>
            <a:r>
              <a:rPr lang="ja-JP" altLang="en-US" dirty="0">
                <a:solidFill>
                  <a:srgbClr val="862110"/>
                </a:solidFill>
                <a:ea typeface="ＭＳ Ｐゴシック" panose="020B0600070205080204" pitchFamily="34" charset="-128"/>
              </a:rPr>
              <a:t>’</a:t>
            </a:r>
            <a:r>
              <a:rPr lang="en-US" altLang="ja-JP" dirty="0">
                <a:solidFill>
                  <a:srgbClr val="862110"/>
                </a:solidFill>
                <a:ea typeface="ＭＳ Ｐゴシック" panose="020B0600070205080204" pitchFamily="34" charset="-128"/>
              </a:rPr>
              <a:t>s prepare the financial statements reflecting the transactions we have recorded.</a:t>
            </a:r>
            <a:endParaRPr lang="en-US" altLang="zh-HK" dirty="0">
              <a:solidFill>
                <a:srgbClr val="862110"/>
              </a:solidFill>
              <a:ea typeface="ＭＳ Ｐゴシック" panose="020B0600070205080204" pitchFamily="34" charset="-128"/>
            </a:endParaRPr>
          </a:p>
        </p:txBody>
      </p:sp>
      <p:sp>
        <p:nvSpPr>
          <p:cNvPr id="57348" name="Rectangle 3"/>
          <p:cNvSpPr txBox="1">
            <a:spLocks noChangeArrowheads="1"/>
          </p:cNvSpPr>
          <p:nvPr/>
        </p:nvSpPr>
        <p:spPr bwMode="auto">
          <a:xfrm>
            <a:off x="762000" y="2667000"/>
            <a:ext cx="7620000" cy="3429000"/>
          </a:xfrm>
          <a:prstGeom prst="rect">
            <a:avLst/>
          </a:prstGeom>
          <a:solidFill>
            <a:schemeClr val="bg1"/>
          </a:solidFill>
          <a:ln w="9525">
            <a:solidFill>
              <a:schemeClr val="tx1"/>
            </a:solidFill>
            <a:miter lim="800000"/>
            <a:headEnd/>
            <a:tailEnd/>
          </a:ln>
        </p:spPr>
        <p:txBody>
          <a:bodyPr/>
          <a:lstStyle>
            <a:lvl1pPr marL="342900" indent="-342900"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20000"/>
              </a:spcBef>
              <a:buClrTx/>
              <a:buSzTx/>
              <a:buFontTx/>
              <a:buChar char="•"/>
            </a:pPr>
            <a:r>
              <a:rPr lang="en-GB" altLang="zh-HK" dirty="0"/>
              <a:t>Income Statement (Statement of Comprehensive Income)</a:t>
            </a:r>
          </a:p>
          <a:p>
            <a:pPr eaLnBrk="1" hangingPunct="1">
              <a:spcBef>
                <a:spcPct val="20000"/>
              </a:spcBef>
              <a:buClrTx/>
              <a:buSzTx/>
              <a:buFontTx/>
              <a:buChar char="•"/>
            </a:pPr>
            <a:r>
              <a:rPr lang="en-GB" altLang="zh-HK" dirty="0"/>
              <a:t>Statement of Changes in Equity</a:t>
            </a:r>
          </a:p>
          <a:p>
            <a:pPr eaLnBrk="1" hangingPunct="1">
              <a:spcBef>
                <a:spcPct val="20000"/>
              </a:spcBef>
              <a:buClrTx/>
              <a:buSzTx/>
              <a:buFontTx/>
              <a:buChar char="•"/>
            </a:pPr>
            <a:r>
              <a:rPr lang="en-GB" altLang="zh-HK" dirty="0"/>
              <a:t>Balance Sheet (Statement of Financial Position)</a:t>
            </a:r>
          </a:p>
          <a:p>
            <a:pPr eaLnBrk="1" hangingPunct="1">
              <a:spcBef>
                <a:spcPct val="20000"/>
              </a:spcBef>
              <a:buClrTx/>
              <a:buSzTx/>
              <a:buFontTx/>
              <a:buChar char="•"/>
            </a:pPr>
            <a:r>
              <a:rPr lang="en-GB" altLang="zh-HK" dirty="0"/>
              <a:t>Statement of Cash Flows</a:t>
            </a:r>
            <a:endParaRPr lang="en-GB" altLang="zh-HK" b="1" dirty="0">
              <a:latin typeface="Century Schoolbook" panose="02040604050505020304" pitchFamily="18" charset="0"/>
            </a:endParaRPr>
          </a:p>
        </p:txBody>
      </p:sp>
    </p:spTree>
    <p:extLst>
      <p:ext uri="{BB962C8B-B14F-4D97-AF65-F5344CB8AC3E}">
        <p14:creationId xmlns:p14="http://schemas.microsoft.com/office/powerpoint/2010/main" val="1985274650"/>
      </p:ext>
    </p:extLst>
  </p:cSld>
  <p:clrMapOvr>
    <a:masterClrMapping/>
  </p:clrMapOvr>
  <p:transition>
    <p:strips dir="rd"/>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5410200" y="2146300"/>
            <a:ext cx="3352800" cy="1816100"/>
          </a:xfrm>
          <a:prstGeom prst="rect">
            <a:avLst/>
          </a:prstGeom>
          <a:solidFill>
            <a:srgbClr val="EAEAEA"/>
          </a:solidFill>
          <a:ln w="12700">
            <a:solidFill>
              <a:schemeClr val="tx1"/>
            </a:solidFill>
            <a:miter lim="800000"/>
            <a:headEnd/>
            <a:tailEnd/>
          </a:ln>
          <a:effectLst>
            <a:outerShdw blurRad="50800" dist="38100" dir="2700000" algn="tl" rotWithShape="0">
              <a:prstClr val="black">
                <a:alpha val="40000"/>
              </a:prstClr>
            </a:outerShdw>
          </a:effectLst>
        </p:spPr>
        <p:txBody>
          <a:bodyPr>
            <a:spAutoFit/>
          </a:bodyPr>
          <a:lstStyle/>
          <a:p>
            <a:pPr algn="ctr">
              <a:defRPr/>
            </a:pPr>
            <a:r>
              <a:rPr lang="en-US" sz="2800">
                <a:solidFill>
                  <a:srgbClr val="003300"/>
                </a:solidFill>
                <a:latin typeface="Arial" charset="0"/>
                <a:ea typeface="ＭＳ Ｐゴシック" pitchFamily="-108" charset="-128"/>
              </a:rPr>
              <a:t>Net income</a:t>
            </a:r>
            <a:r>
              <a:rPr lang="en-US" sz="2800">
                <a:solidFill>
                  <a:srgbClr val="9A2F6F"/>
                </a:solidFill>
                <a:latin typeface="Arial" charset="0"/>
                <a:ea typeface="ＭＳ Ｐゴシック" pitchFamily="-108" charset="-128"/>
              </a:rPr>
              <a:t> is the difference between Revenues and Expenses.</a:t>
            </a:r>
          </a:p>
        </p:txBody>
      </p:sp>
      <p:graphicFrame>
        <p:nvGraphicFramePr>
          <p:cNvPr id="65539" name="Object 2"/>
          <p:cNvGraphicFramePr>
            <a:graphicFrameLocks/>
          </p:cNvGraphicFramePr>
          <p:nvPr>
            <p:extLst>
              <p:ext uri="{D42A27DB-BD31-4B8C-83A1-F6EECF244321}">
                <p14:modId xmlns:p14="http://schemas.microsoft.com/office/powerpoint/2010/main" val="3648205870"/>
              </p:ext>
            </p:extLst>
          </p:nvPr>
        </p:nvGraphicFramePr>
        <p:xfrm>
          <a:off x="228600" y="1295400"/>
          <a:ext cx="4643438" cy="3463925"/>
        </p:xfrm>
        <a:graphic>
          <a:graphicData uri="http://schemas.openxmlformats.org/presentationml/2006/ole">
            <mc:AlternateContent xmlns:mc="http://schemas.openxmlformats.org/markup-compatibility/2006">
              <mc:Choice xmlns:v="urn:schemas-microsoft-com:vml" Requires="v">
                <p:oleObj spid="_x0000_s14396" name="Worksheet" r:id="rId4" imgW="2800458" imgH="2219351" progId="Excel.Sheet.8">
                  <p:embed/>
                </p:oleObj>
              </mc:Choice>
              <mc:Fallback>
                <p:oleObj name="Worksheet" r:id="rId4" imgW="2800458" imgH="2219351" progId="Excel.Sheet.8">
                  <p:embed/>
                  <p:pic>
                    <p:nvPicPr>
                      <p:cNvPr id="0" name=""/>
                      <p:cNvPicPr>
                        <a:picLocks noChangeArrowheads="1"/>
                      </p:cNvPicPr>
                      <p:nvPr/>
                    </p:nvPicPr>
                    <p:blipFill>
                      <a:blip r:embed="rId5"/>
                      <a:srcRect b="7722"/>
                      <a:stretch>
                        <a:fillRect/>
                      </a:stretch>
                    </p:blipFill>
                    <p:spPr bwMode="auto">
                      <a:xfrm>
                        <a:off x="228600" y="1295400"/>
                        <a:ext cx="4643438" cy="3463925"/>
                      </a:xfrm>
                      <a:prstGeom prst="rect">
                        <a:avLst/>
                      </a:prstGeom>
                      <a:solidFill>
                        <a:srgbClr val="FF9900"/>
                      </a:solidFill>
                      <a:ln>
                        <a:noFill/>
                      </a:ln>
                      <a:effectLst>
                        <a:outerShdw dist="99190" dir="3011666"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5540" name="Text Box 4"/>
          <p:cNvSpPr txBox="1">
            <a:spLocks noChangeArrowheads="1"/>
          </p:cNvSpPr>
          <p:nvPr/>
        </p:nvSpPr>
        <p:spPr bwMode="auto">
          <a:xfrm>
            <a:off x="838200" y="5048250"/>
            <a:ext cx="7772400" cy="1200150"/>
          </a:xfrm>
          <a:prstGeom prst="rect">
            <a:avLst/>
          </a:prstGeom>
          <a:solidFill>
            <a:srgbClr val="993366"/>
          </a:solidFill>
          <a:ln w="12700">
            <a:solidFill>
              <a:schemeClr val="tx1"/>
            </a:solidFill>
            <a:miter lim="800000"/>
            <a:headEnd/>
            <a:tailEnd/>
          </a:ln>
          <a:effectLst>
            <a:outerShdw blurRad="50800" dist="38100" dir="2700000" algn="tl" rotWithShape="0">
              <a:prstClr val="black">
                <a:alpha val="40000"/>
              </a:prstClr>
            </a:outerShdw>
          </a:effectLst>
        </p:spPr>
        <p:txBody>
          <a:bodyPr>
            <a:spAutoFit/>
          </a:bodyPr>
          <a:lstStyle/>
          <a:p>
            <a:pPr algn="ctr">
              <a:defRPr/>
            </a:pPr>
            <a:r>
              <a:rPr lang="en-US" sz="2400">
                <a:solidFill>
                  <a:schemeClr val="bg1"/>
                </a:solidFill>
                <a:latin typeface="Arial" charset="0"/>
                <a:ea typeface="ＭＳ Ｐゴシック" pitchFamily="-108" charset="-128"/>
              </a:rPr>
              <a:t>The </a:t>
            </a:r>
            <a:r>
              <a:rPr lang="en-US" sz="2400">
                <a:solidFill>
                  <a:srgbClr val="FFFF00"/>
                </a:solidFill>
                <a:latin typeface="Arial" charset="0"/>
                <a:ea typeface="ＭＳ Ｐゴシック" pitchFamily="-108" charset="-128"/>
              </a:rPr>
              <a:t>income statement</a:t>
            </a:r>
            <a:r>
              <a:rPr lang="en-US" sz="2400">
                <a:solidFill>
                  <a:schemeClr val="hlink"/>
                </a:solidFill>
                <a:latin typeface="Arial" charset="0"/>
                <a:ea typeface="ＭＳ Ｐゴシック" pitchFamily="-108" charset="-128"/>
              </a:rPr>
              <a:t> </a:t>
            </a:r>
            <a:r>
              <a:rPr lang="en-US" sz="2400">
                <a:solidFill>
                  <a:schemeClr val="bg1"/>
                </a:solidFill>
                <a:latin typeface="Arial" charset="0"/>
                <a:ea typeface="ＭＳ Ｐゴシック" pitchFamily="-108" charset="-128"/>
              </a:rPr>
              <a:t>describes a company’s revenues and expenses along with the resulting net income or loss over a period of time due to earnings activities.</a:t>
            </a:r>
          </a:p>
        </p:txBody>
      </p:sp>
      <p:sp>
        <p:nvSpPr>
          <p:cNvPr id="65541" name="Rectangle 5"/>
          <p:cNvSpPr>
            <a:spLocks noGrp="1" noChangeArrowheads="1"/>
          </p:cNvSpPr>
          <p:nvPr>
            <p:ph type="title"/>
          </p:nvPr>
        </p:nvSpPr>
        <p:spPr>
          <a:xfrm>
            <a:off x="914400" y="-152400"/>
            <a:ext cx="7158038" cy="1158875"/>
          </a:xfrm>
        </p:spPr>
        <p:txBody>
          <a:bodyPr/>
          <a:lstStyle/>
          <a:p>
            <a:pPr algn="ctr">
              <a:defRPr/>
            </a:pPr>
            <a:r>
              <a:rPr lang="en-US" dirty="0"/>
              <a:t>Income Statement</a:t>
            </a:r>
          </a:p>
        </p:txBody>
      </p:sp>
    </p:spTree>
    <p:extLst>
      <p:ext uri="{BB962C8B-B14F-4D97-AF65-F5344CB8AC3E}">
        <p14:creationId xmlns:p14="http://schemas.microsoft.com/office/powerpoint/2010/main" val="538471279"/>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65539"/>
                                        </p:tgtEl>
                                        <p:attrNameLst>
                                          <p:attrName>style.visibility</p:attrName>
                                        </p:attrNameLst>
                                      </p:cBhvr>
                                      <p:to>
                                        <p:strVal val="visible"/>
                                      </p:to>
                                    </p:set>
                                    <p:anim calcmode="lin" valueType="num">
                                      <p:cBhvr additive="base">
                                        <p:cTn id="7" dur="500" fill="hold"/>
                                        <p:tgtEl>
                                          <p:spTgt spid="65539"/>
                                        </p:tgtEl>
                                        <p:attrNameLst>
                                          <p:attrName>ppt_x</p:attrName>
                                        </p:attrNameLst>
                                      </p:cBhvr>
                                      <p:tavLst>
                                        <p:tav tm="0">
                                          <p:val>
                                            <p:strVal val="0-#ppt_w/2"/>
                                          </p:val>
                                        </p:tav>
                                        <p:tav tm="100000">
                                          <p:val>
                                            <p:strVal val="#ppt_x"/>
                                          </p:val>
                                        </p:tav>
                                      </p:tavLst>
                                    </p:anim>
                                    <p:anim calcmode="lin" valueType="num">
                                      <p:cBhvr additive="base">
                                        <p:cTn id="8" dur="500" fill="hold"/>
                                        <p:tgtEl>
                                          <p:spTgt spid="65539"/>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65538">
                                            <p:txEl>
                                              <p:charRg st="4294967295" end="4294967295"/>
                                            </p:txEl>
                                          </p:spTgt>
                                        </p:tgtEl>
                                        <p:attrNameLst>
                                          <p:attrName>style.visibility</p:attrName>
                                        </p:attrNameLst>
                                      </p:cBhvr>
                                      <p:to>
                                        <p:strVal val="visible"/>
                                      </p:to>
                                    </p:set>
                                    <p:anim calcmode="lin" valueType="num">
                                      <p:cBhvr additive="base">
                                        <p:cTn id="12" dur="500" fill="hold"/>
                                        <p:tgtEl>
                                          <p:spTgt spid="65538">
                                            <p:txEl>
                                              <p:charRg st="4294967295" end="4294967295"/>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65538">
                                            <p:txEl>
                                              <p:charRg st="4294967295" end="429496729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4495800" y="1739900"/>
            <a:ext cx="4419600" cy="1816100"/>
          </a:xfrm>
          <a:prstGeom prst="rect">
            <a:avLst/>
          </a:prstGeom>
          <a:solidFill>
            <a:srgbClr val="993366"/>
          </a:solidFill>
          <a:ln w="12700">
            <a:solidFill>
              <a:schemeClr val="bg2"/>
            </a:solidFill>
            <a:miter lim="800000"/>
            <a:headEnd/>
            <a:tailEnd/>
          </a:ln>
          <a:effectLst>
            <a:outerShdw dist="35921" dir="2700000" algn="ctr" rotWithShape="0">
              <a:schemeClr val="bg2"/>
            </a:outerShdw>
          </a:effectLst>
        </p:spPr>
        <p:txBody>
          <a:bodyPr>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zh-CN">
                <a:solidFill>
                  <a:schemeClr val="bg1"/>
                </a:solidFill>
              </a:rPr>
              <a:t>The</a:t>
            </a:r>
            <a:r>
              <a:rPr lang="zh-CN" altLang="en-US">
                <a:solidFill>
                  <a:schemeClr val="bg1"/>
                </a:solidFill>
              </a:rPr>
              <a:t> </a:t>
            </a:r>
            <a:r>
              <a:rPr lang="en-US" altLang="zh-CN">
                <a:solidFill>
                  <a:schemeClr val="bg1"/>
                </a:solidFill>
              </a:rPr>
              <a:t>Statement of owners’ equity reports information about how equity changes over the reporting period.</a:t>
            </a:r>
            <a:endParaRPr lang="en-US" altLang="zh-HK">
              <a:solidFill>
                <a:schemeClr val="bg1"/>
              </a:solidFill>
            </a:endParaRPr>
          </a:p>
        </p:txBody>
      </p:sp>
      <p:sp>
        <p:nvSpPr>
          <p:cNvPr id="66563" name="Rectangle 3"/>
          <p:cNvSpPr>
            <a:spLocks noChangeArrowheads="1"/>
          </p:cNvSpPr>
          <p:nvPr/>
        </p:nvSpPr>
        <p:spPr bwMode="auto">
          <a:xfrm>
            <a:off x="8153400" y="5257800"/>
            <a:ext cx="914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zh-TW" sz="1800"/>
          </a:p>
        </p:txBody>
      </p:sp>
      <p:sp>
        <p:nvSpPr>
          <p:cNvPr id="59396" name="Text Box 7"/>
          <p:cNvSpPr txBox="1">
            <a:spLocks noChangeArrowheads="1"/>
          </p:cNvSpPr>
          <p:nvPr/>
        </p:nvSpPr>
        <p:spPr bwMode="auto">
          <a:xfrm>
            <a:off x="3352800" y="24384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zh-TW" sz="2400">
                <a:latin typeface="Times New Roman" panose="02020603050405020304" pitchFamily="18" charset="0"/>
              </a:rPr>
              <a:t>   </a:t>
            </a:r>
          </a:p>
        </p:txBody>
      </p:sp>
      <p:sp>
        <p:nvSpPr>
          <p:cNvPr id="59397" name="Rectangle 11"/>
          <p:cNvSpPr>
            <a:spLocks noGrp="1" noChangeArrowheads="1"/>
          </p:cNvSpPr>
          <p:nvPr>
            <p:ph type="title"/>
          </p:nvPr>
        </p:nvSpPr>
        <p:spPr bwMode="auto"/>
        <p:txBody>
          <a:bodyPr/>
          <a:lstStyle/>
          <a:p>
            <a:pPr algn="ctr"/>
            <a:r>
              <a:rPr lang="en-US" altLang="zh-TW" sz="3000" cap="none">
                <a:ea typeface="PMingLiU" panose="02020500000000000000" pitchFamily="18" charset="-120"/>
              </a:rPr>
              <a:t>STATEMENT OF OWNER’S EQUITY</a:t>
            </a:r>
          </a:p>
        </p:txBody>
      </p:sp>
      <p:graphicFrame>
        <p:nvGraphicFramePr>
          <p:cNvPr id="13" name="Table 12"/>
          <p:cNvGraphicFramePr>
            <a:graphicFrameLocks noGrp="1"/>
          </p:cNvGraphicFramePr>
          <p:nvPr>
            <p:extLst>
              <p:ext uri="{D42A27DB-BD31-4B8C-83A1-F6EECF244321}">
                <p14:modId xmlns:p14="http://schemas.microsoft.com/office/powerpoint/2010/main" val="3800355240"/>
              </p:ext>
            </p:extLst>
          </p:nvPr>
        </p:nvGraphicFramePr>
        <p:xfrm>
          <a:off x="3238500" y="4133850"/>
          <a:ext cx="5524500" cy="2422528"/>
        </p:xfrm>
        <a:graphic>
          <a:graphicData uri="http://schemas.openxmlformats.org/drawingml/2006/table">
            <a:tbl>
              <a:tblPr/>
              <a:tblGrid>
                <a:gridCol w="35433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239713">
                <a:tc gridSpan="3">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dirty="0">
                          <a:ln>
                            <a:noFill/>
                          </a:ln>
                          <a:solidFill>
                            <a:srgbClr val="FFFFFF"/>
                          </a:solidFill>
                          <a:effectLst/>
                          <a:latin typeface="Arial" charset="0"/>
                          <a:ea typeface="ＭＳ Ｐゴシック" pitchFamily="-108" charset="-128"/>
                          <a:cs typeface="Arial" charset="0"/>
                        </a:rPr>
                        <a:t>FastForward</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a:noFill/>
                    </a:lnTlToBr>
                    <a:lnBlToTr>
                      <a:noFill/>
                    </a:lnBlToTr>
                    <a:solidFill>
                      <a:srgbClr val="7030A0"/>
                    </a:solid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239713">
                <a:tc gridSpan="3">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rgbClr val="FFFFFF"/>
                          </a:solidFill>
                          <a:effectLst/>
                          <a:latin typeface="Arial" charset="0"/>
                          <a:ea typeface="ＭＳ Ｐゴシック" pitchFamily="-108" charset="-128"/>
                          <a:cs typeface="Arial" charset="0"/>
                        </a:rPr>
                        <a:t>Statement of Owner's Equity</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lnTlToBr>
                      <a:noFill/>
                    </a:lnTlToBr>
                    <a:lnBlToTr>
                      <a:noFill/>
                    </a:lnBlToTr>
                    <a:solidFill>
                      <a:srgbClr val="7030A0"/>
                    </a:solid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1"/>
                  </a:ext>
                </a:extLst>
              </a:tr>
              <a:tr h="239713">
                <a:tc gridSpan="3">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dirty="0">
                          <a:ln>
                            <a:noFill/>
                          </a:ln>
                          <a:solidFill>
                            <a:srgbClr val="FFFFFF"/>
                          </a:solidFill>
                          <a:effectLst/>
                          <a:latin typeface="Arial" charset="0"/>
                          <a:ea typeface="ＭＳ Ｐゴシック" pitchFamily="-108" charset="-128"/>
                          <a:cs typeface="Arial" charset="0"/>
                        </a:rPr>
                        <a:t>For Month Ended December 31, 2021</a:t>
                      </a:r>
                    </a:p>
                  </a:txBody>
                  <a:tcPr marL="9525" marR="9525" marT="9525" marB="0" anchor="b" horzOverflow="overflow">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lnTlToBr>
                      <a:noFill/>
                    </a:lnTlToBr>
                    <a:lnBlToTr>
                      <a:noFill/>
                    </a:lnBlToTr>
                    <a:solidFill>
                      <a:srgbClr val="7030A0"/>
                    </a:solidFill>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2"/>
                  </a:ext>
                </a:extLst>
              </a:tr>
              <a:tr h="2397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dirty="0">
                          <a:ln>
                            <a:noFill/>
                          </a:ln>
                          <a:solidFill>
                            <a:schemeClr val="tx1"/>
                          </a:solidFill>
                          <a:effectLst/>
                          <a:latin typeface="Arial" charset="0"/>
                          <a:ea typeface="ＭＳ Ｐゴシック" pitchFamily="-108" charset="-128"/>
                          <a:cs typeface="Arial" charset="0"/>
                        </a:rPr>
                        <a:t>C, Taylor, Capital December 1, 2021</a:t>
                      </a:r>
                    </a:p>
                  </a:txBody>
                  <a:tcPr marL="9525" marR="9525" marT="9525" marB="0" anchor="b" horzOverflow="overflow">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a:noFill/>
                    </a:lnL>
                    <a:lnR>
                      <a:noFill/>
                    </a:lnR>
                    <a:lnT w="63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           -   </a:t>
                      </a:r>
                    </a:p>
                  </a:txBody>
                  <a:tcPr marL="9525" marR="9525" marT="9525" marB="0" anchor="b" horzOverflow="overflow">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3"/>
                  </a:ext>
                </a:extLst>
              </a:tr>
              <a:tr h="2397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dirty="0">
                          <a:ln>
                            <a:noFill/>
                          </a:ln>
                          <a:solidFill>
                            <a:schemeClr val="tx1"/>
                          </a:solidFill>
                          <a:effectLst/>
                          <a:latin typeface="Arial" charset="0"/>
                          <a:ea typeface="ＭＳ Ｐゴシック" pitchFamily="-108" charset="-128"/>
                          <a:cs typeface="Arial" charset="0"/>
                        </a:rPr>
                        <a:t>Plus: Investment by owner</a:t>
                      </a:r>
                    </a:p>
                  </a:txBody>
                  <a:tcPr marL="9525" marR="9525" marT="9525" marB="0" anchor="b" horzOverflow="overflow">
                    <a:lnL w="635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    30,000 </a:t>
                      </a:r>
                    </a:p>
                  </a:txBody>
                  <a:tcPr marL="9525" marR="9525" marT="9525" marB="0" anchor="b"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a:noFill/>
                    </a:lnL>
                    <a:lnR w="635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4"/>
                  </a:ext>
                </a:extLst>
              </a:tr>
              <a:tr h="2397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Net income</a:t>
                      </a:r>
                    </a:p>
                  </a:txBody>
                  <a:tcPr marL="9525" marR="9525" marT="9525" marB="0" anchor="b" horzOverflow="overflow">
                    <a:lnL w="635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4,400 </a:t>
                      </a:r>
                    </a:p>
                  </a:txBody>
                  <a:tcPr marL="9525" marR="9525" marT="9525" marB="0" anchor="b" horzOverflow="overflow">
                    <a:lnL>
                      <a:noFill/>
                    </a:lnL>
                    <a:lnR>
                      <a:noFill/>
                    </a:lnR>
                    <a:lnT>
                      <a:noFill/>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a:noFill/>
                    </a:lnL>
                    <a:lnR w="635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5"/>
                  </a:ext>
                </a:extLst>
              </a:tr>
              <a:tr h="2397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dirty="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w="635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a:noFill/>
                    </a:lnL>
                    <a:lnR>
                      <a:noFill/>
                    </a:lnR>
                    <a:lnT w="635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34,400 </a:t>
                      </a:r>
                    </a:p>
                  </a:txBody>
                  <a:tcPr marL="9525" marR="9525" marT="9525" marB="0" anchor="b" horzOverflow="overflow">
                    <a:lnL>
                      <a:noFill/>
                    </a:lnL>
                    <a:lnR w="6350" cap="flat" cmpd="sng" algn="ctr">
                      <a:solidFill>
                        <a:srgbClr val="000000"/>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6"/>
                  </a:ext>
                </a:extLst>
              </a:tr>
              <a:tr h="239713">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dirty="0">
                          <a:ln>
                            <a:noFill/>
                          </a:ln>
                          <a:solidFill>
                            <a:schemeClr val="tx1"/>
                          </a:solidFill>
                          <a:effectLst/>
                          <a:latin typeface="Arial" charset="0"/>
                          <a:ea typeface="ＭＳ Ｐゴシック" pitchFamily="-108" charset="-128"/>
                          <a:cs typeface="Arial" charset="0"/>
                        </a:rPr>
                        <a:t>Less: Dividend</a:t>
                      </a:r>
                    </a:p>
                  </a:txBody>
                  <a:tcPr marL="9525" marR="9525" marT="9525" marB="0" anchor="b" horzOverflow="overflow">
                    <a:lnL w="635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200 </a:t>
                      </a:r>
                    </a:p>
                  </a:txBody>
                  <a:tcPr marL="9525" marR="9525" marT="9525" marB="0" anchor="b" horzOverflow="overflow">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252412">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dirty="0">
                          <a:ln>
                            <a:noFill/>
                          </a:ln>
                          <a:solidFill>
                            <a:schemeClr val="tx1"/>
                          </a:solidFill>
                          <a:effectLst/>
                          <a:latin typeface="Arial" charset="0"/>
                          <a:ea typeface="ＭＳ Ｐゴシック" pitchFamily="-108" charset="-128"/>
                          <a:cs typeface="Arial" charset="0"/>
                        </a:rPr>
                        <a:t>C. Taylor, Capital, December 31, 2021</a:t>
                      </a:r>
                    </a:p>
                  </a:txBody>
                  <a:tcPr marL="9525" marR="9525" marT="9525" marB="0" anchor="b" horzOverflow="overflow">
                    <a:lnL w="635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    34,200 </a:t>
                      </a:r>
                    </a:p>
                  </a:txBody>
                  <a:tcPr marL="9525" marR="9525" marT="9525" marB="0" anchor="b" horzOverflow="overflow">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252412">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a:noFill/>
                    </a:lnL>
                    <a:lnR>
                      <a:noFill/>
                    </a:lnR>
                    <a:lnT>
                      <a:noFill/>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TW" sz="1400" b="1" i="0" u="none" strike="noStrike" cap="none" normalizeH="0" baseline="0" dirty="0">
                          <a:ln>
                            <a:noFill/>
                          </a:ln>
                          <a:solidFill>
                            <a:schemeClr val="tx1"/>
                          </a:solidFill>
                          <a:effectLst/>
                          <a:latin typeface="Arial" charset="0"/>
                          <a:ea typeface="ＭＳ Ｐゴシック" pitchFamily="-108" charset="-128"/>
                          <a:cs typeface="Arial" charset="0"/>
                        </a:rPr>
                        <a:t> </a:t>
                      </a:r>
                    </a:p>
                  </a:txBody>
                  <a:tcPr marL="9525" marR="9525" marT="9525" marB="0" anchor="b" horzOverflow="overflow">
                    <a:lnL>
                      <a:noFill/>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bl>
          </a:graphicData>
        </a:graphic>
      </p:graphicFrame>
      <p:grpSp>
        <p:nvGrpSpPr>
          <p:cNvPr id="59431" name="Group 15"/>
          <p:cNvGrpSpPr>
            <a:grpSpLocks/>
          </p:cNvGrpSpPr>
          <p:nvPr/>
        </p:nvGrpSpPr>
        <p:grpSpPr bwMode="auto">
          <a:xfrm>
            <a:off x="228600" y="1524000"/>
            <a:ext cx="6781800" cy="3886200"/>
            <a:chOff x="228600" y="1524000"/>
            <a:chExt cx="6781800" cy="3886200"/>
          </a:xfrm>
        </p:grpSpPr>
        <p:graphicFrame>
          <p:nvGraphicFramePr>
            <p:cNvPr id="59432" name="Object 2"/>
            <p:cNvGraphicFramePr>
              <a:graphicFrameLocks/>
            </p:cNvGraphicFramePr>
            <p:nvPr>
              <p:extLst>
                <p:ext uri="{D42A27DB-BD31-4B8C-83A1-F6EECF244321}">
                  <p14:modId xmlns:p14="http://schemas.microsoft.com/office/powerpoint/2010/main" val="1624726552"/>
                </p:ext>
              </p:extLst>
            </p:nvPr>
          </p:nvGraphicFramePr>
          <p:xfrm>
            <a:off x="228600" y="1524000"/>
            <a:ext cx="3657600" cy="2895600"/>
          </p:xfrm>
          <a:graphic>
            <a:graphicData uri="http://schemas.openxmlformats.org/presentationml/2006/ole">
              <mc:AlternateContent xmlns:mc="http://schemas.openxmlformats.org/markup-compatibility/2006">
                <mc:Choice xmlns:v="urn:schemas-microsoft-com:vml" Requires="v">
                  <p:oleObj spid="_x0000_s15420" name="Worksheet" r:id="rId4" imgW="2800458" imgH="2219351" progId="Excel.Sheet.8">
                    <p:embed/>
                  </p:oleObj>
                </mc:Choice>
                <mc:Fallback>
                  <p:oleObj name="Worksheet" r:id="rId4" imgW="2800458" imgH="2219351" progId="Excel.Sheet.8">
                    <p:embed/>
                    <p:pic>
                      <p:nvPicPr>
                        <p:cNvPr id="0" name=""/>
                        <p:cNvPicPr>
                          <a:picLocks noChangeArrowheads="1"/>
                        </p:cNvPicPr>
                        <p:nvPr/>
                      </p:nvPicPr>
                      <p:blipFill>
                        <a:blip r:embed="rId5"/>
                        <a:srcRect b="7722"/>
                        <a:stretch>
                          <a:fillRect/>
                        </a:stretch>
                      </p:blipFill>
                      <p:spPr bwMode="auto">
                        <a:xfrm>
                          <a:off x="228600" y="1524000"/>
                          <a:ext cx="3657600" cy="2895600"/>
                        </a:xfrm>
                        <a:prstGeom prst="rect">
                          <a:avLst/>
                        </a:prstGeom>
                        <a:solidFill>
                          <a:srgbClr val="FF9900"/>
                        </a:solidFill>
                        <a:ln>
                          <a:noFill/>
                        </a:ln>
                        <a:effectLst>
                          <a:outerShdw dist="99190" dir="3011666"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cxnSp>
          <p:nvCxnSpPr>
            <p:cNvPr id="15" name="Straight Arrow Connector 14"/>
            <p:cNvCxnSpPr/>
            <p:nvPr/>
          </p:nvCxnSpPr>
          <p:spPr>
            <a:xfrm>
              <a:off x="3886200" y="4419600"/>
              <a:ext cx="3124200" cy="990600"/>
            </a:xfrm>
            <a:prstGeom prst="straightConnector1">
              <a:avLst/>
            </a:prstGeom>
            <a:ln w="28575">
              <a:solidFill>
                <a:srgbClr val="FF0000"/>
              </a:solidFill>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36601631"/>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5" fill="hold" grpId="0" nodeType="afterEffect">
                                  <p:stCondLst>
                                    <p:cond delay="0"/>
                                  </p:stCondLst>
                                  <p:childTnLst>
                                    <p:set>
                                      <p:cBhvr>
                                        <p:cTn id="6" dur="1" fill="hold">
                                          <p:stCondLst>
                                            <p:cond delay="0"/>
                                          </p:stCondLst>
                                        </p:cTn>
                                        <p:tgtEl>
                                          <p:spTgt spid="66562"/>
                                        </p:tgtEl>
                                        <p:attrNameLst>
                                          <p:attrName>style.visibility</p:attrName>
                                        </p:attrNameLst>
                                      </p:cBhvr>
                                      <p:to>
                                        <p:strVal val="visible"/>
                                      </p:to>
                                    </p:set>
                                    <p:animEffect transition="in" filter="blinds(vertical)">
                                      <p:cBhvr>
                                        <p:cTn id="7" dur="500"/>
                                        <p:tgtEl>
                                          <p:spTgt spid="66562"/>
                                        </p:tgtEl>
                                      </p:cBhvr>
                                    </p:animEffect>
                                  </p:childTnLst>
                                </p:cTn>
                              </p:par>
                            </p:childTnLst>
                          </p:cTn>
                        </p:par>
                        <p:par>
                          <p:cTn id="8" fill="hold" nodeType="afterGroup">
                            <p:stCondLst>
                              <p:cond delay="500"/>
                            </p:stCondLst>
                            <p:childTnLst>
                              <p:par>
                                <p:cTn id="9" presetID="2" presetClass="entr" presetSubtype="8" fill="hold" grpId="0" nodeType="afterEffect" nodePh="1">
                                  <p:stCondLst>
                                    <p:cond delay="0"/>
                                  </p:stCondLst>
                                  <p:endCondLst>
                                    <p:cond evt="begin" delay="0">
                                      <p:tn val="9"/>
                                    </p:cond>
                                  </p:endCondLst>
                                  <p:childTnLst>
                                    <p:set>
                                      <p:cBhvr>
                                        <p:cTn id="10" dur="1" fill="hold">
                                          <p:stCondLst>
                                            <p:cond delay="0"/>
                                          </p:stCondLst>
                                        </p:cTn>
                                        <p:tgtEl>
                                          <p:spTgt spid="66563"/>
                                        </p:tgtEl>
                                        <p:attrNameLst>
                                          <p:attrName>style.visibility</p:attrName>
                                        </p:attrNameLst>
                                      </p:cBhvr>
                                      <p:to>
                                        <p:strVal val="visible"/>
                                      </p:to>
                                    </p:set>
                                    <p:anim calcmode="lin" valueType="num">
                                      <p:cBhvr additive="base">
                                        <p:cTn id="11" dur="500" fill="hold"/>
                                        <p:tgtEl>
                                          <p:spTgt spid="66563"/>
                                        </p:tgtEl>
                                        <p:attrNameLst>
                                          <p:attrName>ppt_x</p:attrName>
                                        </p:attrNameLst>
                                      </p:cBhvr>
                                      <p:tavLst>
                                        <p:tav tm="0">
                                          <p:val>
                                            <p:strVal val="0-#ppt_w/2"/>
                                          </p:val>
                                        </p:tav>
                                        <p:tav tm="100000">
                                          <p:val>
                                            <p:strVal val="#ppt_x"/>
                                          </p:val>
                                        </p:tav>
                                      </p:tavLst>
                                    </p:anim>
                                    <p:anim calcmode="lin" valueType="num">
                                      <p:cBhvr additive="base">
                                        <p:cTn id="12" dur="500" fill="hold"/>
                                        <p:tgtEl>
                                          <p:spTgt spid="665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nimBg="1" autoUpdateAnimBg="0"/>
      <p:bldP spid="66563"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7" name="Object 2"/>
          <p:cNvGraphicFramePr>
            <a:graphicFrameLocks/>
          </p:cNvGraphicFramePr>
          <p:nvPr>
            <p:extLst>
              <p:ext uri="{D42A27DB-BD31-4B8C-83A1-F6EECF244321}">
                <p14:modId xmlns:p14="http://schemas.microsoft.com/office/powerpoint/2010/main" val="1641514222"/>
              </p:ext>
            </p:extLst>
          </p:nvPr>
        </p:nvGraphicFramePr>
        <p:xfrm>
          <a:off x="974725" y="2743200"/>
          <a:ext cx="7315200" cy="2865438"/>
        </p:xfrm>
        <a:graphic>
          <a:graphicData uri="http://schemas.openxmlformats.org/presentationml/2006/ole">
            <mc:AlternateContent xmlns:mc="http://schemas.openxmlformats.org/markup-compatibility/2006">
              <mc:Choice xmlns:v="urn:schemas-microsoft-com:vml" Requires="v">
                <p:oleObj spid="_x0000_s16444" name="Worksheet" r:id="rId4" imgW="4457830" imgH="1752613" progId="Excel.Sheet.8">
                  <p:embed/>
                </p:oleObj>
              </mc:Choice>
              <mc:Fallback>
                <p:oleObj name="Worksheet" r:id="rId4" imgW="4457830" imgH="1752613" progId="Excel.Sheet.8">
                  <p:embed/>
                  <p:pic>
                    <p:nvPicPr>
                      <p:cNvPr id="0" name=""/>
                      <p:cNvPicPr>
                        <a:picLocks noChangeArrowheads="1"/>
                      </p:cNvPicPr>
                      <p:nvPr/>
                    </p:nvPicPr>
                    <p:blipFill>
                      <a:blip r:embed="rId5"/>
                      <a:srcRect b="294"/>
                      <a:stretch>
                        <a:fillRect/>
                      </a:stretch>
                    </p:blipFill>
                    <p:spPr bwMode="auto">
                      <a:xfrm>
                        <a:off x="974725" y="2743200"/>
                        <a:ext cx="7315200" cy="2865438"/>
                      </a:xfrm>
                      <a:prstGeom prst="rect">
                        <a:avLst/>
                      </a:prstGeom>
                      <a:solidFill>
                        <a:schemeClr val="folHlink"/>
                      </a:solidFill>
                      <a:ln>
                        <a:noFill/>
                      </a:ln>
                      <a:effectLst/>
                      <a:extLst>
                        <a:ext uri="{91240B29-F687-4F45-9708-019B960494DF}">
                          <a14:hiddenLine xmlns:a14="http://schemas.microsoft.com/office/drawing/2010/main" w="12700">
                            <a:solidFill>
                              <a:schemeClr val="hlink"/>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oleObj>
              </mc:Fallback>
            </mc:AlternateContent>
          </a:graphicData>
        </a:graphic>
      </p:graphicFrame>
      <p:sp>
        <p:nvSpPr>
          <p:cNvPr id="67588" name="Text Box 4"/>
          <p:cNvSpPr txBox="1">
            <a:spLocks noChangeArrowheads="1"/>
          </p:cNvSpPr>
          <p:nvPr/>
        </p:nvSpPr>
        <p:spPr bwMode="auto">
          <a:xfrm>
            <a:off x="914400" y="1447800"/>
            <a:ext cx="7315200" cy="830263"/>
          </a:xfrm>
          <a:prstGeom prst="rect">
            <a:avLst/>
          </a:prstGeom>
          <a:solidFill>
            <a:srgbClr val="993366"/>
          </a:solidFill>
          <a:ln w="12700">
            <a:solidFill>
              <a:schemeClr val="hlink"/>
            </a:solidFill>
            <a:miter lim="800000"/>
            <a:headEnd/>
            <a:tailEnd/>
          </a:ln>
          <a:effectLst>
            <a:outerShdw blurRad="50800" dist="38100" dir="2700000" algn="tl" rotWithShape="0">
              <a:prstClr val="black">
                <a:alpha val="40000"/>
              </a:prstClr>
            </a:outerShdw>
          </a:effectLst>
        </p:spPr>
        <p:txBody>
          <a:bodyPr>
            <a:spAutoFit/>
          </a:bodyPr>
          <a:lstStyle/>
          <a:p>
            <a:pPr algn="ctr">
              <a:defRPr/>
            </a:pPr>
            <a:r>
              <a:rPr lang="en-US" sz="2400" dirty="0">
                <a:solidFill>
                  <a:schemeClr val="bg1"/>
                </a:solidFill>
                <a:latin typeface="Arial" charset="0"/>
                <a:ea typeface="ＭＳ Ｐゴシック" pitchFamily="-108" charset="-128"/>
              </a:rPr>
              <a:t>The</a:t>
            </a:r>
            <a:r>
              <a:rPr lang="en-US" sz="2400" dirty="0">
                <a:solidFill>
                  <a:schemeClr val="hlink"/>
                </a:solidFill>
                <a:latin typeface="Arial" charset="0"/>
                <a:ea typeface="ＭＳ Ｐゴシック" pitchFamily="-108" charset="-128"/>
              </a:rPr>
              <a:t> </a:t>
            </a:r>
            <a:r>
              <a:rPr lang="en-US" sz="2400" dirty="0">
                <a:solidFill>
                  <a:srgbClr val="FFFF00"/>
                </a:solidFill>
                <a:latin typeface="Arial" charset="0"/>
                <a:ea typeface="ＭＳ Ｐゴシック" pitchFamily="-108" charset="-128"/>
              </a:rPr>
              <a:t>Balance Sheet</a:t>
            </a:r>
            <a:r>
              <a:rPr lang="en-US" sz="2400" dirty="0">
                <a:solidFill>
                  <a:schemeClr val="hlink"/>
                </a:solidFill>
                <a:latin typeface="Arial" charset="0"/>
                <a:ea typeface="ＭＳ Ｐゴシック" pitchFamily="-108" charset="-128"/>
              </a:rPr>
              <a:t> </a:t>
            </a:r>
            <a:r>
              <a:rPr lang="en-US" sz="2400" dirty="0">
                <a:solidFill>
                  <a:schemeClr val="bg1"/>
                </a:solidFill>
                <a:latin typeface="Arial" charset="0"/>
                <a:ea typeface="ＭＳ Ｐゴシック" pitchFamily="-108" charset="-128"/>
              </a:rPr>
              <a:t>describes a company’s financial position at a point in time.</a:t>
            </a:r>
          </a:p>
        </p:txBody>
      </p:sp>
      <p:sp>
        <p:nvSpPr>
          <p:cNvPr id="60420" name="Rectangle 5"/>
          <p:cNvSpPr>
            <a:spLocks noChangeArrowheads="1"/>
          </p:cNvSpPr>
          <p:nvPr/>
        </p:nvSpPr>
        <p:spPr bwMode="auto">
          <a:xfrm>
            <a:off x="6172200" y="5514975"/>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zh-TW" sz="1800"/>
          </a:p>
        </p:txBody>
      </p:sp>
      <p:sp>
        <p:nvSpPr>
          <p:cNvPr id="60421" name="Rectangle 6"/>
          <p:cNvSpPr>
            <a:spLocks noChangeArrowheads="1"/>
          </p:cNvSpPr>
          <p:nvPr/>
        </p:nvSpPr>
        <p:spPr bwMode="auto">
          <a:xfrm>
            <a:off x="8077200" y="205740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spcBef>
                <a:spcPts val="600"/>
              </a:spcBef>
              <a:buClr>
                <a:schemeClr val="accent1"/>
              </a:buClr>
              <a:buSzPct val="7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lr>
                <a:schemeClr val="accent1"/>
              </a:buClr>
              <a:buSzPct val="80000"/>
              <a:buFont typeface="Wingdings 2" panose="05020102010507070707" pitchFamily="18" charset="2"/>
              <a:buChar char=""/>
              <a:defRPr sz="26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lr>
                <a:srgbClr val="E0752F"/>
              </a:buClr>
              <a:buSzPct val="60000"/>
              <a:buFont typeface="Wingdings" panose="05000000000000000000" pitchFamily="2" charset="2"/>
              <a:buChar char=""/>
              <a:defRPr sz="24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lr>
                <a:srgbClr val="FEC3AE"/>
              </a:buClr>
              <a:buSzPct val="6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DCAE9"/>
              </a:buClr>
              <a:buSzPct val="68000"/>
              <a:buFont typeface="Wingdings 2" panose="05020102010507070707" pitchFamily="18"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zh-TW" altLang="zh-TW" sz="1800"/>
          </a:p>
        </p:txBody>
      </p:sp>
      <p:sp>
        <p:nvSpPr>
          <p:cNvPr id="67592" name="Rectangle 8"/>
          <p:cNvSpPr>
            <a:spLocks noGrp="1" noChangeArrowheads="1"/>
          </p:cNvSpPr>
          <p:nvPr>
            <p:ph type="title"/>
          </p:nvPr>
        </p:nvSpPr>
        <p:spPr>
          <a:xfrm>
            <a:off x="990600" y="0"/>
            <a:ext cx="7158038" cy="1412875"/>
          </a:xfrm>
        </p:spPr>
        <p:txBody>
          <a:bodyPr/>
          <a:lstStyle/>
          <a:p>
            <a:pPr algn="ctr">
              <a:defRPr/>
            </a:pPr>
            <a:r>
              <a:rPr lang="en-US" dirty="0"/>
              <a:t>Balance Sheet (Statement of financial position)</a:t>
            </a:r>
          </a:p>
        </p:txBody>
      </p:sp>
    </p:spTree>
    <p:extLst>
      <p:ext uri="{BB962C8B-B14F-4D97-AF65-F5344CB8AC3E}">
        <p14:creationId xmlns:p14="http://schemas.microsoft.com/office/powerpoint/2010/main" val="981513052"/>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7588"/>
                                        </p:tgtEl>
                                        <p:attrNameLst>
                                          <p:attrName>style.visibility</p:attrName>
                                        </p:attrNameLst>
                                      </p:cBhvr>
                                      <p:to>
                                        <p:strVal val="visible"/>
                                      </p:to>
                                    </p:set>
                                    <p:anim calcmode="lin" valueType="num">
                                      <p:cBhvr additive="base">
                                        <p:cTn id="7" dur="500" fill="hold"/>
                                        <p:tgtEl>
                                          <p:spTgt spid="67588"/>
                                        </p:tgtEl>
                                        <p:attrNameLst>
                                          <p:attrName>ppt_x</p:attrName>
                                        </p:attrNameLst>
                                      </p:cBhvr>
                                      <p:tavLst>
                                        <p:tav tm="0">
                                          <p:val>
                                            <p:strVal val="0-#ppt_w/2"/>
                                          </p:val>
                                        </p:tav>
                                        <p:tav tm="100000">
                                          <p:val>
                                            <p:strVal val="#ppt_x"/>
                                          </p:val>
                                        </p:tav>
                                      </p:tavLst>
                                    </p:anim>
                                    <p:anim calcmode="lin" valueType="num">
                                      <p:cBhvr additive="base">
                                        <p:cTn id="8" dur="500" fill="hold"/>
                                        <p:tgtEl>
                                          <p:spTgt spid="6758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2" presetClass="entr" presetSubtype="1" fill="hold" nodeType="afterEffect">
                                  <p:stCondLst>
                                    <p:cond delay="0"/>
                                  </p:stCondLst>
                                  <p:childTnLst>
                                    <p:set>
                                      <p:cBhvr>
                                        <p:cTn id="11" dur="1" fill="hold">
                                          <p:stCondLst>
                                            <p:cond delay="0"/>
                                          </p:stCondLst>
                                        </p:cTn>
                                        <p:tgtEl>
                                          <p:spTgt spid="67587"/>
                                        </p:tgtEl>
                                        <p:attrNameLst>
                                          <p:attrName>style.visibility</p:attrName>
                                        </p:attrNameLst>
                                      </p:cBhvr>
                                      <p:to>
                                        <p:strVal val="visible"/>
                                      </p:to>
                                    </p:set>
                                    <p:animEffect transition="in" filter="slide(fromTop)">
                                      <p:cBhvr>
                                        <p:cTn id="12" dur="500"/>
                                        <p:tgtEl>
                                          <p:spTgt spid="67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animBg="1"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42" name="Object 2"/>
          <p:cNvGraphicFramePr>
            <a:graphicFrameLocks/>
          </p:cNvGraphicFramePr>
          <p:nvPr>
            <p:extLst>
              <p:ext uri="{D42A27DB-BD31-4B8C-83A1-F6EECF244321}">
                <p14:modId xmlns:p14="http://schemas.microsoft.com/office/powerpoint/2010/main" val="2432677873"/>
              </p:ext>
            </p:extLst>
          </p:nvPr>
        </p:nvGraphicFramePr>
        <p:xfrm>
          <a:off x="1401763" y="1219200"/>
          <a:ext cx="6858000" cy="5556250"/>
        </p:xfrm>
        <a:graphic>
          <a:graphicData uri="http://schemas.openxmlformats.org/presentationml/2006/ole">
            <mc:AlternateContent xmlns:mc="http://schemas.openxmlformats.org/markup-compatibility/2006">
              <mc:Choice xmlns:v="urn:schemas-microsoft-com:vml" Requires="v">
                <p:oleObj spid="_x0000_s17468" name="Worksheet" r:id="rId4" imgW="4305308" imgH="3550974" progId="Excel.Sheet.8">
                  <p:embed/>
                </p:oleObj>
              </mc:Choice>
              <mc:Fallback>
                <p:oleObj name="Worksheet" r:id="rId4" imgW="4305308" imgH="3550974" progId="Excel.Sheet.8">
                  <p:embed/>
                  <p:pic>
                    <p:nvPicPr>
                      <p:cNvPr id="0" name=""/>
                      <p:cNvPicPr>
                        <a:picLocks noChangeArrowheads="1"/>
                      </p:cNvPicPr>
                      <p:nvPr/>
                    </p:nvPicPr>
                    <p:blipFill>
                      <a:blip r:embed="rId5"/>
                      <a:srcRect b="3783"/>
                      <a:stretch>
                        <a:fillRect/>
                      </a:stretch>
                    </p:blipFill>
                    <p:spPr bwMode="auto">
                      <a:xfrm>
                        <a:off x="1401763" y="1219200"/>
                        <a:ext cx="6858000" cy="5556250"/>
                      </a:xfrm>
                      <a:prstGeom prst="rect">
                        <a:avLst/>
                      </a:prstGeom>
                      <a:noFill/>
                      <a:ln w="12700">
                        <a:solidFill>
                          <a:schemeClr val="hlink"/>
                        </a:solidFill>
                        <a:miter lim="800000"/>
                        <a:headEnd/>
                        <a:tailEnd/>
                      </a:ln>
                      <a:effectLst/>
                      <a:extLst>
                        <a:ext uri="{909E8E84-426E-40DD-AFC4-6F175D3DCCD1}">
                          <a14:hiddenFill xmlns:a14="http://schemas.microsoft.com/office/drawing/2010/main">
                            <a:solidFill>
                              <a:schemeClr val="folHlink"/>
                            </a:solidFill>
                          </a14:hiddenFill>
                        </a:ext>
                        <a:ext uri="{AF507438-7753-43E0-B8FC-AC1667EBCBE1}">
                          <a14:hiddenEffects xmlns:a14="http://schemas.microsoft.com/office/drawing/2010/main">
                            <a:effectLst>
                              <a:outerShdw dist="107763" dir="2700000" algn="ctr" rotWithShape="0">
                                <a:schemeClr val="bg2"/>
                              </a:outerShdw>
                            </a:effectLst>
                          </a14:hiddenEffects>
                        </a:ext>
                      </a:extLst>
                    </p:spPr>
                  </p:pic>
                </p:oleObj>
              </mc:Fallback>
            </mc:AlternateContent>
          </a:graphicData>
        </a:graphic>
      </p:graphicFrame>
      <p:sp>
        <p:nvSpPr>
          <p:cNvPr id="68612" name="Rectangle 4"/>
          <p:cNvSpPr>
            <a:spLocks noGrp="1" noChangeArrowheads="1"/>
          </p:cNvSpPr>
          <p:nvPr>
            <p:ph type="title"/>
          </p:nvPr>
        </p:nvSpPr>
        <p:spPr>
          <a:xfrm>
            <a:off x="457200" y="1"/>
            <a:ext cx="8229600" cy="914400"/>
          </a:xfrm>
        </p:spPr>
        <p:txBody>
          <a:bodyPr/>
          <a:lstStyle/>
          <a:p>
            <a:pPr algn="ctr">
              <a:defRPr/>
            </a:pPr>
            <a:r>
              <a:rPr lang="en-US" dirty="0"/>
              <a:t>Statement of Cash Flows</a:t>
            </a:r>
          </a:p>
        </p:txBody>
      </p:sp>
    </p:spTree>
    <p:extLst>
      <p:ext uri="{BB962C8B-B14F-4D97-AF65-F5344CB8AC3E}">
        <p14:creationId xmlns:p14="http://schemas.microsoft.com/office/powerpoint/2010/main" val="4212143953"/>
      </p:ext>
    </p:extLst>
  </p:cSld>
  <p:clrMapOvr>
    <a:masterClrMapping/>
  </p:clrMapOvr>
  <p:transition>
    <p:strips dir="rd"/>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bwMode="auto"/>
        <p:txBody>
          <a:bodyPr>
            <a:normAutofit/>
          </a:bodyPr>
          <a:lstStyle/>
          <a:p>
            <a:pPr algn="ctr"/>
            <a:r>
              <a:rPr lang="en-US" altLang="zh-TW" cap="none">
                <a:ea typeface="PMingLiU" panose="02020500000000000000" pitchFamily="18" charset="-120"/>
              </a:rPr>
              <a:t>RELATIONSHIPS AMONG FINANCIAL STATEMENTS</a:t>
            </a:r>
            <a:endParaRPr lang="zh-TW" altLang="en-US" cap="none">
              <a:ea typeface="PMingLiU" panose="02020500000000000000" pitchFamily="18" charset="-120"/>
            </a:endParaRPr>
          </a:p>
        </p:txBody>
      </p:sp>
      <p:pic>
        <p:nvPicPr>
          <p:cNvPr id="62467" name="Picture 2" descr="C:\Teaching\Teaching_HKU\From Publisher\Wild Book\Digital Image Library\Chapter 02\wiL79549_021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447800"/>
            <a:ext cx="7696200"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68202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0</TotalTime>
  <Words>3689</Words>
  <Application>Microsoft Office PowerPoint</Application>
  <PresentationFormat>On-screen Show (4:3)</PresentationFormat>
  <Paragraphs>634</Paragraphs>
  <Slides>83</Slides>
  <Notes>67</Notes>
  <HiddenSlides>0</HiddenSlides>
  <MMClips>0</MMClips>
  <ScaleCrop>false</ScaleCrop>
  <HeadingPairs>
    <vt:vector size="8" baseType="variant">
      <vt:variant>
        <vt:lpstr>Fonts Used</vt:lpstr>
      </vt:variant>
      <vt:variant>
        <vt:i4>17</vt:i4>
      </vt:variant>
      <vt:variant>
        <vt:lpstr>Theme</vt:lpstr>
      </vt:variant>
      <vt:variant>
        <vt:i4>1</vt:i4>
      </vt:variant>
      <vt:variant>
        <vt:lpstr>Embedded OLE Servers</vt:lpstr>
      </vt:variant>
      <vt:variant>
        <vt:i4>3</vt:i4>
      </vt:variant>
      <vt:variant>
        <vt:lpstr>Slide Titles</vt:lpstr>
      </vt:variant>
      <vt:variant>
        <vt:i4>83</vt:i4>
      </vt:variant>
    </vt:vector>
  </HeadingPairs>
  <TitlesOfParts>
    <vt:vector size="104" baseType="lpstr">
      <vt:lpstr>Batang</vt:lpstr>
      <vt:lpstr>等线</vt:lpstr>
      <vt:lpstr>等线 Light</vt:lpstr>
      <vt:lpstr>MS PGothic</vt:lpstr>
      <vt:lpstr>MS PGothic</vt:lpstr>
      <vt:lpstr>新細明體</vt:lpstr>
      <vt:lpstr>新細明體</vt:lpstr>
      <vt:lpstr>SimSun</vt:lpstr>
      <vt:lpstr>SimSun</vt:lpstr>
      <vt:lpstr>游ゴシック</vt:lpstr>
      <vt:lpstr>Arial</vt:lpstr>
      <vt:lpstr>Calibri</vt:lpstr>
      <vt:lpstr>Calibri Light</vt:lpstr>
      <vt:lpstr>Century Schoolbook</vt:lpstr>
      <vt:lpstr>Palatino Linotype</vt:lpstr>
      <vt:lpstr>Times New Roman</vt:lpstr>
      <vt:lpstr>Wingdings</vt:lpstr>
      <vt:lpstr>Office Theme</vt:lpstr>
      <vt:lpstr>Clip</vt:lpstr>
      <vt:lpstr>Worksheet</vt:lpstr>
      <vt:lpstr>Picture</vt:lpstr>
      <vt:lpstr>AC6761 Artificial Intelligence Accounting</vt:lpstr>
      <vt:lpstr>Assessment</vt:lpstr>
      <vt:lpstr>Course structure</vt:lpstr>
      <vt:lpstr>Schedule</vt:lpstr>
      <vt:lpstr>  AI Accounting  </vt:lpstr>
      <vt:lpstr>A common misconception</vt:lpstr>
      <vt:lpstr>Why accounting fundamentals come first</vt:lpstr>
      <vt:lpstr>What you must be able to do before AI helps</vt:lpstr>
      <vt:lpstr>  Explain the purpose and importance of accounting.  </vt:lpstr>
      <vt:lpstr>What is Accounting</vt:lpstr>
      <vt:lpstr>Importance of Accounting</vt:lpstr>
      <vt:lpstr>For example</vt:lpstr>
      <vt:lpstr>For example</vt:lpstr>
      <vt:lpstr>  Identify users and uses of accounting.  </vt:lpstr>
      <vt:lpstr>Users of Accounting Information</vt:lpstr>
      <vt:lpstr>In our example</vt:lpstr>
      <vt:lpstr>Users of Accounting Information</vt:lpstr>
      <vt:lpstr>Types of Accounting Information</vt:lpstr>
      <vt:lpstr>  Explain why ethics  are crucial to accounting.  </vt:lpstr>
      <vt:lpstr>Ethics - A Key Concept</vt:lpstr>
      <vt:lpstr>Ethics – A Key Concept</vt:lpstr>
      <vt:lpstr>Enron Scandal</vt:lpstr>
      <vt:lpstr>Big 5 -&gt; Big 4 Audit Firms</vt:lpstr>
      <vt:lpstr>WorldCom Scandal</vt:lpstr>
      <vt:lpstr>Olympus hotline didn’t blow whistle January 5, 2012 </vt:lpstr>
      <vt:lpstr>Sarbanes–Oxley (SOX)</vt:lpstr>
      <vt:lpstr>Explain generally accepted accounting principles and define and apply several accounting principles.</vt:lpstr>
      <vt:lpstr>Generally Accepted  Accounting Principles (GAAP)</vt:lpstr>
      <vt:lpstr>Setting Accounting Standards</vt:lpstr>
      <vt:lpstr>International Standards</vt:lpstr>
      <vt:lpstr>Conceptual Framework</vt:lpstr>
      <vt:lpstr>Principles, Assumptions and Constraint</vt:lpstr>
      <vt:lpstr>Accounting Principles</vt:lpstr>
      <vt:lpstr>Accounting Assumptions</vt:lpstr>
      <vt:lpstr>Corporation</vt:lpstr>
      <vt:lpstr>Accounting Constraint</vt:lpstr>
      <vt:lpstr>  Define and interpret the accounting equation and each of its components.  </vt:lpstr>
      <vt:lpstr>The Accounting Equation</vt:lpstr>
      <vt:lpstr>Assets</vt:lpstr>
      <vt:lpstr>Liabilities</vt:lpstr>
      <vt:lpstr>Equity</vt:lpstr>
      <vt:lpstr>Expanded Accounting Equation</vt:lpstr>
      <vt:lpstr>PowerPoint Presentation</vt:lpstr>
      <vt:lpstr>PowerPoint Presentation</vt:lpstr>
      <vt:lpstr>Reporting Ownership Equity</vt:lpstr>
      <vt:lpstr>Stockholders’ Equity of a Corporation</vt:lpstr>
      <vt:lpstr>Expanded Accounting Equation Example #1: Owner’s withdrawals </vt:lpstr>
      <vt:lpstr>Expanded Accounting Equation Example #2: Dividend </vt:lpstr>
      <vt:lpstr> Business Transaction and Accounting</vt:lpstr>
      <vt:lpstr>  Analyze business transactions using the accounting equation. </vt:lpstr>
      <vt:lpstr>Transaction Analysis</vt:lpstr>
      <vt:lpstr>Transaction Analysis-Rules</vt:lpstr>
      <vt:lpstr>Transaction Analysis-Exercises</vt:lpstr>
      <vt:lpstr>Transaction Analysis-Exercises</vt:lpstr>
      <vt:lpstr>Transaction 1:  Investment by Owner</vt:lpstr>
      <vt:lpstr>Accounting Equation 1</vt:lpstr>
      <vt:lpstr>Transaction 2:  Purchase Supplies for Cash</vt:lpstr>
      <vt:lpstr>Accounting Equation 2</vt:lpstr>
      <vt:lpstr>Transaction 3:  Purchase Equipment for Cash</vt:lpstr>
      <vt:lpstr>Accounting Equation 3</vt:lpstr>
      <vt:lpstr>Transaction 4:  Purchase Supplies on Credit</vt:lpstr>
      <vt:lpstr>Accounting Equation 4</vt:lpstr>
      <vt:lpstr>Transaction Analysis: Revenues, Expenses and Dividend</vt:lpstr>
      <vt:lpstr>Transaction 5: Provide Services for Cash</vt:lpstr>
      <vt:lpstr>Accounting Equation 5</vt:lpstr>
      <vt:lpstr>Transactions 6 and 7: Payment of Expenses in Cash</vt:lpstr>
      <vt:lpstr>Accounting Equation 6 and 7</vt:lpstr>
      <vt:lpstr>Transaction 8: Provide Services and Facilities for Credit</vt:lpstr>
      <vt:lpstr>Accounting Equation 8</vt:lpstr>
      <vt:lpstr>Transaction 9: Receipt of Cash from Accounts Receivable</vt:lpstr>
      <vt:lpstr>Accounting Equation 9</vt:lpstr>
      <vt:lpstr>Transaction 10: Payment of Accounts Payable</vt:lpstr>
      <vt:lpstr>Accounting Equation 10</vt:lpstr>
      <vt:lpstr>Transaction 11: Payment of Cash Dividend to Shareholders</vt:lpstr>
      <vt:lpstr>Accounting Equation 11</vt:lpstr>
      <vt:lpstr>Summary of Transactions</vt:lpstr>
      <vt:lpstr>   Identify and prepare basic financial statements and explain how they interrelate. </vt:lpstr>
      <vt:lpstr>Financial Statements</vt:lpstr>
      <vt:lpstr>Income Statement</vt:lpstr>
      <vt:lpstr>STATEMENT OF OWNER’S EQUITY</vt:lpstr>
      <vt:lpstr>Balance Sheet (Statement of financial position)</vt:lpstr>
      <vt:lpstr>Statement of Cash Flows</vt:lpstr>
      <vt:lpstr>RELATIONSHIPS AMONG FINANCIAL STATEMENTS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2020-08-27T08:06:10Z</dcterms:created>
  <dcterms:modified xsi:type="dcterms:W3CDTF">2026-08-24T08:45:15Z</dcterms:modified>
</cp:coreProperties>
</file>