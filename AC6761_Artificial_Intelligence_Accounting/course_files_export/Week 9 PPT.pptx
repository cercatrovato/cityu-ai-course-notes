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5721" r:id="rId1"/>
  </p:sldMasterIdLst>
  <p:notesMasterIdLst>
    <p:notesMasterId r:id="rId40"/>
  </p:notesMasterIdLst>
  <p:handoutMasterIdLst>
    <p:handoutMasterId r:id="rId41"/>
  </p:handoutMasterIdLst>
  <p:sldIdLst>
    <p:sldId id="397" r:id="rId2"/>
    <p:sldId id="1160" r:id="rId3"/>
    <p:sldId id="1161" r:id="rId4"/>
    <p:sldId id="1157" r:id="rId5"/>
    <p:sldId id="1141" r:id="rId6"/>
    <p:sldId id="1168" r:id="rId7"/>
    <p:sldId id="1172" r:id="rId8"/>
    <p:sldId id="1173" r:id="rId9"/>
    <p:sldId id="1174" r:id="rId10"/>
    <p:sldId id="1175" r:id="rId11"/>
    <p:sldId id="1176" r:id="rId12"/>
    <p:sldId id="1177" r:id="rId13"/>
    <p:sldId id="1178" r:id="rId14"/>
    <p:sldId id="1150" r:id="rId15"/>
    <p:sldId id="422" r:id="rId16"/>
    <p:sldId id="423" r:id="rId17"/>
    <p:sldId id="490" r:id="rId18"/>
    <p:sldId id="398" r:id="rId19"/>
    <p:sldId id="1162" r:id="rId20"/>
    <p:sldId id="1179" r:id="rId21"/>
    <p:sldId id="1183" r:id="rId22"/>
    <p:sldId id="1180" r:id="rId23"/>
    <p:sldId id="1181" r:id="rId24"/>
    <p:sldId id="1182" r:id="rId25"/>
    <p:sldId id="406" r:id="rId26"/>
    <p:sldId id="1163" r:id="rId27"/>
    <p:sldId id="414" r:id="rId28"/>
    <p:sldId id="1164" r:id="rId29"/>
    <p:sldId id="479" r:id="rId30"/>
    <p:sldId id="1165" r:id="rId31"/>
    <p:sldId id="420" r:id="rId32"/>
    <p:sldId id="1166" r:id="rId33"/>
    <p:sldId id="478" r:id="rId34"/>
    <p:sldId id="1167" r:id="rId35"/>
    <p:sldId id="474" r:id="rId36"/>
    <p:sldId id="480" r:id="rId37"/>
    <p:sldId id="481" r:id="rId38"/>
    <p:sldId id="482" r:id="rId39"/>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8" name="Auth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2D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61" autoAdjust="0"/>
    <p:restoredTop sz="92494" autoAdjust="0"/>
  </p:normalViewPr>
  <p:slideViewPr>
    <p:cSldViewPr>
      <p:cViewPr varScale="1">
        <p:scale>
          <a:sx n="59" d="100"/>
          <a:sy n="59" d="100"/>
        </p:scale>
        <p:origin x="2000" y="44"/>
      </p:cViewPr>
      <p:guideLst>
        <p:guide orient="horz" pos="2160"/>
        <p:guide pos="2880"/>
      </p:guideLst>
    </p:cSldViewPr>
  </p:slideViewPr>
  <p:outlineViewPr>
    <p:cViewPr>
      <p:scale>
        <a:sx n="33" d="100"/>
        <a:sy n="33" d="100"/>
      </p:scale>
      <p:origin x="0" y="-731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6" d="100"/>
          <a:sy n="76" d="100"/>
        </p:scale>
        <p:origin x="2885" y="67"/>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966849" y="0"/>
            <a:ext cx="829254" cy="298192"/>
          </a:xfrm>
          <a:prstGeom prst="rect">
            <a:avLst/>
          </a:prstGeom>
        </p:spPr>
        <p:txBody>
          <a:bodyPr vert="horz" wrap="square" lIns="93164" tIns="46582" rIns="93164" bIns="46582" numCol="1" anchor="b" anchorCtr="0" compatLnSpc="1">
            <a:prstTxWarp prst="textNoShape">
              <a:avLst/>
            </a:prstTxWarp>
          </a:bodyPr>
          <a:lstStyle>
            <a:lvl1pPr algn="r">
              <a:defRPr sz="1200"/>
            </a:lvl1pPr>
          </a:lstStyle>
          <a:p>
            <a:pPr>
              <a:defRPr/>
            </a:pPr>
            <a:r>
              <a:rPr lang="en-US" dirty="0"/>
              <a:t>1-</a:t>
            </a:r>
            <a:fld id="{4FC70F1E-A9CF-4725-BA99-5BD9E946C6F2}" type="slidenum">
              <a:rPr lang="en-US"/>
              <a:pPr>
                <a:defRPr/>
              </a:pPr>
              <a:t>‹#›</a:t>
            </a:fld>
            <a:endParaRPr lang="en-US" dirty="0"/>
          </a:p>
        </p:txBody>
      </p:sp>
    </p:spTree>
    <p:extLst>
      <p:ext uri="{BB962C8B-B14F-4D97-AF65-F5344CB8AC3E}">
        <p14:creationId xmlns:p14="http://schemas.microsoft.com/office/powerpoint/2010/main" val="131622212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915988" y="744538"/>
            <a:ext cx="4965700" cy="3724275"/>
          </a:xfrm>
          <a:prstGeom prst="rect">
            <a:avLst/>
          </a:prstGeom>
          <a:noFill/>
          <a:ln w="12700">
            <a:solidFill>
              <a:prstClr val="black"/>
            </a:solidFill>
          </a:ln>
        </p:spPr>
        <p:txBody>
          <a:bodyPr vert="horz" wrap="square" lIns="93164" tIns="46582" rIns="93164" bIns="46582" numCol="1" anchor="ctr" anchorCtr="0" compatLnSpc="1">
            <a:prstTxWarp prst="textNoShape">
              <a:avLst/>
            </a:prstTxWarp>
          </a:bodyPr>
          <a:lstStyle/>
          <a:p>
            <a:pPr lvl="0"/>
            <a:endParaRPr lang="en-US" noProof="0" dirty="0"/>
          </a:p>
        </p:txBody>
      </p:sp>
      <p:sp>
        <p:nvSpPr>
          <p:cNvPr id="5" name="Notes Placeholder 4"/>
          <p:cNvSpPr>
            <a:spLocks noGrp="1"/>
          </p:cNvSpPr>
          <p:nvPr>
            <p:ph type="body" sz="quarter" idx="3"/>
          </p:nvPr>
        </p:nvSpPr>
        <p:spPr>
          <a:xfrm>
            <a:off x="679768" y="4715908"/>
            <a:ext cx="5438140" cy="4467701"/>
          </a:xfrm>
          <a:prstGeom prst="rect">
            <a:avLst/>
          </a:prstGeom>
          <a:ln>
            <a:noFill/>
          </a:ln>
        </p:spPr>
        <p:txBody>
          <a:bodyPr vert="horz" wrap="square" lIns="93164" tIns="46582" rIns="93164" bIns="4658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Slide Number Placeholder 4"/>
          <p:cNvSpPr txBox="1">
            <a:spLocks/>
          </p:cNvSpPr>
          <p:nvPr/>
        </p:nvSpPr>
        <p:spPr>
          <a:xfrm>
            <a:off x="5287084" y="1"/>
            <a:ext cx="1510595" cy="330942"/>
          </a:xfrm>
          <a:prstGeom prst="rect">
            <a:avLst/>
          </a:prstGeom>
        </p:spPr>
        <p:txBody>
          <a:bodyPr lIns="93164" tIns="46582" rIns="93164" bIns="46582" anchor="b"/>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r" eaLnBrk="1" hangingPunct="1">
              <a:defRPr/>
            </a:pPr>
            <a:r>
              <a:rPr lang="en-US" sz="1200" dirty="0">
                <a:latin typeface="Calibri" pitchFamily="-107" charset="0"/>
              </a:rPr>
              <a:t>1 - </a:t>
            </a:r>
            <a:fld id="{E8754586-748E-423B-B46D-321A01942A47}" type="slidenum">
              <a:rPr lang="en-US" sz="1200" smtClean="0">
                <a:latin typeface="Calibri" pitchFamily="-107" charset="0"/>
              </a:rPr>
              <a:pPr algn="r" eaLnBrk="1" hangingPunct="1">
                <a:defRPr/>
              </a:pPr>
              <a:t>‹#›</a:t>
            </a:fld>
            <a:endParaRPr lang="en-US" sz="1200" dirty="0">
              <a:latin typeface="Calibri" pitchFamily="-107" charset="0"/>
            </a:endParaRPr>
          </a:p>
        </p:txBody>
      </p:sp>
    </p:spTree>
    <p:extLst>
      <p:ext uri="{BB962C8B-B14F-4D97-AF65-F5344CB8AC3E}">
        <p14:creationId xmlns:p14="http://schemas.microsoft.com/office/powerpoint/2010/main" val="83702605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S PGothic" pitchFamily="34"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bwMode="auto">
          <a:noFill/>
          <a:ln>
            <a:solidFill>
              <a:srgbClr val="000000"/>
            </a:solidFill>
            <a:miter lim="800000"/>
            <a:headEnd/>
            <a:tailEnd/>
          </a:ln>
        </p:spPr>
      </p:sp>
      <p:sp>
        <p:nvSpPr>
          <p:cNvPr id="167939" name="Notes Placeholder 2"/>
          <p:cNvSpPr>
            <a:spLocks noGrp="1"/>
          </p:cNvSpPr>
          <p:nvPr>
            <p:ph type="body" idx="1"/>
          </p:nvPr>
        </p:nvSpPr>
        <p:spPr bwMode="auto">
          <a:noFill/>
        </p:spPr>
        <p:txBody>
          <a:bodyPr/>
          <a:lstStyle/>
          <a:p>
            <a:pPr eaLnBrk="1" hangingPunct="1">
              <a:spcBef>
                <a:spcPct val="0"/>
              </a:spcBef>
            </a:pPr>
            <a:endParaRPr lang="en-US" altLang="en-US" dirty="0"/>
          </a:p>
        </p:txBody>
      </p:sp>
    </p:spTree>
    <p:extLst>
      <p:ext uri="{BB962C8B-B14F-4D97-AF65-F5344CB8AC3E}">
        <p14:creationId xmlns:p14="http://schemas.microsoft.com/office/powerpoint/2010/main" val="3198462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6FB42-E70C-4FA6-B141-9BD8E6020B3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HK"/>
          </a:p>
        </p:txBody>
      </p:sp>
      <p:sp>
        <p:nvSpPr>
          <p:cNvPr id="3" name="Subtitle 2">
            <a:extLst>
              <a:ext uri="{FF2B5EF4-FFF2-40B4-BE49-F238E27FC236}">
                <a16:creationId xmlns:a16="http://schemas.microsoft.com/office/drawing/2014/main" id="{C154AD63-5068-4E4E-A3E7-F90521A24E3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HK"/>
          </a:p>
        </p:txBody>
      </p:sp>
      <p:sp>
        <p:nvSpPr>
          <p:cNvPr id="4" name="Date Placeholder 3">
            <a:extLst>
              <a:ext uri="{FF2B5EF4-FFF2-40B4-BE49-F238E27FC236}">
                <a16:creationId xmlns:a16="http://schemas.microsoft.com/office/drawing/2014/main" id="{6F106812-10C8-433B-B6CA-EEC7F43376CF}"/>
              </a:ext>
            </a:extLst>
          </p:cNvPr>
          <p:cNvSpPr>
            <a:spLocks noGrp="1"/>
          </p:cNvSpPr>
          <p:nvPr>
            <p:ph type="dt" sz="half" idx="10"/>
          </p:nvPr>
        </p:nvSpPr>
        <p:spPr/>
        <p:txBody>
          <a:bodyPr/>
          <a:lstStyle/>
          <a:p>
            <a:pPr>
              <a:defRPr/>
            </a:pPr>
            <a:fld id="{5D29925E-EED2-44FE-A088-00640B77843B}" type="datetime1">
              <a:rPr lang="en-US" smtClean="0"/>
              <a:pPr>
                <a:defRPr/>
              </a:pPr>
              <a:t>10/21/2026</a:t>
            </a:fld>
            <a:endParaRPr lang="en-US" dirty="0"/>
          </a:p>
        </p:txBody>
      </p:sp>
      <p:sp>
        <p:nvSpPr>
          <p:cNvPr id="5" name="Footer Placeholder 4">
            <a:extLst>
              <a:ext uri="{FF2B5EF4-FFF2-40B4-BE49-F238E27FC236}">
                <a16:creationId xmlns:a16="http://schemas.microsoft.com/office/drawing/2014/main" id="{7F628831-A964-419A-8F9B-E13A6AC9D22A}"/>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4BCD5A45-30F2-4BA8-A795-B19884B2D3EE}"/>
              </a:ext>
            </a:extLst>
          </p:cNvPr>
          <p:cNvSpPr>
            <a:spLocks noGrp="1"/>
          </p:cNvSpPr>
          <p:nvPr>
            <p:ph type="sldNum" sz="quarter" idx="12"/>
          </p:nvPr>
        </p:nvSpPr>
        <p:spPr/>
        <p:txBody>
          <a:bodyPr/>
          <a:lstStyle/>
          <a:p>
            <a:pPr>
              <a:defRPr/>
            </a:pPr>
            <a:fld id="{D326DA46-A0C8-43DB-B9C0-C1581C69E33E}" type="slidenum">
              <a:rPr lang="en-US" smtClean="0"/>
              <a:pPr>
                <a:defRPr/>
              </a:pPr>
              <a:t>‹#›</a:t>
            </a:fld>
            <a:endParaRPr lang="en-US" dirty="0"/>
          </a:p>
        </p:txBody>
      </p:sp>
    </p:spTree>
    <p:extLst>
      <p:ext uri="{BB962C8B-B14F-4D97-AF65-F5344CB8AC3E}">
        <p14:creationId xmlns:p14="http://schemas.microsoft.com/office/powerpoint/2010/main" val="2430746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9A0F-11F4-468A-92A1-C983B748FF94}"/>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E9CBAD7F-CA6D-45BF-B764-72E47621BFD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E3137278-C858-4DC0-AFCD-3C6A68D3C186}"/>
              </a:ext>
            </a:extLst>
          </p:cNvPr>
          <p:cNvSpPr>
            <a:spLocks noGrp="1"/>
          </p:cNvSpPr>
          <p:nvPr>
            <p:ph type="dt" sz="half" idx="10"/>
          </p:nvPr>
        </p:nvSpPr>
        <p:spPr/>
        <p:txBody>
          <a:bodyPr/>
          <a:lstStyle/>
          <a:p>
            <a:pPr>
              <a:defRPr/>
            </a:pPr>
            <a:fld id="{F432F547-B0D0-4CB8-8543-44DCD76FB919}" type="datetime1">
              <a:rPr lang="en-US" smtClean="0"/>
              <a:pPr>
                <a:defRPr/>
              </a:pPr>
              <a:t>10/21/2026</a:t>
            </a:fld>
            <a:endParaRPr lang="en-US" dirty="0"/>
          </a:p>
        </p:txBody>
      </p:sp>
      <p:sp>
        <p:nvSpPr>
          <p:cNvPr id="5" name="Footer Placeholder 4">
            <a:extLst>
              <a:ext uri="{FF2B5EF4-FFF2-40B4-BE49-F238E27FC236}">
                <a16:creationId xmlns:a16="http://schemas.microsoft.com/office/drawing/2014/main" id="{1BAC488E-4D8B-43F6-9EB5-45796484B241}"/>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31C8EFFA-FE3F-4B63-A363-A60D6A346D0C}"/>
              </a:ext>
            </a:extLst>
          </p:cNvPr>
          <p:cNvSpPr>
            <a:spLocks noGrp="1"/>
          </p:cNvSpPr>
          <p:nvPr>
            <p:ph type="sldNum" sz="quarter" idx="12"/>
          </p:nvPr>
        </p:nvSpPr>
        <p:spPr/>
        <p:txBody>
          <a:bodyPr/>
          <a:lstStyle/>
          <a:p>
            <a:pPr>
              <a:defRPr/>
            </a:pPr>
            <a:fld id="{4D43F197-C583-4294-BD21-B6AE0DDD46C4}" type="slidenum">
              <a:rPr lang="en-US" smtClean="0"/>
              <a:pPr>
                <a:defRPr/>
              </a:pPr>
              <a:t>‹#›</a:t>
            </a:fld>
            <a:endParaRPr lang="en-US" dirty="0"/>
          </a:p>
        </p:txBody>
      </p:sp>
    </p:spTree>
    <p:extLst>
      <p:ext uri="{BB962C8B-B14F-4D97-AF65-F5344CB8AC3E}">
        <p14:creationId xmlns:p14="http://schemas.microsoft.com/office/powerpoint/2010/main" val="3415552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26687-01E3-4EFA-AAF4-3B4BB497AA8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HK"/>
          </a:p>
        </p:txBody>
      </p:sp>
      <p:sp>
        <p:nvSpPr>
          <p:cNvPr id="3" name="Text Placeholder 2">
            <a:extLst>
              <a:ext uri="{FF2B5EF4-FFF2-40B4-BE49-F238E27FC236}">
                <a16:creationId xmlns:a16="http://schemas.microsoft.com/office/drawing/2014/main" id="{BADF4309-F76B-4BB7-B6F9-72503B85108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A4824F7-8986-499F-A6D6-173E38F03D7D}"/>
              </a:ext>
            </a:extLst>
          </p:cNvPr>
          <p:cNvSpPr>
            <a:spLocks noGrp="1"/>
          </p:cNvSpPr>
          <p:nvPr>
            <p:ph type="dt" sz="half" idx="10"/>
          </p:nvPr>
        </p:nvSpPr>
        <p:spPr/>
        <p:txBody>
          <a:bodyPr/>
          <a:lstStyle/>
          <a:p>
            <a:pPr>
              <a:defRPr/>
            </a:pPr>
            <a:fld id="{45180D1F-64D5-4D03-86A8-B0C78FB9D084}" type="datetime1">
              <a:rPr lang="en-US" smtClean="0"/>
              <a:pPr>
                <a:defRPr/>
              </a:pPr>
              <a:t>10/21/2026</a:t>
            </a:fld>
            <a:endParaRPr lang="en-US" dirty="0"/>
          </a:p>
        </p:txBody>
      </p:sp>
      <p:sp>
        <p:nvSpPr>
          <p:cNvPr id="5" name="Footer Placeholder 4">
            <a:extLst>
              <a:ext uri="{FF2B5EF4-FFF2-40B4-BE49-F238E27FC236}">
                <a16:creationId xmlns:a16="http://schemas.microsoft.com/office/drawing/2014/main" id="{1EA8C674-1E77-404C-A67C-7EEBBF9AB08B}"/>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D82BAFC3-E5CC-4C2D-9F40-7AC36D99BDC0}"/>
              </a:ext>
            </a:extLst>
          </p:cNvPr>
          <p:cNvSpPr>
            <a:spLocks noGrp="1"/>
          </p:cNvSpPr>
          <p:nvPr>
            <p:ph type="sldNum" sz="quarter" idx="12"/>
          </p:nvPr>
        </p:nvSpPr>
        <p:spPr/>
        <p:txBody>
          <a:bodyPr/>
          <a:lstStyle/>
          <a:p>
            <a:pPr>
              <a:defRPr/>
            </a:pPr>
            <a:fld id="{CE116888-0E84-4000-8C9A-DF22FF321353}" type="slidenum">
              <a:rPr lang="en-US" smtClean="0"/>
              <a:pPr>
                <a:defRPr/>
              </a:pPr>
              <a:t>‹#›</a:t>
            </a:fld>
            <a:endParaRPr lang="en-US" dirty="0"/>
          </a:p>
        </p:txBody>
      </p:sp>
    </p:spTree>
    <p:extLst>
      <p:ext uri="{BB962C8B-B14F-4D97-AF65-F5344CB8AC3E}">
        <p14:creationId xmlns:p14="http://schemas.microsoft.com/office/powerpoint/2010/main" val="1716667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6322-B5D5-4209-90AD-C2E4307513A1}"/>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A55F3636-E557-4BF5-BDB8-7608D671E6D1}"/>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Content Placeholder 3">
            <a:extLst>
              <a:ext uri="{FF2B5EF4-FFF2-40B4-BE49-F238E27FC236}">
                <a16:creationId xmlns:a16="http://schemas.microsoft.com/office/drawing/2014/main" id="{4541DEDD-0FE5-4DE5-8D0C-0BF6BF334DEC}"/>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Date Placeholder 4">
            <a:extLst>
              <a:ext uri="{FF2B5EF4-FFF2-40B4-BE49-F238E27FC236}">
                <a16:creationId xmlns:a16="http://schemas.microsoft.com/office/drawing/2014/main" id="{8684DEA4-5D2C-45AC-A09E-EA1426FF5322}"/>
              </a:ext>
            </a:extLst>
          </p:cNvPr>
          <p:cNvSpPr>
            <a:spLocks noGrp="1"/>
          </p:cNvSpPr>
          <p:nvPr>
            <p:ph type="dt" sz="half" idx="10"/>
          </p:nvPr>
        </p:nvSpPr>
        <p:spPr/>
        <p:txBody>
          <a:bodyPr/>
          <a:lstStyle/>
          <a:p>
            <a:pPr>
              <a:defRPr/>
            </a:pPr>
            <a:fld id="{6A607C7E-F4F5-4B77-8CDC-90CC78F38487}" type="datetime1">
              <a:rPr lang="en-US" smtClean="0"/>
              <a:pPr>
                <a:defRPr/>
              </a:pPr>
              <a:t>10/21/2026</a:t>
            </a:fld>
            <a:endParaRPr lang="en-US" dirty="0"/>
          </a:p>
        </p:txBody>
      </p:sp>
      <p:sp>
        <p:nvSpPr>
          <p:cNvPr id="6" name="Footer Placeholder 5">
            <a:extLst>
              <a:ext uri="{FF2B5EF4-FFF2-40B4-BE49-F238E27FC236}">
                <a16:creationId xmlns:a16="http://schemas.microsoft.com/office/drawing/2014/main" id="{2A2A3584-A3FD-4926-AF2B-BA4A2209746B}"/>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EADF32EB-F0E7-4396-94E9-D3172F1D0D50}"/>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6422752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8068-C533-471D-B504-99206ADAC47E}"/>
              </a:ext>
            </a:extLst>
          </p:cNvPr>
          <p:cNvSpPr>
            <a:spLocks noGrp="1"/>
          </p:cNvSpPr>
          <p:nvPr>
            <p:ph type="title"/>
          </p:nvPr>
        </p:nvSpPr>
        <p:spPr>
          <a:xfrm>
            <a:off x="629841" y="365126"/>
            <a:ext cx="7886700" cy="1325563"/>
          </a:xfrm>
        </p:spPr>
        <p:txBody>
          <a:bodyPr/>
          <a:lstStyle/>
          <a:p>
            <a:r>
              <a:rPr lang="en-US"/>
              <a:t>Click to edit Master title style</a:t>
            </a:r>
            <a:endParaRPr lang="en-HK"/>
          </a:p>
        </p:txBody>
      </p:sp>
      <p:sp>
        <p:nvSpPr>
          <p:cNvPr id="3" name="Text Placeholder 2">
            <a:extLst>
              <a:ext uri="{FF2B5EF4-FFF2-40B4-BE49-F238E27FC236}">
                <a16:creationId xmlns:a16="http://schemas.microsoft.com/office/drawing/2014/main" id="{870A985D-5BF7-4CB5-A92B-4A6FDFBB42C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001B07C4-7F34-446A-9E2E-1B83A53EA1AD}"/>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Text Placeholder 4">
            <a:extLst>
              <a:ext uri="{FF2B5EF4-FFF2-40B4-BE49-F238E27FC236}">
                <a16:creationId xmlns:a16="http://schemas.microsoft.com/office/drawing/2014/main" id="{AFC32C3C-0143-494D-9F52-9E04ECF3F6F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E306F971-95B4-46A0-91C2-A0AFD49D1487}"/>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7" name="Date Placeholder 6">
            <a:extLst>
              <a:ext uri="{FF2B5EF4-FFF2-40B4-BE49-F238E27FC236}">
                <a16:creationId xmlns:a16="http://schemas.microsoft.com/office/drawing/2014/main" id="{30C71DDC-BE93-430E-B7EA-CDF6C2BE70F6}"/>
              </a:ext>
            </a:extLst>
          </p:cNvPr>
          <p:cNvSpPr>
            <a:spLocks noGrp="1"/>
          </p:cNvSpPr>
          <p:nvPr>
            <p:ph type="dt" sz="half" idx="10"/>
          </p:nvPr>
        </p:nvSpPr>
        <p:spPr/>
        <p:txBody>
          <a:bodyPr/>
          <a:lstStyle/>
          <a:p>
            <a:pPr>
              <a:defRPr/>
            </a:pPr>
            <a:fld id="{6A607C7E-F4F5-4B77-8CDC-90CC78F38487}" type="datetime1">
              <a:rPr lang="en-US" smtClean="0"/>
              <a:pPr>
                <a:defRPr/>
              </a:pPr>
              <a:t>10/21/2026</a:t>
            </a:fld>
            <a:endParaRPr lang="en-US" dirty="0"/>
          </a:p>
        </p:txBody>
      </p:sp>
      <p:sp>
        <p:nvSpPr>
          <p:cNvPr id="8" name="Footer Placeholder 7">
            <a:extLst>
              <a:ext uri="{FF2B5EF4-FFF2-40B4-BE49-F238E27FC236}">
                <a16:creationId xmlns:a16="http://schemas.microsoft.com/office/drawing/2014/main" id="{A7D57A58-19C6-42DB-9019-46F96D1CD122}"/>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9" name="Slide Number Placeholder 8">
            <a:extLst>
              <a:ext uri="{FF2B5EF4-FFF2-40B4-BE49-F238E27FC236}">
                <a16:creationId xmlns:a16="http://schemas.microsoft.com/office/drawing/2014/main" id="{62CBDDE3-F8EA-46B4-9C1F-FFEAFED26B91}"/>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54793755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99D1-45FB-49A6-A72B-39DFBA7983D3}"/>
              </a:ext>
            </a:extLst>
          </p:cNvPr>
          <p:cNvSpPr>
            <a:spLocks noGrp="1"/>
          </p:cNvSpPr>
          <p:nvPr>
            <p:ph type="title"/>
          </p:nvPr>
        </p:nvSpPr>
        <p:spPr/>
        <p:txBody>
          <a:bodyPr/>
          <a:lstStyle/>
          <a:p>
            <a:r>
              <a:rPr lang="en-US"/>
              <a:t>Click to edit Master title style</a:t>
            </a:r>
            <a:endParaRPr lang="en-HK"/>
          </a:p>
        </p:txBody>
      </p:sp>
      <p:sp>
        <p:nvSpPr>
          <p:cNvPr id="3" name="Date Placeholder 2">
            <a:extLst>
              <a:ext uri="{FF2B5EF4-FFF2-40B4-BE49-F238E27FC236}">
                <a16:creationId xmlns:a16="http://schemas.microsoft.com/office/drawing/2014/main" id="{A31AEA5B-B844-499C-BA2B-C67C65D26DBB}"/>
              </a:ext>
            </a:extLst>
          </p:cNvPr>
          <p:cNvSpPr>
            <a:spLocks noGrp="1"/>
          </p:cNvSpPr>
          <p:nvPr>
            <p:ph type="dt" sz="half" idx="10"/>
          </p:nvPr>
        </p:nvSpPr>
        <p:spPr/>
        <p:txBody>
          <a:bodyPr/>
          <a:lstStyle/>
          <a:p>
            <a:pPr>
              <a:defRPr/>
            </a:pPr>
            <a:fld id="{3F12F0C6-B5C0-45E6-85FD-C21AB31A1A95}" type="datetime1">
              <a:rPr lang="en-US" smtClean="0"/>
              <a:pPr>
                <a:defRPr/>
              </a:pPr>
              <a:t>10/21/2026</a:t>
            </a:fld>
            <a:endParaRPr lang="en-US" dirty="0"/>
          </a:p>
        </p:txBody>
      </p:sp>
      <p:sp>
        <p:nvSpPr>
          <p:cNvPr id="4" name="Footer Placeholder 3">
            <a:extLst>
              <a:ext uri="{FF2B5EF4-FFF2-40B4-BE49-F238E27FC236}">
                <a16:creationId xmlns:a16="http://schemas.microsoft.com/office/drawing/2014/main" id="{9F7586E5-DF4D-41FD-939D-D5906457C7F1}"/>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5" name="Slide Number Placeholder 4">
            <a:extLst>
              <a:ext uri="{FF2B5EF4-FFF2-40B4-BE49-F238E27FC236}">
                <a16:creationId xmlns:a16="http://schemas.microsoft.com/office/drawing/2014/main" id="{3568673F-6F56-412B-8D53-B5B5D1D6A606}"/>
              </a:ext>
            </a:extLst>
          </p:cNvPr>
          <p:cNvSpPr>
            <a:spLocks noGrp="1"/>
          </p:cNvSpPr>
          <p:nvPr>
            <p:ph type="sldNum" sz="quarter" idx="12"/>
          </p:nvPr>
        </p:nvSpPr>
        <p:spPr/>
        <p:txBody>
          <a:bodyPr/>
          <a:lstStyle/>
          <a:p>
            <a:pPr>
              <a:defRPr/>
            </a:pPr>
            <a:fld id="{738B8CC1-C7B3-4BC4-BEEE-A4A95954513D}" type="slidenum">
              <a:rPr lang="en-US" smtClean="0"/>
              <a:pPr>
                <a:defRPr/>
              </a:pPr>
              <a:t>‹#›</a:t>
            </a:fld>
            <a:endParaRPr lang="en-US" dirty="0"/>
          </a:p>
        </p:txBody>
      </p:sp>
    </p:spTree>
    <p:extLst>
      <p:ext uri="{BB962C8B-B14F-4D97-AF65-F5344CB8AC3E}">
        <p14:creationId xmlns:p14="http://schemas.microsoft.com/office/powerpoint/2010/main" val="211570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17015-38ED-4E49-B354-BF1208BF6C66}"/>
              </a:ext>
            </a:extLst>
          </p:cNvPr>
          <p:cNvSpPr>
            <a:spLocks noGrp="1"/>
          </p:cNvSpPr>
          <p:nvPr>
            <p:ph type="dt" sz="half" idx="10"/>
          </p:nvPr>
        </p:nvSpPr>
        <p:spPr/>
        <p:txBody>
          <a:bodyPr/>
          <a:lstStyle/>
          <a:p>
            <a:pPr>
              <a:defRPr/>
            </a:pPr>
            <a:fld id="{C8224EFF-F9F8-496A-8AFF-0F456197E8B5}" type="datetime1">
              <a:rPr lang="en-US" smtClean="0"/>
              <a:pPr>
                <a:defRPr/>
              </a:pPr>
              <a:t>10/21/2026</a:t>
            </a:fld>
            <a:endParaRPr lang="en-US" dirty="0"/>
          </a:p>
        </p:txBody>
      </p:sp>
      <p:sp>
        <p:nvSpPr>
          <p:cNvPr id="3" name="Footer Placeholder 2">
            <a:extLst>
              <a:ext uri="{FF2B5EF4-FFF2-40B4-BE49-F238E27FC236}">
                <a16:creationId xmlns:a16="http://schemas.microsoft.com/office/drawing/2014/main" id="{4BFED087-1CA0-4D1D-A5B0-CA6A37061CA7}"/>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4" name="Slide Number Placeholder 3">
            <a:extLst>
              <a:ext uri="{FF2B5EF4-FFF2-40B4-BE49-F238E27FC236}">
                <a16:creationId xmlns:a16="http://schemas.microsoft.com/office/drawing/2014/main" id="{705E9A89-0D3C-4EB6-BC78-A5673BA3818B}"/>
              </a:ext>
            </a:extLst>
          </p:cNvPr>
          <p:cNvSpPr>
            <a:spLocks noGrp="1"/>
          </p:cNvSpPr>
          <p:nvPr>
            <p:ph type="sldNum" sz="quarter" idx="12"/>
          </p:nvPr>
        </p:nvSpPr>
        <p:spPr/>
        <p:txBody>
          <a:bodyPr/>
          <a:lstStyle/>
          <a:p>
            <a:pPr>
              <a:defRPr/>
            </a:pPr>
            <a:fld id="{AA019379-17AD-4E0D-9610-E34AD365F0A3}" type="slidenum">
              <a:rPr lang="en-US" smtClean="0"/>
              <a:pPr>
                <a:defRPr/>
              </a:pPr>
              <a:t>‹#›</a:t>
            </a:fld>
            <a:endParaRPr lang="en-US" dirty="0"/>
          </a:p>
        </p:txBody>
      </p:sp>
    </p:spTree>
    <p:extLst>
      <p:ext uri="{BB962C8B-B14F-4D97-AF65-F5344CB8AC3E}">
        <p14:creationId xmlns:p14="http://schemas.microsoft.com/office/powerpoint/2010/main" val="17171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C35F3-02F6-4359-A8DD-7118AD1E85E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HK"/>
          </a:p>
        </p:txBody>
      </p:sp>
      <p:sp>
        <p:nvSpPr>
          <p:cNvPr id="3" name="Content Placeholder 2">
            <a:extLst>
              <a:ext uri="{FF2B5EF4-FFF2-40B4-BE49-F238E27FC236}">
                <a16:creationId xmlns:a16="http://schemas.microsoft.com/office/drawing/2014/main" id="{FD9C6DA7-C41C-4B1D-821B-A34DDED7DFB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Text Placeholder 3">
            <a:extLst>
              <a:ext uri="{FF2B5EF4-FFF2-40B4-BE49-F238E27FC236}">
                <a16:creationId xmlns:a16="http://schemas.microsoft.com/office/drawing/2014/main" id="{1B6F4FC8-0644-4504-8FD0-62DFC733C5B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20DD565-4EB8-457E-B8A9-509B3DCE9EDB}"/>
              </a:ext>
            </a:extLst>
          </p:cNvPr>
          <p:cNvSpPr>
            <a:spLocks noGrp="1"/>
          </p:cNvSpPr>
          <p:nvPr>
            <p:ph type="dt" sz="half" idx="10"/>
          </p:nvPr>
        </p:nvSpPr>
        <p:spPr/>
        <p:txBody>
          <a:bodyPr/>
          <a:lstStyle/>
          <a:p>
            <a:pPr>
              <a:defRPr/>
            </a:pPr>
            <a:fld id="{ED88E37B-CCA0-4BF7-B7AF-2BF4EC7610D2}" type="datetime1">
              <a:rPr lang="en-US" smtClean="0"/>
              <a:pPr>
                <a:defRPr/>
              </a:pPr>
              <a:t>10/21/2026</a:t>
            </a:fld>
            <a:endParaRPr lang="en-US" dirty="0"/>
          </a:p>
        </p:txBody>
      </p:sp>
      <p:sp>
        <p:nvSpPr>
          <p:cNvPr id="6" name="Footer Placeholder 5">
            <a:extLst>
              <a:ext uri="{FF2B5EF4-FFF2-40B4-BE49-F238E27FC236}">
                <a16:creationId xmlns:a16="http://schemas.microsoft.com/office/drawing/2014/main" id="{CE79D874-3E53-419D-8C82-3E772F73DA12}"/>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44EB5090-F9E3-4FA5-B32F-54204C780AAF}"/>
              </a:ext>
            </a:extLst>
          </p:cNvPr>
          <p:cNvSpPr>
            <a:spLocks noGrp="1"/>
          </p:cNvSpPr>
          <p:nvPr>
            <p:ph type="sldNum" sz="quarter" idx="12"/>
          </p:nvPr>
        </p:nvSpPr>
        <p:spPr/>
        <p:txBody>
          <a:bodyPr/>
          <a:lstStyle/>
          <a:p>
            <a:pPr>
              <a:defRPr/>
            </a:pPr>
            <a:fld id="{759EE4FC-2A91-409C-B8D2-F3728F9891D1}" type="slidenum">
              <a:rPr lang="en-US" smtClean="0"/>
              <a:pPr>
                <a:defRPr/>
              </a:pPr>
              <a:t>‹#›</a:t>
            </a:fld>
            <a:endParaRPr lang="en-US" dirty="0"/>
          </a:p>
        </p:txBody>
      </p:sp>
    </p:spTree>
    <p:extLst>
      <p:ext uri="{BB962C8B-B14F-4D97-AF65-F5344CB8AC3E}">
        <p14:creationId xmlns:p14="http://schemas.microsoft.com/office/powerpoint/2010/main" val="40215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7437F-279B-4932-9EF7-FFD910F0FF2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HK"/>
          </a:p>
        </p:txBody>
      </p:sp>
      <p:sp>
        <p:nvSpPr>
          <p:cNvPr id="3" name="Picture Placeholder 2">
            <a:extLst>
              <a:ext uri="{FF2B5EF4-FFF2-40B4-BE49-F238E27FC236}">
                <a16:creationId xmlns:a16="http://schemas.microsoft.com/office/drawing/2014/main" id="{D68E7D60-0F4E-4BE9-B09F-E7246F9691B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HK"/>
          </a:p>
        </p:txBody>
      </p:sp>
      <p:sp>
        <p:nvSpPr>
          <p:cNvPr id="4" name="Text Placeholder 3">
            <a:extLst>
              <a:ext uri="{FF2B5EF4-FFF2-40B4-BE49-F238E27FC236}">
                <a16:creationId xmlns:a16="http://schemas.microsoft.com/office/drawing/2014/main" id="{6FF00D92-3484-4528-A351-19165E1E60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C47D33E0-CCF8-4FEC-A987-DCEDD3193901}"/>
              </a:ext>
            </a:extLst>
          </p:cNvPr>
          <p:cNvSpPr>
            <a:spLocks noGrp="1"/>
          </p:cNvSpPr>
          <p:nvPr>
            <p:ph type="dt" sz="half" idx="10"/>
          </p:nvPr>
        </p:nvSpPr>
        <p:spPr/>
        <p:txBody>
          <a:bodyPr/>
          <a:lstStyle/>
          <a:p>
            <a:pPr>
              <a:defRPr/>
            </a:pPr>
            <a:fld id="{6A607C7E-F4F5-4B77-8CDC-90CC78F38487}" type="datetime1">
              <a:rPr lang="en-US" smtClean="0"/>
              <a:pPr>
                <a:defRPr/>
              </a:pPr>
              <a:t>10/21/2026</a:t>
            </a:fld>
            <a:endParaRPr lang="en-US" dirty="0"/>
          </a:p>
        </p:txBody>
      </p:sp>
      <p:sp>
        <p:nvSpPr>
          <p:cNvPr id="6" name="Footer Placeholder 5">
            <a:extLst>
              <a:ext uri="{FF2B5EF4-FFF2-40B4-BE49-F238E27FC236}">
                <a16:creationId xmlns:a16="http://schemas.microsoft.com/office/drawing/2014/main" id="{D8A906EF-43E0-4C73-8925-C4A8189FB145}"/>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35C2ED9E-B863-4067-A92B-B18B62177CC5}"/>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387335032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C477-2B1A-4487-9A1A-D9D3C01F65C3}"/>
              </a:ext>
            </a:extLst>
          </p:cNvPr>
          <p:cNvSpPr>
            <a:spLocks noGrp="1"/>
          </p:cNvSpPr>
          <p:nvPr>
            <p:ph type="title"/>
          </p:nvPr>
        </p:nvSpPr>
        <p:spPr/>
        <p:txBody>
          <a:bodyPr/>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95AA2816-85E2-44D9-878A-B0F1465BB90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8C3A877E-BE39-43C8-9EE8-D621A9D0EDB7}"/>
              </a:ext>
            </a:extLst>
          </p:cNvPr>
          <p:cNvSpPr>
            <a:spLocks noGrp="1"/>
          </p:cNvSpPr>
          <p:nvPr>
            <p:ph type="dt" sz="half" idx="10"/>
          </p:nvPr>
        </p:nvSpPr>
        <p:spPr/>
        <p:txBody>
          <a:bodyPr/>
          <a:lstStyle/>
          <a:p>
            <a:pPr>
              <a:defRPr/>
            </a:pPr>
            <a:fld id="{7103DD5F-3ADD-4550-807E-1C58669018A4}" type="datetime1">
              <a:rPr lang="en-US" smtClean="0"/>
              <a:pPr>
                <a:defRPr/>
              </a:pPr>
              <a:t>10/21/2026</a:t>
            </a:fld>
            <a:endParaRPr lang="en-US" dirty="0"/>
          </a:p>
        </p:txBody>
      </p:sp>
      <p:sp>
        <p:nvSpPr>
          <p:cNvPr id="5" name="Footer Placeholder 4">
            <a:extLst>
              <a:ext uri="{FF2B5EF4-FFF2-40B4-BE49-F238E27FC236}">
                <a16:creationId xmlns:a16="http://schemas.microsoft.com/office/drawing/2014/main" id="{F0429F1C-DBE1-4824-91C7-103FAFC42734}"/>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7487950F-2711-4E12-8356-E605F7485B5E}"/>
              </a:ext>
            </a:extLst>
          </p:cNvPr>
          <p:cNvSpPr>
            <a:spLocks noGrp="1"/>
          </p:cNvSpPr>
          <p:nvPr>
            <p:ph type="sldNum" sz="quarter" idx="12"/>
          </p:nvPr>
        </p:nvSpPr>
        <p:spPr/>
        <p:txBody>
          <a:bodyPr/>
          <a:lstStyle/>
          <a:p>
            <a:pPr>
              <a:defRPr/>
            </a:pPr>
            <a:fld id="{A3AD7A4F-0B31-4615-9C11-A8677BAFCAEB}" type="slidenum">
              <a:rPr lang="en-US" smtClean="0"/>
              <a:pPr>
                <a:defRPr/>
              </a:pPr>
              <a:t>‹#›</a:t>
            </a:fld>
            <a:endParaRPr lang="en-US" dirty="0"/>
          </a:p>
        </p:txBody>
      </p:sp>
    </p:spTree>
    <p:extLst>
      <p:ext uri="{BB962C8B-B14F-4D97-AF65-F5344CB8AC3E}">
        <p14:creationId xmlns:p14="http://schemas.microsoft.com/office/powerpoint/2010/main" val="34913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2CA952-B5B7-4257-8694-84F3A9F9044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57EB2DB1-6CAB-4906-8B39-FB4DED0A89BF}"/>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3FB8120D-AC6D-4553-9834-55272B2AA92D}"/>
              </a:ext>
            </a:extLst>
          </p:cNvPr>
          <p:cNvSpPr>
            <a:spLocks noGrp="1"/>
          </p:cNvSpPr>
          <p:nvPr>
            <p:ph type="dt" sz="half" idx="10"/>
          </p:nvPr>
        </p:nvSpPr>
        <p:spPr/>
        <p:txBody>
          <a:bodyPr/>
          <a:lstStyle/>
          <a:p>
            <a:pPr>
              <a:defRPr/>
            </a:pPr>
            <a:fld id="{6281D123-9B63-43A4-93F3-FBB2E34B51D6}" type="datetime1">
              <a:rPr lang="en-US" smtClean="0"/>
              <a:pPr>
                <a:defRPr/>
              </a:pPr>
              <a:t>10/21/2026</a:t>
            </a:fld>
            <a:endParaRPr lang="en-US" dirty="0"/>
          </a:p>
        </p:txBody>
      </p:sp>
      <p:sp>
        <p:nvSpPr>
          <p:cNvPr id="5" name="Footer Placeholder 4">
            <a:extLst>
              <a:ext uri="{FF2B5EF4-FFF2-40B4-BE49-F238E27FC236}">
                <a16:creationId xmlns:a16="http://schemas.microsoft.com/office/drawing/2014/main" id="{38426FC3-224D-4426-B73C-2AA0B48F55CA}"/>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BEEEE764-C080-4BE3-AFC3-EA929A6EE48D}"/>
              </a:ext>
            </a:extLst>
          </p:cNvPr>
          <p:cNvSpPr>
            <a:spLocks noGrp="1"/>
          </p:cNvSpPr>
          <p:nvPr>
            <p:ph type="sldNum" sz="quarter" idx="12"/>
          </p:nvPr>
        </p:nvSpPr>
        <p:spPr/>
        <p:txBody>
          <a:bodyPr/>
          <a:lstStyle/>
          <a:p>
            <a:pPr>
              <a:defRPr/>
            </a:pPr>
            <a:fld id="{9B01C260-B825-4CE8-9DDA-33D812275B3B}" type="slidenum">
              <a:rPr lang="en-US" smtClean="0"/>
              <a:pPr>
                <a:defRPr/>
              </a:pPr>
              <a:t>‹#›</a:t>
            </a:fld>
            <a:endParaRPr lang="en-US" dirty="0"/>
          </a:p>
        </p:txBody>
      </p:sp>
    </p:spTree>
    <p:extLst>
      <p:ext uri="{BB962C8B-B14F-4D97-AF65-F5344CB8AC3E}">
        <p14:creationId xmlns:p14="http://schemas.microsoft.com/office/powerpoint/2010/main" val="3336281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2208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E64F96-0661-4ECF-9982-9B197F1FD6C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HK"/>
          </a:p>
        </p:txBody>
      </p:sp>
      <p:sp>
        <p:nvSpPr>
          <p:cNvPr id="3" name="Text Placeholder 2">
            <a:extLst>
              <a:ext uri="{FF2B5EF4-FFF2-40B4-BE49-F238E27FC236}">
                <a16:creationId xmlns:a16="http://schemas.microsoft.com/office/drawing/2014/main" id="{DAD15EEC-6249-47C2-8057-6D2EEB8EAC4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2FFA0C48-B9DE-4CE6-A788-912657533B7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6A607C7E-F4F5-4B77-8CDC-90CC78F38487}" type="datetime1">
              <a:rPr lang="en-US" smtClean="0"/>
              <a:pPr>
                <a:defRPr/>
              </a:pPr>
              <a:t>10/21/2026</a:t>
            </a:fld>
            <a:endParaRPr lang="en-US" dirty="0"/>
          </a:p>
        </p:txBody>
      </p:sp>
      <p:sp>
        <p:nvSpPr>
          <p:cNvPr id="5" name="Footer Placeholder 4">
            <a:extLst>
              <a:ext uri="{FF2B5EF4-FFF2-40B4-BE49-F238E27FC236}">
                <a16:creationId xmlns:a16="http://schemas.microsoft.com/office/drawing/2014/main" id="{F3B3B9AB-B01B-4609-977B-94A63EF8D5A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B2444386-A281-4CF3-A02F-A34096AE11C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4252344573"/>
      </p:ext>
    </p:extLst>
  </p:cSld>
  <p:clrMap bg1="lt1" tx1="dk1" bg2="lt2" tx2="dk2" accent1="accent1" accent2="accent2" accent3="accent3" accent4="accent4" accent5="accent5" accent6="accent6" hlink="hlink" folHlink="folHlink"/>
  <p:sldLayoutIdLst>
    <p:sldLayoutId id="2147485722" r:id="rId1"/>
    <p:sldLayoutId id="2147485723" r:id="rId2"/>
    <p:sldLayoutId id="2147485724" r:id="rId3"/>
    <p:sldLayoutId id="2147485725" r:id="rId4"/>
    <p:sldLayoutId id="2147485726" r:id="rId5"/>
    <p:sldLayoutId id="2147485727" r:id="rId6"/>
    <p:sldLayoutId id="2147485728" r:id="rId7"/>
    <p:sldLayoutId id="2147485729" r:id="rId8"/>
    <p:sldLayoutId id="2147485730" r:id="rId9"/>
    <p:sldLayoutId id="2147485731" r:id="rId10"/>
    <p:sldLayoutId id="2147485732" r:id="rId11"/>
    <p:sldLayoutId id="2147484929" r:id="rId12"/>
    <p:sldLayoutId id="2147484917" r:id="rId13"/>
    <p:sldLayoutId id="2147485054" r:id="rId14"/>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aCgELT_7G1o"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3oDBTY7Qe2Q"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AdSkqkuy97I"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eyonline.ey.co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3"/>
          <p:cNvSpPr>
            <a:spLocks noGrp="1"/>
          </p:cNvSpPr>
          <p:nvPr>
            <p:ph type="ctrTitle"/>
          </p:nvPr>
        </p:nvSpPr>
        <p:spPr>
          <a:xfrm>
            <a:off x="609600" y="1088237"/>
            <a:ext cx="6858000" cy="1718936"/>
          </a:xfrm>
        </p:spPr>
        <p:txBody>
          <a:bodyPr>
            <a:normAutofit/>
          </a:bodyPr>
          <a:lstStyle/>
          <a:p>
            <a:pPr algn="l" eaLnBrk="1" hangingPunct="1"/>
            <a:r>
              <a:rPr lang="en-US" altLang="en-US" b="1" dirty="0"/>
              <a:t>AC6761 Artificial Intelligence Accounting</a:t>
            </a:r>
          </a:p>
        </p:txBody>
      </p:sp>
      <p:sp>
        <p:nvSpPr>
          <p:cNvPr id="129027" name="Subtitle 2"/>
          <p:cNvSpPr>
            <a:spLocks noGrp="1"/>
          </p:cNvSpPr>
          <p:nvPr>
            <p:ph type="subTitle" idx="1"/>
          </p:nvPr>
        </p:nvSpPr>
        <p:spPr>
          <a:xfrm>
            <a:off x="762000" y="3429000"/>
            <a:ext cx="7696200" cy="1543012"/>
          </a:xfrm>
        </p:spPr>
        <p:txBody>
          <a:bodyPr>
            <a:normAutofit fontScale="92500" lnSpcReduction="10000"/>
          </a:bodyPr>
          <a:lstStyle/>
          <a:p>
            <a:pPr algn="l" eaLnBrk="1" hangingPunct="1">
              <a:buFont typeface="Wingdings" pitchFamily="-107" charset="2"/>
              <a:buNone/>
            </a:pPr>
            <a:r>
              <a:rPr lang="en-US" altLang="en-US" sz="3600" b="1" dirty="0">
                <a:solidFill>
                  <a:srgbClr val="898989"/>
                </a:solidFill>
              </a:rPr>
              <a:t>Chapter 9</a:t>
            </a:r>
          </a:p>
          <a:p>
            <a:pPr algn="l" eaLnBrk="1" hangingPunct="1">
              <a:buFont typeface="Wingdings" pitchFamily="-107" charset="2"/>
              <a:buNone/>
            </a:pPr>
            <a:r>
              <a:rPr lang="en-US" altLang="en-US" sz="3600" b="1" dirty="0">
                <a:solidFill>
                  <a:srgbClr val="898989"/>
                </a:solidFill>
              </a:rPr>
              <a:t>AI in financial statement analyses – from the perspective of stakeholders</a:t>
            </a:r>
          </a:p>
        </p:txBody>
      </p:sp>
      <p:sp>
        <p:nvSpPr>
          <p:cNvPr id="10" name="Rectangle 9"/>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3861B-162A-4F86-BD78-8B537AFF3297}"/>
              </a:ext>
            </a:extLst>
          </p:cNvPr>
          <p:cNvSpPr>
            <a:spLocks noGrp="1"/>
          </p:cNvSpPr>
          <p:nvPr>
            <p:ph type="title"/>
          </p:nvPr>
        </p:nvSpPr>
        <p:spPr/>
        <p:txBody>
          <a:bodyPr/>
          <a:lstStyle/>
          <a:p>
            <a:r>
              <a:rPr lang="en-HK" dirty="0"/>
              <a:t>What is accounting?</a:t>
            </a:r>
          </a:p>
        </p:txBody>
      </p:sp>
      <p:sp>
        <p:nvSpPr>
          <p:cNvPr id="3" name="Content Placeholder 2">
            <a:extLst>
              <a:ext uri="{FF2B5EF4-FFF2-40B4-BE49-F238E27FC236}">
                <a16:creationId xmlns:a16="http://schemas.microsoft.com/office/drawing/2014/main" id="{22DC089F-9CE8-46B5-AE0D-7CBBFDCDF5DA}"/>
              </a:ext>
            </a:extLst>
          </p:cNvPr>
          <p:cNvSpPr>
            <a:spLocks noGrp="1"/>
          </p:cNvSpPr>
          <p:nvPr>
            <p:ph idx="1"/>
          </p:nvPr>
        </p:nvSpPr>
        <p:spPr/>
        <p:txBody>
          <a:bodyPr/>
          <a:lstStyle/>
          <a:p>
            <a:r>
              <a:rPr lang="en-HK" sz="2400" dirty="0"/>
              <a:t>Identifying</a:t>
            </a:r>
          </a:p>
          <a:p>
            <a:endParaRPr lang="en-HK" sz="2400" dirty="0"/>
          </a:p>
          <a:p>
            <a:r>
              <a:rPr lang="en-HK" sz="2400" dirty="0"/>
              <a:t>Recording</a:t>
            </a:r>
          </a:p>
          <a:p>
            <a:endParaRPr lang="en-HK" sz="2400" dirty="0"/>
          </a:p>
          <a:p>
            <a:r>
              <a:rPr lang="en-HK" sz="2400" dirty="0"/>
              <a:t>Communicating</a:t>
            </a:r>
          </a:p>
          <a:p>
            <a:endParaRPr lang="en-HK" dirty="0"/>
          </a:p>
        </p:txBody>
      </p:sp>
      <p:sp>
        <p:nvSpPr>
          <p:cNvPr id="4" name="Slide Number Placeholder 3">
            <a:extLst>
              <a:ext uri="{FF2B5EF4-FFF2-40B4-BE49-F238E27FC236}">
                <a16:creationId xmlns:a16="http://schemas.microsoft.com/office/drawing/2014/main" id="{B3659E59-D582-406C-B8E9-ACF7EE78C5D6}"/>
              </a:ext>
            </a:extLst>
          </p:cNvPr>
          <p:cNvSpPr>
            <a:spLocks noGrp="1"/>
          </p:cNvSpPr>
          <p:nvPr>
            <p:ph type="sldNum" sz="quarter" idx="12"/>
          </p:nvPr>
        </p:nvSpPr>
        <p:spPr/>
        <p:txBody>
          <a:bodyPr/>
          <a:lstStyle/>
          <a:p>
            <a:pPr>
              <a:defRPr/>
            </a:pPr>
            <a:fld id="{4D43F197-C583-4294-BD21-B6AE0DDD46C4}" type="slidenum">
              <a:rPr lang="en-US" smtClean="0"/>
              <a:pPr>
                <a:defRPr/>
              </a:pPr>
              <a:t>2</a:t>
            </a:fld>
            <a:endParaRPr lang="en-US" dirty="0"/>
          </a:p>
        </p:txBody>
      </p:sp>
    </p:spTree>
    <p:extLst>
      <p:ext uri="{BB962C8B-B14F-4D97-AF65-F5344CB8AC3E}">
        <p14:creationId xmlns:p14="http://schemas.microsoft.com/office/powerpoint/2010/main" val="3068088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F81FD-7CF6-44F4-8B5A-CF5C1239E238}"/>
              </a:ext>
            </a:extLst>
          </p:cNvPr>
          <p:cNvSpPr>
            <a:spLocks noGrp="1"/>
          </p:cNvSpPr>
          <p:nvPr>
            <p:ph type="title"/>
          </p:nvPr>
        </p:nvSpPr>
        <p:spPr/>
        <p:txBody>
          <a:bodyPr/>
          <a:lstStyle/>
          <a:p>
            <a:r>
              <a:rPr lang="en-HK" dirty="0"/>
              <a:t>Two</a:t>
            </a:r>
            <a:r>
              <a:rPr lang="zh-CN" altLang="en-US" dirty="0"/>
              <a:t> </a:t>
            </a:r>
            <a:r>
              <a:rPr lang="en-HK" altLang="zh-CN" dirty="0"/>
              <a:t>sides of the same report</a:t>
            </a:r>
            <a:endParaRPr lang="en-HK" dirty="0"/>
          </a:p>
        </p:txBody>
      </p:sp>
      <p:sp>
        <p:nvSpPr>
          <p:cNvPr id="3" name="Content Placeholder 2">
            <a:extLst>
              <a:ext uri="{FF2B5EF4-FFF2-40B4-BE49-F238E27FC236}">
                <a16:creationId xmlns:a16="http://schemas.microsoft.com/office/drawing/2014/main" id="{AFEC72C5-7D72-4112-95DC-A0A12F0CABAD}"/>
              </a:ext>
            </a:extLst>
          </p:cNvPr>
          <p:cNvSpPr>
            <a:spLocks noGrp="1"/>
          </p:cNvSpPr>
          <p:nvPr>
            <p:ph idx="1"/>
          </p:nvPr>
        </p:nvSpPr>
        <p:spPr/>
        <p:txBody>
          <a:bodyPr/>
          <a:lstStyle/>
          <a:p>
            <a:pPr marL="0" indent="0">
              <a:buNone/>
            </a:pPr>
            <a:r>
              <a:rPr lang="en-HK" dirty="0"/>
              <a:t>Providers – Accountants (to some extent, Auditors)</a:t>
            </a:r>
          </a:p>
          <a:p>
            <a:endParaRPr lang="en-HK" dirty="0"/>
          </a:p>
          <a:p>
            <a:r>
              <a:rPr lang="en-HK" dirty="0"/>
              <a:t>Produce the numbers, follow IFRS / US GAAP, keep the records, and publish the annual report. </a:t>
            </a:r>
          </a:p>
          <a:p>
            <a:endParaRPr lang="en-HK" dirty="0"/>
          </a:p>
          <a:p>
            <a:endParaRPr lang="en-HK" dirty="0"/>
          </a:p>
          <a:p>
            <a:pPr marL="0" indent="0">
              <a:buNone/>
            </a:pPr>
            <a:r>
              <a:rPr lang="en-HK" dirty="0"/>
              <a:t>Users – Everyone (Stakeholders)</a:t>
            </a:r>
          </a:p>
          <a:p>
            <a:endParaRPr lang="en-HK" dirty="0"/>
          </a:p>
          <a:p>
            <a:r>
              <a:rPr lang="en-HK" dirty="0"/>
              <a:t>Read the numbers to make a decision: invest, lend, supply, regulate, work there. </a:t>
            </a:r>
          </a:p>
          <a:p>
            <a:pPr marL="0" indent="0">
              <a:buNone/>
            </a:pPr>
            <a:endParaRPr lang="en-HK" dirty="0"/>
          </a:p>
        </p:txBody>
      </p:sp>
      <p:sp>
        <p:nvSpPr>
          <p:cNvPr id="4" name="Slide Number Placeholder 3">
            <a:extLst>
              <a:ext uri="{FF2B5EF4-FFF2-40B4-BE49-F238E27FC236}">
                <a16:creationId xmlns:a16="http://schemas.microsoft.com/office/drawing/2014/main" id="{62900F1A-1D88-4C5E-9FF8-8ED63B2F4148}"/>
              </a:ext>
            </a:extLst>
          </p:cNvPr>
          <p:cNvSpPr>
            <a:spLocks noGrp="1"/>
          </p:cNvSpPr>
          <p:nvPr>
            <p:ph type="sldNum" sz="quarter" idx="12"/>
          </p:nvPr>
        </p:nvSpPr>
        <p:spPr/>
        <p:txBody>
          <a:bodyPr/>
          <a:lstStyle/>
          <a:p>
            <a:pPr>
              <a:defRPr/>
            </a:pPr>
            <a:fld id="{4D43F197-C583-4294-BD21-B6AE0DDD46C4}" type="slidenum">
              <a:rPr lang="en-US" smtClean="0"/>
              <a:pPr>
                <a:defRPr/>
              </a:pPr>
              <a:t>3</a:t>
            </a:fld>
            <a:endParaRPr lang="en-US" dirty="0"/>
          </a:p>
        </p:txBody>
      </p:sp>
    </p:spTree>
    <p:extLst>
      <p:ext uri="{BB962C8B-B14F-4D97-AF65-F5344CB8AC3E}">
        <p14:creationId xmlns:p14="http://schemas.microsoft.com/office/powerpoint/2010/main" val="2335621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8D490-48FC-4569-8211-9599BC7CD4BD}"/>
              </a:ext>
            </a:extLst>
          </p:cNvPr>
          <p:cNvSpPr>
            <a:spLocks noGrp="1"/>
          </p:cNvSpPr>
          <p:nvPr>
            <p:ph type="title"/>
          </p:nvPr>
        </p:nvSpPr>
        <p:spPr/>
        <p:txBody>
          <a:bodyPr/>
          <a:lstStyle/>
          <a:p>
            <a:r>
              <a:rPr lang="en-HK" dirty="0"/>
              <a:t>Use of AI in Accounting</a:t>
            </a:r>
          </a:p>
        </p:txBody>
      </p:sp>
      <p:sp>
        <p:nvSpPr>
          <p:cNvPr id="3" name="Content Placeholder 2">
            <a:extLst>
              <a:ext uri="{FF2B5EF4-FFF2-40B4-BE49-F238E27FC236}">
                <a16:creationId xmlns:a16="http://schemas.microsoft.com/office/drawing/2014/main" id="{0FD7A566-8F7C-42CF-8269-0087F355064A}"/>
              </a:ext>
            </a:extLst>
          </p:cNvPr>
          <p:cNvSpPr>
            <a:spLocks noGrp="1"/>
          </p:cNvSpPr>
          <p:nvPr>
            <p:ph idx="1"/>
          </p:nvPr>
        </p:nvSpPr>
        <p:spPr>
          <a:xfrm>
            <a:off x="628650" y="1447800"/>
            <a:ext cx="7886700" cy="4729163"/>
          </a:xfrm>
        </p:spPr>
        <p:txBody>
          <a:bodyPr>
            <a:normAutofit fontScale="92500"/>
          </a:bodyPr>
          <a:lstStyle/>
          <a:p>
            <a:pPr marL="0" indent="0">
              <a:buNone/>
            </a:pPr>
            <a:r>
              <a:rPr lang="en-HK" dirty="0"/>
              <a:t>Identifying: Optical Character Recognition (OCR) + Natural Language Processing (NLP)</a:t>
            </a:r>
          </a:p>
          <a:p>
            <a:endParaRPr lang="en-HK" dirty="0"/>
          </a:p>
          <a:p>
            <a:r>
              <a:rPr lang="en-HK" dirty="0"/>
              <a:t>Read invoices, receipts and bank statements, and turn paper into data.</a:t>
            </a:r>
          </a:p>
          <a:p>
            <a:endParaRPr lang="en-HK" dirty="0"/>
          </a:p>
          <a:p>
            <a:pPr marL="0" indent="0">
              <a:buNone/>
            </a:pPr>
            <a:r>
              <a:rPr lang="en-HK" dirty="0"/>
              <a:t>Recording: Robotic Process Automation (RPA)</a:t>
            </a:r>
          </a:p>
          <a:p>
            <a:endParaRPr lang="en-HK" dirty="0"/>
          </a:p>
          <a:p>
            <a:r>
              <a:rPr lang="en-HK" dirty="0"/>
              <a:t>RPA posts entries, matches and reconciles – repetitive, rule-based work at machine speed. </a:t>
            </a:r>
          </a:p>
          <a:p>
            <a:endParaRPr lang="en-HK" dirty="0"/>
          </a:p>
          <a:p>
            <a:pPr marL="0" indent="0">
              <a:buNone/>
            </a:pPr>
            <a:r>
              <a:rPr lang="en-HK" dirty="0"/>
              <a:t>Communicating: Generative AI</a:t>
            </a:r>
          </a:p>
          <a:p>
            <a:endParaRPr lang="en-HK" dirty="0"/>
          </a:p>
          <a:p>
            <a:r>
              <a:rPr lang="en-HK" dirty="0"/>
              <a:t>Explain ratios, drafts summaries, and answer questions in plain language. </a:t>
            </a:r>
          </a:p>
          <a:p>
            <a:pPr marL="0" indent="0">
              <a:buNone/>
            </a:pPr>
            <a:endParaRPr lang="en-HK" dirty="0"/>
          </a:p>
          <a:p>
            <a:pPr marL="0" indent="0">
              <a:buNone/>
            </a:pPr>
            <a:endParaRPr lang="en-HK" dirty="0"/>
          </a:p>
        </p:txBody>
      </p:sp>
      <p:sp>
        <p:nvSpPr>
          <p:cNvPr id="4" name="Slide Number Placeholder 3">
            <a:extLst>
              <a:ext uri="{FF2B5EF4-FFF2-40B4-BE49-F238E27FC236}">
                <a16:creationId xmlns:a16="http://schemas.microsoft.com/office/drawing/2014/main" id="{8A89E132-6D5D-4791-9A96-9AD33F55C9A0}"/>
              </a:ext>
            </a:extLst>
          </p:cNvPr>
          <p:cNvSpPr>
            <a:spLocks noGrp="1"/>
          </p:cNvSpPr>
          <p:nvPr>
            <p:ph type="sldNum" sz="quarter" idx="12"/>
          </p:nvPr>
        </p:nvSpPr>
        <p:spPr/>
        <p:txBody>
          <a:bodyPr/>
          <a:lstStyle/>
          <a:p>
            <a:pPr>
              <a:defRPr/>
            </a:pPr>
            <a:fld id="{4D43F197-C583-4294-BD21-B6AE0DDD46C4}" type="slidenum">
              <a:rPr lang="en-US" smtClean="0"/>
              <a:pPr>
                <a:defRPr/>
              </a:pPr>
              <a:t>4</a:t>
            </a:fld>
            <a:endParaRPr lang="en-US" dirty="0"/>
          </a:p>
        </p:txBody>
      </p:sp>
    </p:spTree>
    <p:extLst>
      <p:ext uri="{BB962C8B-B14F-4D97-AF65-F5344CB8AC3E}">
        <p14:creationId xmlns:p14="http://schemas.microsoft.com/office/powerpoint/2010/main" val="952312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C73A9-2472-499C-BA82-CCDFAACCEEF5}"/>
              </a:ext>
            </a:extLst>
          </p:cNvPr>
          <p:cNvSpPr>
            <a:spLocks noGrp="1"/>
          </p:cNvSpPr>
          <p:nvPr>
            <p:ph type="title"/>
          </p:nvPr>
        </p:nvSpPr>
        <p:spPr>
          <a:xfrm>
            <a:off x="600599" y="903514"/>
            <a:ext cx="7886700" cy="896940"/>
          </a:xfrm>
        </p:spPr>
        <p:txBody>
          <a:bodyPr>
            <a:normAutofit fontScale="90000"/>
          </a:bodyPr>
          <a:lstStyle/>
          <a:p>
            <a:r>
              <a:rPr lang="en-HK" dirty="0"/>
              <a:t>Use of AI in Auditing (Big 4 auditors as examples)</a:t>
            </a:r>
            <a:br>
              <a:rPr lang="en-HK" dirty="0"/>
            </a:br>
            <a:endParaRPr lang="en-HK" dirty="0"/>
          </a:p>
        </p:txBody>
      </p:sp>
      <p:sp>
        <p:nvSpPr>
          <p:cNvPr id="3" name="Content Placeholder 2">
            <a:extLst>
              <a:ext uri="{FF2B5EF4-FFF2-40B4-BE49-F238E27FC236}">
                <a16:creationId xmlns:a16="http://schemas.microsoft.com/office/drawing/2014/main" id="{983C054D-31C0-4BB3-B526-173F4C3C4B59}"/>
              </a:ext>
            </a:extLst>
          </p:cNvPr>
          <p:cNvSpPr>
            <a:spLocks noGrp="1"/>
          </p:cNvSpPr>
          <p:nvPr>
            <p:ph idx="1"/>
          </p:nvPr>
        </p:nvSpPr>
        <p:spPr>
          <a:xfrm>
            <a:off x="656701" y="1981200"/>
            <a:ext cx="7886700" cy="3962400"/>
          </a:xfrm>
        </p:spPr>
        <p:txBody>
          <a:bodyPr>
            <a:normAutofit/>
          </a:bodyPr>
          <a:lstStyle/>
          <a:p>
            <a:r>
              <a:rPr lang="en-HK" dirty="0"/>
              <a:t>Deloitte</a:t>
            </a:r>
          </a:p>
          <a:p>
            <a:endParaRPr lang="en-HK" dirty="0"/>
          </a:p>
          <a:p>
            <a:r>
              <a:rPr lang="en-HK" dirty="0"/>
              <a:t>KPMG</a:t>
            </a:r>
          </a:p>
          <a:p>
            <a:endParaRPr lang="en-HK" dirty="0"/>
          </a:p>
          <a:p>
            <a:r>
              <a:rPr lang="en-HK" dirty="0"/>
              <a:t>PwC</a:t>
            </a:r>
          </a:p>
          <a:p>
            <a:endParaRPr lang="en-HK" dirty="0"/>
          </a:p>
          <a:p>
            <a:r>
              <a:rPr lang="en-HK" dirty="0"/>
              <a:t>EY</a:t>
            </a:r>
          </a:p>
          <a:p>
            <a:endParaRPr lang="en-HK" dirty="0"/>
          </a:p>
          <a:p>
            <a:endParaRPr lang="en-HK" dirty="0"/>
          </a:p>
        </p:txBody>
      </p:sp>
      <p:sp>
        <p:nvSpPr>
          <p:cNvPr id="4" name="Slide Number Placeholder 3">
            <a:extLst>
              <a:ext uri="{FF2B5EF4-FFF2-40B4-BE49-F238E27FC236}">
                <a16:creationId xmlns:a16="http://schemas.microsoft.com/office/drawing/2014/main" id="{77CEE1C7-9623-432F-9CBA-0B645E11CAFD}"/>
              </a:ext>
            </a:extLst>
          </p:cNvPr>
          <p:cNvSpPr>
            <a:spLocks noGrp="1"/>
          </p:cNvSpPr>
          <p:nvPr>
            <p:ph type="sldNum" sz="quarter" idx="12"/>
          </p:nvPr>
        </p:nvSpPr>
        <p:spPr/>
        <p:txBody>
          <a:bodyPr/>
          <a:lstStyle/>
          <a:p>
            <a:pPr>
              <a:defRPr/>
            </a:pPr>
            <a:fld id="{4D43F197-C583-4294-BD21-B6AE0DDD46C4}" type="slidenum">
              <a:rPr lang="en-US" smtClean="0"/>
              <a:pPr>
                <a:defRPr/>
              </a:pPr>
              <a:t>5</a:t>
            </a:fld>
            <a:endParaRPr lang="en-US" dirty="0"/>
          </a:p>
        </p:txBody>
      </p:sp>
    </p:spTree>
    <p:extLst>
      <p:ext uri="{BB962C8B-B14F-4D97-AF65-F5344CB8AC3E}">
        <p14:creationId xmlns:p14="http://schemas.microsoft.com/office/powerpoint/2010/main" val="1519690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081CF-84F4-4B05-A8E1-C6048A9E6D30}"/>
              </a:ext>
            </a:extLst>
          </p:cNvPr>
          <p:cNvSpPr>
            <a:spLocks noGrp="1"/>
          </p:cNvSpPr>
          <p:nvPr>
            <p:ph type="title"/>
          </p:nvPr>
        </p:nvSpPr>
        <p:spPr/>
        <p:txBody>
          <a:bodyPr/>
          <a:lstStyle/>
          <a:p>
            <a:r>
              <a:rPr lang="en-HK" dirty="0"/>
              <a:t>Deloitte – AI in auditing</a:t>
            </a:r>
            <a:br>
              <a:rPr lang="en-HK" dirty="0"/>
            </a:br>
            <a:endParaRPr lang="en-HK" dirty="0"/>
          </a:p>
        </p:txBody>
      </p:sp>
      <p:sp>
        <p:nvSpPr>
          <p:cNvPr id="3" name="Content Placeholder 2">
            <a:extLst>
              <a:ext uri="{FF2B5EF4-FFF2-40B4-BE49-F238E27FC236}">
                <a16:creationId xmlns:a16="http://schemas.microsoft.com/office/drawing/2014/main" id="{917F1936-0D01-49AB-8ED1-0A95D4004C14}"/>
              </a:ext>
            </a:extLst>
          </p:cNvPr>
          <p:cNvSpPr>
            <a:spLocks noGrp="1"/>
          </p:cNvSpPr>
          <p:nvPr>
            <p:ph idx="1"/>
          </p:nvPr>
        </p:nvSpPr>
        <p:spPr>
          <a:xfrm>
            <a:off x="628650" y="1447800"/>
            <a:ext cx="7886700" cy="4729163"/>
          </a:xfrm>
        </p:spPr>
        <p:txBody>
          <a:bodyPr/>
          <a:lstStyle/>
          <a:p>
            <a:r>
              <a:rPr lang="en-HK" dirty="0"/>
              <a:t>Major investment ($3 billion over five years) in AI capabilities.</a:t>
            </a:r>
          </a:p>
          <a:p>
            <a:endParaRPr lang="en-HK" dirty="0"/>
          </a:p>
          <a:p>
            <a:r>
              <a:rPr lang="en-HK" dirty="0"/>
              <a:t>Global audit platform Omnia.</a:t>
            </a:r>
          </a:p>
          <a:p>
            <a:endParaRPr lang="en-HK" dirty="0"/>
          </a:p>
          <a:p>
            <a:r>
              <a:rPr lang="en-HK" dirty="0">
                <a:hlinkClick r:id="rId2"/>
              </a:rPr>
              <a:t>https://www.youtube.com/watch?v=aCgELT_7G1o</a:t>
            </a:r>
            <a:endParaRPr lang="en-HK" dirty="0"/>
          </a:p>
          <a:p>
            <a:endParaRPr lang="en-HK" dirty="0"/>
          </a:p>
          <a:p>
            <a:r>
              <a:rPr lang="en-HK" dirty="0"/>
              <a:t>Built under Deloitte’s Trustworthy AI framework</a:t>
            </a:r>
          </a:p>
          <a:p>
            <a:endParaRPr lang="en-HK" dirty="0"/>
          </a:p>
          <a:p>
            <a:r>
              <a:rPr lang="en-HK" dirty="0"/>
              <a:t>Focus on autonomous agents that work together across end-to-end audit workflows.</a:t>
            </a:r>
          </a:p>
        </p:txBody>
      </p:sp>
      <p:sp>
        <p:nvSpPr>
          <p:cNvPr id="4" name="Slide Number Placeholder 3">
            <a:extLst>
              <a:ext uri="{FF2B5EF4-FFF2-40B4-BE49-F238E27FC236}">
                <a16:creationId xmlns:a16="http://schemas.microsoft.com/office/drawing/2014/main" id="{901A848D-7242-441D-A657-B7047CE3C93B}"/>
              </a:ext>
            </a:extLst>
          </p:cNvPr>
          <p:cNvSpPr>
            <a:spLocks noGrp="1"/>
          </p:cNvSpPr>
          <p:nvPr>
            <p:ph type="sldNum" sz="quarter" idx="12"/>
          </p:nvPr>
        </p:nvSpPr>
        <p:spPr/>
        <p:txBody>
          <a:bodyPr/>
          <a:lstStyle/>
          <a:p>
            <a:pPr>
              <a:defRPr/>
            </a:pPr>
            <a:fld id="{4D43F197-C583-4294-BD21-B6AE0DDD46C4}" type="slidenum">
              <a:rPr lang="en-US" smtClean="0"/>
              <a:pPr>
                <a:defRPr/>
              </a:pPr>
              <a:t>6</a:t>
            </a:fld>
            <a:endParaRPr lang="en-US" dirty="0"/>
          </a:p>
        </p:txBody>
      </p:sp>
    </p:spTree>
    <p:extLst>
      <p:ext uri="{BB962C8B-B14F-4D97-AF65-F5344CB8AC3E}">
        <p14:creationId xmlns:p14="http://schemas.microsoft.com/office/powerpoint/2010/main" val="1434454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F0A62-5F30-4993-97E4-203EBB3936EA}"/>
              </a:ext>
            </a:extLst>
          </p:cNvPr>
          <p:cNvSpPr>
            <a:spLocks noGrp="1"/>
          </p:cNvSpPr>
          <p:nvPr>
            <p:ph type="title"/>
          </p:nvPr>
        </p:nvSpPr>
        <p:spPr/>
        <p:txBody>
          <a:bodyPr/>
          <a:lstStyle/>
          <a:p>
            <a:r>
              <a:rPr lang="en-HK" dirty="0"/>
              <a:t>Deloitte – Key application of AI</a:t>
            </a:r>
          </a:p>
        </p:txBody>
      </p:sp>
      <p:sp>
        <p:nvSpPr>
          <p:cNvPr id="3" name="Content Placeholder 2">
            <a:extLst>
              <a:ext uri="{FF2B5EF4-FFF2-40B4-BE49-F238E27FC236}">
                <a16:creationId xmlns:a16="http://schemas.microsoft.com/office/drawing/2014/main" id="{A04DDAA3-188C-4418-9B65-1B6767CED7AD}"/>
              </a:ext>
            </a:extLst>
          </p:cNvPr>
          <p:cNvSpPr>
            <a:spLocks noGrp="1"/>
          </p:cNvSpPr>
          <p:nvPr>
            <p:ph idx="1"/>
          </p:nvPr>
        </p:nvSpPr>
        <p:spPr>
          <a:xfrm>
            <a:off x="628650" y="1690689"/>
            <a:ext cx="7886700" cy="4486274"/>
          </a:xfrm>
        </p:spPr>
        <p:txBody>
          <a:bodyPr>
            <a:normAutofit/>
          </a:bodyPr>
          <a:lstStyle/>
          <a:p>
            <a:r>
              <a:rPr lang="en-HK" dirty="0"/>
              <a:t>AI agents scan media and data for emerging risks and draft staff memos.</a:t>
            </a:r>
          </a:p>
          <a:p>
            <a:endParaRPr lang="en-HK" dirty="0"/>
          </a:p>
          <a:p>
            <a:r>
              <a:rPr lang="en-HK" dirty="0"/>
              <a:t>Transaction and document analysis; faster client query responses.</a:t>
            </a:r>
          </a:p>
          <a:p>
            <a:endParaRPr lang="en-HK" dirty="0"/>
          </a:p>
          <a:p>
            <a:r>
              <a:rPr lang="en-HK" dirty="0"/>
              <a:t>Support for disclosure and regulatory requirement evaluation.</a:t>
            </a:r>
          </a:p>
          <a:p>
            <a:endParaRPr lang="en-HK" dirty="0"/>
          </a:p>
          <a:p>
            <a:r>
              <a:rPr lang="en-HK" dirty="0"/>
              <a:t>Risk Clarity solution: AI-powered risk assessment, control testing, and continuous monitoring.</a:t>
            </a:r>
          </a:p>
          <a:p>
            <a:endParaRPr lang="en-HK" dirty="0"/>
          </a:p>
          <a:p>
            <a:r>
              <a:rPr lang="en-HK" dirty="0"/>
              <a:t>Tools for journal-entry testing, automated analytical review, and audit documentation generation.</a:t>
            </a:r>
          </a:p>
        </p:txBody>
      </p:sp>
      <p:sp>
        <p:nvSpPr>
          <p:cNvPr id="4" name="Slide Number Placeholder 3">
            <a:extLst>
              <a:ext uri="{FF2B5EF4-FFF2-40B4-BE49-F238E27FC236}">
                <a16:creationId xmlns:a16="http://schemas.microsoft.com/office/drawing/2014/main" id="{11A810A7-E0F6-46F4-8296-A8A219788A82}"/>
              </a:ext>
            </a:extLst>
          </p:cNvPr>
          <p:cNvSpPr>
            <a:spLocks noGrp="1"/>
          </p:cNvSpPr>
          <p:nvPr>
            <p:ph type="sldNum" sz="quarter" idx="12"/>
          </p:nvPr>
        </p:nvSpPr>
        <p:spPr/>
        <p:txBody>
          <a:bodyPr/>
          <a:lstStyle/>
          <a:p>
            <a:pPr>
              <a:defRPr/>
            </a:pPr>
            <a:fld id="{4D43F197-C583-4294-BD21-B6AE0DDD46C4}" type="slidenum">
              <a:rPr lang="en-US" smtClean="0"/>
              <a:pPr>
                <a:defRPr/>
              </a:pPr>
              <a:t>7</a:t>
            </a:fld>
            <a:endParaRPr lang="en-US" dirty="0"/>
          </a:p>
        </p:txBody>
      </p:sp>
    </p:spTree>
    <p:extLst>
      <p:ext uri="{BB962C8B-B14F-4D97-AF65-F5344CB8AC3E}">
        <p14:creationId xmlns:p14="http://schemas.microsoft.com/office/powerpoint/2010/main" val="1597451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081CF-84F4-4B05-A8E1-C6048A9E6D30}"/>
              </a:ext>
            </a:extLst>
          </p:cNvPr>
          <p:cNvSpPr>
            <a:spLocks noGrp="1"/>
          </p:cNvSpPr>
          <p:nvPr>
            <p:ph type="title"/>
          </p:nvPr>
        </p:nvSpPr>
        <p:spPr/>
        <p:txBody>
          <a:bodyPr/>
          <a:lstStyle/>
          <a:p>
            <a:r>
              <a:rPr lang="en-HK" dirty="0"/>
              <a:t>KPMG – AI in auditing</a:t>
            </a:r>
            <a:br>
              <a:rPr lang="en-HK" dirty="0"/>
            </a:br>
            <a:endParaRPr lang="en-HK" dirty="0"/>
          </a:p>
        </p:txBody>
      </p:sp>
      <p:sp>
        <p:nvSpPr>
          <p:cNvPr id="3" name="Content Placeholder 2">
            <a:extLst>
              <a:ext uri="{FF2B5EF4-FFF2-40B4-BE49-F238E27FC236}">
                <a16:creationId xmlns:a16="http://schemas.microsoft.com/office/drawing/2014/main" id="{917F1936-0D01-49AB-8ED1-0A95D4004C14}"/>
              </a:ext>
            </a:extLst>
          </p:cNvPr>
          <p:cNvSpPr>
            <a:spLocks noGrp="1"/>
          </p:cNvSpPr>
          <p:nvPr>
            <p:ph idx="1"/>
          </p:nvPr>
        </p:nvSpPr>
        <p:spPr>
          <a:xfrm>
            <a:off x="628650" y="1447800"/>
            <a:ext cx="7886700" cy="4729163"/>
          </a:xfrm>
        </p:spPr>
        <p:txBody>
          <a:bodyPr>
            <a:normAutofit/>
          </a:bodyPr>
          <a:lstStyle/>
          <a:p>
            <a:r>
              <a:rPr lang="en-HK" dirty="0"/>
              <a:t>Integration of </a:t>
            </a:r>
            <a:r>
              <a:rPr lang="en-HK" dirty="0" err="1"/>
              <a:t>GenAI</a:t>
            </a:r>
            <a:r>
              <a:rPr lang="en-HK" dirty="0"/>
              <a:t> and AI agents into the global smart audit platform KPMG Clara (used by ~95,000 auditors worldwide).</a:t>
            </a:r>
          </a:p>
          <a:p>
            <a:endParaRPr lang="en-HK" dirty="0"/>
          </a:p>
          <a:p>
            <a:r>
              <a:rPr lang="en-HK" dirty="0"/>
              <a:t>Multi-agent platform KPMG Workbench (built with Microsoft) with dozens of specialized agents.</a:t>
            </a:r>
          </a:p>
          <a:p>
            <a:endParaRPr lang="en-HK" dirty="0"/>
          </a:p>
          <a:p>
            <a:r>
              <a:rPr lang="en-HK" dirty="0">
                <a:hlinkClick r:id="rId2"/>
              </a:rPr>
              <a:t>https://www.youtube.com/watch?v=3oDBTY7Qe2Q</a:t>
            </a:r>
            <a:endParaRPr lang="en-HK" dirty="0"/>
          </a:p>
          <a:p>
            <a:endParaRPr lang="en-HK" dirty="0"/>
          </a:p>
          <a:p>
            <a:r>
              <a:rPr lang="en-HK" dirty="0"/>
              <a:t>Supported by Trusted AI framework and ISO 42001 certification.</a:t>
            </a:r>
          </a:p>
          <a:p>
            <a:endParaRPr lang="en-HK" dirty="0"/>
          </a:p>
          <a:p>
            <a:r>
              <a:rPr lang="en-HK" dirty="0"/>
              <a:t>Partnerships (Microsoft Azure, Databricks) for large-scale data analysis.</a:t>
            </a:r>
          </a:p>
        </p:txBody>
      </p:sp>
      <p:sp>
        <p:nvSpPr>
          <p:cNvPr id="4" name="Slide Number Placeholder 3">
            <a:extLst>
              <a:ext uri="{FF2B5EF4-FFF2-40B4-BE49-F238E27FC236}">
                <a16:creationId xmlns:a16="http://schemas.microsoft.com/office/drawing/2014/main" id="{901A848D-7242-441D-A657-B7047CE3C93B}"/>
              </a:ext>
            </a:extLst>
          </p:cNvPr>
          <p:cNvSpPr>
            <a:spLocks noGrp="1"/>
          </p:cNvSpPr>
          <p:nvPr>
            <p:ph type="sldNum" sz="quarter" idx="12"/>
          </p:nvPr>
        </p:nvSpPr>
        <p:spPr/>
        <p:txBody>
          <a:bodyPr/>
          <a:lstStyle/>
          <a:p>
            <a:pPr>
              <a:defRPr/>
            </a:pPr>
            <a:fld id="{4D43F197-C583-4294-BD21-B6AE0DDD46C4}" type="slidenum">
              <a:rPr lang="en-US" smtClean="0"/>
              <a:pPr>
                <a:defRPr/>
              </a:pPr>
              <a:t>8</a:t>
            </a:fld>
            <a:endParaRPr lang="en-US" dirty="0"/>
          </a:p>
        </p:txBody>
      </p:sp>
    </p:spTree>
    <p:extLst>
      <p:ext uri="{BB962C8B-B14F-4D97-AF65-F5344CB8AC3E}">
        <p14:creationId xmlns:p14="http://schemas.microsoft.com/office/powerpoint/2010/main" val="2583746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F0A62-5F30-4993-97E4-203EBB3936EA}"/>
              </a:ext>
            </a:extLst>
          </p:cNvPr>
          <p:cNvSpPr>
            <a:spLocks noGrp="1"/>
          </p:cNvSpPr>
          <p:nvPr>
            <p:ph type="title"/>
          </p:nvPr>
        </p:nvSpPr>
        <p:spPr>
          <a:xfrm>
            <a:off x="628650" y="122237"/>
            <a:ext cx="7886700" cy="1325563"/>
          </a:xfrm>
        </p:spPr>
        <p:txBody>
          <a:bodyPr/>
          <a:lstStyle/>
          <a:p>
            <a:r>
              <a:rPr lang="en-HK" dirty="0"/>
              <a:t>KPMG – Key application of AI</a:t>
            </a:r>
          </a:p>
        </p:txBody>
      </p:sp>
      <p:sp>
        <p:nvSpPr>
          <p:cNvPr id="3" name="Content Placeholder 2">
            <a:extLst>
              <a:ext uri="{FF2B5EF4-FFF2-40B4-BE49-F238E27FC236}">
                <a16:creationId xmlns:a16="http://schemas.microsoft.com/office/drawing/2014/main" id="{A04DDAA3-188C-4418-9B65-1B6767CED7AD}"/>
              </a:ext>
            </a:extLst>
          </p:cNvPr>
          <p:cNvSpPr>
            <a:spLocks noGrp="1"/>
          </p:cNvSpPr>
          <p:nvPr>
            <p:ph idx="1"/>
          </p:nvPr>
        </p:nvSpPr>
        <p:spPr>
          <a:xfrm>
            <a:off x="628650" y="1219200"/>
            <a:ext cx="7886700" cy="4957763"/>
          </a:xfrm>
        </p:spPr>
        <p:txBody>
          <a:bodyPr>
            <a:normAutofit lnSpcReduction="10000"/>
          </a:bodyPr>
          <a:lstStyle/>
          <a:p>
            <a:r>
              <a:rPr lang="en-HK" dirty="0"/>
              <a:t>AI agents for expense vouching, search for unrecorded liabilities, and provision analysis.</a:t>
            </a:r>
          </a:p>
          <a:p>
            <a:endParaRPr lang="en-HK" dirty="0"/>
          </a:p>
          <a:p>
            <a:r>
              <a:rPr lang="en-HK" dirty="0"/>
              <a:t>Financial Report Analyzer (FRA): AI-generated support for disclosure checklists.</a:t>
            </a:r>
          </a:p>
          <a:p>
            <a:endParaRPr lang="en-HK" dirty="0"/>
          </a:p>
          <a:p>
            <a:r>
              <a:rPr lang="en-HK" dirty="0"/>
              <a:t>Audit Chat: </a:t>
            </a:r>
            <a:r>
              <a:rPr lang="en-HK" dirty="0" err="1"/>
              <a:t>GenAI</a:t>
            </a:r>
            <a:r>
              <a:rPr lang="en-HK" dirty="0"/>
              <a:t> assistant for research, contract analysis, summarization, and methodology support (millions of conversations logged).</a:t>
            </a:r>
          </a:p>
          <a:p>
            <a:endParaRPr lang="en-HK" dirty="0"/>
          </a:p>
          <a:p>
            <a:r>
              <a:rPr lang="en-HK" dirty="0"/>
              <a:t>Transaction scoring, anomaly detection across billions of journal entries, and automated quality scoring.</a:t>
            </a:r>
          </a:p>
          <a:p>
            <a:endParaRPr lang="en-HK" dirty="0"/>
          </a:p>
          <a:p>
            <a:r>
              <a:rPr lang="en-HK" dirty="0"/>
              <a:t>Workflow recommendations and risk identification embedded in the audit process.</a:t>
            </a:r>
          </a:p>
        </p:txBody>
      </p:sp>
      <p:sp>
        <p:nvSpPr>
          <p:cNvPr id="4" name="Slide Number Placeholder 3">
            <a:extLst>
              <a:ext uri="{FF2B5EF4-FFF2-40B4-BE49-F238E27FC236}">
                <a16:creationId xmlns:a16="http://schemas.microsoft.com/office/drawing/2014/main" id="{11A810A7-E0F6-46F4-8296-A8A219788A82}"/>
              </a:ext>
            </a:extLst>
          </p:cNvPr>
          <p:cNvSpPr>
            <a:spLocks noGrp="1"/>
          </p:cNvSpPr>
          <p:nvPr>
            <p:ph type="sldNum" sz="quarter" idx="12"/>
          </p:nvPr>
        </p:nvSpPr>
        <p:spPr/>
        <p:txBody>
          <a:bodyPr/>
          <a:lstStyle/>
          <a:p>
            <a:pPr>
              <a:defRPr/>
            </a:pPr>
            <a:fld id="{4D43F197-C583-4294-BD21-B6AE0DDD46C4}" type="slidenum">
              <a:rPr lang="en-US" smtClean="0"/>
              <a:pPr>
                <a:defRPr/>
              </a:pPr>
              <a:t>9</a:t>
            </a:fld>
            <a:endParaRPr lang="en-US" dirty="0"/>
          </a:p>
        </p:txBody>
      </p:sp>
    </p:spTree>
    <p:extLst>
      <p:ext uri="{BB962C8B-B14F-4D97-AF65-F5344CB8AC3E}">
        <p14:creationId xmlns:p14="http://schemas.microsoft.com/office/powerpoint/2010/main" val="1331141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081CF-84F4-4B05-A8E1-C6048A9E6D30}"/>
              </a:ext>
            </a:extLst>
          </p:cNvPr>
          <p:cNvSpPr>
            <a:spLocks noGrp="1"/>
          </p:cNvSpPr>
          <p:nvPr>
            <p:ph type="title"/>
          </p:nvPr>
        </p:nvSpPr>
        <p:spPr/>
        <p:txBody>
          <a:bodyPr/>
          <a:lstStyle/>
          <a:p>
            <a:r>
              <a:rPr lang="en-HK" dirty="0"/>
              <a:t>PwC – AI in auditing</a:t>
            </a:r>
            <a:br>
              <a:rPr lang="en-HK" dirty="0"/>
            </a:br>
            <a:endParaRPr lang="en-HK" dirty="0"/>
          </a:p>
        </p:txBody>
      </p:sp>
      <p:sp>
        <p:nvSpPr>
          <p:cNvPr id="3" name="Content Placeholder 2">
            <a:extLst>
              <a:ext uri="{FF2B5EF4-FFF2-40B4-BE49-F238E27FC236}">
                <a16:creationId xmlns:a16="http://schemas.microsoft.com/office/drawing/2014/main" id="{917F1936-0D01-49AB-8ED1-0A95D4004C14}"/>
              </a:ext>
            </a:extLst>
          </p:cNvPr>
          <p:cNvSpPr>
            <a:spLocks noGrp="1"/>
          </p:cNvSpPr>
          <p:nvPr>
            <p:ph idx="1"/>
          </p:nvPr>
        </p:nvSpPr>
        <p:spPr>
          <a:xfrm>
            <a:off x="628650" y="1447800"/>
            <a:ext cx="7886700" cy="4729163"/>
          </a:xfrm>
        </p:spPr>
        <p:txBody>
          <a:bodyPr>
            <a:normAutofit/>
          </a:bodyPr>
          <a:lstStyle/>
          <a:p>
            <a:r>
              <a:rPr lang="en-HK" dirty="0"/>
              <a:t>Significant AI investment (reported ~$2 billion scale) and development of an AI-native / next-generation audit platform.</a:t>
            </a:r>
          </a:p>
          <a:p>
            <a:endParaRPr lang="en-HK" dirty="0"/>
          </a:p>
          <a:p>
            <a:r>
              <a:rPr lang="en-HK" dirty="0">
                <a:hlinkClick r:id="rId2"/>
              </a:rPr>
              <a:t>https://www.youtube.com/watch?v=AdSkqkuy97I</a:t>
            </a:r>
            <a:endParaRPr lang="en-HK" dirty="0"/>
          </a:p>
          <a:p>
            <a:endParaRPr lang="en-HK" dirty="0"/>
          </a:p>
          <a:p>
            <a:r>
              <a:rPr lang="en-HK" dirty="0"/>
              <a:t>Collaboration with Microsoft; focus on agentic architecture and full-population analysis.</a:t>
            </a:r>
          </a:p>
          <a:p>
            <a:endParaRPr lang="en-HK" dirty="0"/>
          </a:p>
          <a:p>
            <a:r>
              <a:rPr lang="en-HK" dirty="0"/>
              <a:t>Tools developed under rigorous quality, independence, and ethical standards.</a:t>
            </a:r>
          </a:p>
          <a:p>
            <a:endParaRPr lang="en-HK" dirty="0"/>
          </a:p>
          <a:p>
            <a:r>
              <a:rPr lang="en-HK" dirty="0"/>
              <a:t>Emphasis on transforming the entire audit experience (not just adding tools).</a:t>
            </a:r>
          </a:p>
        </p:txBody>
      </p:sp>
      <p:sp>
        <p:nvSpPr>
          <p:cNvPr id="4" name="Slide Number Placeholder 3">
            <a:extLst>
              <a:ext uri="{FF2B5EF4-FFF2-40B4-BE49-F238E27FC236}">
                <a16:creationId xmlns:a16="http://schemas.microsoft.com/office/drawing/2014/main" id="{901A848D-7242-441D-A657-B7047CE3C93B}"/>
              </a:ext>
            </a:extLst>
          </p:cNvPr>
          <p:cNvSpPr>
            <a:spLocks noGrp="1"/>
          </p:cNvSpPr>
          <p:nvPr>
            <p:ph type="sldNum" sz="quarter" idx="12"/>
          </p:nvPr>
        </p:nvSpPr>
        <p:spPr/>
        <p:txBody>
          <a:bodyPr/>
          <a:lstStyle/>
          <a:p>
            <a:pPr>
              <a:defRPr/>
            </a:pPr>
            <a:fld id="{4D43F197-C583-4294-BD21-B6AE0DDD46C4}" type="slidenum">
              <a:rPr lang="en-US" smtClean="0"/>
              <a:pPr>
                <a:defRPr/>
              </a:pPr>
              <a:t>10</a:t>
            </a:fld>
            <a:endParaRPr lang="en-US" dirty="0"/>
          </a:p>
        </p:txBody>
      </p:sp>
    </p:spTree>
    <p:extLst>
      <p:ext uri="{BB962C8B-B14F-4D97-AF65-F5344CB8AC3E}">
        <p14:creationId xmlns:p14="http://schemas.microsoft.com/office/powerpoint/2010/main" val="3102051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F0A62-5F30-4993-97E4-203EBB3936EA}"/>
              </a:ext>
            </a:extLst>
          </p:cNvPr>
          <p:cNvSpPr>
            <a:spLocks noGrp="1"/>
          </p:cNvSpPr>
          <p:nvPr>
            <p:ph type="title"/>
          </p:nvPr>
        </p:nvSpPr>
        <p:spPr/>
        <p:txBody>
          <a:bodyPr/>
          <a:lstStyle/>
          <a:p>
            <a:r>
              <a:rPr lang="en-HK" dirty="0"/>
              <a:t>PwC – Key application of AI</a:t>
            </a:r>
          </a:p>
        </p:txBody>
      </p:sp>
      <p:sp>
        <p:nvSpPr>
          <p:cNvPr id="3" name="Content Placeholder 2">
            <a:extLst>
              <a:ext uri="{FF2B5EF4-FFF2-40B4-BE49-F238E27FC236}">
                <a16:creationId xmlns:a16="http://schemas.microsoft.com/office/drawing/2014/main" id="{A04DDAA3-188C-4418-9B65-1B6767CED7AD}"/>
              </a:ext>
            </a:extLst>
          </p:cNvPr>
          <p:cNvSpPr>
            <a:spLocks noGrp="1"/>
          </p:cNvSpPr>
          <p:nvPr>
            <p:ph idx="1"/>
          </p:nvPr>
        </p:nvSpPr>
        <p:spPr>
          <a:xfrm>
            <a:off x="628650" y="1447800"/>
            <a:ext cx="7886700" cy="4729163"/>
          </a:xfrm>
        </p:spPr>
        <p:txBody>
          <a:bodyPr>
            <a:normAutofit fontScale="92500" lnSpcReduction="10000"/>
          </a:bodyPr>
          <a:lstStyle/>
          <a:p>
            <a:r>
              <a:rPr lang="en-HK" dirty="0"/>
              <a:t>Data PRO and Acquisition Hub: AI-enabled data collection, transformation, and preparation.</a:t>
            </a:r>
          </a:p>
          <a:p>
            <a:endParaRPr lang="en-HK" dirty="0"/>
          </a:p>
          <a:p>
            <a:r>
              <a:rPr lang="en-HK" dirty="0"/>
              <a:t>Advanced analytics and machine learning for anomaly detection and earlier risk identification.</a:t>
            </a:r>
          </a:p>
          <a:p>
            <a:endParaRPr lang="en-HK" dirty="0"/>
          </a:p>
          <a:p>
            <a:r>
              <a:rPr lang="en-HK" dirty="0"/>
              <a:t>AI-powered research tools (e.g., </a:t>
            </a:r>
            <a:r>
              <a:rPr lang="en-HK" dirty="0" err="1"/>
              <a:t>ChatNational</a:t>
            </a:r>
            <a:r>
              <a:rPr lang="en-HK" dirty="0"/>
              <a:t> / </a:t>
            </a:r>
            <a:r>
              <a:rPr lang="en-HK" dirty="0" err="1"/>
              <a:t>GenAI</a:t>
            </a:r>
            <a:r>
              <a:rPr lang="en-HK" dirty="0"/>
              <a:t> research platforms).</a:t>
            </a:r>
          </a:p>
          <a:p>
            <a:endParaRPr lang="en-HK" dirty="0"/>
          </a:p>
          <a:p>
            <a:r>
              <a:rPr lang="en-HK" dirty="0"/>
              <a:t>Predictive analytics, automated documentation, and real-time dashboards.</a:t>
            </a:r>
          </a:p>
          <a:p>
            <a:endParaRPr lang="en-HK" dirty="0"/>
          </a:p>
          <a:p>
            <a:r>
              <a:rPr lang="en-HK" dirty="0"/>
              <a:t>Internal audit orchestration suite: AI support for risk assessment, control testing, and fieldwork.</a:t>
            </a:r>
          </a:p>
          <a:p>
            <a:endParaRPr lang="en-HK" dirty="0"/>
          </a:p>
          <a:p>
            <a:r>
              <a:rPr lang="en-HK" dirty="0"/>
              <a:t>Full-population testing and AI agents that </a:t>
            </a:r>
            <a:r>
              <a:rPr lang="en-HK" dirty="0" err="1"/>
              <a:t>analyze</a:t>
            </a:r>
            <a:r>
              <a:rPr lang="en-HK" dirty="0"/>
              <a:t> entire data sets in real time.</a:t>
            </a:r>
          </a:p>
        </p:txBody>
      </p:sp>
      <p:sp>
        <p:nvSpPr>
          <p:cNvPr id="4" name="Slide Number Placeholder 3">
            <a:extLst>
              <a:ext uri="{FF2B5EF4-FFF2-40B4-BE49-F238E27FC236}">
                <a16:creationId xmlns:a16="http://schemas.microsoft.com/office/drawing/2014/main" id="{11A810A7-E0F6-46F4-8296-A8A219788A82}"/>
              </a:ext>
            </a:extLst>
          </p:cNvPr>
          <p:cNvSpPr>
            <a:spLocks noGrp="1"/>
          </p:cNvSpPr>
          <p:nvPr>
            <p:ph type="sldNum" sz="quarter" idx="12"/>
          </p:nvPr>
        </p:nvSpPr>
        <p:spPr/>
        <p:txBody>
          <a:bodyPr/>
          <a:lstStyle/>
          <a:p>
            <a:pPr>
              <a:defRPr/>
            </a:pPr>
            <a:fld id="{4D43F197-C583-4294-BD21-B6AE0DDD46C4}" type="slidenum">
              <a:rPr lang="en-US" smtClean="0"/>
              <a:pPr>
                <a:defRPr/>
              </a:pPr>
              <a:t>11</a:t>
            </a:fld>
            <a:endParaRPr lang="en-US" dirty="0"/>
          </a:p>
        </p:txBody>
      </p:sp>
    </p:spTree>
    <p:extLst>
      <p:ext uri="{BB962C8B-B14F-4D97-AF65-F5344CB8AC3E}">
        <p14:creationId xmlns:p14="http://schemas.microsoft.com/office/powerpoint/2010/main" val="1199229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081CF-84F4-4B05-A8E1-C6048A9E6D30}"/>
              </a:ext>
            </a:extLst>
          </p:cNvPr>
          <p:cNvSpPr>
            <a:spLocks noGrp="1"/>
          </p:cNvSpPr>
          <p:nvPr>
            <p:ph type="title"/>
          </p:nvPr>
        </p:nvSpPr>
        <p:spPr/>
        <p:txBody>
          <a:bodyPr/>
          <a:lstStyle/>
          <a:p>
            <a:r>
              <a:rPr lang="en-HK" dirty="0"/>
              <a:t>EY – AI in auditing</a:t>
            </a:r>
            <a:br>
              <a:rPr lang="en-HK" dirty="0"/>
            </a:br>
            <a:endParaRPr lang="en-HK" dirty="0"/>
          </a:p>
        </p:txBody>
      </p:sp>
      <p:sp>
        <p:nvSpPr>
          <p:cNvPr id="3" name="Content Placeholder 2">
            <a:extLst>
              <a:ext uri="{FF2B5EF4-FFF2-40B4-BE49-F238E27FC236}">
                <a16:creationId xmlns:a16="http://schemas.microsoft.com/office/drawing/2014/main" id="{917F1936-0D01-49AB-8ED1-0A95D4004C14}"/>
              </a:ext>
            </a:extLst>
          </p:cNvPr>
          <p:cNvSpPr>
            <a:spLocks noGrp="1"/>
          </p:cNvSpPr>
          <p:nvPr>
            <p:ph idx="1"/>
          </p:nvPr>
        </p:nvSpPr>
        <p:spPr>
          <a:xfrm>
            <a:off x="628650" y="1447800"/>
            <a:ext cx="7886700" cy="4729163"/>
          </a:xfrm>
        </p:spPr>
        <p:txBody>
          <a:bodyPr/>
          <a:lstStyle/>
          <a:p>
            <a:r>
              <a:rPr lang="en-HK" dirty="0"/>
              <a:t>$1 billion+ investment in Assurance technology transformation.</a:t>
            </a:r>
          </a:p>
          <a:p>
            <a:endParaRPr lang="en-HK" dirty="0"/>
          </a:p>
          <a:p>
            <a:r>
              <a:rPr lang="en-HK" dirty="0"/>
              <a:t>Multi-agent AI framework embedded directly into the global audit platform EY Canvas (used across ~130,000–140,000 assurance professionals).</a:t>
            </a:r>
          </a:p>
          <a:p>
            <a:endParaRPr lang="en-HK" dirty="0"/>
          </a:p>
          <a:p>
            <a:r>
              <a:rPr lang="en-HK" dirty="0"/>
              <a:t>Responsible AI principles guide development and deployment.</a:t>
            </a:r>
          </a:p>
          <a:p>
            <a:endParaRPr lang="en-HK" dirty="0"/>
          </a:p>
          <a:p>
            <a:r>
              <a:rPr lang="en-HK" dirty="0"/>
              <a:t>Progressive rollout: research agents → project management agents → work-drafting and review agents (targeting full end-to-end support by 2028).</a:t>
            </a:r>
          </a:p>
        </p:txBody>
      </p:sp>
      <p:sp>
        <p:nvSpPr>
          <p:cNvPr id="4" name="Slide Number Placeholder 3">
            <a:extLst>
              <a:ext uri="{FF2B5EF4-FFF2-40B4-BE49-F238E27FC236}">
                <a16:creationId xmlns:a16="http://schemas.microsoft.com/office/drawing/2014/main" id="{901A848D-7242-441D-A657-B7047CE3C93B}"/>
              </a:ext>
            </a:extLst>
          </p:cNvPr>
          <p:cNvSpPr>
            <a:spLocks noGrp="1"/>
          </p:cNvSpPr>
          <p:nvPr>
            <p:ph type="sldNum" sz="quarter" idx="12"/>
          </p:nvPr>
        </p:nvSpPr>
        <p:spPr/>
        <p:txBody>
          <a:bodyPr/>
          <a:lstStyle/>
          <a:p>
            <a:pPr>
              <a:defRPr/>
            </a:pPr>
            <a:fld id="{4D43F197-C583-4294-BD21-B6AE0DDD46C4}" type="slidenum">
              <a:rPr lang="en-US" smtClean="0"/>
              <a:pPr>
                <a:defRPr/>
              </a:pPr>
              <a:t>12</a:t>
            </a:fld>
            <a:endParaRPr lang="en-US" dirty="0"/>
          </a:p>
        </p:txBody>
      </p:sp>
    </p:spTree>
    <p:extLst>
      <p:ext uri="{BB962C8B-B14F-4D97-AF65-F5344CB8AC3E}">
        <p14:creationId xmlns:p14="http://schemas.microsoft.com/office/powerpoint/2010/main" val="1428701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F0A62-5F30-4993-97E4-203EBB3936EA}"/>
              </a:ext>
            </a:extLst>
          </p:cNvPr>
          <p:cNvSpPr>
            <a:spLocks noGrp="1"/>
          </p:cNvSpPr>
          <p:nvPr>
            <p:ph type="title"/>
          </p:nvPr>
        </p:nvSpPr>
        <p:spPr>
          <a:xfrm>
            <a:off x="628650" y="136524"/>
            <a:ext cx="7886700" cy="1146177"/>
          </a:xfrm>
        </p:spPr>
        <p:txBody>
          <a:bodyPr/>
          <a:lstStyle/>
          <a:p>
            <a:r>
              <a:rPr lang="en-HK" dirty="0"/>
              <a:t>EY – Key application of AI</a:t>
            </a:r>
          </a:p>
        </p:txBody>
      </p:sp>
      <p:sp>
        <p:nvSpPr>
          <p:cNvPr id="3" name="Content Placeholder 2">
            <a:extLst>
              <a:ext uri="{FF2B5EF4-FFF2-40B4-BE49-F238E27FC236}">
                <a16:creationId xmlns:a16="http://schemas.microsoft.com/office/drawing/2014/main" id="{A04DDAA3-188C-4418-9B65-1B6767CED7AD}"/>
              </a:ext>
            </a:extLst>
          </p:cNvPr>
          <p:cNvSpPr>
            <a:spLocks noGrp="1"/>
          </p:cNvSpPr>
          <p:nvPr>
            <p:ph idx="1"/>
          </p:nvPr>
        </p:nvSpPr>
        <p:spPr>
          <a:xfrm>
            <a:off x="628650" y="1143000"/>
            <a:ext cx="7886700" cy="5033964"/>
          </a:xfrm>
        </p:spPr>
        <p:txBody>
          <a:bodyPr>
            <a:normAutofit fontScale="92500" lnSpcReduction="10000"/>
          </a:bodyPr>
          <a:lstStyle/>
          <a:p>
            <a:r>
              <a:rPr lang="en-HK" dirty="0"/>
              <a:t>Classic example: AI-enabled drones for inventory counting (Bryan’s Amazing Animals case – dramatically faster and more accurate counts).</a:t>
            </a:r>
          </a:p>
          <a:p>
            <a:endParaRPr lang="en-HK" dirty="0"/>
          </a:p>
          <a:p>
            <a:r>
              <a:rPr lang="en-HK" dirty="0"/>
              <a:t>General ledger anomaly detection and time-series analysis (processes over 1 trillion journal lines per year).</a:t>
            </a:r>
          </a:p>
          <a:p>
            <a:endParaRPr lang="en-HK" dirty="0"/>
          </a:p>
          <a:p>
            <a:r>
              <a:rPr lang="en-HK" dirty="0"/>
              <a:t>EYQ Assurance Knowledge: </a:t>
            </a:r>
            <a:r>
              <a:rPr lang="en-HK" dirty="0" err="1"/>
              <a:t>GenAI</a:t>
            </a:r>
            <a:r>
              <a:rPr lang="en-HK" dirty="0"/>
              <a:t> for searching and summarizing accounting/auditing guidance in context.</a:t>
            </a:r>
          </a:p>
          <a:p>
            <a:endParaRPr lang="en-HK" dirty="0"/>
          </a:p>
          <a:p>
            <a:r>
              <a:rPr lang="en-HK" dirty="0"/>
              <a:t>Intelligent checklists and financial statement tie-out tools.</a:t>
            </a:r>
          </a:p>
          <a:p>
            <a:endParaRPr lang="en-HK" dirty="0"/>
          </a:p>
          <a:p>
            <a:r>
              <a:rPr lang="en-HK" dirty="0"/>
              <a:t>Agents for research, documentation summarization, task assignment, and drafting standard workpapers.</a:t>
            </a:r>
          </a:p>
          <a:p>
            <a:endParaRPr lang="en-HK" dirty="0"/>
          </a:p>
          <a:p>
            <a:r>
              <a:rPr lang="en-HK" dirty="0"/>
              <a:t>Analytics suite (EY Helix) for data visualization and targeted risk identification.</a:t>
            </a:r>
          </a:p>
        </p:txBody>
      </p:sp>
      <p:sp>
        <p:nvSpPr>
          <p:cNvPr id="4" name="Slide Number Placeholder 3">
            <a:extLst>
              <a:ext uri="{FF2B5EF4-FFF2-40B4-BE49-F238E27FC236}">
                <a16:creationId xmlns:a16="http://schemas.microsoft.com/office/drawing/2014/main" id="{11A810A7-E0F6-46F4-8296-A8A219788A82}"/>
              </a:ext>
            </a:extLst>
          </p:cNvPr>
          <p:cNvSpPr>
            <a:spLocks noGrp="1"/>
          </p:cNvSpPr>
          <p:nvPr>
            <p:ph type="sldNum" sz="quarter" idx="12"/>
          </p:nvPr>
        </p:nvSpPr>
        <p:spPr/>
        <p:txBody>
          <a:bodyPr/>
          <a:lstStyle/>
          <a:p>
            <a:pPr>
              <a:defRPr/>
            </a:pPr>
            <a:fld id="{4D43F197-C583-4294-BD21-B6AE0DDD46C4}" type="slidenum">
              <a:rPr lang="en-US" smtClean="0"/>
              <a:pPr>
                <a:defRPr/>
              </a:pPr>
              <a:t>13</a:t>
            </a:fld>
            <a:endParaRPr lang="en-US" dirty="0"/>
          </a:p>
        </p:txBody>
      </p:sp>
    </p:spTree>
    <p:extLst>
      <p:ext uri="{BB962C8B-B14F-4D97-AF65-F5344CB8AC3E}">
        <p14:creationId xmlns:p14="http://schemas.microsoft.com/office/powerpoint/2010/main" val="1562985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E8770-6DC6-4BC2-95F0-33AD96DB7493}"/>
              </a:ext>
            </a:extLst>
          </p:cNvPr>
          <p:cNvSpPr>
            <a:spLocks noGrp="1"/>
          </p:cNvSpPr>
          <p:nvPr>
            <p:ph type="title"/>
          </p:nvPr>
        </p:nvSpPr>
        <p:spPr/>
        <p:txBody>
          <a:bodyPr/>
          <a:lstStyle/>
          <a:p>
            <a:r>
              <a:rPr lang="en-HK" dirty="0"/>
              <a:t>AI adoption in </a:t>
            </a:r>
            <a:r>
              <a:rPr lang="en-US" dirty="0"/>
              <a:t>EY</a:t>
            </a:r>
            <a:endParaRPr lang="en-HK" dirty="0"/>
          </a:p>
        </p:txBody>
      </p:sp>
      <p:sp>
        <p:nvSpPr>
          <p:cNvPr id="3" name="Content Placeholder 2">
            <a:extLst>
              <a:ext uri="{FF2B5EF4-FFF2-40B4-BE49-F238E27FC236}">
                <a16:creationId xmlns:a16="http://schemas.microsoft.com/office/drawing/2014/main" id="{01A7951C-4FF5-49F9-81E6-6E1C0EB2D34E}"/>
              </a:ext>
            </a:extLst>
          </p:cNvPr>
          <p:cNvSpPr>
            <a:spLocks noGrp="1"/>
          </p:cNvSpPr>
          <p:nvPr>
            <p:ph idx="1"/>
          </p:nvPr>
        </p:nvSpPr>
        <p:spPr/>
        <p:txBody>
          <a:bodyPr/>
          <a:lstStyle/>
          <a:p>
            <a:pPr marL="0" indent="0">
              <a:buNone/>
            </a:pPr>
            <a:r>
              <a:rPr lang="en-US" altLang="zh-CN" dirty="0"/>
              <a:t>Using AI for inventory counting example: Bryan’s Amazing Animals case</a:t>
            </a:r>
          </a:p>
          <a:p>
            <a:pPr lvl="1"/>
            <a:r>
              <a:rPr lang="en-US" altLang="zh-CN" sz="2800" dirty="0"/>
              <a:t>Video of background  </a:t>
            </a:r>
          </a:p>
          <a:p>
            <a:pPr lvl="1"/>
            <a:r>
              <a:rPr lang="en-US" altLang="zh-CN" sz="2800" dirty="0"/>
              <a:t>Video of AI application</a:t>
            </a:r>
          </a:p>
          <a:p>
            <a:pPr lvl="1"/>
            <a:endParaRPr lang="en-US" altLang="zh-CN" sz="2800" dirty="0"/>
          </a:p>
          <a:p>
            <a:pPr lvl="1"/>
            <a:endParaRPr lang="en-US" altLang="zh-CN" sz="2800" dirty="0"/>
          </a:p>
          <a:p>
            <a:pPr marL="457200" lvl="1" indent="0">
              <a:buNone/>
            </a:pPr>
            <a:r>
              <a:rPr lang="en-US" sz="2800" dirty="0">
                <a:hlinkClick r:id="rId2"/>
              </a:rPr>
              <a:t>https://eyonline.ey.com/</a:t>
            </a:r>
            <a:endParaRPr lang="en-US" sz="2800" dirty="0"/>
          </a:p>
          <a:p>
            <a:pPr marL="457200" lvl="1" indent="0">
              <a:buNone/>
            </a:pPr>
            <a:endParaRPr lang="en-US" sz="2800" dirty="0"/>
          </a:p>
          <a:p>
            <a:pPr marL="457200" lvl="1" indent="0">
              <a:buNone/>
            </a:pPr>
            <a:r>
              <a:rPr lang="en-US" sz="2800" dirty="0"/>
              <a:t>@</a:t>
            </a:r>
          </a:p>
          <a:p>
            <a:endParaRPr lang="en-HK" dirty="0"/>
          </a:p>
        </p:txBody>
      </p:sp>
      <p:sp>
        <p:nvSpPr>
          <p:cNvPr id="4" name="Slide Number Placeholder 3">
            <a:extLst>
              <a:ext uri="{FF2B5EF4-FFF2-40B4-BE49-F238E27FC236}">
                <a16:creationId xmlns:a16="http://schemas.microsoft.com/office/drawing/2014/main" id="{F7893E74-C1D6-4E04-98FC-1D1EF6B226EE}"/>
              </a:ext>
            </a:extLst>
          </p:cNvPr>
          <p:cNvSpPr>
            <a:spLocks noGrp="1"/>
          </p:cNvSpPr>
          <p:nvPr>
            <p:ph type="sldNum" sz="quarter" idx="12"/>
          </p:nvPr>
        </p:nvSpPr>
        <p:spPr/>
        <p:txBody>
          <a:bodyPr/>
          <a:lstStyle/>
          <a:p>
            <a:pPr>
              <a:defRPr/>
            </a:pPr>
            <a:fld id="{4D43F197-C583-4294-BD21-B6AE0DDD46C4}" type="slidenum">
              <a:rPr lang="en-US" smtClean="0"/>
              <a:pPr>
                <a:defRPr/>
              </a:pPr>
              <a:t>14</a:t>
            </a:fld>
            <a:endParaRPr lang="en-US" dirty="0"/>
          </a:p>
        </p:txBody>
      </p:sp>
    </p:spTree>
    <p:extLst>
      <p:ext uri="{BB962C8B-B14F-4D97-AF65-F5344CB8AC3E}">
        <p14:creationId xmlns:p14="http://schemas.microsoft.com/office/powerpoint/2010/main" val="1639341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CFF5-EFEB-46C2-8B5F-051832DDC05B}"/>
              </a:ext>
            </a:extLst>
          </p:cNvPr>
          <p:cNvSpPr>
            <a:spLocks noGrp="1"/>
          </p:cNvSpPr>
          <p:nvPr>
            <p:ph type="title"/>
          </p:nvPr>
        </p:nvSpPr>
        <p:spPr>
          <a:xfrm>
            <a:off x="628650" y="381000"/>
            <a:ext cx="7886700" cy="740874"/>
          </a:xfrm>
        </p:spPr>
        <p:txBody>
          <a:bodyPr/>
          <a:lstStyle/>
          <a:p>
            <a:r>
              <a:rPr lang="en-HK" dirty="0"/>
              <a:t>Use of AI in stakeholders</a:t>
            </a:r>
          </a:p>
        </p:txBody>
      </p:sp>
      <p:sp>
        <p:nvSpPr>
          <p:cNvPr id="3" name="Content Placeholder 2">
            <a:extLst>
              <a:ext uri="{FF2B5EF4-FFF2-40B4-BE49-F238E27FC236}">
                <a16:creationId xmlns:a16="http://schemas.microsoft.com/office/drawing/2014/main" id="{040BCFEE-B79F-455C-96DA-4839E4F08092}"/>
              </a:ext>
            </a:extLst>
          </p:cNvPr>
          <p:cNvSpPr>
            <a:spLocks noGrp="1"/>
          </p:cNvSpPr>
          <p:nvPr>
            <p:ph idx="1"/>
          </p:nvPr>
        </p:nvSpPr>
        <p:spPr>
          <a:xfrm>
            <a:off x="495300" y="1244548"/>
            <a:ext cx="8153400" cy="5033963"/>
          </a:xfrm>
        </p:spPr>
        <p:txBody>
          <a:bodyPr>
            <a:normAutofit fontScale="92500" lnSpcReduction="10000"/>
          </a:bodyPr>
          <a:lstStyle/>
          <a:p>
            <a:r>
              <a:rPr lang="en-HK" dirty="0"/>
              <a:t>Investors: Assess company </a:t>
            </a:r>
            <a:r>
              <a:rPr lang="en-HK" b="1" dirty="0"/>
              <a:t>performance</a:t>
            </a:r>
            <a:r>
              <a:rPr lang="en-HK" dirty="0"/>
              <a:t> to make informed decisions. Financial statements indicate profitability, growth potential, and risks, affecting stock prices and dividends.</a:t>
            </a:r>
          </a:p>
          <a:p>
            <a:endParaRPr lang="en-HK" dirty="0"/>
          </a:p>
          <a:p>
            <a:r>
              <a:rPr lang="en-HK" dirty="0"/>
              <a:t>Creditors: </a:t>
            </a:r>
            <a:r>
              <a:rPr lang="en-HK" dirty="0" err="1"/>
              <a:t>Analyze</a:t>
            </a:r>
            <a:r>
              <a:rPr lang="en-HK" dirty="0"/>
              <a:t> </a:t>
            </a:r>
            <a:r>
              <a:rPr lang="en-HK" b="1" dirty="0"/>
              <a:t>liquidity</a:t>
            </a:r>
            <a:r>
              <a:rPr lang="en-HK" dirty="0"/>
              <a:t> and </a:t>
            </a:r>
            <a:r>
              <a:rPr lang="en-HK" b="1" dirty="0"/>
              <a:t>solvency</a:t>
            </a:r>
            <a:r>
              <a:rPr lang="en-HK" dirty="0"/>
              <a:t> ratios to evaluate the firm's ability to meet obligations. Strong financials suggest lower lending risk.</a:t>
            </a:r>
          </a:p>
          <a:p>
            <a:endParaRPr lang="en-HK" dirty="0"/>
          </a:p>
          <a:p>
            <a:r>
              <a:rPr lang="en-HK" dirty="0"/>
              <a:t>Suppliers: Evaluate </a:t>
            </a:r>
            <a:r>
              <a:rPr lang="en-HK" b="1" dirty="0"/>
              <a:t>financial</a:t>
            </a:r>
            <a:r>
              <a:rPr lang="en-HK" dirty="0"/>
              <a:t> </a:t>
            </a:r>
            <a:r>
              <a:rPr lang="en-HK" b="1" dirty="0"/>
              <a:t>stability</a:t>
            </a:r>
            <a:r>
              <a:rPr lang="en-HK" dirty="0"/>
              <a:t> to gauge the risk of extending credit. A financially healthy company is more likely to pay on time, ensuring stable partnerships.</a:t>
            </a:r>
          </a:p>
          <a:p>
            <a:endParaRPr lang="en-HK" dirty="0"/>
          </a:p>
          <a:p>
            <a:r>
              <a:rPr lang="en-HK" dirty="0"/>
              <a:t>Financial Analysts: Offer insights and </a:t>
            </a:r>
            <a:r>
              <a:rPr lang="en-HK" b="1" dirty="0"/>
              <a:t>recommendations</a:t>
            </a:r>
            <a:r>
              <a:rPr lang="en-HK" dirty="0"/>
              <a:t> for investments and financial planning, influencing market perceptions and decisions.</a:t>
            </a:r>
          </a:p>
          <a:p>
            <a:endParaRPr lang="en-HK" dirty="0"/>
          </a:p>
          <a:p>
            <a:r>
              <a:rPr lang="en-HK" dirty="0"/>
              <a:t>Auditors: Examine financial statements for </a:t>
            </a:r>
            <a:r>
              <a:rPr lang="en-HK" b="1" dirty="0"/>
              <a:t>accuracy</a:t>
            </a:r>
            <a:r>
              <a:rPr lang="en-HK" dirty="0"/>
              <a:t> and </a:t>
            </a:r>
            <a:r>
              <a:rPr lang="en-HK" b="1" dirty="0"/>
              <a:t>compliance</a:t>
            </a:r>
            <a:r>
              <a:rPr lang="en-HK" dirty="0"/>
              <a:t>, asset risks, and provide recommendation to ensure transparency and integrity in financial reporting. </a:t>
            </a:r>
          </a:p>
        </p:txBody>
      </p:sp>
      <p:sp>
        <p:nvSpPr>
          <p:cNvPr id="4" name="Slide Number Placeholder 3">
            <a:extLst>
              <a:ext uri="{FF2B5EF4-FFF2-40B4-BE49-F238E27FC236}">
                <a16:creationId xmlns:a16="http://schemas.microsoft.com/office/drawing/2014/main" id="{BBD9DEE3-3D77-42D3-A160-87581B0D3C0D}"/>
              </a:ext>
            </a:extLst>
          </p:cNvPr>
          <p:cNvSpPr>
            <a:spLocks noGrp="1"/>
          </p:cNvSpPr>
          <p:nvPr>
            <p:ph type="sldNum" sz="quarter" idx="12"/>
          </p:nvPr>
        </p:nvSpPr>
        <p:spPr/>
        <p:txBody>
          <a:bodyPr/>
          <a:lstStyle/>
          <a:p>
            <a:pPr>
              <a:defRPr/>
            </a:pPr>
            <a:fld id="{4D43F197-C583-4294-BD21-B6AE0DDD46C4}" type="slidenum">
              <a:rPr lang="en-US" smtClean="0"/>
              <a:pPr>
                <a:defRPr/>
              </a:pPr>
              <a:t>15</a:t>
            </a:fld>
            <a:endParaRPr lang="en-US" dirty="0"/>
          </a:p>
        </p:txBody>
      </p:sp>
    </p:spTree>
    <p:extLst>
      <p:ext uri="{BB962C8B-B14F-4D97-AF65-F5344CB8AC3E}">
        <p14:creationId xmlns:p14="http://schemas.microsoft.com/office/powerpoint/2010/main" val="426563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27DF5-3D65-4DFA-984D-EBDE70A3F691}"/>
              </a:ext>
            </a:extLst>
          </p:cNvPr>
          <p:cNvSpPr>
            <a:spLocks noGrp="1"/>
          </p:cNvSpPr>
          <p:nvPr>
            <p:ph type="title"/>
          </p:nvPr>
        </p:nvSpPr>
        <p:spPr>
          <a:xfrm>
            <a:off x="640373" y="114753"/>
            <a:ext cx="7886700" cy="1325563"/>
          </a:xfrm>
        </p:spPr>
        <p:txBody>
          <a:bodyPr/>
          <a:lstStyle/>
          <a:p>
            <a:r>
              <a:rPr lang="en-HK" dirty="0"/>
              <a:t>Use of AI in stakeholders</a:t>
            </a:r>
          </a:p>
        </p:txBody>
      </p:sp>
      <p:sp>
        <p:nvSpPr>
          <p:cNvPr id="3" name="Content Placeholder 2">
            <a:extLst>
              <a:ext uri="{FF2B5EF4-FFF2-40B4-BE49-F238E27FC236}">
                <a16:creationId xmlns:a16="http://schemas.microsoft.com/office/drawing/2014/main" id="{CD47C39A-F5CC-4C50-BB2C-9264C4CA1E59}"/>
              </a:ext>
            </a:extLst>
          </p:cNvPr>
          <p:cNvSpPr>
            <a:spLocks noGrp="1"/>
          </p:cNvSpPr>
          <p:nvPr>
            <p:ph idx="1"/>
          </p:nvPr>
        </p:nvSpPr>
        <p:spPr>
          <a:xfrm>
            <a:off x="628650" y="1295400"/>
            <a:ext cx="7886700" cy="4881563"/>
          </a:xfrm>
        </p:spPr>
        <p:txBody>
          <a:bodyPr>
            <a:normAutofit/>
          </a:bodyPr>
          <a:lstStyle/>
          <a:p>
            <a:r>
              <a:rPr lang="en-HK" dirty="0"/>
              <a:t>Management: Use financial analysis to assess performance, make strategic decisions, and plan for growth, identifying strengths and weaknesses to drive improvements.</a:t>
            </a:r>
          </a:p>
          <a:p>
            <a:endParaRPr lang="en-HK" dirty="0"/>
          </a:p>
          <a:p>
            <a:r>
              <a:rPr lang="en-HK" dirty="0"/>
              <a:t>Employees: Assess the company's </a:t>
            </a:r>
            <a:r>
              <a:rPr lang="en-HK" b="1" dirty="0"/>
              <a:t>financial</a:t>
            </a:r>
            <a:r>
              <a:rPr lang="en-HK" dirty="0"/>
              <a:t> </a:t>
            </a:r>
            <a:r>
              <a:rPr lang="en-HK" b="1" dirty="0"/>
              <a:t>health</a:t>
            </a:r>
            <a:r>
              <a:rPr lang="en-HK" dirty="0"/>
              <a:t> to gauge job security, salaries, and benefits. Concerns about profitability and stability directly impact their livelihoods.</a:t>
            </a:r>
          </a:p>
          <a:p>
            <a:endParaRPr lang="en-HK" dirty="0"/>
          </a:p>
          <a:p>
            <a:r>
              <a:rPr lang="en-HK" dirty="0"/>
              <a:t>Customers: Seek assurance about the company’s </a:t>
            </a:r>
            <a:r>
              <a:rPr lang="en-HK" b="1" dirty="0"/>
              <a:t>stability</a:t>
            </a:r>
            <a:r>
              <a:rPr lang="en-HK" dirty="0"/>
              <a:t>, especially in long-term contracts. A financially sound firm is more likely to meet commitments and provide reliable products or services.</a:t>
            </a:r>
          </a:p>
        </p:txBody>
      </p:sp>
      <p:sp>
        <p:nvSpPr>
          <p:cNvPr id="4" name="Slide Number Placeholder 3">
            <a:extLst>
              <a:ext uri="{FF2B5EF4-FFF2-40B4-BE49-F238E27FC236}">
                <a16:creationId xmlns:a16="http://schemas.microsoft.com/office/drawing/2014/main" id="{8B7EB096-D139-4794-9F89-1B153A6E74B1}"/>
              </a:ext>
            </a:extLst>
          </p:cNvPr>
          <p:cNvSpPr>
            <a:spLocks noGrp="1"/>
          </p:cNvSpPr>
          <p:nvPr>
            <p:ph type="sldNum" sz="quarter" idx="12"/>
          </p:nvPr>
        </p:nvSpPr>
        <p:spPr/>
        <p:txBody>
          <a:bodyPr/>
          <a:lstStyle/>
          <a:p>
            <a:pPr>
              <a:defRPr/>
            </a:pPr>
            <a:fld id="{4D43F197-C583-4294-BD21-B6AE0DDD46C4}" type="slidenum">
              <a:rPr lang="en-US" smtClean="0"/>
              <a:pPr>
                <a:defRPr/>
              </a:pPr>
              <a:t>16</a:t>
            </a:fld>
            <a:endParaRPr lang="en-US" dirty="0"/>
          </a:p>
        </p:txBody>
      </p:sp>
    </p:spTree>
    <p:extLst>
      <p:ext uri="{BB962C8B-B14F-4D97-AF65-F5344CB8AC3E}">
        <p14:creationId xmlns:p14="http://schemas.microsoft.com/office/powerpoint/2010/main" val="396952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6CB7D-A4CE-4117-962B-AFD9FECD9488}"/>
              </a:ext>
            </a:extLst>
          </p:cNvPr>
          <p:cNvSpPr>
            <a:spLocks noGrp="1"/>
          </p:cNvSpPr>
          <p:nvPr>
            <p:ph type="title"/>
          </p:nvPr>
        </p:nvSpPr>
        <p:spPr/>
        <p:txBody>
          <a:bodyPr/>
          <a:lstStyle/>
          <a:p>
            <a:r>
              <a:rPr lang="en-HK" dirty="0"/>
              <a:t>Financial statement analyses - stakeholders</a:t>
            </a:r>
          </a:p>
        </p:txBody>
      </p:sp>
      <p:sp>
        <p:nvSpPr>
          <p:cNvPr id="3" name="Content Placeholder 2">
            <a:extLst>
              <a:ext uri="{FF2B5EF4-FFF2-40B4-BE49-F238E27FC236}">
                <a16:creationId xmlns:a16="http://schemas.microsoft.com/office/drawing/2014/main" id="{38A97336-5DFB-44C5-9821-E1715F925329}"/>
              </a:ext>
            </a:extLst>
          </p:cNvPr>
          <p:cNvSpPr>
            <a:spLocks noGrp="1"/>
          </p:cNvSpPr>
          <p:nvPr>
            <p:ph idx="1"/>
          </p:nvPr>
        </p:nvSpPr>
        <p:spPr>
          <a:xfrm>
            <a:off x="628650" y="1690689"/>
            <a:ext cx="7886700" cy="4486274"/>
          </a:xfrm>
        </p:spPr>
        <p:txBody>
          <a:bodyPr/>
          <a:lstStyle/>
          <a:p>
            <a:r>
              <a:rPr lang="en-HK" dirty="0"/>
              <a:t>Regulators: </a:t>
            </a:r>
            <a:r>
              <a:rPr lang="en-HK" dirty="0" err="1"/>
              <a:t>Analyze</a:t>
            </a:r>
            <a:r>
              <a:rPr lang="en-HK" dirty="0"/>
              <a:t> financial statements to ensure </a:t>
            </a:r>
            <a:r>
              <a:rPr lang="en-HK" b="1" dirty="0"/>
              <a:t>compliance</a:t>
            </a:r>
            <a:r>
              <a:rPr lang="en-HK" dirty="0"/>
              <a:t> with laws and regulations, maintaining market integrity and protecting public interests.</a:t>
            </a:r>
          </a:p>
          <a:p>
            <a:endParaRPr lang="en-HK" dirty="0"/>
          </a:p>
          <a:p>
            <a:r>
              <a:rPr lang="en-HK" dirty="0"/>
              <a:t>Competitors: </a:t>
            </a:r>
            <a:r>
              <a:rPr lang="en-HK" b="1" dirty="0"/>
              <a:t>Benchmark</a:t>
            </a:r>
            <a:r>
              <a:rPr lang="en-HK" dirty="0"/>
              <a:t> performance and strategize based on market financial health. Understanding competitors’ financial positions aids in pricing and market positioning.</a:t>
            </a:r>
          </a:p>
          <a:p>
            <a:endParaRPr lang="en-HK" dirty="0"/>
          </a:p>
          <a:p>
            <a:r>
              <a:rPr lang="en-HK" dirty="0"/>
              <a:t>Community: Examine financial statements to evaluate </a:t>
            </a:r>
            <a:r>
              <a:rPr lang="en-HK" b="1" dirty="0"/>
              <a:t>corporate</a:t>
            </a:r>
            <a:r>
              <a:rPr lang="en-HK" dirty="0"/>
              <a:t> </a:t>
            </a:r>
            <a:r>
              <a:rPr lang="en-HK" b="1" dirty="0"/>
              <a:t>responsibility</a:t>
            </a:r>
            <a:r>
              <a:rPr lang="en-HK" dirty="0"/>
              <a:t>. Financial stability indicates a firm's capacity to invest in sustainable practices and community initiatives.</a:t>
            </a:r>
          </a:p>
          <a:p>
            <a:endParaRPr lang="en-HK" dirty="0"/>
          </a:p>
        </p:txBody>
      </p:sp>
      <p:sp>
        <p:nvSpPr>
          <p:cNvPr id="4" name="Slide Number Placeholder 3">
            <a:extLst>
              <a:ext uri="{FF2B5EF4-FFF2-40B4-BE49-F238E27FC236}">
                <a16:creationId xmlns:a16="http://schemas.microsoft.com/office/drawing/2014/main" id="{A2D99362-1E44-4D72-BEB6-AB4D87AE893C}"/>
              </a:ext>
            </a:extLst>
          </p:cNvPr>
          <p:cNvSpPr>
            <a:spLocks noGrp="1"/>
          </p:cNvSpPr>
          <p:nvPr>
            <p:ph type="sldNum" sz="quarter" idx="12"/>
          </p:nvPr>
        </p:nvSpPr>
        <p:spPr/>
        <p:txBody>
          <a:bodyPr/>
          <a:lstStyle/>
          <a:p>
            <a:pPr>
              <a:defRPr/>
            </a:pPr>
            <a:fld id="{4D43F197-C583-4294-BD21-B6AE0DDD46C4}" type="slidenum">
              <a:rPr lang="en-US" smtClean="0"/>
              <a:pPr>
                <a:defRPr/>
              </a:pPr>
              <a:t>17</a:t>
            </a:fld>
            <a:endParaRPr lang="en-US" dirty="0"/>
          </a:p>
        </p:txBody>
      </p:sp>
    </p:spTree>
    <p:extLst>
      <p:ext uri="{BB962C8B-B14F-4D97-AF65-F5344CB8AC3E}">
        <p14:creationId xmlns:p14="http://schemas.microsoft.com/office/powerpoint/2010/main" val="3580670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BBF95-10F4-4C4A-8F6E-86A848EB76B5}"/>
              </a:ext>
            </a:extLst>
          </p:cNvPr>
          <p:cNvSpPr>
            <a:spLocks noGrp="1"/>
          </p:cNvSpPr>
          <p:nvPr>
            <p:ph type="title"/>
          </p:nvPr>
        </p:nvSpPr>
        <p:spPr/>
        <p:txBody>
          <a:bodyPr/>
          <a:lstStyle/>
          <a:p>
            <a:r>
              <a:rPr lang="en-HK" dirty="0"/>
              <a:t>The perspective of investors</a:t>
            </a:r>
          </a:p>
        </p:txBody>
      </p:sp>
      <p:sp>
        <p:nvSpPr>
          <p:cNvPr id="3" name="Content Placeholder 2">
            <a:extLst>
              <a:ext uri="{FF2B5EF4-FFF2-40B4-BE49-F238E27FC236}">
                <a16:creationId xmlns:a16="http://schemas.microsoft.com/office/drawing/2014/main" id="{09291B13-7303-4811-A3A8-8EAE5D94A68E}"/>
              </a:ext>
            </a:extLst>
          </p:cNvPr>
          <p:cNvSpPr>
            <a:spLocks noGrp="1"/>
          </p:cNvSpPr>
          <p:nvPr>
            <p:ph idx="1"/>
          </p:nvPr>
        </p:nvSpPr>
        <p:spPr>
          <a:xfrm>
            <a:off x="628650" y="1825625"/>
            <a:ext cx="7886700" cy="4351338"/>
          </a:xfrm>
        </p:spPr>
        <p:txBody>
          <a:bodyPr/>
          <a:lstStyle/>
          <a:p>
            <a:r>
              <a:rPr lang="en-HK" dirty="0"/>
              <a:t>Core Business Health</a:t>
            </a:r>
          </a:p>
          <a:p>
            <a:endParaRPr lang="en-HK" dirty="0"/>
          </a:p>
          <a:p>
            <a:r>
              <a:rPr lang="en-HK" dirty="0"/>
              <a:t>Market &amp; Geographic Exposure</a:t>
            </a:r>
          </a:p>
          <a:p>
            <a:endParaRPr lang="en-HK" dirty="0"/>
          </a:p>
          <a:p>
            <a:r>
              <a:rPr lang="en-HK" dirty="0"/>
              <a:t>Regulatory &amp; External Risks</a:t>
            </a:r>
          </a:p>
          <a:p>
            <a:endParaRPr lang="en-HK" dirty="0"/>
          </a:p>
          <a:p>
            <a:r>
              <a:rPr lang="en-HK" dirty="0"/>
              <a:t>Innovation &amp; Long-term Strategy</a:t>
            </a:r>
          </a:p>
          <a:p>
            <a:endParaRPr lang="en-HK" dirty="0"/>
          </a:p>
          <a:p>
            <a:r>
              <a:rPr lang="en-HK" dirty="0"/>
              <a:t>Governance &amp; Sustainability </a:t>
            </a:r>
          </a:p>
          <a:p>
            <a:endParaRPr lang="en-HK" dirty="0"/>
          </a:p>
          <a:p>
            <a:r>
              <a:rPr lang="en-HK" dirty="0"/>
              <a:t>Risk Assessment</a:t>
            </a:r>
          </a:p>
        </p:txBody>
      </p:sp>
      <p:sp>
        <p:nvSpPr>
          <p:cNvPr id="4" name="Slide Number Placeholder 3">
            <a:extLst>
              <a:ext uri="{FF2B5EF4-FFF2-40B4-BE49-F238E27FC236}">
                <a16:creationId xmlns:a16="http://schemas.microsoft.com/office/drawing/2014/main" id="{677A361F-131E-45BD-9FCC-3E9F00E8119E}"/>
              </a:ext>
            </a:extLst>
          </p:cNvPr>
          <p:cNvSpPr>
            <a:spLocks noGrp="1"/>
          </p:cNvSpPr>
          <p:nvPr>
            <p:ph type="sldNum" sz="quarter" idx="12"/>
          </p:nvPr>
        </p:nvSpPr>
        <p:spPr/>
        <p:txBody>
          <a:bodyPr/>
          <a:lstStyle/>
          <a:p>
            <a:pPr>
              <a:defRPr/>
            </a:pPr>
            <a:fld id="{4D43F197-C583-4294-BD21-B6AE0DDD46C4}" type="slidenum">
              <a:rPr lang="en-US" smtClean="0"/>
              <a:pPr>
                <a:defRPr/>
              </a:pPr>
              <a:t>18</a:t>
            </a:fld>
            <a:endParaRPr lang="en-US" dirty="0"/>
          </a:p>
        </p:txBody>
      </p:sp>
    </p:spTree>
    <p:extLst>
      <p:ext uri="{BB962C8B-B14F-4D97-AF65-F5344CB8AC3E}">
        <p14:creationId xmlns:p14="http://schemas.microsoft.com/office/powerpoint/2010/main" val="749720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661A-3870-4E01-95FB-776E4CF1D6BE}"/>
              </a:ext>
            </a:extLst>
          </p:cNvPr>
          <p:cNvSpPr>
            <a:spLocks noGrp="1"/>
          </p:cNvSpPr>
          <p:nvPr>
            <p:ph type="title"/>
          </p:nvPr>
        </p:nvSpPr>
        <p:spPr/>
        <p:txBody>
          <a:bodyPr/>
          <a:lstStyle/>
          <a:p>
            <a:r>
              <a:rPr lang="en-HK" dirty="0"/>
              <a:t>Prompt – Core Business Health</a:t>
            </a:r>
          </a:p>
        </p:txBody>
      </p:sp>
      <p:sp>
        <p:nvSpPr>
          <p:cNvPr id="3" name="Content Placeholder 2">
            <a:extLst>
              <a:ext uri="{FF2B5EF4-FFF2-40B4-BE49-F238E27FC236}">
                <a16:creationId xmlns:a16="http://schemas.microsoft.com/office/drawing/2014/main" id="{35D3CCA3-375F-43C5-BD0F-A4881459E620}"/>
              </a:ext>
            </a:extLst>
          </p:cNvPr>
          <p:cNvSpPr>
            <a:spLocks noGrp="1"/>
          </p:cNvSpPr>
          <p:nvPr>
            <p:ph idx="1"/>
          </p:nvPr>
        </p:nvSpPr>
        <p:spPr/>
        <p:txBody>
          <a:bodyPr/>
          <a:lstStyle/>
          <a:p>
            <a:r>
              <a:rPr lang="en-HK" dirty="0"/>
              <a:t>Using Apple’s latest annual report, assess the core business health from an investor’s perspective. Extract and summarize key trends in revenue growth, gross margin, operating margin, free cash flow, return on equity, and net debt/EBITDA over the past 3–5 years (cite specific figures and page/section references). From the MD&amp;A and financial statements, explain the main drivers of these trends and any management commentary on sustainability of the performance. Highlight 3–5 red flags or positive signals that would matter most to a long-term investor. Present the quantitative data in a clear table and follow with a concise qualitative assessment. </a:t>
            </a:r>
          </a:p>
          <a:p>
            <a:endParaRPr lang="en-HK" dirty="0"/>
          </a:p>
        </p:txBody>
      </p:sp>
      <p:sp>
        <p:nvSpPr>
          <p:cNvPr id="4" name="Slide Number Placeholder 3">
            <a:extLst>
              <a:ext uri="{FF2B5EF4-FFF2-40B4-BE49-F238E27FC236}">
                <a16:creationId xmlns:a16="http://schemas.microsoft.com/office/drawing/2014/main" id="{AEAA0944-DA4C-40D0-A978-5A6C5BCF9E36}"/>
              </a:ext>
            </a:extLst>
          </p:cNvPr>
          <p:cNvSpPr>
            <a:spLocks noGrp="1"/>
          </p:cNvSpPr>
          <p:nvPr>
            <p:ph type="sldNum" sz="quarter" idx="12"/>
          </p:nvPr>
        </p:nvSpPr>
        <p:spPr/>
        <p:txBody>
          <a:bodyPr/>
          <a:lstStyle/>
          <a:p>
            <a:pPr>
              <a:defRPr/>
            </a:pPr>
            <a:fld id="{4D43F197-C583-4294-BD21-B6AE0DDD46C4}" type="slidenum">
              <a:rPr lang="en-US" smtClean="0"/>
              <a:pPr>
                <a:defRPr/>
              </a:pPr>
              <a:t>19</a:t>
            </a:fld>
            <a:endParaRPr lang="en-US" dirty="0"/>
          </a:p>
        </p:txBody>
      </p:sp>
    </p:spTree>
    <p:extLst>
      <p:ext uri="{BB962C8B-B14F-4D97-AF65-F5344CB8AC3E}">
        <p14:creationId xmlns:p14="http://schemas.microsoft.com/office/powerpoint/2010/main" val="1503526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3B1D-6DDA-4E0B-9409-C40EA620739B}"/>
              </a:ext>
            </a:extLst>
          </p:cNvPr>
          <p:cNvSpPr>
            <a:spLocks noGrp="1"/>
          </p:cNvSpPr>
          <p:nvPr>
            <p:ph type="title"/>
          </p:nvPr>
        </p:nvSpPr>
        <p:spPr/>
        <p:txBody>
          <a:bodyPr/>
          <a:lstStyle/>
          <a:p>
            <a:r>
              <a:rPr lang="en-HK" dirty="0"/>
              <a:t>Grok</a:t>
            </a:r>
          </a:p>
        </p:txBody>
      </p:sp>
      <p:sp>
        <p:nvSpPr>
          <p:cNvPr id="3" name="Content Placeholder 2">
            <a:extLst>
              <a:ext uri="{FF2B5EF4-FFF2-40B4-BE49-F238E27FC236}">
                <a16:creationId xmlns:a16="http://schemas.microsoft.com/office/drawing/2014/main" id="{A0D3DD26-C175-4B5D-BD72-22F0F7B89AB5}"/>
              </a:ext>
            </a:extLst>
          </p:cNvPr>
          <p:cNvSpPr>
            <a:spLocks noGrp="1"/>
          </p:cNvSpPr>
          <p:nvPr>
            <p:ph idx="1"/>
          </p:nvPr>
        </p:nvSpPr>
        <p:spPr/>
        <p:txBody>
          <a:bodyPr/>
          <a:lstStyle/>
          <a:p>
            <a:r>
              <a:rPr lang="en-HK" dirty="0"/>
              <a:t>Quantitative Trends (FY2021–FY2025)</a:t>
            </a:r>
          </a:p>
          <a:p>
            <a:endParaRPr lang="en-HK" dirty="0"/>
          </a:p>
          <a:p>
            <a:r>
              <a:rPr lang="en-HK" dirty="0"/>
              <a:t>Main Drivers and Management Commentary (MD&amp;A, Item 7)</a:t>
            </a:r>
          </a:p>
          <a:p>
            <a:endParaRPr lang="en-HK" dirty="0"/>
          </a:p>
          <a:p>
            <a:r>
              <a:rPr lang="en-HK" dirty="0"/>
              <a:t>Key Signals for Long-Term Investors</a:t>
            </a:r>
          </a:p>
          <a:p>
            <a:endParaRPr lang="en-HK" dirty="0"/>
          </a:p>
        </p:txBody>
      </p:sp>
      <p:sp>
        <p:nvSpPr>
          <p:cNvPr id="4" name="Slide Number Placeholder 3">
            <a:extLst>
              <a:ext uri="{FF2B5EF4-FFF2-40B4-BE49-F238E27FC236}">
                <a16:creationId xmlns:a16="http://schemas.microsoft.com/office/drawing/2014/main" id="{EC9F45CF-D13E-476A-A20B-E308B1BCD8A3}"/>
              </a:ext>
            </a:extLst>
          </p:cNvPr>
          <p:cNvSpPr>
            <a:spLocks noGrp="1"/>
          </p:cNvSpPr>
          <p:nvPr>
            <p:ph type="sldNum" sz="quarter" idx="12"/>
          </p:nvPr>
        </p:nvSpPr>
        <p:spPr/>
        <p:txBody>
          <a:bodyPr/>
          <a:lstStyle/>
          <a:p>
            <a:pPr>
              <a:defRPr/>
            </a:pPr>
            <a:fld id="{4D43F197-C583-4294-BD21-B6AE0DDD46C4}" type="slidenum">
              <a:rPr lang="en-US" smtClean="0"/>
              <a:pPr>
                <a:defRPr/>
              </a:pPr>
              <a:t>20</a:t>
            </a:fld>
            <a:endParaRPr lang="en-US" dirty="0"/>
          </a:p>
        </p:txBody>
      </p:sp>
    </p:spTree>
    <p:extLst>
      <p:ext uri="{BB962C8B-B14F-4D97-AF65-F5344CB8AC3E}">
        <p14:creationId xmlns:p14="http://schemas.microsoft.com/office/powerpoint/2010/main" val="3441126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D252B-A828-4724-8DDD-E762ABFFB1FB}"/>
              </a:ext>
            </a:extLst>
          </p:cNvPr>
          <p:cNvSpPr>
            <a:spLocks noGrp="1"/>
          </p:cNvSpPr>
          <p:nvPr>
            <p:ph type="title"/>
          </p:nvPr>
        </p:nvSpPr>
        <p:spPr/>
        <p:txBody>
          <a:bodyPr/>
          <a:lstStyle/>
          <a:p>
            <a:r>
              <a:rPr lang="en-HK" dirty="0"/>
              <a:t>Gemini</a:t>
            </a:r>
          </a:p>
        </p:txBody>
      </p:sp>
      <p:sp>
        <p:nvSpPr>
          <p:cNvPr id="3" name="Content Placeholder 2">
            <a:extLst>
              <a:ext uri="{FF2B5EF4-FFF2-40B4-BE49-F238E27FC236}">
                <a16:creationId xmlns:a16="http://schemas.microsoft.com/office/drawing/2014/main" id="{AB847C02-0587-4F22-A354-0BD5E4C940B2}"/>
              </a:ext>
            </a:extLst>
          </p:cNvPr>
          <p:cNvSpPr>
            <a:spLocks noGrp="1"/>
          </p:cNvSpPr>
          <p:nvPr>
            <p:ph idx="1"/>
          </p:nvPr>
        </p:nvSpPr>
        <p:spPr/>
        <p:txBody>
          <a:bodyPr/>
          <a:lstStyle/>
          <a:p>
            <a:r>
              <a:rPr lang="en-HK" dirty="0"/>
              <a:t>Key Financial Trends (FY2023 – FY2025)</a:t>
            </a:r>
          </a:p>
          <a:p>
            <a:endParaRPr lang="en-HK" dirty="0"/>
          </a:p>
          <a:p>
            <a:r>
              <a:rPr lang="en-HK" dirty="0"/>
              <a:t>Drivers of Trends &amp; Management Commentary (MD&amp;A)</a:t>
            </a:r>
          </a:p>
          <a:p>
            <a:endParaRPr lang="en-HK" dirty="0"/>
          </a:p>
          <a:p>
            <a:r>
              <a:rPr lang="en-HK" dirty="0"/>
              <a:t>Key Signals for Long-Term Investors</a:t>
            </a:r>
          </a:p>
          <a:p>
            <a:endParaRPr lang="en-HK" dirty="0"/>
          </a:p>
          <a:p>
            <a:r>
              <a:rPr lang="en-HK" dirty="0"/>
              <a:t>Concise Qualitative Assessment</a:t>
            </a:r>
          </a:p>
        </p:txBody>
      </p:sp>
      <p:sp>
        <p:nvSpPr>
          <p:cNvPr id="4" name="Slide Number Placeholder 3">
            <a:extLst>
              <a:ext uri="{FF2B5EF4-FFF2-40B4-BE49-F238E27FC236}">
                <a16:creationId xmlns:a16="http://schemas.microsoft.com/office/drawing/2014/main" id="{DA9EFE8A-9273-425C-9372-D49EC18E8F30}"/>
              </a:ext>
            </a:extLst>
          </p:cNvPr>
          <p:cNvSpPr>
            <a:spLocks noGrp="1"/>
          </p:cNvSpPr>
          <p:nvPr>
            <p:ph type="sldNum" sz="quarter" idx="12"/>
          </p:nvPr>
        </p:nvSpPr>
        <p:spPr/>
        <p:txBody>
          <a:bodyPr/>
          <a:lstStyle/>
          <a:p>
            <a:pPr>
              <a:defRPr/>
            </a:pPr>
            <a:fld id="{4D43F197-C583-4294-BD21-B6AE0DDD46C4}" type="slidenum">
              <a:rPr lang="en-US" smtClean="0"/>
              <a:pPr>
                <a:defRPr/>
              </a:pPr>
              <a:t>21</a:t>
            </a:fld>
            <a:endParaRPr lang="en-US" dirty="0"/>
          </a:p>
        </p:txBody>
      </p:sp>
    </p:spTree>
    <p:extLst>
      <p:ext uri="{BB962C8B-B14F-4D97-AF65-F5344CB8AC3E}">
        <p14:creationId xmlns:p14="http://schemas.microsoft.com/office/powerpoint/2010/main" val="1985189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4E34E-7ABD-4393-BD7C-0733050E1235}"/>
              </a:ext>
            </a:extLst>
          </p:cNvPr>
          <p:cNvSpPr>
            <a:spLocks noGrp="1"/>
          </p:cNvSpPr>
          <p:nvPr>
            <p:ph type="title"/>
          </p:nvPr>
        </p:nvSpPr>
        <p:spPr/>
        <p:txBody>
          <a:bodyPr/>
          <a:lstStyle/>
          <a:p>
            <a:r>
              <a:rPr lang="en-HK" dirty="0" err="1"/>
              <a:t>DeepSeek</a:t>
            </a:r>
            <a:endParaRPr lang="en-HK" dirty="0"/>
          </a:p>
        </p:txBody>
      </p:sp>
      <p:sp>
        <p:nvSpPr>
          <p:cNvPr id="3" name="Content Placeholder 2">
            <a:extLst>
              <a:ext uri="{FF2B5EF4-FFF2-40B4-BE49-F238E27FC236}">
                <a16:creationId xmlns:a16="http://schemas.microsoft.com/office/drawing/2014/main" id="{A7328F43-768D-4120-94CC-FE884AA0B3D2}"/>
              </a:ext>
            </a:extLst>
          </p:cNvPr>
          <p:cNvSpPr>
            <a:spLocks noGrp="1"/>
          </p:cNvSpPr>
          <p:nvPr>
            <p:ph idx="1"/>
          </p:nvPr>
        </p:nvSpPr>
        <p:spPr/>
        <p:txBody>
          <a:bodyPr/>
          <a:lstStyle/>
          <a:p>
            <a:r>
              <a:rPr lang="en-HK" dirty="0"/>
              <a:t>Key quantitative trends, FY2021–FY2025</a:t>
            </a:r>
          </a:p>
          <a:p>
            <a:endParaRPr lang="en-HK" dirty="0"/>
          </a:p>
          <a:p>
            <a:r>
              <a:rPr lang="en-HK" dirty="0"/>
              <a:t>What the MD&amp;A / statements say about the drivers</a:t>
            </a:r>
          </a:p>
          <a:p>
            <a:endParaRPr lang="en-HK" dirty="0"/>
          </a:p>
          <a:p>
            <a:r>
              <a:rPr lang="en-HK" dirty="0"/>
              <a:t>Management commentary on sustainability</a:t>
            </a:r>
          </a:p>
          <a:p>
            <a:endParaRPr lang="en-HK" dirty="0"/>
          </a:p>
          <a:p>
            <a:r>
              <a:rPr lang="en-HK" dirty="0"/>
              <a:t>Red flags / positive signals for a long-term investor</a:t>
            </a:r>
          </a:p>
          <a:p>
            <a:endParaRPr lang="en-HK" dirty="0"/>
          </a:p>
          <a:p>
            <a:r>
              <a:rPr lang="en-HK" dirty="0"/>
              <a:t>Qualitative assessment</a:t>
            </a:r>
          </a:p>
        </p:txBody>
      </p:sp>
      <p:sp>
        <p:nvSpPr>
          <p:cNvPr id="4" name="Slide Number Placeholder 3">
            <a:extLst>
              <a:ext uri="{FF2B5EF4-FFF2-40B4-BE49-F238E27FC236}">
                <a16:creationId xmlns:a16="http://schemas.microsoft.com/office/drawing/2014/main" id="{96D158F0-99B5-43C2-A3B3-2A39B33B53E8}"/>
              </a:ext>
            </a:extLst>
          </p:cNvPr>
          <p:cNvSpPr>
            <a:spLocks noGrp="1"/>
          </p:cNvSpPr>
          <p:nvPr>
            <p:ph type="sldNum" sz="quarter" idx="12"/>
          </p:nvPr>
        </p:nvSpPr>
        <p:spPr/>
        <p:txBody>
          <a:bodyPr/>
          <a:lstStyle/>
          <a:p>
            <a:pPr>
              <a:defRPr/>
            </a:pPr>
            <a:fld id="{4D43F197-C583-4294-BD21-B6AE0DDD46C4}" type="slidenum">
              <a:rPr lang="en-US" smtClean="0"/>
              <a:pPr>
                <a:defRPr/>
              </a:pPr>
              <a:t>22</a:t>
            </a:fld>
            <a:endParaRPr lang="en-US" dirty="0"/>
          </a:p>
        </p:txBody>
      </p:sp>
    </p:spTree>
    <p:extLst>
      <p:ext uri="{BB962C8B-B14F-4D97-AF65-F5344CB8AC3E}">
        <p14:creationId xmlns:p14="http://schemas.microsoft.com/office/powerpoint/2010/main" val="3427370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1B592-5F6D-4CBD-B6A6-6CF66E0E127B}"/>
              </a:ext>
            </a:extLst>
          </p:cNvPr>
          <p:cNvSpPr>
            <a:spLocks noGrp="1"/>
          </p:cNvSpPr>
          <p:nvPr>
            <p:ph type="title"/>
          </p:nvPr>
        </p:nvSpPr>
        <p:spPr/>
        <p:txBody>
          <a:bodyPr/>
          <a:lstStyle/>
          <a:p>
            <a:r>
              <a:rPr lang="en-HK" dirty="0" err="1"/>
              <a:t>ChatGPT</a:t>
            </a:r>
            <a:endParaRPr lang="en-HK" dirty="0"/>
          </a:p>
        </p:txBody>
      </p:sp>
      <p:sp>
        <p:nvSpPr>
          <p:cNvPr id="3" name="Content Placeholder 2">
            <a:extLst>
              <a:ext uri="{FF2B5EF4-FFF2-40B4-BE49-F238E27FC236}">
                <a16:creationId xmlns:a16="http://schemas.microsoft.com/office/drawing/2014/main" id="{F05BEC35-6D34-45F7-8EEF-B429BD5DC912}"/>
              </a:ext>
            </a:extLst>
          </p:cNvPr>
          <p:cNvSpPr>
            <a:spLocks noGrp="1"/>
          </p:cNvSpPr>
          <p:nvPr>
            <p:ph idx="1"/>
          </p:nvPr>
        </p:nvSpPr>
        <p:spPr/>
        <p:txBody>
          <a:bodyPr/>
          <a:lstStyle/>
          <a:p>
            <a:r>
              <a:rPr lang="en-HK" dirty="0"/>
              <a:t>What I’ll extract from Apple’s annual report (and where)</a:t>
            </a:r>
          </a:p>
          <a:p>
            <a:endParaRPr lang="en-HK" dirty="0"/>
          </a:p>
          <a:p>
            <a:r>
              <a:rPr lang="en-HK" dirty="0"/>
              <a:t>Quantitative table (ready to populate once you provide the annual report)</a:t>
            </a:r>
          </a:p>
          <a:p>
            <a:endParaRPr lang="en-HK" dirty="0"/>
          </a:p>
          <a:p>
            <a:r>
              <a:rPr lang="en-HK" dirty="0"/>
              <a:t>Qualitative assessment (what I will cover from MD&amp;A + notes)</a:t>
            </a:r>
          </a:p>
          <a:p>
            <a:endParaRPr lang="en-HK" dirty="0"/>
          </a:p>
          <a:p>
            <a:r>
              <a:rPr lang="en-HK" dirty="0"/>
              <a:t>Red flags / positive signals I will highlight for a long-term investor (once numbers are confirmed)</a:t>
            </a:r>
          </a:p>
          <a:p>
            <a:endParaRPr lang="en-HK" dirty="0"/>
          </a:p>
        </p:txBody>
      </p:sp>
      <p:sp>
        <p:nvSpPr>
          <p:cNvPr id="4" name="Slide Number Placeholder 3">
            <a:extLst>
              <a:ext uri="{FF2B5EF4-FFF2-40B4-BE49-F238E27FC236}">
                <a16:creationId xmlns:a16="http://schemas.microsoft.com/office/drawing/2014/main" id="{67D1349D-14D3-493E-94C3-9FF3163F2733}"/>
              </a:ext>
            </a:extLst>
          </p:cNvPr>
          <p:cNvSpPr>
            <a:spLocks noGrp="1"/>
          </p:cNvSpPr>
          <p:nvPr>
            <p:ph type="sldNum" sz="quarter" idx="12"/>
          </p:nvPr>
        </p:nvSpPr>
        <p:spPr/>
        <p:txBody>
          <a:bodyPr/>
          <a:lstStyle/>
          <a:p>
            <a:pPr>
              <a:defRPr/>
            </a:pPr>
            <a:fld id="{4D43F197-C583-4294-BD21-B6AE0DDD46C4}" type="slidenum">
              <a:rPr lang="en-US" smtClean="0"/>
              <a:pPr>
                <a:defRPr/>
              </a:pPr>
              <a:t>23</a:t>
            </a:fld>
            <a:endParaRPr lang="en-US" dirty="0"/>
          </a:p>
        </p:txBody>
      </p:sp>
    </p:spTree>
    <p:extLst>
      <p:ext uri="{BB962C8B-B14F-4D97-AF65-F5344CB8AC3E}">
        <p14:creationId xmlns:p14="http://schemas.microsoft.com/office/powerpoint/2010/main" val="1788091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B9BD-43EF-4C93-B01C-FBD556B2DD03}"/>
              </a:ext>
            </a:extLst>
          </p:cNvPr>
          <p:cNvSpPr>
            <a:spLocks noGrp="1"/>
          </p:cNvSpPr>
          <p:nvPr>
            <p:ph type="title"/>
          </p:nvPr>
        </p:nvSpPr>
        <p:spPr/>
        <p:txBody>
          <a:bodyPr/>
          <a:lstStyle/>
          <a:p>
            <a:r>
              <a:rPr lang="en-HK" dirty="0"/>
              <a:t>Perplexity</a:t>
            </a:r>
          </a:p>
        </p:txBody>
      </p:sp>
      <p:sp>
        <p:nvSpPr>
          <p:cNvPr id="3" name="Content Placeholder 2">
            <a:extLst>
              <a:ext uri="{FF2B5EF4-FFF2-40B4-BE49-F238E27FC236}">
                <a16:creationId xmlns:a16="http://schemas.microsoft.com/office/drawing/2014/main" id="{4C2DE109-FFBC-4C78-A170-BB01FD88AD1A}"/>
              </a:ext>
            </a:extLst>
          </p:cNvPr>
          <p:cNvSpPr>
            <a:spLocks noGrp="1"/>
          </p:cNvSpPr>
          <p:nvPr>
            <p:ph idx="1"/>
          </p:nvPr>
        </p:nvSpPr>
        <p:spPr/>
        <p:txBody>
          <a:bodyPr/>
          <a:lstStyle/>
          <a:p>
            <a:r>
              <a:rPr lang="en-HK" dirty="0"/>
              <a:t>Scope and quantitative trends</a:t>
            </a:r>
          </a:p>
          <a:p>
            <a:endParaRPr lang="en-HK" dirty="0"/>
          </a:p>
          <a:p>
            <a:r>
              <a:rPr lang="en-HK" dirty="0"/>
              <a:t>What drove the trends?</a:t>
            </a:r>
          </a:p>
          <a:p>
            <a:endParaRPr lang="en-HK" dirty="0"/>
          </a:p>
          <a:p>
            <a:r>
              <a:rPr lang="en-HK" dirty="0"/>
              <a:t>Five signals that matter most to a long-term investor</a:t>
            </a:r>
          </a:p>
        </p:txBody>
      </p:sp>
      <p:sp>
        <p:nvSpPr>
          <p:cNvPr id="4" name="Slide Number Placeholder 3">
            <a:extLst>
              <a:ext uri="{FF2B5EF4-FFF2-40B4-BE49-F238E27FC236}">
                <a16:creationId xmlns:a16="http://schemas.microsoft.com/office/drawing/2014/main" id="{919A938B-270F-46C9-8793-33A545609880}"/>
              </a:ext>
            </a:extLst>
          </p:cNvPr>
          <p:cNvSpPr>
            <a:spLocks noGrp="1"/>
          </p:cNvSpPr>
          <p:nvPr>
            <p:ph type="sldNum" sz="quarter" idx="12"/>
          </p:nvPr>
        </p:nvSpPr>
        <p:spPr/>
        <p:txBody>
          <a:bodyPr/>
          <a:lstStyle/>
          <a:p>
            <a:pPr>
              <a:defRPr/>
            </a:pPr>
            <a:fld id="{4D43F197-C583-4294-BD21-B6AE0DDD46C4}" type="slidenum">
              <a:rPr lang="en-US" smtClean="0"/>
              <a:pPr>
                <a:defRPr/>
              </a:pPr>
              <a:t>24</a:t>
            </a:fld>
            <a:endParaRPr lang="en-US" dirty="0"/>
          </a:p>
        </p:txBody>
      </p:sp>
    </p:spTree>
    <p:extLst>
      <p:ext uri="{BB962C8B-B14F-4D97-AF65-F5344CB8AC3E}">
        <p14:creationId xmlns:p14="http://schemas.microsoft.com/office/powerpoint/2010/main" val="27196458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4A41B-BD10-4EF2-A641-8730C8BDB5DD}"/>
              </a:ext>
            </a:extLst>
          </p:cNvPr>
          <p:cNvSpPr>
            <a:spLocks noGrp="1"/>
          </p:cNvSpPr>
          <p:nvPr>
            <p:ph type="title"/>
          </p:nvPr>
        </p:nvSpPr>
        <p:spPr/>
        <p:txBody>
          <a:bodyPr/>
          <a:lstStyle/>
          <a:p>
            <a:r>
              <a:rPr lang="en-HK" dirty="0"/>
              <a:t>The perspective of creditors</a:t>
            </a:r>
          </a:p>
        </p:txBody>
      </p:sp>
      <p:sp>
        <p:nvSpPr>
          <p:cNvPr id="3" name="Content Placeholder 2">
            <a:extLst>
              <a:ext uri="{FF2B5EF4-FFF2-40B4-BE49-F238E27FC236}">
                <a16:creationId xmlns:a16="http://schemas.microsoft.com/office/drawing/2014/main" id="{93AF6261-1A53-446C-ABA0-709FFFB1AFF5}"/>
              </a:ext>
            </a:extLst>
          </p:cNvPr>
          <p:cNvSpPr>
            <a:spLocks noGrp="1"/>
          </p:cNvSpPr>
          <p:nvPr>
            <p:ph idx="1"/>
          </p:nvPr>
        </p:nvSpPr>
        <p:spPr/>
        <p:txBody>
          <a:bodyPr>
            <a:normAutofit/>
          </a:bodyPr>
          <a:lstStyle/>
          <a:p>
            <a:r>
              <a:rPr lang="en-HK" dirty="0"/>
              <a:t>Liquidity &amp; Short-Term Solvency​</a:t>
            </a:r>
          </a:p>
          <a:p>
            <a:endParaRPr lang="en-HK" dirty="0"/>
          </a:p>
          <a:p>
            <a:r>
              <a:rPr lang="en-HK" dirty="0"/>
              <a:t>Debt Structure &amp; Servicing Capacity</a:t>
            </a:r>
          </a:p>
          <a:p>
            <a:endParaRPr lang="en-HK" dirty="0"/>
          </a:p>
          <a:p>
            <a:r>
              <a:rPr lang="en-HK" dirty="0"/>
              <a:t>Cash Flow Sustainability​</a:t>
            </a:r>
          </a:p>
          <a:p>
            <a:endParaRPr lang="en-HK" dirty="0"/>
          </a:p>
          <a:p>
            <a:r>
              <a:rPr lang="en-HK" dirty="0"/>
              <a:t>Asset Quality &amp; Collateral​</a:t>
            </a:r>
          </a:p>
          <a:p>
            <a:endParaRPr lang="en-HK" dirty="0"/>
          </a:p>
          <a:p>
            <a:r>
              <a:rPr lang="en-HK" dirty="0"/>
              <a:t>Macro &amp; Strategic Risks ​​to Repayment​</a:t>
            </a:r>
          </a:p>
          <a:p>
            <a:endParaRPr lang="en-HK" dirty="0"/>
          </a:p>
          <a:p>
            <a:r>
              <a:rPr lang="en-HK" dirty="0"/>
              <a:t>Contingency Planning​</a:t>
            </a:r>
          </a:p>
          <a:p>
            <a:endParaRPr lang="en-HK" b="1" dirty="0"/>
          </a:p>
          <a:p>
            <a:endParaRPr lang="en-HK" dirty="0"/>
          </a:p>
        </p:txBody>
      </p:sp>
      <p:sp>
        <p:nvSpPr>
          <p:cNvPr id="4" name="Slide Number Placeholder 3">
            <a:extLst>
              <a:ext uri="{FF2B5EF4-FFF2-40B4-BE49-F238E27FC236}">
                <a16:creationId xmlns:a16="http://schemas.microsoft.com/office/drawing/2014/main" id="{D88C8EB2-729C-47F3-827E-90393CCDFF33}"/>
              </a:ext>
            </a:extLst>
          </p:cNvPr>
          <p:cNvSpPr>
            <a:spLocks noGrp="1"/>
          </p:cNvSpPr>
          <p:nvPr>
            <p:ph type="sldNum" sz="quarter" idx="12"/>
          </p:nvPr>
        </p:nvSpPr>
        <p:spPr/>
        <p:txBody>
          <a:bodyPr/>
          <a:lstStyle/>
          <a:p>
            <a:pPr>
              <a:defRPr/>
            </a:pPr>
            <a:fld id="{4D43F197-C583-4294-BD21-B6AE0DDD46C4}" type="slidenum">
              <a:rPr lang="en-US" smtClean="0"/>
              <a:pPr>
                <a:defRPr/>
              </a:pPr>
              <a:t>25</a:t>
            </a:fld>
            <a:endParaRPr lang="en-US" dirty="0"/>
          </a:p>
        </p:txBody>
      </p:sp>
    </p:spTree>
    <p:extLst>
      <p:ext uri="{BB962C8B-B14F-4D97-AF65-F5344CB8AC3E}">
        <p14:creationId xmlns:p14="http://schemas.microsoft.com/office/powerpoint/2010/main" val="3382327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88AE8-62F7-499A-92B9-94ABAE4527D4}"/>
              </a:ext>
            </a:extLst>
          </p:cNvPr>
          <p:cNvSpPr>
            <a:spLocks noGrp="1"/>
          </p:cNvSpPr>
          <p:nvPr>
            <p:ph type="title"/>
          </p:nvPr>
        </p:nvSpPr>
        <p:spPr>
          <a:xfrm>
            <a:off x="628650" y="681037"/>
            <a:ext cx="7886700" cy="1009652"/>
          </a:xfrm>
        </p:spPr>
        <p:txBody>
          <a:bodyPr/>
          <a:lstStyle/>
          <a:p>
            <a:r>
              <a:rPr lang="en-HK" dirty="0"/>
              <a:t>Prompt – Liquidity &amp; Short-Term Solvency​</a:t>
            </a:r>
            <a:br>
              <a:rPr lang="en-HK" dirty="0"/>
            </a:br>
            <a:endParaRPr lang="en-HK" dirty="0"/>
          </a:p>
        </p:txBody>
      </p:sp>
      <p:sp>
        <p:nvSpPr>
          <p:cNvPr id="3" name="Content Placeholder 2">
            <a:extLst>
              <a:ext uri="{FF2B5EF4-FFF2-40B4-BE49-F238E27FC236}">
                <a16:creationId xmlns:a16="http://schemas.microsoft.com/office/drawing/2014/main" id="{E42880E3-92F9-4701-984D-2C1027C9B021}"/>
              </a:ext>
            </a:extLst>
          </p:cNvPr>
          <p:cNvSpPr>
            <a:spLocks noGrp="1"/>
          </p:cNvSpPr>
          <p:nvPr>
            <p:ph idx="1"/>
          </p:nvPr>
        </p:nvSpPr>
        <p:spPr/>
        <p:txBody>
          <a:bodyPr/>
          <a:lstStyle/>
          <a:p>
            <a:r>
              <a:rPr lang="en-HK" dirty="0"/>
              <a:t>Using APPLE’s latest annual report, assess short-term liquidity and solvency from a creditor’s viewpoint. Extract the current ratio, quick ratio, cash and cash equivalents, short-term investments, and available undrawn credit facilities (cite exact figures and locations). From the MD&amp;A and notes, summarize the company’s working capital management, seasonality of cash needs, and any near-term debt maturities. Identify potential liquidity pressures over the next 12 months and evaluate whether the company has adequate buffers to meet obligations even under moderate stress. Present key metrics in a table and conclude with a creditor risk rating on liquidity (low/medium/high concern).</a:t>
            </a:r>
          </a:p>
          <a:p>
            <a:endParaRPr lang="en-HK" dirty="0"/>
          </a:p>
        </p:txBody>
      </p:sp>
      <p:sp>
        <p:nvSpPr>
          <p:cNvPr id="4" name="Slide Number Placeholder 3">
            <a:extLst>
              <a:ext uri="{FF2B5EF4-FFF2-40B4-BE49-F238E27FC236}">
                <a16:creationId xmlns:a16="http://schemas.microsoft.com/office/drawing/2014/main" id="{BEA140E8-359D-4CD9-9406-B4CD3091F8DD}"/>
              </a:ext>
            </a:extLst>
          </p:cNvPr>
          <p:cNvSpPr>
            <a:spLocks noGrp="1"/>
          </p:cNvSpPr>
          <p:nvPr>
            <p:ph type="sldNum" sz="quarter" idx="12"/>
          </p:nvPr>
        </p:nvSpPr>
        <p:spPr/>
        <p:txBody>
          <a:bodyPr/>
          <a:lstStyle/>
          <a:p>
            <a:pPr>
              <a:defRPr/>
            </a:pPr>
            <a:fld id="{4D43F197-C583-4294-BD21-B6AE0DDD46C4}" type="slidenum">
              <a:rPr lang="en-US" smtClean="0"/>
              <a:pPr>
                <a:defRPr/>
              </a:pPr>
              <a:t>26</a:t>
            </a:fld>
            <a:endParaRPr lang="en-US" dirty="0"/>
          </a:p>
        </p:txBody>
      </p:sp>
    </p:spTree>
    <p:extLst>
      <p:ext uri="{BB962C8B-B14F-4D97-AF65-F5344CB8AC3E}">
        <p14:creationId xmlns:p14="http://schemas.microsoft.com/office/powerpoint/2010/main" val="837821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075B2-4E91-4D84-9D10-12E736D9CE1D}"/>
              </a:ext>
            </a:extLst>
          </p:cNvPr>
          <p:cNvSpPr>
            <a:spLocks noGrp="1"/>
          </p:cNvSpPr>
          <p:nvPr>
            <p:ph type="title"/>
          </p:nvPr>
        </p:nvSpPr>
        <p:spPr/>
        <p:txBody>
          <a:bodyPr/>
          <a:lstStyle/>
          <a:p>
            <a:r>
              <a:rPr lang="en-HK" dirty="0"/>
              <a:t>The perspective of supplier</a:t>
            </a:r>
          </a:p>
        </p:txBody>
      </p:sp>
      <p:sp>
        <p:nvSpPr>
          <p:cNvPr id="3" name="Content Placeholder 2">
            <a:extLst>
              <a:ext uri="{FF2B5EF4-FFF2-40B4-BE49-F238E27FC236}">
                <a16:creationId xmlns:a16="http://schemas.microsoft.com/office/drawing/2014/main" id="{91C93E0D-9B67-4F75-A630-0768FBFEA0DE}"/>
              </a:ext>
            </a:extLst>
          </p:cNvPr>
          <p:cNvSpPr>
            <a:spLocks noGrp="1"/>
          </p:cNvSpPr>
          <p:nvPr>
            <p:ph idx="1"/>
          </p:nvPr>
        </p:nvSpPr>
        <p:spPr/>
        <p:txBody>
          <a:bodyPr/>
          <a:lstStyle/>
          <a:p>
            <a:r>
              <a:rPr lang="en-HK" dirty="0"/>
              <a:t>Liquidity &amp; Payment Security​</a:t>
            </a:r>
          </a:p>
          <a:p>
            <a:endParaRPr lang="en-HK" dirty="0"/>
          </a:p>
          <a:p>
            <a:r>
              <a:rPr lang="en-HK" dirty="0"/>
              <a:t>Order Stability &amp; Demand Visibility​</a:t>
            </a:r>
          </a:p>
          <a:p>
            <a:endParaRPr lang="en-HK" dirty="0"/>
          </a:p>
          <a:p>
            <a:r>
              <a:rPr lang="en-HK" dirty="0"/>
              <a:t>Profitability &amp; Cost Pressure​</a:t>
            </a:r>
          </a:p>
          <a:p>
            <a:endParaRPr lang="en-HK" dirty="0"/>
          </a:p>
          <a:p>
            <a:r>
              <a:rPr lang="en-HK" dirty="0"/>
              <a:t>Contingency &amp; Operational Risks</a:t>
            </a:r>
          </a:p>
          <a:p>
            <a:endParaRPr lang="en-HK" dirty="0"/>
          </a:p>
          <a:p>
            <a:r>
              <a:rPr lang="en-HK" dirty="0"/>
              <a:t>Strategic Alignment &amp; Future Viability​</a:t>
            </a:r>
          </a:p>
          <a:p>
            <a:endParaRPr lang="en-HK" dirty="0"/>
          </a:p>
        </p:txBody>
      </p:sp>
      <p:sp>
        <p:nvSpPr>
          <p:cNvPr id="4" name="Slide Number Placeholder 3">
            <a:extLst>
              <a:ext uri="{FF2B5EF4-FFF2-40B4-BE49-F238E27FC236}">
                <a16:creationId xmlns:a16="http://schemas.microsoft.com/office/drawing/2014/main" id="{55AD5394-EC35-4BFA-B701-15A3C77A9E0A}"/>
              </a:ext>
            </a:extLst>
          </p:cNvPr>
          <p:cNvSpPr>
            <a:spLocks noGrp="1"/>
          </p:cNvSpPr>
          <p:nvPr>
            <p:ph type="sldNum" sz="quarter" idx="12"/>
          </p:nvPr>
        </p:nvSpPr>
        <p:spPr/>
        <p:txBody>
          <a:bodyPr/>
          <a:lstStyle/>
          <a:p>
            <a:pPr>
              <a:defRPr/>
            </a:pPr>
            <a:fld id="{4D43F197-C583-4294-BD21-B6AE0DDD46C4}" type="slidenum">
              <a:rPr lang="en-US" smtClean="0"/>
              <a:pPr>
                <a:defRPr/>
              </a:pPr>
              <a:t>27</a:t>
            </a:fld>
            <a:endParaRPr lang="en-US" dirty="0"/>
          </a:p>
        </p:txBody>
      </p:sp>
    </p:spTree>
    <p:extLst>
      <p:ext uri="{BB962C8B-B14F-4D97-AF65-F5344CB8AC3E}">
        <p14:creationId xmlns:p14="http://schemas.microsoft.com/office/powerpoint/2010/main" val="3456630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76B0F-730B-4605-AFBB-A35140F2F18B}"/>
              </a:ext>
            </a:extLst>
          </p:cNvPr>
          <p:cNvSpPr>
            <a:spLocks noGrp="1"/>
          </p:cNvSpPr>
          <p:nvPr>
            <p:ph type="title"/>
          </p:nvPr>
        </p:nvSpPr>
        <p:spPr/>
        <p:txBody>
          <a:bodyPr/>
          <a:lstStyle/>
          <a:p>
            <a:r>
              <a:rPr lang="en-HK" dirty="0"/>
              <a:t>Prompt – Liquidity &amp; Payment Security​​</a:t>
            </a:r>
          </a:p>
        </p:txBody>
      </p:sp>
      <p:sp>
        <p:nvSpPr>
          <p:cNvPr id="3" name="Content Placeholder 2">
            <a:extLst>
              <a:ext uri="{FF2B5EF4-FFF2-40B4-BE49-F238E27FC236}">
                <a16:creationId xmlns:a16="http://schemas.microsoft.com/office/drawing/2014/main" id="{F981BC7F-2801-4F66-BF2E-BCB5895785E5}"/>
              </a:ext>
            </a:extLst>
          </p:cNvPr>
          <p:cNvSpPr>
            <a:spLocks noGrp="1"/>
          </p:cNvSpPr>
          <p:nvPr>
            <p:ph idx="1"/>
          </p:nvPr>
        </p:nvSpPr>
        <p:spPr/>
        <p:txBody>
          <a:bodyPr/>
          <a:lstStyle/>
          <a:p>
            <a:r>
              <a:rPr lang="en-HK" dirty="0"/>
              <a:t>Using APPLE’s latest annual report, assess payment security and short-term liquidity from a supplier’s viewpoint. Extract cash and cash equivalents, current ratio, quick ratio, and any available credit facilities. From the MD&amp;A, notes on working capital, and accounts payable disclosures, summarize the company’s payment terms, days payable outstanding trends, and any comments on cash management or liquidity pressures. Identify whether the company appears able to pay suppliers on time and in full under normal and moderately stressed conditions. Highlight any red flags (e.g., rising payables, liquidity constraints, or restructuring) that a supplier should monitor. Present key metrics in a table and conclude with a payment-risk assessment.</a:t>
            </a:r>
          </a:p>
          <a:p>
            <a:endParaRPr lang="en-HK" dirty="0"/>
          </a:p>
        </p:txBody>
      </p:sp>
      <p:sp>
        <p:nvSpPr>
          <p:cNvPr id="4" name="Slide Number Placeholder 3">
            <a:extLst>
              <a:ext uri="{FF2B5EF4-FFF2-40B4-BE49-F238E27FC236}">
                <a16:creationId xmlns:a16="http://schemas.microsoft.com/office/drawing/2014/main" id="{D484B343-5449-4449-8644-C67D7B1816AD}"/>
              </a:ext>
            </a:extLst>
          </p:cNvPr>
          <p:cNvSpPr>
            <a:spLocks noGrp="1"/>
          </p:cNvSpPr>
          <p:nvPr>
            <p:ph type="sldNum" sz="quarter" idx="12"/>
          </p:nvPr>
        </p:nvSpPr>
        <p:spPr/>
        <p:txBody>
          <a:bodyPr/>
          <a:lstStyle/>
          <a:p>
            <a:pPr>
              <a:defRPr/>
            </a:pPr>
            <a:fld id="{4D43F197-C583-4294-BD21-B6AE0DDD46C4}" type="slidenum">
              <a:rPr lang="en-US" smtClean="0"/>
              <a:pPr>
                <a:defRPr/>
              </a:pPr>
              <a:t>28</a:t>
            </a:fld>
            <a:endParaRPr lang="en-US" dirty="0"/>
          </a:p>
        </p:txBody>
      </p:sp>
    </p:spTree>
    <p:extLst>
      <p:ext uri="{BB962C8B-B14F-4D97-AF65-F5344CB8AC3E}">
        <p14:creationId xmlns:p14="http://schemas.microsoft.com/office/powerpoint/2010/main" val="17406585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A80D5-0045-4963-B5D5-7D580BCA9D8B}"/>
              </a:ext>
            </a:extLst>
          </p:cNvPr>
          <p:cNvSpPr>
            <a:spLocks noGrp="1"/>
          </p:cNvSpPr>
          <p:nvPr>
            <p:ph type="title"/>
          </p:nvPr>
        </p:nvSpPr>
        <p:spPr/>
        <p:txBody>
          <a:bodyPr/>
          <a:lstStyle/>
          <a:p>
            <a:r>
              <a:rPr lang="en-HK" dirty="0"/>
              <a:t>The perspective of auditor</a:t>
            </a:r>
          </a:p>
        </p:txBody>
      </p:sp>
      <p:sp>
        <p:nvSpPr>
          <p:cNvPr id="3" name="Content Placeholder 2">
            <a:extLst>
              <a:ext uri="{FF2B5EF4-FFF2-40B4-BE49-F238E27FC236}">
                <a16:creationId xmlns:a16="http://schemas.microsoft.com/office/drawing/2014/main" id="{3FE70DCE-1DE5-4B7F-A67C-63BE6245F54B}"/>
              </a:ext>
            </a:extLst>
          </p:cNvPr>
          <p:cNvSpPr>
            <a:spLocks noGrp="1"/>
          </p:cNvSpPr>
          <p:nvPr>
            <p:ph idx="1"/>
          </p:nvPr>
        </p:nvSpPr>
        <p:spPr/>
        <p:txBody>
          <a:bodyPr/>
          <a:lstStyle/>
          <a:p>
            <a:r>
              <a:rPr lang="en-HK" dirty="0"/>
              <a:t>Business Environment &amp; Industry Context​</a:t>
            </a:r>
          </a:p>
          <a:p>
            <a:endParaRPr lang="en-HK" dirty="0"/>
          </a:p>
          <a:p>
            <a:r>
              <a:rPr lang="en-HK" dirty="0"/>
              <a:t>Financial Statement Integrity &amp; Account-Level Analysis​</a:t>
            </a:r>
          </a:p>
          <a:p>
            <a:endParaRPr lang="en-HK" dirty="0"/>
          </a:p>
          <a:p>
            <a:r>
              <a:rPr lang="en-HK" dirty="0"/>
              <a:t>Risk Assessment &amp; Material Misstatement​</a:t>
            </a:r>
          </a:p>
          <a:p>
            <a:endParaRPr lang="en-HK" dirty="0"/>
          </a:p>
          <a:p>
            <a:r>
              <a:rPr lang="en-HK" dirty="0"/>
              <a:t>Governance &amp; Internal Audit Synergy</a:t>
            </a:r>
          </a:p>
          <a:p>
            <a:endParaRPr lang="en-HK" dirty="0"/>
          </a:p>
          <a:p>
            <a:r>
              <a:rPr lang="en-HK" dirty="0"/>
              <a:t>Analytical Procedures &amp; Comparative Analysis​</a:t>
            </a:r>
          </a:p>
          <a:p>
            <a:endParaRPr lang="en-HK" dirty="0"/>
          </a:p>
          <a:p>
            <a:r>
              <a:rPr lang="en-HK" dirty="0"/>
              <a:t>Compliance &amp; Ethical Safeguards​</a:t>
            </a:r>
          </a:p>
          <a:p>
            <a:endParaRPr lang="en-HK" dirty="0"/>
          </a:p>
          <a:p>
            <a:endParaRPr lang="en-HK" dirty="0"/>
          </a:p>
          <a:p>
            <a:endParaRPr lang="en-HK" dirty="0"/>
          </a:p>
        </p:txBody>
      </p:sp>
      <p:sp>
        <p:nvSpPr>
          <p:cNvPr id="4" name="Slide Number Placeholder 3">
            <a:extLst>
              <a:ext uri="{FF2B5EF4-FFF2-40B4-BE49-F238E27FC236}">
                <a16:creationId xmlns:a16="http://schemas.microsoft.com/office/drawing/2014/main" id="{B5607F6D-FA30-480C-8E9B-B72DD8CCE5E6}"/>
              </a:ext>
            </a:extLst>
          </p:cNvPr>
          <p:cNvSpPr>
            <a:spLocks noGrp="1"/>
          </p:cNvSpPr>
          <p:nvPr>
            <p:ph type="sldNum" sz="quarter" idx="12"/>
          </p:nvPr>
        </p:nvSpPr>
        <p:spPr/>
        <p:txBody>
          <a:bodyPr/>
          <a:lstStyle/>
          <a:p>
            <a:pPr>
              <a:defRPr/>
            </a:pPr>
            <a:fld id="{4D43F197-C583-4294-BD21-B6AE0DDD46C4}" type="slidenum">
              <a:rPr lang="en-US" smtClean="0"/>
              <a:pPr>
                <a:defRPr/>
              </a:pPr>
              <a:t>29</a:t>
            </a:fld>
            <a:endParaRPr lang="en-US" dirty="0"/>
          </a:p>
        </p:txBody>
      </p:sp>
    </p:spTree>
    <p:extLst>
      <p:ext uri="{BB962C8B-B14F-4D97-AF65-F5344CB8AC3E}">
        <p14:creationId xmlns:p14="http://schemas.microsoft.com/office/powerpoint/2010/main" val="4119412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E3BE5-CEA9-4E79-813A-83CB18FFF81B}"/>
              </a:ext>
            </a:extLst>
          </p:cNvPr>
          <p:cNvSpPr>
            <a:spLocks noGrp="1"/>
          </p:cNvSpPr>
          <p:nvPr>
            <p:ph type="title"/>
          </p:nvPr>
        </p:nvSpPr>
        <p:spPr>
          <a:xfrm>
            <a:off x="628650" y="365126"/>
            <a:ext cx="8210550" cy="1325563"/>
          </a:xfrm>
        </p:spPr>
        <p:txBody>
          <a:bodyPr>
            <a:normAutofit/>
          </a:bodyPr>
          <a:lstStyle/>
          <a:p>
            <a:r>
              <a:rPr lang="en-HK" dirty="0"/>
              <a:t>Prompt – Governance &amp; Internal Audit Synergy</a:t>
            </a:r>
          </a:p>
        </p:txBody>
      </p:sp>
      <p:sp>
        <p:nvSpPr>
          <p:cNvPr id="3" name="Content Placeholder 2">
            <a:extLst>
              <a:ext uri="{FF2B5EF4-FFF2-40B4-BE49-F238E27FC236}">
                <a16:creationId xmlns:a16="http://schemas.microsoft.com/office/drawing/2014/main" id="{84CD718F-9F02-4123-AB13-9333728329B7}"/>
              </a:ext>
            </a:extLst>
          </p:cNvPr>
          <p:cNvSpPr>
            <a:spLocks noGrp="1"/>
          </p:cNvSpPr>
          <p:nvPr>
            <p:ph idx="1"/>
          </p:nvPr>
        </p:nvSpPr>
        <p:spPr/>
        <p:txBody>
          <a:bodyPr/>
          <a:lstStyle/>
          <a:p>
            <a:r>
              <a:rPr lang="en-HK" dirty="0"/>
              <a:t>Evaluate governance and potential synergy with internal audit using the annual report (and any referenced governance or internal control disclosures). Summarize the board and audit committee structure, independence, financial expertise, and any statements on oversight of financial reporting or internal controls. Extract information on the internal audit function, if disclosed, including its scope, reporting lines, or findings referenced. Assess whether the governance arrangements appear robust enough to support reliable financial reporting and how an external auditor might leverage or coordinate with internal audit. Note any governance-related red flags or positive indicators.</a:t>
            </a:r>
          </a:p>
        </p:txBody>
      </p:sp>
      <p:sp>
        <p:nvSpPr>
          <p:cNvPr id="4" name="Slide Number Placeholder 3">
            <a:extLst>
              <a:ext uri="{FF2B5EF4-FFF2-40B4-BE49-F238E27FC236}">
                <a16:creationId xmlns:a16="http://schemas.microsoft.com/office/drawing/2014/main" id="{E5204647-5D85-4598-937A-27F7FE439998}"/>
              </a:ext>
            </a:extLst>
          </p:cNvPr>
          <p:cNvSpPr>
            <a:spLocks noGrp="1"/>
          </p:cNvSpPr>
          <p:nvPr>
            <p:ph type="sldNum" sz="quarter" idx="12"/>
          </p:nvPr>
        </p:nvSpPr>
        <p:spPr/>
        <p:txBody>
          <a:bodyPr/>
          <a:lstStyle/>
          <a:p>
            <a:pPr>
              <a:defRPr/>
            </a:pPr>
            <a:fld id="{4D43F197-C583-4294-BD21-B6AE0DDD46C4}" type="slidenum">
              <a:rPr lang="en-US" smtClean="0"/>
              <a:pPr>
                <a:defRPr/>
              </a:pPr>
              <a:t>30</a:t>
            </a:fld>
            <a:endParaRPr lang="en-US" dirty="0"/>
          </a:p>
        </p:txBody>
      </p:sp>
    </p:spTree>
    <p:extLst>
      <p:ext uri="{BB962C8B-B14F-4D97-AF65-F5344CB8AC3E}">
        <p14:creationId xmlns:p14="http://schemas.microsoft.com/office/powerpoint/2010/main" val="1854565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64327-A56F-4E9D-A6C9-92050E176DE6}"/>
              </a:ext>
            </a:extLst>
          </p:cNvPr>
          <p:cNvSpPr>
            <a:spLocks noGrp="1"/>
          </p:cNvSpPr>
          <p:nvPr>
            <p:ph type="title"/>
          </p:nvPr>
        </p:nvSpPr>
        <p:spPr/>
        <p:txBody>
          <a:bodyPr/>
          <a:lstStyle/>
          <a:p>
            <a:r>
              <a:rPr lang="en-HK" dirty="0"/>
              <a:t>The perspective of regulator</a:t>
            </a:r>
          </a:p>
        </p:txBody>
      </p:sp>
      <p:sp>
        <p:nvSpPr>
          <p:cNvPr id="3" name="Content Placeholder 2">
            <a:extLst>
              <a:ext uri="{FF2B5EF4-FFF2-40B4-BE49-F238E27FC236}">
                <a16:creationId xmlns:a16="http://schemas.microsoft.com/office/drawing/2014/main" id="{2CFC86D8-B391-40CA-B4FC-E31C31815FB2}"/>
              </a:ext>
            </a:extLst>
          </p:cNvPr>
          <p:cNvSpPr>
            <a:spLocks noGrp="1"/>
          </p:cNvSpPr>
          <p:nvPr>
            <p:ph idx="1"/>
          </p:nvPr>
        </p:nvSpPr>
        <p:spPr/>
        <p:txBody>
          <a:bodyPr/>
          <a:lstStyle/>
          <a:p>
            <a:r>
              <a:rPr lang="en-HK" dirty="0"/>
              <a:t>Antitrust &amp; Monopoly Risks</a:t>
            </a:r>
          </a:p>
          <a:p>
            <a:endParaRPr lang="en-HK" dirty="0"/>
          </a:p>
          <a:p>
            <a:r>
              <a:rPr lang="en-HK" dirty="0"/>
              <a:t>International Regulatory Compliance​</a:t>
            </a:r>
          </a:p>
          <a:p>
            <a:endParaRPr lang="en-HK" dirty="0"/>
          </a:p>
          <a:p>
            <a:r>
              <a:rPr lang="en-HK" dirty="0"/>
              <a:t>Financial Resilience &amp; Penalty Absorption​</a:t>
            </a:r>
          </a:p>
          <a:p>
            <a:endParaRPr lang="en-HK" dirty="0"/>
          </a:p>
          <a:p>
            <a:r>
              <a:rPr lang="en-HK" dirty="0"/>
              <a:t>Transparency &amp; Disclosure Adequacy​</a:t>
            </a:r>
          </a:p>
          <a:p>
            <a:endParaRPr lang="en-HK" dirty="0"/>
          </a:p>
          <a:p>
            <a:r>
              <a:rPr lang="en-HK" dirty="0"/>
              <a:t>Consumer &amp; Market Stability Risks​</a:t>
            </a:r>
          </a:p>
          <a:p>
            <a:endParaRPr lang="en-HK" dirty="0"/>
          </a:p>
        </p:txBody>
      </p:sp>
      <p:sp>
        <p:nvSpPr>
          <p:cNvPr id="4" name="Slide Number Placeholder 3">
            <a:extLst>
              <a:ext uri="{FF2B5EF4-FFF2-40B4-BE49-F238E27FC236}">
                <a16:creationId xmlns:a16="http://schemas.microsoft.com/office/drawing/2014/main" id="{C4CB7E17-093C-4AF1-9C54-2A336E213857}"/>
              </a:ext>
            </a:extLst>
          </p:cNvPr>
          <p:cNvSpPr>
            <a:spLocks noGrp="1"/>
          </p:cNvSpPr>
          <p:nvPr>
            <p:ph type="sldNum" sz="quarter" idx="12"/>
          </p:nvPr>
        </p:nvSpPr>
        <p:spPr/>
        <p:txBody>
          <a:bodyPr/>
          <a:lstStyle/>
          <a:p>
            <a:pPr>
              <a:defRPr/>
            </a:pPr>
            <a:fld id="{4D43F197-C583-4294-BD21-B6AE0DDD46C4}" type="slidenum">
              <a:rPr lang="en-US" smtClean="0"/>
              <a:pPr>
                <a:defRPr/>
              </a:pPr>
              <a:t>31</a:t>
            </a:fld>
            <a:endParaRPr lang="en-US" dirty="0"/>
          </a:p>
        </p:txBody>
      </p:sp>
    </p:spTree>
    <p:extLst>
      <p:ext uri="{BB962C8B-B14F-4D97-AF65-F5344CB8AC3E}">
        <p14:creationId xmlns:p14="http://schemas.microsoft.com/office/powerpoint/2010/main" val="1113499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3568C-4C1A-4D73-8EF4-6DB3DE9E4E52}"/>
              </a:ext>
            </a:extLst>
          </p:cNvPr>
          <p:cNvSpPr>
            <a:spLocks noGrp="1"/>
          </p:cNvSpPr>
          <p:nvPr>
            <p:ph type="title"/>
          </p:nvPr>
        </p:nvSpPr>
        <p:spPr/>
        <p:txBody>
          <a:bodyPr/>
          <a:lstStyle/>
          <a:p>
            <a:r>
              <a:rPr lang="en-HK" dirty="0"/>
              <a:t>Prompt – Governance &amp; Internal Audit Synergy</a:t>
            </a:r>
          </a:p>
        </p:txBody>
      </p:sp>
      <p:sp>
        <p:nvSpPr>
          <p:cNvPr id="3" name="Content Placeholder 2">
            <a:extLst>
              <a:ext uri="{FF2B5EF4-FFF2-40B4-BE49-F238E27FC236}">
                <a16:creationId xmlns:a16="http://schemas.microsoft.com/office/drawing/2014/main" id="{BAF987E6-5918-45CD-AD68-9591D05F9FCD}"/>
              </a:ext>
            </a:extLst>
          </p:cNvPr>
          <p:cNvSpPr>
            <a:spLocks noGrp="1"/>
          </p:cNvSpPr>
          <p:nvPr>
            <p:ph idx="1"/>
          </p:nvPr>
        </p:nvSpPr>
        <p:spPr/>
        <p:txBody>
          <a:bodyPr/>
          <a:lstStyle/>
          <a:p>
            <a:r>
              <a:rPr lang="en-HK" dirty="0"/>
              <a:t>Review the annual report for international regulatory compliance risks. Summarize the company’s geographic footprint, cross-border operations, and any disclosures regarding compliance with foreign laws (e.g., data privacy, sanctions, anti-corruption, sector-specific regulations, or export controls). From the Risk Factors and MD&amp;A, extract management’s assessment of regulatory exposures in key jurisdictions and any material changes in the regulatory environment. Identify potential gaps or elevated risks that a multi-jurisdictional regulator or coordinating authority would prioritize. Note any reported fines, investigations, or remediation efforts related to international compliance.</a:t>
            </a:r>
          </a:p>
          <a:p>
            <a:endParaRPr lang="en-HK" dirty="0"/>
          </a:p>
        </p:txBody>
      </p:sp>
      <p:sp>
        <p:nvSpPr>
          <p:cNvPr id="4" name="Slide Number Placeholder 3">
            <a:extLst>
              <a:ext uri="{FF2B5EF4-FFF2-40B4-BE49-F238E27FC236}">
                <a16:creationId xmlns:a16="http://schemas.microsoft.com/office/drawing/2014/main" id="{5419236A-2575-49EA-B7D0-1083D8C5CDE9}"/>
              </a:ext>
            </a:extLst>
          </p:cNvPr>
          <p:cNvSpPr>
            <a:spLocks noGrp="1"/>
          </p:cNvSpPr>
          <p:nvPr>
            <p:ph type="sldNum" sz="quarter" idx="12"/>
          </p:nvPr>
        </p:nvSpPr>
        <p:spPr/>
        <p:txBody>
          <a:bodyPr/>
          <a:lstStyle/>
          <a:p>
            <a:pPr>
              <a:defRPr/>
            </a:pPr>
            <a:fld id="{4D43F197-C583-4294-BD21-B6AE0DDD46C4}" type="slidenum">
              <a:rPr lang="en-US" smtClean="0"/>
              <a:pPr>
                <a:defRPr/>
              </a:pPr>
              <a:t>32</a:t>
            </a:fld>
            <a:endParaRPr lang="en-US" dirty="0"/>
          </a:p>
        </p:txBody>
      </p:sp>
    </p:spTree>
    <p:extLst>
      <p:ext uri="{BB962C8B-B14F-4D97-AF65-F5344CB8AC3E}">
        <p14:creationId xmlns:p14="http://schemas.microsoft.com/office/powerpoint/2010/main" val="3158793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DF805-0A91-4794-A3B7-08DFBBD6E90D}"/>
              </a:ext>
            </a:extLst>
          </p:cNvPr>
          <p:cNvSpPr>
            <a:spLocks noGrp="1"/>
          </p:cNvSpPr>
          <p:nvPr>
            <p:ph type="title"/>
          </p:nvPr>
        </p:nvSpPr>
        <p:spPr/>
        <p:txBody>
          <a:bodyPr/>
          <a:lstStyle/>
          <a:p>
            <a:r>
              <a:rPr lang="en-HK" dirty="0"/>
              <a:t>AI hallucination - definition</a:t>
            </a:r>
          </a:p>
        </p:txBody>
      </p:sp>
      <p:sp>
        <p:nvSpPr>
          <p:cNvPr id="3" name="Content Placeholder 2">
            <a:extLst>
              <a:ext uri="{FF2B5EF4-FFF2-40B4-BE49-F238E27FC236}">
                <a16:creationId xmlns:a16="http://schemas.microsoft.com/office/drawing/2014/main" id="{48D08794-3A50-4E48-AA09-D9A9500FC199}"/>
              </a:ext>
            </a:extLst>
          </p:cNvPr>
          <p:cNvSpPr>
            <a:spLocks noGrp="1"/>
          </p:cNvSpPr>
          <p:nvPr>
            <p:ph idx="1"/>
          </p:nvPr>
        </p:nvSpPr>
        <p:spPr/>
        <p:txBody>
          <a:bodyPr/>
          <a:lstStyle/>
          <a:p>
            <a:r>
              <a:rPr lang="en-HK" b="1" dirty="0"/>
              <a:t>What is Hallucination?</a:t>
            </a:r>
            <a:r>
              <a:rPr lang="en-HK" dirty="0"/>
              <a:t>: Hallucination in AI refers to instances where a model generates information that is incorrect, fabricated, or nonsensical. This can include producing made-up statistics, facts, or even entire narratives that have no basis in reality.</a:t>
            </a:r>
          </a:p>
          <a:p>
            <a:endParaRPr lang="en-HK" dirty="0"/>
          </a:p>
          <a:p>
            <a:r>
              <a:rPr lang="en-HK" b="1" dirty="0"/>
              <a:t>Why It Happens</a:t>
            </a:r>
            <a:r>
              <a:rPr lang="en-HK" dirty="0"/>
              <a:t>: AI models, especially large language models, are trained on vast datasets that contain both accurate and inaccurate information. When generating responses, the model may mix elements from different sources, leading to errors.</a:t>
            </a:r>
          </a:p>
          <a:p>
            <a:endParaRPr lang="en-HK" dirty="0"/>
          </a:p>
          <a:p>
            <a:pPr marL="0" indent="0">
              <a:buNone/>
            </a:pPr>
            <a:r>
              <a:rPr lang="en-HK" dirty="0"/>
              <a:t>@</a:t>
            </a:r>
          </a:p>
        </p:txBody>
      </p:sp>
      <p:sp>
        <p:nvSpPr>
          <p:cNvPr id="4" name="Slide Number Placeholder 3">
            <a:extLst>
              <a:ext uri="{FF2B5EF4-FFF2-40B4-BE49-F238E27FC236}">
                <a16:creationId xmlns:a16="http://schemas.microsoft.com/office/drawing/2014/main" id="{1ED48F19-B77D-44A1-8BFF-5A3221226CED}"/>
              </a:ext>
            </a:extLst>
          </p:cNvPr>
          <p:cNvSpPr>
            <a:spLocks noGrp="1"/>
          </p:cNvSpPr>
          <p:nvPr>
            <p:ph type="sldNum" sz="quarter" idx="12"/>
          </p:nvPr>
        </p:nvSpPr>
        <p:spPr/>
        <p:txBody>
          <a:bodyPr/>
          <a:lstStyle/>
          <a:p>
            <a:pPr>
              <a:defRPr/>
            </a:pPr>
            <a:fld id="{4D43F197-C583-4294-BD21-B6AE0DDD46C4}" type="slidenum">
              <a:rPr lang="en-US" smtClean="0"/>
              <a:pPr>
                <a:defRPr/>
              </a:pPr>
              <a:t>33</a:t>
            </a:fld>
            <a:endParaRPr lang="en-US" dirty="0"/>
          </a:p>
        </p:txBody>
      </p:sp>
    </p:spTree>
    <p:extLst>
      <p:ext uri="{BB962C8B-B14F-4D97-AF65-F5344CB8AC3E}">
        <p14:creationId xmlns:p14="http://schemas.microsoft.com/office/powerpoint/2010/main" val="1186721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1F254-8A03-4582-80E6-34EBE524C660}"/>
              </a:ext>
            </a:extLst>
          </p:cNvPr>
          <p:cNvSpPr>
            <a:spLocks noGrp="1"/>
          </p:cNvSpPr>
          <p:nvPr>
            <p:ph type="title"/>
          </p:nvPr>
        </p:nvSpPr>
        <p:spPr/>
        <p:txBody>
          <a:bodyPr/>
          <a:lstStyle/>
          <a:p>
            <a:r>
              <a:rPr lang="en-HK" dirty="0"/>
              <a:t>AI hallucination - examples</a:t>
            </a:r>
          </a:p>
        </p:txBody>
      </p:sp>
      <p:sp>
        <p:nvSpPr>
          <p:cNvPr id="3" name="Content Placeholder 2">
            <a:extLst>
              <a:ext uri="{FF2B5EF4-FFF2-40B4-BE49-F238E27FC236}">
                <a16:creationId xmlns:a16="http://schemas.microsoft.com/office/drawing/2014/main" id="{00061612-040F-49AE-ADA8-575FDAF46788}"/>
              </a:ext>
            </a:extLst>
          </p:cNvPr>
          <p:cNvSpPr>
            <a:spLocks noGrp="1"/>
          </p:cNvSpPr>
          <p:nvPr>
            <p:ph idx="1"/>
          </p:nvPr>
        </p:nvSpPr>
        <p:spPr>
          <a:xfrm>
            <a:off x="628650" y="1828799"/>
            <a:ext cx="7886700" cy="4348163"/>
          </a:xfrm>
        </p:spPr>
        <p:txBody>
          <a:bodyPr/>
          <a:lstStyle/>
          <a:p>
            <a:r>
              <a:rPr lang="en-HK" b="1" dirty="0"/>
              <a:t>Fictional Data</a:t>
            </a:r>
            <a:r>
              <a:rPr lang="en-HK" dirty="0"/>
              <a:t>: An AI might claim that a specific audit identified a non-existent financial anomaly or provide fictitious numbers while discussing financial performance.</a:t>
            </a:r>
          </a:p>
          <a:p>
            <a:endParaRPr lang="en-HK" dirty="0"/>
          </a:p>
          <a:p>
            <a:r>
              <a:rPr lang="en-HK" b="1" dirty="0"/>
              <a:t>Incorrect References</a:t>
            </a:r>
            <a:r>
              <a:rPr lang="en-HK" dirty="0"/>
              <a:t>: An AI could reference studies or documents that do not actually exist or misattribute quotes to incorrect sources.</a:t>
            </a:r>
          </a:p>
        </p:txBody>
      </p:sp>
      <p:sp>
        <p:nvSpPr>
          <p:cNvPr id="4" name="Slide Number Placeholder 3">
            <a:extLst>
              <a:ext uri="{FF2B5EF4-FFF2-40B4-BE49-F238E27FC236}">
                <a16:creationId xmlns:a16="http://schemas.microsoft.com/office/drawing/2014/main" id="{D119755F-2B4C-4677-AEF8-83DF79DD8FFA}"/>
              </a:ext>
            </a:extLst>
          </p:cNvPr>
          <p:cNvSpPr>
            <a:spLocks noGrp="1"/>
          </p:cNvSpPr>
          <p:nvPr>
            <p:ph type="sldNum" sz="quarter" idx="12"/>
          </p:nvPr>
        </p:nvSpPr>
        <p:spPr/>
        <p:txBody>
          <a:bodyPr/>
          <a:lstStyle/>
          <a:p>
            <a:pPr>
              <a:defRPr/>
            </a:pPr>
            <a:fld id="{4D43F197-C583-4294-BD21-B6AE0DDD46C4}" type="slidenum">
              <a:rPr lang="en-US" smtClean="0"/>
              <a:pPr>
                <a:defRPr/>
              </a:pPr>
              <a:t>34</a:t>
            </a:fld>
            <a:endParaRPr lang="en-US" dirty="0"/>
          </a:p>
        </p:txBody>
      </p:sp>
    </p:spTree>
    <p:extLst>
      <p:ext uri="{BB962C8B-B14F-4D97-AF65-F5344CB8AC3E}">
        <p14:creationId xmlns:p14="http://schemas.microsoft.com/office/powerpoint/2010/main" val="1249030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8F5C7-15C4-41CC-A71D-60FDA466328B}"/>
              </a:ext>
            </a:extLst>
          </p:cNvPr>
          <p:cNvSpPr>
            <a:spLocks noGrp="1"/>
          </p:cNvSpPr>
          <p:nvPr>
            <p:ph type="title"/>
          </p:nvPr>
        </p:nvSpPr>
        <p:spPr/>
        <p:txBody>
          <a:bodyPr/>
          <a:lstStyle/>
          <a:p>
            <a:r>
              <a:rPr lang="en-HK" dirty="0"/>
              <a:t>AI hallucination - impact</a:t>
            </a:r>
          </a:p>
        </p:txBody>
      </p:sp>
      <p:sp>
        <p:nvSpPr>
          <p:cNvPr id="3" name="Content Placeholder 2">
            <a:extLst>
              <a:ext uri="{FF2B5EF4-FFF2-40B4-BE49-F238E27FC236}">
                <a16:creationId xmlns:a16="http://schemas.microsoft.com/office/drawing/2014/main" id="{5911DE5A-C624-4318-A85C-8D858658E5D2}"/>
              </a:ext>
            </a:extLst>
          </p:cNvPr>
          <p:cNvSpPr>
            <a:spLocks noGrp="1"/>
          </p:cNvSpPr>
          <p:nvPr>
            <p:ph idx="1"/>
          </p:nvPr>
        </p:nvSpPr>
        <p:spPr/>
        <p:txBody>
          <a:bodyPr/>
          <a:lstStyle/>
          <a:p>
            <a:r>
              <a:rPr lang="en-HK" b="1" dirty="0"/>
              <a:t>Trust Issues</a:t>
            </a:r>
            <a:r>
              <a:rPr lang="en-HK" dirty="0"/>
              <a:t>: Hallucination can erode trust in AI systems. Users may become </a:t>
            </a:r>
            <a:r>
              <a:rPr lang="en-HK" dirty="0" err="1"/>
              <a:t>skeptical</a:t>
            </a:r>
            <a:r>
              <a:rPr lang="en-HK" dirty="0"/>
              <a:t> of AI outputs, leading to reliance on traditional methods that may be less efficient.</a:t>
            </a:r>
          </a:p>
          <a:p>
            <a:endParaRPr lang="en-HK" dirty="0"/>
          </a:p>
          <a:p>
            <a:r>
              <a:rPr lang="en-HK" b="1" dirty="0"/>
              <a:t>Financial Consequences</a:t>
            </a:r>
            <a:r>
              <a:rPr lang="en-HK" dirty="0"/>
              <a:t>: In fields like accounting, inaccurate information can lead to miscalculations, faulty reports, and ultimately poor business decisions or compliance issues.</a:t>
            </a:r>
          </a:p>
        </p:txBody>
      </p:sp>
      <p:sp>
        <p:nvSpPr>
          <p:cNvPr id="4" name="Slide Number Placeholder 3">
            <a:extLst>
              <a:ext uri="{FF2B5EF4-FFF2-40B4-BE49-F238E27FC236}">
                <a16:creationId xmlns:a16="http://schemas.microsoft.com/office/drawing/2014/main" id="{E80F9F76-5EE3-418E-8703-92B96BB7153C}"/>
              </a:ext>
            </a:extLst>
          </p:cNvPr>
          <p:cNvSpPr>
            <a:spLocks noGrp="1"/>
          </p:cNvSpPr>
          <p:nvPr>
            <p:ph type="sldNum" sz="quarter" idx="12"/>
          </p:nvPr>
        </p:nvSpPr>
        <p:spPr/>
        <p:txBody>
          <a:bodyPr/>
          <a:lstStyle/>
          <a:p>
            <a:pPr>
              <a:defRPr/>
            </a:pPr>
            <a:fld id="{4D43F197-C583-4294-BD21-B6AE0DDD46C4}" type="slidenum">
              <a:rPr lang="en-US" smtClean="0"/>
              <a:pPr>
                <a:defRPr/>
              </a:pPr>
              <a:t>35</a:t>
            </a:fld>
            <a:endParaRPr lang="en-US" dirty="0"/>
          </a:p>
        </p:txBody>
      </p:sp>
    </p:spTree>
    <p:extLst>
      <p:ext uri="{BB962C8B-B14F-4D97-AF65-F5344CB8AC3E}">
        <p14:creationId xmlns:p14="http://schemas.microsoft.com/office/powerpoint/2010/main" val="3557916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E9061-2222-4C08-B777-EFE2D34E7297}"/>
              </a:ext>
            </a:extLst>
          </p:cNvPr>
          <p:cNvSpPr>
            <a:spLocks noGrp="1"/>
          </p:cNvSpPr>
          <p:nvPr>
            <p:ph type="title"/>
          </p:nvPr>
        </p:nvSpPr>
        <p:spPr/>
        <p:txBody>
          <a:bodyPr/>
          <a:lstStyle/>
          <a:p>
            <a:r>
              <a:rPr lang="en-HK" dirty="0"/>
              <a:t>AI hallucination - mitigation</a:t>
            </a:r>
          </a:p>
        </p:txBody>
      </p:sp>
      <p:sp>
        <p:nvSpPr>
          <p:cNvPr id="3" name="Content Placeholder 2">
            <a:extLst>
              <a:ext uri="{FF2B5EF4-FFF2-40B4-BE49-F238E27FC236}">
                <a16:creationId xmlns:a16="http://schemas.microsoft.com/office/drawing/2014/main" id="{4D33BCC4-8678-4C7A-9908-5CB1E5236990}"/>
              </a:ext>
            </a:extLst>
          </p:cNvPr>
          <p:cNvSpPr>
            <a:spLocks noGrp="1"/>
          </p:cNvSpPr>
          <p:nvPr>
            <p:ph idx="1"/>
          </p:nvPr>
        </p:nvSpPr>
        <p:spPr/>
        <p:txBody>
          <a:bodyPr/>
          <a:lstStyle/>
          <a:p>
            <a:r>
              <a:rPr lang="en-HK" b="1" dirty="0"/>
              <a:t>Cross-Verification</a:t>
            </a:r>
            <a:r>
              <a:rPr lang="en-HK" dirty="0"/>
              <a:t>: Always validate AI-generated information against authoritative sources. Encourage students to fact-check outputs before use.</a:t>
            </a:r>
          </a:p>
          <a:p>
            <a:endParaRPr lang="en-HK" dirty="0"/>
          </a:p>
          <a:p>
            <a:r>
              <a:rPr lang="en-HK" b="1" dirty="0"/>
              <a:t>Human Oversight</a:t>
            </a:r>
            <a:r>
              <a:rPr lang="en-HK" dirty="0"/>
              <a:t>: Highlight the importance of human judgment. AI should assist professionals, not replace them; human expertise is critical in evaluating AI outputs.</a:t>
            </a:r>
          </a:p>
          <a:p>
            <a:endParaRPr lang="en-HK" dirty="0"/>
          </a:p>
          <a:p>
            <a:r>
              <a:rPr lang="en-HK" b="1" dirty="0"/>
              <a:t>Model Training Improvements</a:t>
            </a:r>
            <a:r>
              <a:rPr lang="en-HK" dirty="0"/>
              <a:t>: Discuss ongoing research aimed at improving AI models to reduce hallucination rates. This includes using more curated datasets and enhancing algorithms.</a:t>
            </a:r>
          </a:p>
        </p:txBody>
      </p:sp>
      <p:sp>
        <p:nvSpPr>
          <p:cNvPr id="4" name="Slide Number Placeholder 3">
            <a:extLst>
              <a:ext uri="{FF2B5EF4-FFF2-40B4-BE49-F238E27FC236}">
                <a16:creationId xmlns:a16="http://schemas.microsoft.com/office/drawing/2014/main" id="{4C2D5183-3F9C-4841-A281-268B8FDCF20B}"/>
              </a:ext>
            </a:extLst>
          </p:cNvPr>
          <p:cNvSpPr>
            <a:spLocks noGrp="1"/>
          </p:cNvSpPr>
          <p:nvPr>
            <p:ph type="sldNum" sz="quarter" idx="12"/>
          </p:nvPr>
        </p:nvSpPr>
        <p:spPr/>
        <p:txBody>
          <a:bodyPr/>
          <a:lstStyle/>
          <a:p>
            <a:pPr>
              <a:defRPr/>
            </a:pPr>
            <a:fld id="{4D43F197-C583-4294-BD21-B6AE0DDD46C4}" type="slidenum">
              <a:rPr lang="en-US" smtClean="0"/>
              <a:pPr>
                <a:defRPr/>
              </a:pPr>
              <a:t>36</a:t>
            </a:fld>
            <a:endParaRPr lang="en-US" dirty="0"/>
          </a:p>
        </p:txBody>
      </p:sp>
    </p:spTree>
    <p:extLst>
      <p:ext uri="{BB962C8B-B14F-4D97-AF65-F5344CB8AC3E}">
        <p14:creationId xmlns:p14="http://schemas.microsoft.com/office/powerpoint/2010/main" val="760004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1FF2D-DE53-44B3-8811-6C0EF9FD1E01}"/>
              </a:ext>
            </a:extLst>
          </p:cNvPr>
          <p:cNvSpPr>
            <a:spLocks noGrp="1"/>
          </p:cNvSpPr>
          <p:nvPr>
            <p:ph type="title"/>
          </p:nvPr>
        </p:nvSpPr>
        <p:spPr/>
        <p:txBody>
          <a:bodyPr/>
          <a:lstStyle/>
          <a:p>
            <a:r>
              <a:rPr lang="en-HK" dirty="0"/>
              <a:t>AI hallucination – user education</a:t>
            </a:r>
          </a:p>
        </p:txBody>
      </p:sp>
      <p:sp>
        <p:nvSpPr>
          <p:cNvPr id="3" name="Content Placeholder 2">
            <a:extLst>
              <a:ext uri="{FF2B5EF4-FFF2-40B4-BE49-F238E27FC236}">
                <a16:creationId xmlns:a16="http://schemas.microsoft.com/office/drawing/2014/main" id="{155CC313-1EF6-49D7-9457-29BFB0B5AE2C}"/>
              </a:ext>
            </a:extLst>
          </p:cNvPr>
          <p:cNvSpPr>
            <a:spLocks noGrp="1"/>
          </p:cNvSpPr>
          <p:nvPr>
            <p:ph idx="1"/>
          </p:nvPr>
        </p:nvSpPr>
        <p:spPr/>
        <p:txBody>
          <a:bodyPr/>
          <a:lstStyle/>
          <a:p>
            <a:r>
              <a:rPr lang="en-HK" b="1" dirty="0"/>
              <a:t>Awareness</a:t>
            </a:r>
            <a:r>
              <a:rPr lang="en-HK" dirty="0"/>
              <a:t>: Educate students about the limitations of AI. Make it clear that while AI can provide valuable insights, it is not infallible.</a:t>
            </a:r>
          </a:p>
          <a:p>
            <a:endParaRPr lang="en-HK" dirty="0"/>
          </a:p>
          <a:p>
            <a:r>
              <a:rPr lang="en-HK" b="1" dirty="0"/>
              <a:t>Critical Thinking</a:t>
            </a:r>
            <a:r>
              <a:rPr lang="en-HK" dirty="0"/>
              <a:t>: Encourage students to develop critical thinking skills. They should question AI outputs and apply their knowledge to assess the validity of the information.</a:t>
            </a:r>
          </a:p>
        </p:txBody>
      </p:sp>
      <p:sp>
        <p:nvSpPr>
          <p:cNvPr id="4" name="Slide Number Placeholder 3">
            <a:extLst>
              <a:ext uri="{FF2B5EF4-FFF2-40B4-BE49-F238E27FC236}">
                <a16:creationId xmlns:a16="http://schemas.microsoft.com/office/drawing/2014/main" id="{5F23E4C6-69EE-4C99-8E71-257CCA80E4B5}"/>
              </a:ext>
            </a:extLst>
          </p:cNvPr>
          <p:cNvSpPr>
            <a:spLocks noGrp="1"/>
          </p:cNvSpPr>
          <p:nvPr>
            <p:ph type="sldNum" sz="quarter" idx="12"/>
          </p:nvPr>
        </p:nvSpPr>
        <p:spPr/>
        <p:txBody>
          <a:bodyPr/>
          <a:lstStyle/>
          <a:p>
            <a:pPr>
              <a:defRPr/>
            </a:pPr>
            <a:fld id="{4D43F197-C583-4294-BD21-B6AE0DDD46C4}" type="slidenum">
              <a:rPr lang="en-US" smtClean="0"/>
              <a:pPr>
                <a:defRPr/>
              </a:pPr>
              <a:t>37</a:t>
            </a:fld>
            <a:endParaRPr lang="en-US" dirty="0"/>
          </a:p>
        </p:txBody>
      </p:sp>
    </p:spTree>
    <p:extLst>
      <p:ext uri="{BB962C8B-B14F-4D97-AF65-F5344CB8AC3E}">
        <p14:creationId xmlns:p14="http://schemas.microsoft.com/office/powerpoint/2010/main" val="17870286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2D8C1-FB83-4904-9D35-604D67DF81EF}"/>
              </a:ext>
            </a:extLst>
          </p:cNvPr>
          <p:cNvSpPr>
            <a:spLocks noGrp="1"/>
          </p:cNvSpPr>
          <p:nvPr>
            <p:ph type="title"/>
          </p:nvPr>
        </p:nvSpPr>
        <p:spPr/>
        <p:txBody>
          <a:bodyPr/>
          <a:lstStyle/>
          <a:p>
            <a:r>
              <a:rPr lang="en-HK" dirty="0"/>
              <a:t>AI hallucination – future</a:t>
            </a:r>
          </a:p>
        </p:txBody>
      </p:sp>
      <p:sp>
        <p:nvSpPr>
          <p:cNvPr id="3" name="Content Placeholder 2">
            <a:extLst>
              <a:ext uri="{FF2B5EF4-FFF2-40B4-BE49-F238E27FC236}">
                <a16:creationId xmlns:a16="http://schemas.microsoft.com/office/drawing/2014/main" id="{BF010109-C9E1-491F-A42D-FD609B002E36}"/>
              </a:ext>
            </a:extLst>
          </p:cNvPr>
          <p:cNvSpPr>
            <a:spLocks noGrp="1"/>
          </p:cNvSpPr>
          <p:nvPr>
            <p:ph idx="1"/>
          </p:nvPr>
        </p:nvSpPr>
        <p:spPr/>
        <p:txBody>
          <a:bodyPr/>
          <a:lstStyle/>
          <a:p>
            <a:r>
              <a:rPr lang="en-HK" b="1" dirty="0"/>
              <a:t>Research and Development</a:t>
            </a:r>
            <a:r>
              <a:rPr lang="en-HK" dirty="0"/>
              <a:t>: Highlight advancements in AI research focused on reducing hallucinations, such as developing models that can explain their reasoning and uncertainty.</a:t>
            </a:r>
          </a:p>
          <a:p>
            <a:endParaRPr lang="en-HK" dirty="0"/>
          </a:p>
          <a:p>
            <a:r>
              <a:rPr lang="en-HK" b="1" dirty="0"/>
              <a:t>Transparency and </a:t>
            </a:r>
            <a:r>
              <a:rPr lang="en-HK" b="1" dirty="0" err="1"/>
              <a:t>Explainability</a:t>
            </a:r>
            <a:r>
              <a:rPr lang="en-HK" dirty="0"/>
              <a:t>: Stress the importance of transparent AI systems that provide context for their outputs, making it easier for users to understand and verify information.</a:t>
            </a:r>
          </a:p>
        </p:txBody>
      </p:sp>
      <p:sp>
        <p:nvSpPr>
          <p:cNvPr id="4" name="Slide Number Placeholder 3">
            <a:extLst>
              <a:ext uri="{FF2B5EF4-FFF2-40B4-BE49-F238E27FC236}">
                <a16:creationId xmlns:a16="http://schemas.microsoft.com/office/drawing/2014/main" id="{8913701D-C3A8-41F8-9468-C23E8A6DC2FB}"/>
              </a:ext>
            </a:extLst>
          </p:cNvPr>
          <p:cNvSpPr>
            <a:spLocks noGrp="1"/>
          </p:cNvSpPr>
          <p:nvPr>
            <p:ph type="sldNum" sz="quarter" idx="12"/>
          </p:nvPr>
        </p:nvSpPr>
        <p:spPr/>
        <p:txBody>
          <a:bodyPr/>
          <a:lstStyle/>
          <a:p>
            <a:pPr>
              <a:defRPr/>
            </a:pPr>
            <a:fld id="{4D43F197-C583-4294-BD21-B6AE0DDD46C4}" type="slidenum">
              <a:rPr lang="en-US" smtClean="0"/>
              <a:pPr>
                <a:defRPr/>
              </a:pPr>
              <a:t>38</a:t>
            </a:fld>
            <a:endParaRPr lang="en-US" dirty="0"/>
          </a:p>
        </p:txBody>
      </p:sp>
    </p:spTree>
    <p:extLst>
      <p:ext uri="{BB962C8B-B14F-4D97-AF65-F5344CB8AC3E}">
        <p14:creationId xmlns:p14="http://schemas.microsoft.com/office/powerpoint/2010/main" val="1554717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2475</Words>
  <Application>Microsoft Office PowerPoint</Application>
  <PresentationFormat>On-screen Show (4:3)</PresentationFormat>
  <Paragraphs>321</Paragraphs>
  <Slides>38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等线</vt:lpstr>
      <vt:lpstr>等线 Light</vt:lpstr>
      <vt:lpstr>MS PGothic</vt:lpstr>
      <vt:lpstr>MS PGothic</vt:lpstr>
      <vt:lpstr>Arial</vt:lpstr>
      <vt:lpstr>Calibri</vt:lpstr>
      <vt:lpstr>Calibri Light</vt:lpstr>
      <vt:lpstr>Palatino Linotype</vt:lpstr>
      <vt:lpstr>Wingdings</vt:lpstr>
      <vt:lpstr>Office Theme</vt:lpstr>
      <vt:lpstr>AC6761 Artificial Intelligence Accounting</vt:lpstr>
      <vt:lpstr>What is accounting?</vt:lpstr>
      <vt:lpstr>Two sides of the same report</vt:lpstr>
      <vt:lpstr>Use of AI in Accounting</vt:lpstr>
      <vt:lpstr>Use of AI in Auditing (Big 4 auditors as examples) </vt:lpstr>
      <vt:lpstr>Deloitte – AI in auditing </vt:lpstr>
      <vt:lpstr>Deloitte – Key application of AI</vt:lpstr>
      <vt:lpstr>KPMG – AI in auditing </vt:lpstr>
      <vt:lpstr>KPMG – Key application of AI</vt:lpstr>
      <vt:lpstr>PwC – AI in auditing </vt:lpstr>
      <vt:lpstr>PwC – Key application of AI</vt:lpstr>
      <vt:lpstr>EY – AI in auditing </vt:lpstr>
      <vt:lpstr>EY – Key application of AI</vt:lpstr>
      <vt:lpstr>AI adoption in EY</vt:lpstr>
      <vt:lpstr>Use of AI in stakeholders</vt:lpstr>
      <vt:lpstr>Use of AI in stakeholders</vt:lpstr>
      <vt:lpstr>Financial statement analyses - stakeholders</vt:lpstr>
      <vt:lpstr>The perspective of investors</vt:lpstr>
      <vt:lpstr>Prompt – Core Business Health</vt:lpstr>
      <vt:lpstr>Grok</vt:lpstr>
      <vt:lpstr>Gemini</vt:lpstr>
      <vt:lpstr>DeepSeek</vt:lpstr>
      <vt:lpstr>ChatGPT</vt:lpstr>
      <vt:lpstr>Perplexity</vt:lpstr>
      <vt:lpstr>The perspective of creditors</vt:lpstr>
      <vt:lpstr>Prompt – Liquidity &amp; Short-Term Solvency​ </vt:lpstr>
      <vt:lpstr>The perspective of supplier</vt:lpstr>
      <vt:lpstr>Prompt – Liquidity &amp; Payment Security​​</vt:lpstr>
      <vt:lpstr>The perspective of auditor</vt:lpstr>
      <vt:lpstr>Prompt – Governance &amp; Internal Audit Synergy</vt:lpstr>
      <vt:lpstr>The perspective of regulator</vt:lpstr>
      <vt:lpstr>Prompt – Governance &amp; Internal Audit Synergy</vt:lpstr>
      <vt:lpstr>AI hallucination - definition</vt:lpstr>
      <vt:lpstr>AI hallucination - examples</vt:lpstr>
      <vt:lpstr>AI hallucination - impact</vt:lpstr>
      <vt:lpstr>AI hallucination - mitigation</vt:lpstr>
      <vt:lpstr>AI hallucination – user education</vt:lpstr>
      <vt:lpstr>AI hallucination – future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2020-08-27T08:06:10Z</dcterms:created>
  <dcterms:modified xsi:type="dcterms:W3CDTF">2026-10-21T09:21:08Z</dcterms:modified>
</cp:coreProperties>
</file>