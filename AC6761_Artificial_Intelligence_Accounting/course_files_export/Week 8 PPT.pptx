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5721" r:id="rId1"/>
  </p:sldMasterIdLst>
  <p:notesMasterIdLst>
    <p:notesMasterId r:id="rId47"/>
  </p:notesMasterIdLst>
  <p:handoutMasterIdLst>
    <p:handoutMasterId r:id="rId48"/>
  </p:handoutMasterIdLst>
  <p:sldIdLst>
    <p:sldId id="397" r:id="rId2"/>
    <p:sldId id="1099" r:id="rId3"/>
    <p:sldId id="1101" r:id="rId4"/>
    <p:sldId id="1102" r:id="rId5"/>
    <p:sldId id="1103" r:id="rId6"/>
    <p:sldId id="1104" r:id="rId7"/>
    <p:sldId id="456" r:id="rId8"/>
    <p:sldId id="1105" r:id="rId9"/>
    <p:sldId id="401" r:id="rId10"/>
    <p:sldId id="461" r:id="rId11"/>
    <p:sldId id="1157" r:id="rId12"/>
    <p:sldId id="1158" r:id="rId13"/>
    <p:sldId id="1161" r:id="rId14"/>
    <p:sldId id="462" r:id="rId15"/>
    <p:sldId id="1159" r:id="rId16"/>
    <p:sldId id="1160" r:id="rId17"/>
    <p:sldId id="1162" r:id="rId18"/>
    <p:sldId id="406" r:id="rId19"/>
    <p:sldId id="1163" r:id="rId20"/>
    <p:sldId id="1164" r:id="rId21"/>
    <p:sldId id="1165" r:id="rId22"/>
    <p:sldId id="402" r:id="rId23"/>
    <p:sldId id="1166" r:id="rId24"/>
    <p:sldId id="1167" r:id="rId25"/>
    <p:sldId id="1168" r:id="rId26"/>
    <p:sldId id="460" r:id="rId27"/>
    <p:sldId id="1152" r:id="rId28"/>
    <p:sldId id="1153" r:id="rId29"/>
    <p:sldId id="1154" r:id="rId30"/>
    <p:sldId id="1155" r:id="rId31"/>
    <p:sldId id="1109" r:id="rId32"/>
    <p:sldId id="1118" r:id="rId33"/>
    <p:sldId id="1110" r:id="rId34"/>
    <p:sldId id="1119" r:id="rId35"/>
    <p:sldId id="1120" r:id="rId36"/>
    <p:sldId id="1143" r:id="rId37"/>
    <p:sldId id="1145" r:id="rId38"/>
    <p:sldId id="1146" r:id="rId39"/>
    <p:sldId id="1147" r:id="rId40"/>
    <p:sldId id="1148" r:id="rId41"/>
    <p:sldId id="1149" r:id="rId42"/>
    <p:sldId id="1156" r:id="rId43"/>
    <p:sldId id="1130" r:id="rId44"/>
    <p:sldId id="1126" r:id="rId45"/>
    <p:sldId id="1127" r:id="rId46"/>
  </p:sldIdLst>
  <p:sldSz cx="9144000" cy="6858000" type="screen4x3"/>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8" name="Auth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2D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61" autoAdjust="0"/>
    <p:restoredTop sz="92494" autoAdjust="0"/>
  </p:normalViewPr>
  <p:slideViewPr>
    <p:cSldViewPr>
      <p:cViewPr varScale="1">
        <p:scale>
          <a:sx n="59" d="100"/>
          <a:sy n="59" d="100"/>
        </p:scale>
        <p:origin x="2000" y="44"/>
      </p:cViewPr>
      <p:guideLst>
        <p:guide orient="horz" pos="2160"/>
        <p:guide pos="2880"/>
      </p:guideLst>
    </p:cSldViewPr>
  </p:slideViewPr>
  <p:outlineViewPr>
    <p:cViewPr>
      <p:scale>
        <a:sx n="33" d="100"/>
        <a:sy n="33" d="100"/>
      </p:scale>
      <p:origin x="0" y="-731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2885" y="67"/>
      </p:cViewPr>
      <p:guideLst>
        <p:guide orient="horz" pos="3128"/>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48F591-AFFC-43B1-8284-66466BEE4033}"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5373FC42-CEF1-453C-BEE0-C12F614C9318}">
      <dgm:prSet phldrT="[Text]" custT="1"/>
      <dgm:spPr>
        <a:solidFill>
          <a:schemeClr val="accent6">
            <a:lumMod val="60000"/>
            <a:lumOff val="40000"/>
          </a:schemeClr>
        </a:solidFill>
      </dgm:spPr>
      <dgm:t>
        <a:bodyPr/>
        <a:lstStyle/>
        <a:p>
          <a:r>
            <a:rPr lang="en-US" sz="2500" dirty="0">
              <a:solidFill>
                <a:srgbClr val="00B050"/>
              </a:solidFill>
            </a:rPr>
            <a:t>AI</a:t>
          </a:r>
        </a:p>
      </dgm:t>
    </dgm:pt>
    <dgm:pt modelId="{8CDC9F6A-7864-4A40-B632-D6A2CDAC892B}" type="parTrans" cxnId="{0C380D27-7550-479F-A264-FA423DA78FD6}">
      <dgm:prSet/>
      <dgm:spPr/>
      <dgm:t>
        <a:bodyPr/>
        <a:lstStyle/>
        <a:p>
          <a:endParaRPr lang="en-US"/>
        </a:p>
      </dgm:t>
    </dgm:pt>
    <dgm:pt modelId="{400BB050-546A-4985-8D27-1E44F48967E1}" type="sibTrans" cxnId="{0C380D27-7550-479F-A264-FA423DA78FD6}">
      <dgm:prSet/>
      <dgm:spPr/>
      <dgm:t>
        <a:bodyPr/>
        <a:lstStyle/>
        <a:p>
          <a:endParaRPr lang="en-US"/>
        </a:p>
      </dgm:t>
    </dgm:pt>
    <dgm:pt modelId="{E6FA7075-D92A-4ACD-8600-5E85C67FA1A6}">
      <dgm:prSet phldrT="[Text]" custT="1"/>
      <dgm:spPr>
        <a:solidFill>
          <a:schemeClr val="accent1">
            <a:lumMod val="60000"/>
            <a:lumOff val="40000"/>
          </a:schemeClr>
        </a:solidFill>
      </dgm:spPr>
      <dgm:t>
        <a:bodyPr/>
        <a:lstStyle/>
        <a:p>
          <a:r>
            <a:rPr lang="en-US" sz="1400" dirty="0">
              <a:solidFill>
                <a:srgbClr val="FF0000"/>
              </a:solidFill>
            </a:rPr>
            <a:t>Machine Learning</a:t>
          </a:r>
        </a:p>
      </dgm:t>
    </dgm:pt>
    <dgm:pt modelId="{54E0564F-2526-4857-9185-40361FA60CE3}" type="parTrans" cxnId="{6AC7A67D-49A7-48DC-B4AB-B5BD58EF324C}">
      <dgm:prSet/>
      <dgm:spPr/>
      <dgm:t>
        <a:bodyPr/>
        <a:lstStyle/>
        <a:p>
          <a:endParaRPr lang="en-US"/>
        </a:p>
      </dgm:t>
    </dgm:pt>
    <dgm:pt modelId="{B2BDC4A6-9241-4BCA-AAC4-AE2F259CA2AE}" type="sibTrans" cxnId="{6AC7A67D-49A7-48DC-B4AB-B5BD58EF324C}">
      <dgm:prSet/>
      <dgm:spPr/>
      <dgm:t>
        <a:bodyPr/>
        <a:lstStyle/>
        <a:p>
          <a:endParaRPr lang="en-US"/>
        </a:p>
      </dgm:t>
    </dgm:pt>
    <dgm:pt modelId="{CCDF669A-9818-4F8D-9534-258816CC178E}">
      <dgm:prSet phldrT="[Text]" custT="1"/>
      <dgm:spPr>
        <a:solidFill>
          <a:schemeClr val="accent6">
            <a:lumMod val="60000"/>
            <a:lumOff val="40000"/>
          </a:schemeClr>
        </a:solidFill>
      </dgm:spPr>
      <dgm:t>
        <a:bodyPr/>
        <a:lstStyle/>
        <a:p>
          <a:r>
            <a:rPr lang="en-US" sz="1200" dirty="0"/>
            <a:t>Deep Learning</a:t>
          </a:r>
        </a:p>
      </dgm:t>
    </dgm:pt>
    <dgm:pt modelId="{D1B40860-04E6-4DA9-AD04-750B54E3D429}" type="parTrans" cxnId="{1CE1E1DB-0883-4B6C-A001-E937FDA289DD}">
      <dgm:prSet/>
      <dgm:spPr/>
      <dgm:t>
        <a:bodyPr/>
        <a:lstStyle/>
        <a:p>
          <a:endParaRPr lang="en-US"/>
        </a:p>
      </dgm:t>
    </dgm:pt>
    <dgm:pt modelId="{543CC8DE-79F4-4BBB-B35A-91B59AFF564B}" type="sibTrans" cxnId="{1CE1E1DB-0883-4B6C-A001-E937FDA289DD}">
      <dgm:prSet/>
      <dgm:spPr/>
      <dgm:t>
        <a:bodyPr/>
        <a:lstStyle/>
        <a:p>
          <a:endParaRPr lang="en-US"/>
        </a:p>
      </dgm:t>
    </dgm:pt>
    <dgm:pt modelId="{D3339596-E40B-486E-99C8-38B852074F68}" type="pres">
      <dgm:prSet presAssocID="{D048F591-AFFC-43B1-8284-66466BEE4033}" presName="Name0" presStyleCnt="0">
        <dgm:presLayoutVars>
          <dgm:chMax val="7"/>
          <dgm:resizeHandles val="exact"/>
        </dgm:presLayoutVars>
      </dgm:prSet>
      <dgm:spPr/>
    </dgm:pt>
    <dgm:pt modelId="{26289A62-987B-41E6-815C-AC0B4A7042B0}" type="pres">
      <dgm:prSet presAssocID="{D048F591-AFFC-43B1-8284-66466BEE4033}" presName="comp1" presStyleCnt="0"/>
      <dgm:spPr/>
    </dgm:pt>
    <dgm:pt modelId="{90A2BDAE-C55C-4E74-8842-D33E8CC3F201}" type="pres">
      <dgm:prSet presAssocID="{D048F591-AFFC-43B1-8284-66466BEE4033}" presName="circle1" presStyleLbl="node1" presStyleIdx="0" presStyleCnt="3" custLinFactNeighborX="333" custLinFactNeighborY="178"/>
      <dgm:spPr/>
    </dgm:pt>
    <dgm:pt modelId="{CD66CCA4-2948-4386-BD13-2EB5F3F25045}" type="pres">
      <dgm:prSet presAssocID="{D048F591-AFFC-43B1-8284-66466BEE4033}" presName="c1text" presStyleLbl="node1" presStyleIdx="0" presStyleCnt="3">
        <dgm:presLayoutVars>
          <dgm:bulletEnabled val="1"/>
        </dgm:presLayoutVars>
      </dgm:prSet>
      <dgm:spPr/>
    </dgm:pt>
    <dgm:pt modelId="{A81018D3-F02C-405B-8E12-6FEAB93D41E4}" type="pres">
      <dgm:prSet presAssocID="{D048F591-AFFC-43B1-8284-66466BEE4033}" presName="comp2" presStyleCnt="0"/>
      <dgm:spPr/>
    </dgm:pt>
    <dgm:pt modelId="{7942BD56-15F5-4ED6-8F36-41C15DC02E32}" type="pres">
      <dgm:prSet presAssocID="{D048F591-AFFC-43B1-8284-66466BEE4033}" presName="circle2" presStyleLbl="node1" presStyleIdx="1" presStyleCnt="3" custLinFactNeighborX="-509" custLinFactNeighborY="339"/>
      <dgm:spPr/>
    </dgm:pt>
    <dgm:pt modelId="{CD21F184-C230-45C7-AAD0-F915511CDC99}" type="pres">
      <dgm:prSet presAssocID="{D048F591-AFFC-43B1-8284-66466BEE4033}" presName="c2text" presStyleLbl="node1" presStyleIdx="1" presStyleCnt="3">
        <dgm:presLayoutVars>
          <dgm:bulletEnabled val="1"/>
        </dgm:presLayoutVars>
      </dgm:prSet>
      <dgm:spPr/>
    </dgm:pt>
    <dgm:pt modelId="{C9EF6C48-3FBB-4CB8-93B5-A41BD3578F35}" type="pres">
      <dgm:prSet presAssocID="{D048F591-AFFC-43B1-8284-66466BEE4033}" presName="comp3" presStyleCnt="0"/>
      <dgm:spPr/>
    </dgm:pt>
    <dgm:pt modelId="{58550230-F551-4F6C-83D9-3EA0702F5DAB}" type="pres">
      <dgm:prSet presAssocID="{D048F591-AFFC-43B1-8284-66466BEE4033}" presName="circle3" presStyleLbl="node1" presStyleIdx="2" presStyleCnt="3"/>
      <dgm:spPr/>
    </dgm:pt>
    <dgm:pt modelId="{45B4E2F5-EF77-40D2-8408-214E879465AE}" type="pres">
      <dgm:prSet presAssocID="{D048F591-AFFC-43B1-8284-66466BEE4033}" presName="c3text" presStyleLbl="node1" presStyleIdx="2" presStyleCnt="3">
        <dgm:presLayoutVars>
          <dgm:bulletEnabled val="1"/>
        </dgm:presLayoutVars>
      </dgm:prSet>
      <dgm:spPr/>
    </dgm:pt>
  </dgm:ptLst>
  <dgm:cxnLst>
    <dgm:cxn modelId="{4F0B9207-349D-4CDB-AE37-E798C0234409}" type="presOf" srcId="{CCDF669A-9818-4F8D-9534-258816CC178E}" destId="{45B4E2F5-EF77-40D2-8408-214E879465AE}" srcOrd="1" destOrd="0" presId="urn:microsoft.com/office/officeart/2005/8/layout/venn2"/>
    <dgm:cxn modelId="{1B46A214-2017-41D7-9D37-785FB402D0AB}" type="presOf" srcId="{E6FA7075-D92A-4ACD-8600-5E85C67FA1A6}" destId="{CD21F184-C230-45C7-AAD0-F915511CDC99}" srcOrd="1" destOrd="0" presId="urn:microsoft.com/office/officeart/2005/8/layout/venn2"/>
    <dgm:cxn modelId="{0C380D27-7550-479F-A264-FA423DA78FD6}" srcId="{D048F591-AFFC-43B1-8284-66466BEE4033}" destId="{5373FC42-CEF1-453C-BEE0-C12F614C9318}" srcOrd="0" destOrd="0" parTransId="{8CDC9F6A-7864-4A40-B632-D6A2CDAC892B}" sibTransId="{400BB050-546A-4985-8D27-1E44F48967E1}"/>
    <dgm:cxn modelId="{498A6F40-322A-42D9-BA20-6C1034BE87A7}" type="presOf" srcId="{D048F591-AFFC-43B1-8284-66466BEE4033}" destId="{D3339596-E40B-486E-99C8-38B852074F68}" srcOrd="0" destOrd="0" presId="urn:microsoft.com/office/officeart/2005/8/layout/venn2"/>
    <dgm:cxn modelId="{1407F160-932F-4BEA-8977-EE0374E0B465}" type="presOf" srcId="{5373FC42-CEF1-453C-BEE0-C12F614C9318}" destId="{CD66CCA4-2948-4386-BD13-2EB5F3F25045}" srcOrd="1" destOrd="0" presId="urn:microsoft.com/office/officeart/2005/8/layout/venn2"/>
    <dgm:cxn modelId="{BC300755-2B37-4A75-91FC-4124AF3ACA81}" type="presOf" srcId="{5373FC42-CEF1-453C-BEE0-C12F614C9318}" destId="{90A2BDAE-C55C-4E74-8842-D33E8CC3F201}" srcOrd="0" destOrd="0" presId="urn:microsoft.com/office/officeart/2005/8/layout/venn2"/>
    <dgm:cxn modelId="{6AC7A67D-49A7-48DC-B4AB-B5BD58EF324C}" srcId="{D048F591-AFFC-43B1-8284-66466BEE4033}" destId="{E6FA7075-D92A-4ACD-8600-5E85C67FA1A6}" srcOrd="1" destOrd="0" parTransId="{54E0564F-2526-4857-9185-40361FA60CE3}" sibTransId="{B2BDC4A6-9241-4BCA-AAC4-AE2F259CA2AE}"/>
    <dgm:cxn modelId="{D7258FAD-81E4-49CB-81DD-BEDB9CCE715A}" type="presOf" srcId="{E6FA7075-D92A-4ACD-8600-5E85C67FA1A6}" destId="{7942BD56-15F5-4ED6-8F36-41C15DC02E32}" srcOrd="0" destOrd="0" presId="urn:microsoft.com/office/officeart/2005/8/layout/venn2"/>
    <dgm:cxn modelId="{1CE1E1DB-0883-4B6C-A001-E937FDA289DD}" srcId="{D048F591-AFFC-43B1-8284-66466BEE4033}" destId="{CCDF669A-9818-4F8D-9534-258816CC178E}" srcOrd="2" destOrd="0" parTransId="{D1B40860-04E6-4DA9-AD04-750B54E3D429}" sibTransId="{543CC8DE-79F4-4BBB-B35A-91B59AFF564B}"/>
    <dgm:cxn modelId="{F9E5EBEC-BD19-4599-AA21-C4958A304ACD}" type="presOf" srcId="{CCDF669A-9818-4F8D-9534-258816CC178E}" destId="{58550230-F551-4F6C-83D9-3EA0702F5DAB}" srcOrd="0" destOrd="0" presId="urn:microsoft.com/office/officeart/2005/8/layout/venn2"/>
    <dgm:cxn modelId="{30309359-19F7-4DA1-A342-69AFAED8636B}" type="presParOf" srcId="{D3339596-E40B-486E-99C8-38B852074F68}" destId="{26289A62-987B-41E6-815C-AC0B4A7042B0}" srcOrd="0" destOrd="0" presId="urn:microsoft.com/office/officeart/2005/8/layout/venn2"/>
    <dgm:cxn modelId="{0E02B8B4-EB9D-4FE2-891A-6B25C1263C56}" type="presParOf" srcId="{26289A62-987B-41E6-815C-AC0B4A7042B0}" destId="{90A2BDAE-C55C-4E74-8842-D33E8CC3F201}" srcOrd="0" destOrd="0" presId="urn:microsoft.com/office/officeart/2005/8/layout/venn2"/>
    <dgm:cxn modelId="{B1AE2D52-5A6D-4E4C-88AD-CF83A04D99F6}" type="presParOf" srcId="{26289A62-987B-41E6-815C-AC0B4A7042B0}" destId="{CD66CCA4-2948-4386-BD13-2EB5F3F25045}" srcOrd="1" destOrd="0" presId="urn:microsoft.com/office/officeart/2005/8/layout/venn2"/>
    <dgm:cxn modelId="{0BD8AC51-811E-467B-977C-10740AAC5192}" type="presParOf" srcId="{D3339596-E40B-486E-99C8-38B852074F68}" destId="{A81018D3-F02C-405B-8E12-6FEAB93D41E4}" srcOrd="1" destOrd="0" presId="urn:microsoft.com/office/officeart/2005/8/layout/venn2"/>
    <dgm:cxn modelId="{20CD76A0-2A4F-470D-8A9E-A48D7EDA65F9}" type="presParOf" srcId="{A81018D3-F02C-405B-8E12-6FEAB93D41E4}" destId="{7942BD56-15F5-4ED6-8F36-41C15DC02E32}" srcOrd="0" destOrd="0" presId="urn:microsoft.com/office/officeart/2005/8/layout/venn2"/>
    <dgm:cxn modelId="{8A4D10F1-06C1-47C5-95F6-235FC5DDD38A}" type="presParOf" srcId="{A81018D3-F02C-405B-8E12-6FEAB93D41E4}" destId="{CD21F184-C230-45C7-AAD0-F915511CDC99}" srcOrd="1" destOrd="0" presId="urn:microsoft.com/office/officeart/2005/8/layout/venn2"/>
    <dgm:cxn modelId="{B46F26BE-94BD-4EF1-B875-9FEC4D8E27C3}" type="presParOf" srcId="{D3339596-E40B-486E-99C8-38B852074F68}" destId="{C9EF6C48-3FBB-4CB8-93B5-A41BD3578F35}" srcOrd="2" destOrd="0" presId="urn:microsoft.com/office/officeart/2005/8/layout/venn2"/>
    <dgm:cxn modelId="{C87A4D0C-42EA-4E4F-9A86-7885E06EB71E}" type="presParOf" srcId="{C9EF6C48-3FBB-4CB8-93B5-A41BD3578F35}" destId="{58550230-F551-4F6C-83D9-3EA0702F5DAB}" srcOrd="0" destOrd="0" presId="urn:microsoft.com/office/officeart/2005/8/layout/venn2"/>
    <dgm:cxn modelId="{ABC77084-ED1E-45B9-A2AE-872C0F525579}" type="presParOf" srcId="{C9EF6C48-3FBB-4CB8-93B5-A41BD3578F35}" destId="{45B4E2F5-EF77-40D2-8408-214E879465AE}"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2BDAE-C55C-4E74-8842-D33E8CC3F201}">
      <dsp:nvSpPr>
        <dsp:cNvPr id="0" name=""/>
        <dsp:cNvSpPr/>
      </dsp:nvSpPr>
      <dsp:spPr>
        <a:xfrm>
          <a:off x="1676389" y="0"/>
          <a:ext cx="4525963" cy="4525963"/>
        </a:xfrm>
        <a:prstGeom prst="ellipse">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rgbClr val="00B050"/>
              </a:solidFill>
            </a:rPr>
            <a:t>AI</a:t>
          </a:r>
        </a:p>
      </dsp:txBody>
      <dsp:txXfrm>
        <a:off x="3148459" y="226298"/>
        <a:ext cx="1581824" cy="678894"/>
      </dsp:txXfrm>
    </dsp:sp>
    <dsp:sp modelId="{7942BD56-15F5-4ED6-8F36-41C15DC02E32}">
      <dsp:nvSpPr>
        <dsp:cNvPr id="0" name=""/>
        <dsp:cNvSpPr/>
      </dsp:nvSpPr>
      <dsp:spPr>
        <a:xfrm>
          <a:off x="2209786" y="1131490"/>
          <a:ext cx="3394472" cy="3394472"/>
        </a:xfrm>
        <a:prstGeom prst="ellipse">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FF0000"/>
              </a:solidFill>
            </a:rPr>
            <a:t>Machine Learning</a:t>
          </a:r>
        </a:p>
      </dsp:txBody>
      <dsp:txXfrm>
        <a:off x="3116110" y="1343645"/>
        <a:ext cx="1581824" cy="636463"/>
      </dsp:txXfrm>
    </dsp:sp>
    <dsp:sp modelId="{58550230-F551-4F6C-83D9-3EA0702F5DAB}">
      <dsp:nvSpPr>
        <dsp:cNvPr id="0" name=""/>
        <dsp:cNvSpPr/>
      </dsp:nvSpPr>
      <dsp:spPr>
        <a:xfrm>
          <a:off x="2792809" y="2262981"/>
          <a:ext cx="2262981" cy="2262981"/>
        </a:xfrm>
        <a:prstGeom prst="ellipse">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Deep Learning</a:t>
          </a:r>
        </a:p>
      </dsp:txBody>
      <dsp:txXfrm>
        <a:off x="3124215" y="2828726"/>
        <a:ext cx="1600169" cy="1131490"/>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966849" y="0"/>
            <a:ext cx="829254" cy="298240"/>
          </a:xfrm>
          <a:prstGeom prst="rect">
            <a:avLst/>
          </a:prstGeom>
        </p:spPr>
        <p:txBody>
          <a:bodyPr vert="horz" wrap="square" lIns="93164" tIns="46582" rIns="93164" bIns="46582" numCol="1" anchor="b" anchorCtr="0" compatLnSpc="1">
            <a:prstTxWarp prst="textNoShape">
              <a:avLst/>
            </a:prstTxWarp>
          </a:bodyPr>
          <a:lstStyle>
            <a:lvl1pPr algn="r">
              <a:defRPr sz="1200"/>
            </a:lvl1pPr>
          </a:lstStyle>
          <a:p>
            <a:pPr>
              <a:defRPr/>
            </a:pPr>
            <a:r>
              <a:rPr lang="en-US" dirty="0"/>
              <a:t>1-</a:t>
            </a:r>
            <a:fld id="{4FC70F1E-A9CF-4725-BA99-5BD9E946C6F2}" type="slidenum">
              <a:rPr lang="en-US"/>
              <a:pPr>
                <a:defRPr/>
              </a:pPr>
              <a:t>‹#›</a:t>
            </a:fld>
            <a:endParaRPr lang="en-US" dirty="0"/>
          </a:p>
        </p:txBody>
      </p:sp>
    </p:spTree>
    <p:extLst>
      <p:ext uri="{BB962C8B-B14F-4D97-AF65-F5344CB8AC3E}">
        <p14:creationId xmlns:p14="http://schemas.microsoft.com/office/powerpoint/2010/main" val="131622212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wrap="square" lIns="93164" tIns="46582" rIns="93164" bIns="46582"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79768" y="4716662"/>
            <a:ext cx="5438140" cy="4468416"/>
          </a:xfrm>
          <a:prstGeom prst="rect">
            <a:avLst/>
          </a:prstGeom>
          <a:ln>
            <a:noFill/>
          </a:ln>
        </p:spPr>
        <p:txBody>
          <a:bodyPr vert="horz" wrap="square" lIns="93164" tIns="46582" rIns="93164" bIns="4658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Slide Number Placeholder 4"/>
          <p:cNvSpPr txBox="1">
            <a:spLocks/>
          </p:cNvSpPr>
          <p:nvPr/>
        </p:nvSpPr>
        <p:spPr>
          <a:xfrm>
            <a:off x="5287083" y="0"/>
            <a:ext cx="1510595" cy="330995"/>
          </a:xfrm>
          <a:prstGeom prst="rect">
            <a:avLst/>
          </a:prstGeom>
        </p:spPr>
        <p:txBody>
          <a:bodyPr lIns="93164" tIns="46582" rIns="93164" bIns="46582" anchor="b"/>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r" eaLnBrk="1" hangingPunct="1">
              <a:defRPr/>
            </a:pPr>
            <a:r>
              <a:rPr lang="en-US" sz="1200" dirty="0">
                <a:latin typeface="Calibri" pitchFamily="-107" charset="0"/>
              </a:rPr>
              <a:t>1 - </a:t>
            </a:r>
            <a:fld id="{E8754586-748E-423B-B46D-321A01942A47}" type="slidenum">
              <a:rPr lang="en-US" sz="1200" smtClean="0">
                <a:latin typeface="Calibri" pitchFamily="-107" charset="0"/>
              </a:rPr>
              <a:pPr algn="r" eaLnBrk="1" hangingPunct="1">
                <a:defRPr/>
              </a:pPr>
              <a:t>‹#›</a:t>
            </a:fld>
            <a:endParaRPr lang="en-US" sz="1200" dirty="0">
              <a:latin typeface="Calibri" pitchFamily="-107" charset="0"/>
            </a:endParaRPr>
          </a:p>
        </p:txBody>
      </p:sp>
    </p:spTree>
    <p:extLst>
      <p:ext uri="{BB962C8B-B14F-4D97-AF65-F5344CB8AC3E}">
        <p14:creationId xmlns:p14="http://schemas.microsoft.com/office/powerpoint/2010/main" val="83702605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S PGothic" pitchFamily="34"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p:spPr>
      </p:sp>
      <p:sp>
        <p:nvSpPr>
          <p:cNvPr id="167939" name="Notes Placeholder 2"/>
          <p:cNvSpPr>
            <a:spLocks noGrp="1"/>
          </p:cNvSpPr>
          <p:nvPr>
            <p:ph type="body" idx="1"/>
          </p:nvPr>
        </p:nvSpPr>
        <p:spPr bwMode="auto">
          <a:noFill/>
        </p:spPr>
        <p:txBody>
          <a:bodyPr/>
          <a:lstStyle/>
          <a:p>
            <a:pPr eaLnBrk="1" hangingPunct="1">
              <a:spcBef>
                <a:spcPct val="0"/>
              </a:spcBef>
            </a:pPr>
            <a:endParaRPr lang="en-US" altLang="en-US" dirty="0"/>
          </a:p>
        </p:txBody>
      </p:sp>
    </p:spTree>
    <p:extLst>
      <p:ext uri="{BB962C8B-B14F-4D97-AF65-F5344CB8AC3E}">
        <p14:creationId xmlns:p14="http://schemas.microsoft.com/office/powerpoint/2010/main" val="3198462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Tree>
    <p:extLst>
      <p:ext uri="{BB962C8B-B14F-4D97-AF65-F5344CB8AC3E}">
        <p14:creationId xmlns:p14="http://schemas.microsoft.com/office/powerpoint/2010/main" val="173015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6FB42-E70C-4FA6-B141-9BD8E6020B3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HK"/>
          </a:p>
        </p:txBody>
      </p:sp>
      <p:sp>
        <p:nvSpPr>
          <p:cNvPr id="3" name="Subtitle 2">
            <a:extLst>
              <a:ext uri="{FF2B5EF4-FFF2-40B4-BE49-F238E27FC236}">
                <a16:creationId xmlns:a16="http://schemas.microsoft.com/office/drawing/2014/main" id="{C154AD63-5068-4E4E-A3E7-F90521A24E3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HK"/>
          </a:p>
        </p:txBody>
      </p:sp>
      <p:sp>
        <p:nvSpPr>
          <p:cNvPr id="4" name="Date Placeholder 3">
            <a:extLst>
              <a:ext uri="{FF2B5EF4-FFF2-40B4-BE49-F238E27FC236}">
                <a16:creationId xmlns:a16="http://schemas.microsoft.com/office/drawing/2014/main" id="{6F106812-10C8-433B-B6CA-EEC7F43376CF}"/>
              </a:ext>
            </a:extLst>
          </p:cNvPr>
          <p:cNvSpPr>
            <a:spLocks noGrp="1"/>
          </p:cNvSpPr>
          <p:nvPr>
            <p:ph type="dt" sz="half" idx="10"/>
          </p:nvPr>
        </p:nvSpPr>
        <p:spPr/>
        <p:txBody>
          <a:bodyPr/>
          <a:lstStyle/>
          <a:p>
            <a:pPr>
              <a:defRPr/>
            </a:pPr>
            <a:fld id="{5D29925E-EED2-44FE-A088-00640B77843B}" type="datetime1">
              <a:rPr lang="en-US" smtClean="0"/>
              <a:pPr>
                <a:defRPr/>
              </a:pPr>
              <a:t>10/20/2026</a:t>
            </a:fld>
            <a:endParaRPr lang="en-US" dirty="0"/>
          </a:p>
        </p:txBody>
      </p:sp>
      <p:sp>
        <p:nvSpPr>
          <p:cNvPr id="5" name="Footer Placeholder 4">
            <a:extLst>
              <a:ext uri="{FF2B5EF4-FFF2-40B4-BE49-F238E27FC236}">
                <a16:creationId xmlns:a16="http://schemas.microsoft.com/office/drawing/2014/main" id="{7F628831-A964-419A-8F9B-E13A6AC9D22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4BCD5A45-30F2-4BA8-A795-B19884B2D3EE}"/>
              </a:ext>
            </a:extLst>
          </p:cNvPr>
          <p:cNvSpPr>
            <a:spLocks noGrp="1"/>
          </p:cNvSpPr>
          <p:nvPr>
            <p:ph type="sldNum" sz="quarter" idx="12"/>
          </p:nvPr>
        </p:nvSpPr>
        <p:spPr/>
        <p:txBody>
          <a:bodyPr/>
          <a:lstStyle/>
          <a:p>
            <a:pPr>
              <a:defRPr/>
            </a:pPr>
            <a:fld id="{D326DA46-A0C8-43DB-B9C0-C1581C69E33E}" type="slidenum">
              <a:rPr lang="en-US" smtClean="0"/>
              <a:pPr>
                <a:defRPr/>
              </a:pPr>
              <a:t>‹#›</a:t>
            </a:fld>
            <a:endParaRPr lang="en-US" dirty="0"/>
          </a:p>
        </p:txBody>
      </p:sp>
    </p:spTree>
    <p:extLst>
      <p:ext uri="{BB962C8B-B14F-4D97-AF65-F5344CB8AC3E}">
        <p14:creationId xmlns:p14="http://schemas.microsoft.com/office/powerpoint/2010/main" val="2430746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9A0F-11F4-468A-92A1-C983B748FF94}"/>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E9CBAD7F-CA6D-45BF-B764-72E47621BFD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E3137278-C858-4DC0-AFCD-3C6A68D3C186}"/>
              </a:ext>
            </a:extLst>
          </p:cNvPr>
          <p:cNvSpPr>
            <a:spLocks noGrp="1"/>
          </p:cNvSpPr>
          <p:nvPr>
            <p:ph type="dt" sz="half" idx="10"/>
          </p:nvPr>
        </p:nvSpPr>
        <p:spPr/>
        <p:txBody>
          <a:bodyPr/>
          <a:lstStyle/>
          <a:p>
            <a:pPr>
              <a:defRPr/>
            </a:pPr>
            <a:fld id="{F432F547-B0D0-4CB8-8543-44DCD76FB919}" type="datetime1">
              <a:rPr lang="en-US" smtClean="0"/>
              <a:pPr>
                <a:defRPr/>
              </a:pPr>
              <a:t>10/20/2026</a:t>
            </a:fld>
            <a:endParaRPr lang="en-US" dirty="0"/>
          </a:p>
        </p:txBody>
      </p:sp>
      <p:sp>
        <p:nvSpPr>
          <p:cNvPr id="5" name="Footer Placeholder 4">
            <a:extLst>
              <a:ext uri="{FF2B5EF4-FFF2-40B4-BE49-F238E27FC236}">
                <a16:creationId xmlns:a16="http://schemas.microsoft.com/office/drawing/2014/main" id="{1BAC488E-4D8B-43F6-9EB5-45796484B24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31C8EFFA-FE3F-4B63-A363-A60D6A346D0C}"/>
              </a:ext>
            </a:extLst>
          </p:cNvPr>
          <p:cNvSpPr>
            <a:spLocks noGrp="1"/>
          </p:cNvSpPr>
          <p:nvPr>
            <p:ph type="sldNum" sz="quarter" idx="12"/>
          </p:nvPr>
        </p:nvSpPr>
        <p:spPr/>
        <p:txBody>
          <a:bodyPr/>
          <a:lstStyle/>
          <a:p>
            <a:pPr>
              <a:defRPr/>
            </a:pPr>
            <a:fld id="{4D43F197-C583-4294-BD21-B6AE0DDD46C4}" type="slidenum">
              <a:rPr lang="en-US" smtClean="0"/>
              <a:pPr>
                <a:defRPr/>
              </a:pPr>
              <a:t>‹#›</a:t>
            </a:fld>
            <a:endParaRPr lang="en-US" dirty="0"/>
          </a:p>
        </p:txBody>
      </p:sp>
    </p:spTree>
    <p:extLst>
      <p:ext uri="{BB962C8B-B14F-4D97-AF65-F5344CB8AC3E}">
        <p14:creationId xmlns:p14="http://schemas.microsoft.com/office/powerpoint/2010/main" val="3415552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26687-01E3-4EFA-AAF4-3B4BB497AA8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HK"/>
          </a:p>
        </p:txBody>
      </p:sp>
      <p:sp>
        <p:nvSpPr>
          <p:cNvPr id="3" name="Text Placeholder 2">
            <a:extLst>
              <a:ext uri="{FF2B5EF4-FFF2-40B4-BE49-F238E27FC236}">
                <a16:creationId xmlns:a16="http://schemas.microsoft.com/office/drawing/2014/main" id="{BADF4309-F76B-4BB7-B6F9-72503B85108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A4824F7-8986-499F-A6D6-173E38F03D7D}"/>
              </a:ext>
            </a:extLst>
          </p:cNvPr>
          <p:cNvSpPr>
            <a:spLocks noGrp="1"/>
          </p:cNvSpPr>
          <p:nvPr>
            <p:ph type="dt" sz="half" idx="10"/>
          </p:nvPr>
        </p:nvSpPr>
        <p:spPr/>
        <p:txBody>
          <a:bodyPr/>
          <a:lstStyle/>
          <a:p>
            <a:pPr>
              <a:defRPr/>
            </a:pPr>
            <a:fld id="{45180D1F-64D5-4D03-86A8-B0C78FB9D084}" type="datetime1">
              <a:rPr lang="en-US" smtClean="0"/>
              <a:pPr>
                <a:defRPr/>
              </a:pPr>
              <a:t>10/20/2026</a:t>
            </a:fld>
            <a:endParaRPr lang="en-US" dirty="0"/>
          </a:p>
        </p:txBody>
      </p:sp>
      <p:sp>
        <p:nvSpPr>
          <p:cNvPr id="5" name="Footer Placeholder 4">
            <a:extLst>
              <a:ext uri="{FF2B5EF4-FFF2-40B4-BE49-F238E27FC236}">
                <a16:creationId xmlns:a16="http://schemas.microsoft.com/office/drawing/2014/main" id="{1EA8C674-1E77-404C-A67C-7EEBBF9AB08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D82BAFC3-E5CC-4C2D-9F40-7AC36D99BDC0}"/>
              </a:ext>
            </a:extLst>
          </p:cNvPr>
          <p:cNvSpPr>
            <a:spLocks noGrp="1"/>
          </p:cNvSpPr>
          <p:nvPr>
            <p:ph type="sldNum" sz="quarter" idx="12"/>
          </p:nvPr>
        </p:nvSpPr>
        <p:spPr/>
        <p:txBody>
          <a:bodyPr/>
          <a:lstStyle/>
          <a:p>
            <a:pPr>
              <a:defRPr/>
            </a:pPr>
            <a:fld id="{CE116888-0E84-4000-8C9A-DF22FF321353}" type="slidenum">
              <a:rPr lang="en-US" smtClean="0"/>
              <a:pPr>
                <a:defRPr/>
              </a:pPr>
              <a:t>‹#›</a:t>
            </a:fld>
            <a:endParaRPr lang="en-US" dirty="0"/>
          </a:p>
        </p:txBody>
      </p:sp>
    </p:spTree>
    <p:extLst>
      <p:ext uri="{BB962C8B-B14F-4D97-AF65-F5344CB8AC3E}">
        <p14:creationId xmlns:p14="http://schemas.microsoft.com/office/powerpoint/2010/main" val="1716667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6322-B5D5-4209-90AD-C2E4307513A1}"/>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A55F3636-E557-4BF5-BDB8-7608D671E6D1}"/>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Content Placeholder 3">
            <a:extLst>
              <a:ext uri="{FF2B5EF4-FFF2-40B4-BE49-F238E27FC236}">
                <a16:creationId xmlns:a16="http://schemas.microsoft.com/office/drawing/2014/main" id="{4541DEDD-0FE5-4DE5-8D0C-0BF6BF334DEC}"/>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Date Placeholder 4">
            <a:extLst>
              <a:ext uri="{FF2B5EF4-FFF2-40B4-BE49-F238E27FC236}">
                <a16:creationId xmlns:a16="http://schemas.microsoft.com/office/drawing/2014/main" id="{8684DEA4-5D2C-45AC-A09E-EA1426FF5322}"/>
              </a:ext>
            </a:extLst>
          </p:cNvPr>
          <p:cNvSpPr>
            <a:spLocks noGrp="1"/>
          </p:cNvSpPr>
          <p:nvPr>
            <p:ph type="dt" sz="half" idx="10"/>
          </p:nvPr>
        </p:nvSpPr>
        <p:spPr/>
        <p:txBody>
          <a:bodyPr/>
          <a:lstStyle/>
          <a:p>
            <a:pPr>
              <a:defRPr/>
            </a:pPr>
            <a:fld id="{6A607C7E-F4F5-4B77-8CDC-90CC78F38487}" type="datetime1">
              <a:rPr lang="en-US" smtClean="0"/>
              <a:pPr>
                <a:defRPr/>
              </a:pPr>
              <a:t>10/20/2026</a:t>
            </a:fld>
            <a:endParaRPr lang="en-US" dirty="0"/>
          </a:p>
        </p:txBody>
      </p:sp>
      <p:sp>
        <p:nvSpPr>
          <p:cNvPr id="6" name="Footer Placeholder 5">
            <a:extLst>
              <a:ext uri="{FF2B5EF4-FFF2-40B4-BE49-F238E27FC236}">
                <a16:creationId xmlns:a16="http://schemas.microsoft.com/office/drawing/2014/main" id="{2A2A3584-A3FD-4926-AF2B-BA4A2209746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EADF32EB-F0E7-4396-94E9-D3172F1D0D50}"/>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6422752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8068-C533-471D-B504-99206ADAC47E}"/>
              </a:ext>
            </a:extLst>
          </p:cNvPr>
          <p:cNvSpPr>
            <a:spLocks noGrp="1"/>
          </p:cNvSpPr>
          <p:nvPr>
            <p:ph type="title"/>
          </p:nvPr>
        </p:nvSpPr>
        <p:spPr>
          <a:xfrm>
            <a:off x="629841" y="365126"/>
            <a:ext cx="7886700" cy="1325563"/>
          </a:xfrm>
        </p:spPr>
        <p:txBody>
          <a:bodyPr/>
          <a:lstStyle/>
          <a:p>
            <a:r>
              <a:rPr lang="en-US"/>
              <a:t>Click to edit Master title style</a:t>
            </a:r>
            <a:endParaRPr lang="en-HK"/>
          </a:p>
        </p:txBody>
      </p:sp>
      <p:sp>
        <p:nvSpPr>
          <p:cNvPr id="3" name="Text Placeholder 2">
            <a:extLst>
              <a:ext uri="{FF2B5EF4-FFF2-40B4-BE49-F238E27FC236}">
                <a16:creationId xmlns:a16="http://schemas.microsoft.com/office/drawing/2014/main" id="{870A985D-5BF7-4CB5-A92B-4A6FDFBB42C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001B07C4-7F34-446A-9E2E-1B83A53EA1AD}"/>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Text Placeholder 4">
            <a:extLst>
              <a:ext uri="{FF2B5EF4-FFF2-40B4-BE49-F238E27FC236}">
                <a16:creationId xmlns:a16="http://schemas.microsoft.com/office/drawing/2014/main" id="{AFC32C3C-0143-494D-9F52-9E04ECF3F6F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E306F971-95B4-46A0-91C2-A0AFD49D1487}"/>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7" name="Date Placeholder 6">
            <a:extLst>
              <a:ext uri="{FF2B5EF4-FFF2-40B4-BE49-F238E27FC236}">
                <a16:creationId xmlns:a16="http://schemas.microsoft.com/office/drawing/2014/main" id="{30C71DDC-BE93-430E-B7EA-CDF6C2BE70F6}"/>
              </a:ext>
            </a:extLst>
          </p:cNvPr>
          <p:cNvSpPr>
            <a:spLocks noGrp="1"/>
          </p:cNvSpPr>
          <p:nvPr>
            <p:ph type="dt" sz="half" idx="10"/>
          </p:nvPr>
        </p:nvSpPr>
        <p:spPr/>
        <p:txBody>
          <a:bodyPr/>
          <a:lstStyle/>
          <a:p>
            <a:pPr>
              <a:defRPr/>
            </a:pPr>
            <a:fld id="{6A607C7E-F4F5-4B77-8CDC-90CC78F38487}" type="datetime1">
              <a:rPr lang="en-US" smtClean="0"/>
              <a:pPr>
                <a:defRPr/>
              </a:pPr>
              <a:t>10/20/2026</a:t>
            </a:fld>
            <a:endParaRPr lang="en-US" dirty="0"/>
          </a:p>
        </p:txBody>
      </p:sp>
      <p:sp>
        <p:nvSpPr>
          <p:cNvPr id="8" name="Footer Placeholder 7">
            <a:extLst>
              <a:ext uri="{FF2B5EF4-FFF2-40B4-BE49-F238E27FC236}">
                <a16:creationId xmlns:a16="http://schemas.microsoft.com/office/drawing/2014/main" id="{A7D57A58-19C6-42DB-9019-46F96D1CD12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9" name="Slide Number Placeholder 8">
            <a:extLst>
              <a:ext uri="{FF2B5EF4-FFF2-40B4-BE49-F238E27FC236}">
                <a16:creationId xmlns:a16="http://schemas.microsoft.com/office/drawing/2014/main" id="{62CBDDE3-F8EA-46B4-9C1F-FFEAFED26B91}"/>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54793755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99D1-45FB-49A6-A72B-39DFBA7983D3}"/>
              </a:ext>
            </a:extLst>
          </p:cNvPr>
          <p:cNvSpPr>
            <a:spLocks noGrp="1"/>
          </p:cNvSpPr>
          <p:nvPr>
            <p:ph type="title"/>
          </p:nvPr>
        </p:nvSpPr>
        <p:spPr/>
        <p:txBody>
          <a:bodyPr/>
          <a:lstStyle/>
          <a:p>
            <a:r>
              <a:rPr lang="en-US"/>
              <a:t>Click to edit Master title style</a:t>
            </a:r>
            <a:endParaRPr lang="en-HK"/>
          </a:p>
        </p:txBody>
      </p:sp>
      <p:sp>
        <p:nvSpPr>
          <p:cNvPr id="3" name="Date Placeholder 2">
            <a:extLst>
              <a:ext uri="{FF2B5EF4-FFF2-40B4-BE49-F238E27FC236}">
                <a16:creationId xmlns:a16="http://schemas.microsoft.com/office/drawing/2014/main" id="{A31AEA5B-B844-499C-BA2B-C67C65D26DBB}"/>
              </a:ext>
            </a:extLst>
          </p:cNvPr>
          <p:cNvSpPr>
            <a:spLocks noGrp="1"/>
          </p:cNvSpPr>
          <p:nvPr>
            <p:ph type="dt" sz="half" idx="10"/>
          </p:nvPr>
        </p:nvSpPr>
        <p:spPr/>
        <p:txBody>
          <a:bodyPr/>
          <a:lstStyle/>
          <a:p>
            <a:pPr>
              <a:defRPr/>
            </a:pPr>
            <a:fld id="{3F12F0C6-B5C0-45E6-85FD-C21AB31A1A95}" type="datetime1">
              <a:rPr lang="en-US" smtClean="0"/>
              <a:pPr>
                <a:defRPr/>
              </a:pPr>
              <a:t>10/20/2026</a:t>
            </a:fld>
            <a:endParaRPr lang="en-US" dirty="0"/>
          </a:p>
        </p:txBody>
      </p:sp>
      <p:sp>
        <p:nvSpPr>
          <p:cNvPr id="4" name="Footer Placeholder 3">
            <a:extLst>
              <a:ext uri="{FF2B5EF4-FFF2-40B4-BE49-F238E27FC236}">
                <a16:creationId xmlns:a16="http://schemas.microsoft.com/office/drawing/2014/main" id="{9F7586E5-DF4D-41FD-939D-D5906457C7F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5" name="Slide Number Placeholder 4">
            <a:extLst>
              <a:ext uri="{FF2B5EF4-FFF2-40B4-BE49-F238E27FC236}">
                <a16:creationId xmlns:a16="http://schemas.microsoft.com/office/drawing/2014/main" id="{3568673F-6F56-412B-8D53-B5B5D1D6A606}"/>
              </a:ext>
            </a:extLst>
          </p:cNvPr>
          <p:cNvSpPr>
            <a:spLocks noGrp="1"/>
          </p:cNvSpPr>
          <p:nvPr>
            <p:ph type="sldNum" sz="quarter" idx="12"/>
          </p:nvPr>
        </p:nvSpPr>
        <p:spPr/>
        <p:txBody>
          <a:bodyPr/>
          <a:lstStyle/>
          <a:p>
            <a:pPr>
              <a:defRPr/>
            </a:pPr>
            <a:fld id="{738B8CC1-C7B3-4BC4-BEEE-A4A95954513D}" type="slidenum">
              <a:rPr lang="en-US" smtClean="0"/>
              <a:pPr>
                <a:defRPr/>
              </a:pPr>
              <a:t>‹#›</a:t>
            </a:fld>
            <a:endParaRPr lang="en-US" dirty="0"/>
          </a:p>
        </p:txBody>
      </p:sp>
    </p:spTree>
    <p:extLst>
      <p:ext uri="{BB962C8B-B14F-4D97-AF65-F5344CB8AC3E}">
        <p14:creationId xmlns:p14="http://schemas.microsoft.com/office/powerpoint/2010/main" val="211570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17015-38ED-4E49-B354-BF1208BF6C66}"/>
              </a:ext>
            </a:extLst>
          </p:cNvPr>
          <p:cNvSpPr>
            <a:spLocks noGrp="1"/>
          </p:cNvSpPr>
          <p:nvPr>
            <p:ph type="dt" sz="half" idx="10"/>
          </p:nvPr>
        </p:nvSpPr>
        <p:spPr/>
        <p:txBody>
          <a:bodyPr/>
          <a:lstStyle/>
          <a:p>
            <a:pPr>
              <a:defRPr/>
            </a:pPr>
            <a:fld id="{C8224EFF-F9F8-496A-8AFF-0F456197E8B5}" type="datetime1">
              <a:rPr lang="en-US" smtClean="0"/>
              <a:pPr>
                <a:defRPr/>
              </a:pPr>
              <a:t>10/20/2026</a:t>
            </a:fld>
            <a:endParaRPr lang="en-US" dirty="0"/>
          </a:p>
        </p:txBody>
      </p:sp>
      <p:sp>
        <p:nvSpPr>
          <p:cNvPr id="3" name="Footer Placeholder 2">
            <a:extLst>
              <a:ext uri="{FF2B5EF4-FFF2-40B4-BE49-F238E27FC236}">
                <a16:creationId xmlns:a16="http://schemas.microsoft.com/office/drawing/2014/main" id="{4BFED087-1CA0-4D1D-A5B0-CA6A37061CA7}"/>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4" name="Slide Number Placeholder 3">
            <a:extLst>
              <a:ext uri="{FF2B5EF4-FFF2-40B4-BE49-F238E27FC236}">
                <a16:creationId xmlns:a16="http://schemas.microsoft.com/office/drawing/2014/main" id="{705E9A89-0D3C-4EB6-BC78-A5673BA3818B}"/>
              </a:ext>
            </a:extLst>
          </p:cNvPr>
          <p:cNvSpPr>
            <a:spLocks noGrp="1"/>
          </p:cNvSpPr>
          <p:nvPr>
            <p:ph type="sldNum" sz="quarter" idx="12"/>
          </p:nvPr>
        </p:nvSpPr>
        <p:spPr/>
        <p:txBody>
          <a:bodyPr/>
          <a:lstStyle/>
          <a:p>
            <a:pPr>
              <a:defRPr/>
            </a:pPr>
            <a:fld id="{AA019379-17AD-4E0D-9610-E34AD365F0A3}" type="slidenum">
              <a:rPr lang="en-US" smtClean="0"/>
              <a:pPr>
                <a:defRPr/>
              </a:pPr>
              <a:t>‹#›</a:t>
            </a:fld>
            <a:endParaRPr lang="en-US" dirty="0"/>
          </a:p>
        </p:txBody>
      </p:sp>
    </p:spTree>
    <p:extLst>
      <p:ext uri="{BB962C8B-B14F-4D97-AF65-F5344CB8AC3E}">
        <p14:creationId xmlns:p14="http://schemas.microsoft.com/office/powerpoint/2010/main" val="17171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C35F3-02F6-4359-A8DD-7118AD1E85E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Content Placeholder 2">
            <a:extLst>
              <a:ext uri="{FF2B5EF4-FFF2-40B4-BE49-F238E27FC236}">
                <a16:creationId xmlns:a16="http://schemas.microsoft.com/office/drawing/2014/main" id="{FD9C6DA7-C41C-4B1D-821B-A34DDED7DFB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Text Placeholder 3">
            <a:extLst>
              <a:ext uri="{FF2B5EF4-FFF2-40B4-BE49-F238E27FC236}">
                <a16:creationId xmlns:a16="http://schemas.microsoft.com/office/drawing/2014/main" id="{1B6F4FC8-0644-4504-8FD0-62DFC733C5B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20DD565-4EB8-457E-B8A9-509B3DCE9EDB}"/>
              </a:ext>
            </a:extLst>
          </p:cNvPr>
          <p:cNvSpPr>
            <a:spLocks noGrp="1"/>
          </p:cNvSpPr>
          <p:nvPr>
            <p:ph type="dt" sz="half" idx="10"/>
          </p:nvPr>
        </p:nvSpPr>
        <p:spPr/>
        <p:txBody>
          <a:bodyPr/>
          <a:lstStyle/>
          <a:p>
            <a:pPr>
              <a:defRPr/>
            </a:pPr>
            <a:fld id="{ED88E37B-CCA0-4BF7-B7AF-2BF4EC7610D2}" type="datetime1">
              <a:rPr lang="en-US" smtClean="0"/>
              <a:pPr>
                <a:defRPr/>
              </a:pPr>
              <a:t>10/20/2026</a:t>
            </a:fld>
            <a:endParaRPr lang="en-US" dirty="0"/>
          </a:p>
        </p:txBody>
      </p:sp>
      <p:sp>
        <p:nvSpPr>
          <p:cNvPr id="6" name="Footer Placeholder 5">
            <a:extLst>
              <a:ext uri="{FF2B5EF4-FFF2-40B4-BE49-F238E27FC236}">
                <a16:creationId xmlns:a16="http://schemas.microsoft.com/office/drawing/2014/main" id="{CE79D874-3E53-419D-8C82-3E772F73DA1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44EB5090-F9E3-4FA5-B32F-54204C780AAF}"/>
              </a:ext>
            </a:extLst>
          </p:cNvPr>
          <p:cNvSpPr>
            <a:spLocks noGrp="1"/>
          </p:cNvSpPr>
          <p:nvPr>
            <p:ph type="sldNum" sz="quarter" idx="12"/>
          </p:nvPr>
        </p:nvSpPr>
        <p:spPr/>
        <p:txBody>
          <a:bodyPr/>
          <a:lstStyle/>
          <a:p>
            <a:pPr>
              <a:defRPr/>
            </a:pPr>
            <a:fld id="{759EE4FC-2A91-409C-B8D2-F3728F9891D1}" type="slidenum">
              <a:rPr lang="en-US" smtClean="0"/>
              <a:pPr>
                <a:defRPr/>
              </a:pPr>
              <a:t>‹#›</a:t>
            </a:fld>
            <a:endParaRPr lang="en-US" dirty="0"/>
          </a:p>
        </p:txBody>
      </p:sp>
    </p:spTree>
    <p:extLst>
      <p:ext uri="{BB962C8B-B14F-4D97-AF65-F5344CB8AC3E}">
        <p14:creationId xmlns:p14="http://schemas.microsoft.com/office/powerpoint/2010/main" val="40215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7437F-279B-4932-9EF7-FFD910F0FF2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Picture Placeholder 2">
            <a:extLst>
              <a:ext uri="{FF2B5EF4-FFF2-40B4-BE49-F238E27FC236}">
                <a16:creationId xmlns:a16="http://schemas.microsoft.com/office/drawing/2014/main" id="{D68E7D60-0F4E-4BE9-B09F-E7246F9691B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HK"/>
          </a:p>
        </p:txBody>
      </p:sp>
      <p:sp>
        <p:nvSpPr>
          <p:cNvPr id="4" name="Text Placeholder 3">
            <a:extLst>
              <a:ext uri="{FF2B5EF4-FFF2-40B4-BE49-F238E27FC236}">
                <a16:creationId xmlns:a16="http://schemas.microsoft.com/office/drawing/2014/main" id="{6FF00D92-3484-4528-A351-19165E1E60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47D33E0-CCF8-4FEC-A987-DCEDD3193901}"/>
              </a:ext>
            </a:extLst>
          </p:cNvPr>
          <p:cNvSpPr>
            <a:spLocks noGrp="1"/>
          </p:cNvSpPr>
          <p:nvPr>
            <p:ph type="dt" sz="half" idx="10"/>
          </p:nvPr>
        </p:nvSpPr>
        <p:spPr/>
        <p:txBody>
          <a:bodyPr/>
          <a:lstStyle/>
          <a:p>
            <a:pPr>
              <a:defRPr/>
            </a:pPr>
            <a:fld id="{6A607C7E-F4F5-4B77-8CDC-90CC78F38487}" type="datetime1">
              <a:rPr lang="en-US" smtClean="0"/>
              <a:pPr>
                <a:defRPr/>
              </a:pPr>
              <a:t>10/20/2026</a:t>
            </a:fld>
            <a:endParaRPr lang="en-US" dirty="0"/>
          </a:p>
        </p:txBody>
      </p:sp>
      <p:sp>
        <p:nvSpPr>
          <p:cNvPr id="6" name="Footer Placeholder 5">
            <a:extLst>
              <a:ext uri="{FF2B5EF4-FFF2-40B4-BE49-F238E27FC236}">
                <a16:creationId xmlns:a16="http://schemas.microsoft.com/office/drawing/2014/main" id="{D8A906EF-43E0-4C73-8925-C4A8189FB145}"/>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35C2ED9E-B863-4067-A92B-B18B62177CC5}"/>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387335032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C477-2B1A-4487-9A1A-D9D3C01F65C3}"/>
              </a:ext>
            </a:extLst>
          </p:cNvPr>
          <p:cNvSpPr>
            <a:spLocks noGrp="1"/>
          </p:cNvSpPr>
          <p:nvPr>
            <p:ph type="title"/>
          </p:nvPr>
        </p:nvSpPr>
        <p:spPr/>
        <p:txBody>
          <a:bodyPr/>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95AA2816-85E2-44D9-878A-B0F1465BB90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8C3A877E-BE39-43C8-9EE8-D621A9D0EDB7}"/>
              </a:ext>
            </a:extLst>
          </p:cNvPr>
          <p:cNvSpPr>
            <a:spLocks noGrp="1"/>
          </p:cNvSpPr>
          <p:nvPr>
            <p:ph type="dt" sz="half" idx="10"/>
          </p:nvPr>
        </p:nvSpPr>
        <p:spPr/>
        <p:txBody>
          <a:bodyPr/>
          <a:lstStyle/>
          <a:p>
            <a:pPr>
              <a:defRPr/>
            </a:pPr>
            <a:fld id="{7103DD5F-3ADD-4550-807E-1C58669018A4}" type="datetime1">
              <a:rPr lang="en-US" smtClean="0"/>
              <a:pPr>
                <a:defRPr/>
              </a:pPr>
              <a:t>10/20/2026</a:t>
            </a:fld>
            <a:endParaRPr lang="en-US" dirty="0"/>
          </a:p>
        </p:txBody>
      </p:sp>
      <p:sp>
        <p:nvSpPr>
          <p:cNvPr id="5" name="Footer Placeholder 4">
            <a:extLst>
              <a:ext uri="{FF2B5EF4-FFF2-40B4-BE49-F238E27FC236}">
                <a16:creationId xmlns:a16="http://schemas.microsoft.com/office/drawing/2014/main" id="{F0429F1C-DBE1-4824-91C7-103FAFC42734}"/>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7487950F-2711-4E12-8356-E605F7485B5E}"/>
              </a:ext>
            </a:extLst>
          </p:cNvPr>
          <p:cNvSpPr>
            <a:spLocks noGrp="1"/>
          </p:cNvSpPr>
          <p:nvPr>
            <p:ph type="sldNum" sz="quarter" idx="12"/>
          </p:nvPr>
        </p:nvSpPr>
        <p:spPr/>
        <p:txBody>
          <a:bodyPr/>
          <a:lstStyle/>
          <a:p>
            <a:pPr>
              <a:defRPr/>
            </a:pPr>
            <a:fld id="{A3AD7A4F-0B31-4615-9C11-A8677BAFCAEB}" type="slidenum">
              <a:rPr lang="en-US" smtClean="0"/>
              <a:pPr>
                <a:defRPr/>
              </a:pPr>
              <a:t>‹#›</a:t>
            </a:fld>
            <a:endParaRPr lang="en-US" dirty="0"/>
          </a:p>
        </p:txBody>
      </p:sp>
    </p:spTree>
    <p:extLst>
      <p:ext uri="{BB962C8B-B14F-4D97-AF65-F5344CB8AC3E}">
        <p14:creationId xmlns:p14="http://schemas.microsoft.com/office/powerpoint/2010/main" val="34913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2CA952-B5B7-4257-8694-84F3A9F9044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57EB2DB1-6CAB-4906-8B39-FB4DED0A89BF}"/>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3FB8120D-AC6D-4553-9834-55272B2AA92D}"/>
              </a:ext>
            </a:extLst>
          </p:cNvPr>
          <p:cNvSpPr>
            <a:spLocks noGrp="1"/>
          </p:cNvSpPr>
          <p:nvPr>
            <p:ph type="dt" sz="half" idx="10"/>
          </p:nvPr>
        </p:nvSpPr>
        <p:spPr/>
        <p:txBody>
          <a:bodyPr/>
          <a:lstStyle/>
          <a:p>
            <a:pPr>
              <a:defRPr/>
            </a:pPr>
            <a:fld id="{6281D123-9B63-43A4-93F3-FBB2E34B51D6}" type="datetime1">
              <a:rPr lang="en-US" smtClean="0"/>
              <a:pPr>
                <a:defRPr/>
              </a:pPr>
              <a:t>10/20/2026</a:t>
            </a:fld>
            <a:endParaRPr lang="en-US" dirty="0"/>
          </a:p>
        </p:txBody>
      </p:sp>
      <p:sp>
        <p:nvSpPr>
          <p:cNvPr id="5" name="Footer Placeholder 4">
            <a:extLst>
              <a:ext uri="{FF2B5EF4-FFF2-40B4-BE49-F238E27FC236}">
                <a16:creationId xmlns:a16="http://schemas.microsoft.com/office/drawing/2014/main" id="{38426FC3-224D-4426-B73C-2AA0B48F55C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EEEE764-C080-4BE3-AFC3-EA929A6EE48D}"/>
              </a:ext>
            </a:extLst>
          </p:cNvPr>
          <p:cNvSpPr>
            <a:spLocks noGrp="1"/>
          </p:cNvSpPr>
          <p:nvPr>
            <p:ph type="sldNum" sz="quarter" idx="12"/>
          </p:nvPr>
        </p:nvSpPr>
        <p:spPr/>
        <p:txBody>
          <a:bodyPr/>
          <a:lstStyle/>
          <a:p>
            <a:pPr>
              <a:defRPr/>
            </a:pPr>
            <a:fld id="{9B01C260-B825-4CE8-9DDA-33D812275B3B}" type="slidenum">
              <a:rPr lang="en-US" smtClean="0"/>
              <a:pPr>
                <a:defRPr/>
              </a:pPr>
              <a:t>‹#›</a:t>
            </a:fld>
            <a:endParaRPr lang="en-US" dirty="0"/>
          </a:p>
        </p:txBody>
      </p:sp>
    </p:spTree>
    <p:extLst>
      <p:ext uri="{BB962C8B-B14F-4D97-AF65-F5344CB8AC3E}">
        <p14:creationId xmlns:p14="http://schemas.microsoft.com/office/powerpoint/2010/main" val="333628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220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64F96-0661-4ECF-9982-9B197F1FD6C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HK"/>
          </a:p>
        </p:txBody>
      </p:sp>
      <p:sp>
        <p:nvSpPr>
          <p:cNvPr id="3" name="Text Placeholder 2">
            <a:extLst>
              <a:ext uri="{FF2B5EF4-FFF2-40B4-BE49-F238E27FC236}">
                <a16:creationId xmlns:a16="http://schemas.microsoft.com/office/drawing/2014/main" id="{DAD15EEC-6249-47C2-8057-6D2EEB8EAC4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2FFA0C48-B9DE-4CE6-A788-912657533B7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6A607C7E-F4F5-4B77-8CDC-90CC78F38487}" type="datetime1">
              <a:rPr lang="en-US" smtClean="0"/>
              <a:pPr>
                <a:defRPr/>
              </a:pPr>
              <a:t>10/20/2026</a:t>
            </a:fld>
            <a:endParaRPr lang="en-US" dirty="0"/>
          </a:p>
        </p:txBody>
      </p:sp>
      <p:sp>
        <p:nvSpPr>
          <p:cNvPr id="5" name="Footer Placeholder 4">
            <a:extLst>
              <a:ext uri="{FF2B5EF4-FFF2-40B4-BE49-F238E27FC236}">
                <a16:creationId xmlns:a16="http://schemas.microsoft.com/office/drawing/2014/main" id="{F3B3B9AB-B01B-4609-977B-94A63EF8D5A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2444386-A281-4CF3-A02F-A34096AE11C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4252344573"/>
      </p:ext>
    </p:extLst>
  </p:cSld>
  <p:clrMap bg1="lt1" tx1="dk1" bg2="lt2" tx2="dk2" accent1="accent1" accent2="accent2" accent3="accent3" accent4="accent4" accent5="accent5" accent6="accent6" hlink="hlink" folHlink="folHlink"/>
  <p:sldLayoutIdLst>
    <p:sldLayoutId id="2147485722" r:id="rId1"/>
    <p:sldLayoutId id="2147485723" r:id="rId2"/>
    <p:sldLayoutId id="2147485724" r:id="rId3"/>
    <p:sldLayoutId id="2147485725" r:id="rId4"/>
    <p:sldLayoutId id="2147485726" r:id="rId5"/>
    <p:sldLayoutId id="2147485727" r:id="rId6"/>
    <p:sldLayoutId id="2147485728" r:id="rId7"/>
    <p:sldLayoutId id="2147485729" r:id="rId8"/>
    <p:sldLayoutId id="2147485730" r:id="rId9"/>
    <p:sldLayoutId id="2147485731" r:id="rId10"/>
    <p:sldLayoutId id="2147485732" r:id="rId11"/>
    <p:sldLayoutId id="2147484929" r:id="rId12"/>
    <p:sldLayoutId id="2147484917" r:id="rId13"/>
    <p:sldLayoutId id="2147485054" r:id="rId14"/>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3"/>
          <p:cNvSpPr>
            <a:spLocks noGrp="1"/>
          </p:cNvSpPr>
          <p:nvPr>
            <p:ph type="ctrTitle"/>
          </p:nvPr>
        </p:nvSpPr>
        <p:spPr>
          <a:xfrm>
            <a:off x="609600" y="1088237"/>
            <a:ext cx="6858000" cy="1718936"/>
          </a:xfrm>
        </p:spPr>
        <p:txBody>
          <a:bodyPr>
            <a:normAutofit/>
          </a:bodyPr>
          <a:lstStyle/>
          <a:p>
            <a:pPr algn="l" eaLnBrk="1" hangingPunct="1"/>
            <a:r>
              <a:rPr lang="en-US" altLang="en-US" b="1" dirty="0"/>
              <a:t>AC6761 Artificial Intelligence Accounting</a:t>
            </a:r>
          </a:p>
        </p:txBody>
      </p:sp>
      <p:sp>
        <p:nvSpPr>
          <p:cNvPr id="129027" name="Subtitle 2"/>
          <p:cNvSpPr>
            <a:spLocks noGrp="1"/>
          </p:cNvSpPr>
          <p:nvPr>
            <p:ph type="subTitle" idx="1"/>
          </p:nvPr>
        </p:nvSpPr>
        <p:spPr>
          <a:xfrm>
            <a:off x="762000" y="3429000"/>
            <a:ext cx="7162800" cy="1543012"/>
          </a:xfrm>
        </p:spPr>
        <p:txBody>
          <a:bodyPr>
            <a:normAutofit/>
          </a:bodyPr>
          <a:lstStyle/>
          <a:p>
            <a:pPr algn="l" eaLnBrk="1" hangingPunct="1">
              <a:buFont typeface="Wingdings" pitchFamily="-107" charset="2"/>
              <a:buNone/>
            </a:pPr>
            <a:r>
              <a:rPr lang="en-US" altLang="en-US" sz="3600" b="1" dirty="0">
                <a:solidFill>
                  <a:srgbClr val="898989"/>
                </a:solidFill>
              </a:rPr>
              <a:t>Chapter 8 Introduction of AI</a:t>
            </a:r>
          </a:p>
        </p:txBody>
      </p:sp>
      <p:sp>
        <p:nvSpPr>
          <p:cNvPr id="10" name="Rectangle 9"/>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0F2A-A526-4402-983A-50587F006FDF}"/>
              </a:ext>
            </a:extLst>
          </p:cNvPr>
          <p:cNvSpPr>
            <a:spLocks noGrp="1"/>
          </p:cNvSpPr>
          <p:nvPr>
            <p:ph type="title"/>
          </p:nvPr>
        </p:nvSpPr>
        <p:spPr>
          <a:xfrm>
            <a:off x="846574" y="1219200"/>
            <a:ext cx="7886700" cy="1325563"/>
          </a:xfrm>
        </p:spPr>
        <p:txBody>
          <a:bodyPr/>
          <a:lstStyle/>
          <a:p>
            <a:r>
              <a:rPr lang="en-HK" b="1" dirty="0"/>
              <a:t>What is Artificial Intelligence?</a:t>
            </a:r>
            <a:br>
              <a:rPr lang="en-HK" b="1" dirty="0"/>
            </a:br>
            <a:endParaRPr lang="en-HK" dirty="0"/>
          </a:p>
        </p:txBody>
      </p:sp>
      <p:sp>
        <p:nvSpPr>
          <p:cNvPr id="3" name="Content Placeholder 2">
            <a:extLst>
              <a:ext uri="{FF2B5EF4-FFF2-40B4-BE49-F238E27FC236}">
                <a16:creationId xmlns:a16="http://schemas.microsoft.com/office/drawing/2014/main" id="{6DE5972E-3B28-4270-B6C5-0D28EEBD43E0}"/>
              </a:ext>
            </a:extLst>
          </p:cNvPr>
          <p:cNvSpPr>
            <a:spLocks noGrp="1"/>
          </p:cNvSpPr>
          <p:nvPr>
            <p:ph idx="1"/>
          </p:nvPr>
        </p:nvSpPr>
        <p:spPr>
          <a:xfrm>
            <a:off x="838200" y="2163763"/>
            <a:ext cx="7886700" cy="4013200"/>
          </a:xfrm>
        </p:spPr>
        <p:txBody>
          <a:bodyPr/>
          <a:lstStyle/>
          <a:p>
            <a:pPr marL="0" indent="0" fontAlgn="base">
              <a:buNone/>
            </a:pPr>
            <a:endParaRPr lang="en-HK" sz="2800" dirty="0"/>
          </a:p>
          <a:p>
            <a:pPr marL="0" indent="0" fontAlgn="base">
              <a:buNone/>
            </a:pPr>
            <a:r>
              <a:rPr lang="en-HK" sz="2800" dirty="0"/>
              <a:t>Artificial Intelligence (AI) refers to computer systems engineered to simulate human cognitive functions—including learning, problem-solving, decision-making, and language understanding—enabling autonomous task execution without explicit programming.  </a:t>
            </a:r>
          </a:p>
          <a:p>
            <a:endParaRPr lang="en-HK" dirty="0"/>
          </a:p>
        </p:txBody>
      </p:sp>
      <p:sp>
        <p:nvSpPr>
          <p:cNvPr id="4" name="Slide Number Placeholder 3">
            <a:extLst>
              <a:ext uri="{FF2B5EF4-FFF2-40B4-BE49-F238E27FC236}">
                <a16:creationId xmlns:a16="http://schemas.microsoft.com/office/drawing/2014/main" id="{557A9877-DB99-4A52-8F3E-8B48A36053BF}"/>
              </a:ext>
            </a:extLst>
          </p:cNvPr>
          <p:cNvSpPr>
            <a:spLocks noGrp="1"/>
          </p:cNvSpPr>
          <p:nvPr>
            <p:ph type="sldNum" sz="quarter" idx="12"/>
          </p:nvPr>
        </p:nvSpPr>
        <p:spPr/>
        <p:txBody>
          <a:bodyPr/>
          <a:lstStyle/>
          <a:p>
            <a:pPr>
              <a:defRPr/>
            </a:pPr>
            <a:fld id="{4D43F197-C583-4294-BD21-B6AE0DDD46C4}" type="slidenum">
              <a:rPr lang="en-US" smtClean="0"/>
              <a:pPr>
                <a:defRPr/>
              </a:pPr>
              <a:t>2</a:t>
            </a:fld>
            <a:endParaRPr lang="en-US" dirty="0"/>
          </a:p>
        </p:txBody>
      </p:sp>
    </p:spTree>
    <p:extLst>
      <p:ext uri="{BB962C8B-B14F-4D97-AF65-F5344CB8AC3E}">
        <p14:creationId xmlns:p14="http://schemas.microsoft.com/office/powerpoint/2010/main" val="158594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EBBC1-B729-45F7-B9B3-16650581AB54}"/>
              </a:ext>
            </a:extLst>
          </p:cNvPr>
          <p:cNvSpPr>
            <a:spLocks noGrp="1"/>
          </p:cNvSpPr>
          <p:nvPr>
            <p:ph type="title"/>
          </p:nvPr>
        </p:nvSpPr>
        <p:spPr/>
        <p:txBody>
          <a:bodyPr/>
          <a:lstStyle/>
          <a:p>
            <a:r>
              <a:rPr lang="en-HK" dirty="0"/>
              <a:t>Types</a:t>
            </a:r>
          </a:p>
        </p:txBody>
      </p:sp>
      <p:sp>
        <p:nvSpPr>
          <p:cNvPr id="3" name="Content Placeholder 2">
            <a:extLst>
              <a:ext uri="{FF2B5EF4-FFF2-40B4-BE49-F238E27FC236}">
                <a16:creationId xmlns:a16="http://schemas.microsoft.com/office/drawing/2014/main" id="{2311915E-81C6-4895-ADB8-CA3B04965607}"/>
              </a:ext>
            </a:extLst>
          </p:cNvPr>
          <p:cNvSpPr>
            <a:spLocks noGrp="1"/>
          </p:cNvSpPr>
          <p:nvPr>
            <p:ph idx="1"/>
          </p:nvPr>
        </p:nvSpPr>
        <p:spPr/>
        <p:txBody>
          <a:bodyPr>
            <a:normAutofit/>
          </a:bodyPr>
          <a:lstStyle/>
          <a:p>
            <a:pPr fontAlgn="base"/>
            <a:r>
              <a:rPr lang="en-HK" sz="2800" dirty="0"/>
              <a:t>​</a:t>
            </a:r>
            <a:r>
              <a:rPr lang="en-HK" sz="2800" b="1" dirty="0"/>
              <a:t>​Narrow AI​</a:t>
            </a:r>
            <a:r>
              <a:rPr lang="en-HK" sz="2800" dirty="0"/>
              <a:t>​: Excels in specific domains (e.g., Deep Blue playing chess) but cannot transfer knowledge across tasks.</a:t>
            </a:r>
          </a:p>
          <a:p>
            <a:pPr fontAlgn="base"/>
            <a:endParaRPr lang="en-HK" sz="2800" dirty="0"/>
          </a:p>
          <a:p>
            <a:pPr fontAlgn="base"/>
            <a:r>
              <a:rPr lang="en-HK" sz="2800" dirty="0"/>
              <a:t>​</a:t>
            </a:r>
            <a:r>
              <a:rPr lang="en-HK" sz="2800" b="1" dirty="0"/>
              <a:t>​Artificial General Intelligence (AGI)​</a:t>
            </a:r>
            <a:r>
              <a:rPr lang="en-HK" sz="2800" dirty="0"/>
              <a:t>​: Human-like adaptability—currently unrealized and debated among researchers.  </a:t>
            </a:r>
          </a:p>
        </p:txBody>
      </p:sp>
      <p:sp>
        <p:nvSpPr>
          <p:cNvPr id="4" name="Slide Number Placeholder 3">
            <a:extLst>
              <a:ext uri="{FF2B5EF4-FFF2-40B4-BE49-F238E27FC236}">
                <a16:creationId xmlns:a16="http://schemas.microsoft.com/office/drawing/2014/main" id="{0B8203D6-E637-4496-8C8D-089145BB1833}"/>
              </a:ext>
            </a:extLst>
          </p:cNvPr>
          <p:cNvSpPr>
            <a:spLocks noGrp="1"/>
          </p:cNvSpPr>
          <p:nvPr>
            <p:ph type="sldNum" sz="quarter" idx="12"/>
          </p:nvPr>
        </p:nvSpPr>
        <p:spPr/>
        <p:txBody>
          <a:bodyPr/>
          <a:lstStyle/>
          <a:p>
            <a:pPr>
              <a:defRPr/>
            </a:pPr>
            <a:fld id="{4D43F197-C583-4294-BD21-B6AE0DDD46C4}" type="slidenum">
              <a:rPr lang="en-US" smtClean="0"/>
              <a:pPr>
                <a:defRPr/>
              </a:pPr>
              <a:t>3</a:t>
            </a:fld>
            <a:endParaRPr lang="en-US" dirty="0"/>
          </a:p>
        </p:txBody>
      </p:sp>
    </p:spTree>
    <p:extLst>
      <p:ext uri="{BB962C8B-B14F-4D97-AF65-F5344CB8AC3E}">
        <p14:creationId xmlns:p14="http://schemas.microsoft.com/office/powerpoint/2010/main" val="3811233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5F4A8-A433-48D4-A8B3-5D452E9FB2D3}"/>
              </a:ext>
            </a:extLst>
          </p:cNvPr>
          <p:cNvSpPr>
            <a:spLocks noGrp="1"/>
          </p:cNvSpPr>
          <p:nvPr>
            <p:ph type="title"/>
          </p:nvPr>
        </p:nvSpPr>
        <p:spPr>
          <a:xfrm>
            <a:off x="648747" y="678524"/>
            <a:ext cx="7886700" cy="750886"/>
          </a:xfrm>
        </p:spPr>
        <p:txBody>
          <a:bodyPr>
            <a:normAutofit fontScale="90000"/>
          </a:bodyPr>
          <a:lstStyle/>
          <a:p>
            <a:r>
              <a:rPr lang="en-HK" b="1" dirty="0"/>
              <a:t>History of AI Development</a:t>
            </a:r>
            <a:br>
              <a:rPr lang="en-HK" b="1" dirty="0"/>
            </a:br>
            <a:endParaRPr lang="en-HK" dirty="0"/>
          </a:p>
        </p:txBody>
      </p:sp>
      <p:sp>
        <p:nvSpPr>
          <p:cNvPr id="3" name="Content Placeholder 2">
            <a:extLst>
              <a:ext uri="{FF2B5EF4-FFF2-40B4-BE49-F238E27FC236}">
                <a16:creationId xmlns:a16="http://schemas.microsoft.com/office/drawing/2014/main" id="{89C97EE7-3412-44F2-BB66-1D99539CABA2}"/>
              </a:ext>
            </a:extLst>
          </p:cNvPr>
          <p:cNvSpPr>
            <a:spLocks noGrp="1"/>
          </p:cNvSpPr>
          <p:nvPr>
            <p:ph idx="1"/>
          </p:nvPr>
        </p:nvSpPr>
        <p:spPr>
          <a:xfrm>
            <a:off x="628650" y="1676400"/>
            <a:ext cx="7886700" cy="4500564"/>
          </a:xfrm>
        </p:spPr>
        <p:txBody>
          <a:bodyPr/>
          <a:lstStyle/>
          <a:p>
            <a:pPr fontAlgn="base"/>
            <a:r>
              <a:rPr lang="en-HK" dirty="0"/>
              <a:t>​</a:t>
            </a:r>
            <a:r>
              <a:rPr lang="en-HK" b="1" dirty="0"/>
              <a:t>​Foundations (1940s–1950s)​</a:t>
            </a:r>
            <a:r>
              <a:rPr lang="en-HK" dirty="0"/>
              <a:t>​:</a:t>
            </a:r>
          </a:p>
          <a:p>
            <a:pPr fontAlgn="base"/>
            <a:r>
              <a:rPr lang="en-HK" dirty="0"/>
              <a:t>​</a:t>
            </a:r>
            <a:r>
              <a:rPr lang="en-HK" b="1" dirty="0"/>
              <a:t>​1943​</a:t>
            </a:r>
            <a:r>
              <a:rPr lang="en-HK" dirty="0"/>
              <a:t>​: Warren McCulloch and Walter Pitts proposed the first artificial neuron model, demonstrating how brain functions could be mathematically simulated.</a:t>
            </a:r>
          </a:p>
          <a:p>
            <a:pPr fontAlgn="base"/>
            <a:endParaRPr lang="en-HK" dirty="0"/>
          </a:p>
          <a:p>
            <a:pPr fontAlgn="base"/>
            <a:r>
              <a:rPr lang="en-HK" dirty="0"/>
              <a:t>​</a:t>
            </a:r>
            <a:r>
              <a:rPr lang="en-HK" b="1" dirty="0"/>
              <a:t>​1950​</a:t>
            </a:r>
            <a:r>
              <a:rPr lang="en-HK" dirty="0"/>
              <a:t>​: Alan Turing introduced the ​</a:t>
            </a:r>
            <a:r>
              <a:rPr lang="en-HK" b="1" dirty="0"/>
              <a:t>​Turing Test​</a:t>
            </a:r>
            <a:r>
              <a:rPr lang="en-HK" dirty="0"/>
              <a:t>​, defining machine intelligence as the ability to mimic human responses indistinguishably.</a:t>
            </a:r>
          </a:p>
          <a:p>
            <a:pPr fontAlgn="base"/>
            <a:endParaRPr lang="en-HK" dirty="0"/>
          </a:p>
          <a:p>
            <a:pPr fontAlgn="base"/>
            <a:r>
              <a:rPr lang="en-HK" dirty="0"/>
              <a:t>​</a:t>
            </a:r>
            <a:r>
              <a:rPr lang="en-HK" b="1" dirty="0"/>
              <a:t>​1956​</a:t>
            </a:r>
            <a:r>
              <a:rPr lang="en-HK" dirty="0"/>
              <a:t>​: The Dartmouth Conference, led by John McCarthy, coined "Artificial Intelligence" and established AI as a formal discipline. </a:t>
            </a:r>
          </a:p>
        </p:txBody>
      </p:sp>
      <p:sp>
        <p:nvSpPr>
          <p:cNvPr id="4" name="Slide Number Placeholder 3">
            <a:extLst>
              <a:ext uri="{FF2B5EF4-FFF2-40B4-BE49-F238E27FC236}">
                <a16:creationId xmlns:a16="http://schemas.microsoft.com/office/drawing/2014/main" id="{2125FD67-258B-4554-8786-1DB0D0F94F19}"/>
              </a:ext>
            </a:extLst>
          </p:cNvPr>
          <p:cNvSpPr>
            <a:spLocks noGrp="1"/>
          </p:cNvSpPr>
          <p:nvPr>
            <p:ph type="sldNum" sz="quarter" idx="12"/>
          </p:nvPr>
        </p:nvSpPr>
        <p:spPr/>
        <p:txBody>
          <a:bodyPr/>
          <a:lstStyle/>
          <a:p>
            <a:pPr>
              <a:defRPr/>
            </a:pPr>
            <a:fld id="{4D43F197-C583-4294-BD21-B6AE0DDD46C4}" type="slidenum">
              <a:rPr lang="en-US" smtClean="0"/>
              <a:pPr>
                <a:defRPr/>
              </a:pPr>
              <a:t>4</a:t>
            </a:fld>
            <a:endParaRPr lang="en-US" dirty="0"/>
          </a:p>
        </p:txBody>
      </p:sp>
    </p:spTree>
    <p:extLst>
      <p:ext uri="{BB962C8B-B14F-4D97-AF65-F5344CB8AC3E}">
        <p14:creationId xmlns:p14="http://schemas.microsoft.com/office/powerpoint/2010/main" val="3849984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BE022-09B2-47D5-A784-5D5B32224981}"/>
              </a:ext>
            </a:extLst>
          </p:cNvPr>
          <p:cNvSpPr>
            <a:spLocks noGrp="1"/>
          </p:cNvSpPr>
          <p:nvPr>
            <p:ph type="title"/>
          </p:nvPr>
        </p:nvSpPr>
        <p:spPr>
          <a:xfrm>
            <a:off x="648747" y="93574"/>
            <a:ext cx="7886700" cy="1325563"/>
          </a:xfrm>
        </p:spPr>
        <p:txBody>
          <a:bodyPr/>
          <a:lstStyle/>
          <a:p>
            <a:r>
              <a:rPr lang="en-HK" b="1" dirty="0"/>
              <a:t>History of AI Development</a:t>
            </a:r>
            <a:endParaRPr lang="en-HK" dirty="0"/>
          </a:p>
        </p:txBody>
      </p:sp>
      <p:sp>
        <p:nvSpPr>
          <p:cNvPr id="3" name="Content Placeholder 2">
            <a:extLst>
              <a:ext uri="{FF2B5EF4-FFF2-40B4-BE49-F238E27FC236}">
                <a16:creationId xmlns:a16="http://schemas.microsoft.com/office/drawing/2014/main" id="{4404F508-2456-453B-8091-D7ACBBF83006}"/>
              </a:ext>
            </a:extLst>
          </p:cNvPr>
          <p:cNvSpPr>
            <a:spLocks noGrp="1"/>
          </p:cNvSpPr>
          <p:nvPr>
            <p:ph idx="1"/>
          </p:nvPr>
        </p:nvSpPr>
        <p:spPr>
          <a:xfrm>
            <a:off x="628650" y="1219200"/>
            <a:ext cx="7886700" cy="4957763"/>
          </a:xfrm>
        </p:spPr>
        <p:txBody>
          <a:bodyPr>
            <a:normAutofit/>
          </a:bodyPr>
          <a:lstStyle/>
          <a:p>
            <a:pPr fontAlgn="base"/>
            <a:r>
              <a:rPr lang="en-HK" dirty="0"/>
              <a:t>​</a:t>
            </a:r>
            <a:r>
              <a:rPr lang="en-HK" b="1" dirty="0"/>
              <a:t>​Early Milestones (1960s–1970s)​</a:t>
            </a:r>
            <a:r>
              <a:rPr lang="en-HK" dirty="0"/>
              <a:t>​:</a:t>
            </a:r>
          </a:p>
          <a:p>
            <a:pPr lvl="1" fontAlgn="base"/>
            <a:r>
              <a:rPr lang="en-HK" dirty="0"/>
              <a:t>​</a:t>
            </a:r>
            <a:r>
              <a:rPr lang="en-HK" b="1" dirty="0"/>
              <a:t>​1966​</a:t>
            </a:r>
            <a:r>
              <a:rPr lang="en-HK" dirty="0"/>
              <a:t>​: Joseph </a:t>
            </a:r>
            <a:r>
              <a:rPr lang="en-HK" dirty="0" err="1"/>
              <a:t>Weizenbaum’s</a:t>
            </a:r>
            <a:r>
              <a:rPr lang="en-HK" dirty="0"/>
              <a:t> ELIZA simulated psychotherapy sessions, exposing AI’s reliance on scripted responses.</a:t>
            </a:r>
          </a:p>
          <a:p>
            <a:pPr lvl="1" fontAlgn="base"/>
            <a:endParaRPr lang="en-HK" dirty="0"/>
          </a:p>
          <a:p>
            <a:pPr lvl="1" fontAlgn="base"/>
            <a:r>
              <a:rPr lang="en-HK" dirty="0"/>
              <a:t>​</a:t>
            </a:r>
            <a:r>
              <a:rPr lang="en-HK" b="1" dirty="0"/>
              <a:t>​1969​</a:t>
            </a:r>
            <a:r>
              <a:rPr lang="en-HK" dirty="0"/>
              <a:t>​: Stanford’s </a:t>
            </a:r>
            <a:r>
              <a:rPr lang="en-HK" dirty="0" err="1"/>
              <a:t>Shakey</a:t>
            </a:r>
            <a:r>
              <a:rPr lang="en-HK" dirty="0"/>
              <a:t> became the first robot to autonomously navigate and manipulate objects using perception-planning-action loops.</a:t>
            </a:r>
          </a:p>
          <a:p>
            <a:pPr lvl="1" fontAlgn="base"/>
            <a:endParaRPr lang="en-HK" dirty="0"/>
          </a:p>
          <a:p>
            <a:pPr fontAlgn="base"/>
            <a:r>
              <a:rPr lang="en-HK" dirty="0"/>
              <a:t>​</a:t>
            </a:r>
            <a:r>
              <a:rPr lang="en-HK" b="1" dirty="0"/>
              <a:t>​AI Winters &amp; Resurgence (1970s–2000s)​</a:t>
            </a:r>
            <a:r>
              <a:rPr lang="en-HK" dirty="0"/>
              <a:t>​:</a:t>
            </a:r>
          </a:p>
          <a:p>
            <a:pPr lvl="1" fontAlgn="base"/>
            <a:r>
              <a:rPr lang="en-HK" dirty="0"/>
              <a:t>​</a:t>
            </a:r>
            <a:r>
              <a:rPr lang="en-HK" b="1" dirty="0"/>
              <a:t>​1973–1980​</a:t>
            </a:r>
            <a:r>
              <a:rPr lang="en-HK" dirty="0"/>
              <a:t>​: The first AI winter began after the </a:t>
            </a:r>
            <a:r>
              <a:rPr lang="en-HK" dirty="0" err="1"/>
              <a:t>Lighthill</a:t>
            </a:r>
            <a:r>
              <a:rPr lang="en-HK" dirty="0"/>
              <a:t> Report criticized unmet promises, causing funding collapses.</a:t>
            </a:r>
          </a:p>
          <a:p>
            <a:pPr lvl="1" fontAlgn="base"/>
            <a:endParaRPr lang="en-HK" dirty="0"/>
          </a:p>
          <a:p>
            <a:pPr lvl="1" fontAlgn="base"/>
            <a:r>
              <a:rPr lang="en-HK" dirty="0"/>
              <a:t>​</a:t>
            </a:r>
            <a:r>
              <a:rPr lang="en-HK" b="1" dirty="0"/>
              <a:t>​1980s​</a:t>
            </a:r>
            <a:r>
              <a:rPr lang="en-HK" dirty="0"/>
              <a:t>​: Expert systems (e.g., XCON for computer configuration) revived commercial interest by automating technical decisions.</a:t>
            </a:r>
          </a:p>
          <a:p>
            <a:pPr lvl="1" fontAlgn="base"/>
            <a:endParaRPr lang="en-HK" dirty="0"/>
          </a:p>
          <a:p>
            <a:pPr lvl="1" fontAlgn="base"/>
            <a:r>
              <a:rPr lang="en-HK" dirty="0"/>
              <a:t>​</a:t>
            </a:r>
            <a:r>
              <a:rPr lang="en-HK" b="1" dirty="0"/>
              <a:t>​1986​</a:t>
            </a:r>
            <a:r>
              <a:rPr lang="en-HK" dirty="0"/>
              <a:t>​: Geoffrey Hinton’s backpropagation algorithm enabled efficient training of deep neural networks, reigniting neural network research.</a:t>
            </a:r>
          </a:p>
          <a:p>
            <a:endParaRPr lang="en-HK" dirty="0"/>
          </a:p>
        </p:txBody>
      </p:sp>
      <p:sp>
        <p:nvSpPr>
          <p:cNvPr id="4" name="Slide Number Placeholder 3">
            <a:extLst>
              <a:ext uri="{FF2B5EF4-FFF2-40B4-BE49-F238E27FC236}">
                <a16:creationId xmlns:a16="http://schemas.microsoft.com/office/drawing/2014/main" id="{13788155-B52C-4B0F-8CAC-731B9F7A0B58}"/>
              </a:ext>
            </a:extLst>
          </p:cNvPr>
          <p:cNvSpPr>
            <a:spLocks noGrp="1"/>
          </p:cNvSpPr>
          <p:nvPr>
            <p:ph type="sldNum" sz="quarter" idx="12"/>
          </p:nvPr>
        </p:nvSpPr>
        <p:spPr/>
        <p:txBody>
          <a:bodyPr/>
          <a:lstStyle/>
          <a:p>
            <a:pPr>
              <a:defRPr/>
            </a:pPr>
            <a:fld id="{4D43F197-C583-4294-BD21-B6AE0DDD46C4}" type="slidenum">
              <a:rPr lang="en-US" smtClean="0"/>
              <a:pPr>
                <a:defRPr/>
              </a:pPr>
              <a:t>5</a:t>
            </a:fld>
            <a:endParaRPr lang="en-US" dirty="0"/>
          </a:p>
        </p:txBody>
      </p:sp>
    </p:spTree>
    <p:extLst>
      <p:ext uri="{BB962C8B-B14F-4D97-AF65-F5344CB8AC3E}">
        <p14:creationId xmlns:p14="http://schemas.microsoft.com/office/powerpoint/2010/main" val="914164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72B5-8A04-4885-AFFB-D8DC9666AC87}"/>
              </a:ext>
            </a:extLst>
          </p:cNvPr>
          <p:cNvSpPr>
            <a:spLocks noGrp="1"/>
          </p:cNvSpPr>
          <p:nvPr>
            <p:ph type="title"/>
          </p:nvPr>
        </p:nvSpPr>
        <p:spPr/>
        <p:txBody>
          <a:bodyPr/>
          <a:lstStyle/>
          <a:p>
            <a:r>
              <a:rPr lang="en-HK" b="1" dirty="0"/>
              <a:t>History of AI Development</a:t>
            </a:r>
            <a:endParaRPr lang="en-HK" dirty="0"/>
          </a:p>
        </p:txBody>
      </p:sp>
      <p:sp>
        <p:nvSpPr>
          <p:cNvPr id="3" name="Content Placeholder 2">
            <a:extLst>
              <a:ext uri="{FF2B5EF4-FFF2-40B4-BE49-F238E27FC236}">
                <a16:creationId xmlns:a16="http://schemas.microsoft.com/office/drawing/2014/main" id="{8FDDF51D-BB10-4B64-A5F1-AF0D903DA182}"/>
              </a:ext>
            </a:extLst>
          </p:cNvPr>
          <p:cNvSpPr>
            <a:spLocks noGrp="1"/>
          </p:cNvSpPr>
          <p:nvPr>
            <p:ph idx="1"/>
          </p:nvPr>
        </p:nvSpPr>
        <p:spPr/>
        <p:txBody>
          <a:bodyPr/>
          <a:lstStyle/>
          <a:p>
            <a:pPr fontAlgn="base"/>
            <a:r>
              <a:rPr lang="en-HK" b="1" dirty="0"/>
              <a:t>Modern Breakthroughs (1990s–2020s)​</a:t>
            </a:r>
            <a:r>
              <a:rPr lang="en-HK" dirty="0"/>
              <a:t>​:</a:t>
            </a:r>
          </a:p>
          <a:p>
            <a:pPr lvl="1" fontAlgn="base"/>
            <a:r>
              <a:rPr lang="en-HK" dirty="0"/>
              <a:t>​</a:t>
            </a:r>
            <a:r>
              <a:rPr lang="en-HK" b="1" dirty="0"/>
              <a:t>​1997​</a:t>
            </a:r>
            <a:r>
              <a:rPr lang="en-HK" dirty="0"/>
              <a:t>​: IBM’s Deep Blue defeated chess champion Garry Kasparov, showcasing strategic computation.</a:t>
            </a:r>
          </a:p>
          <a:p>
            <a:pPr lvl="1" fontAlgn="base"/>
            <a:endParaRPr lang="en-HK" dirty="0"/>
          </a:p>
          <a:p>
            <a:pPr lvl="1" fontAlgn="base"/>
            <a:r>
              <a:rPr lang="en-HK" dirty="0"/>
              <a:t>​</a:t>
            </a:r>
            <a:r>
              <a:rPr lang="en-HK" b="1" dirty="0"/>
              <a:t>​2012​</a:t>
            </a:r>
            <a:r>
              <a:rPr lang="en-HK" dirty="0"/>
              <a:t>​: </a:t>
            </a:r>
            <a:r>
              <a:rPr lang="en-HK" dirty="0" err="1"/>
              <a:t>AlexNet</a:t>
            </a:r>
            <a:r>
              <a:rPr lang="en-HK" dirty="0"/>
              <a:t> won the ImageNet competition, slashing image recognition errors by 41% and </a:t>
            </a:r>
            <a:r>
              <a:rPr lang="en-HK" dirty="0" err="1"/>
              <a:t>catalyzing</a:t>
            </a:r>
            <a:r>
              <a:rPr lang="en-HK" dirty="0"/>
              <a:t> the deep learning era.</a:t>
            </a:r>
          </a:p>
          <a:p>
            <a:pPr lvl="1" fontAlgn="base"/>
            <a:endParaRPr lang="en-HK" dirty="0"/>
          </a:p>
          <a:p>
            <a:pPr lvl="1" fontAlgn="base"/>
            <a:r>
              <a:rPr lang="en-HK" dirty="0"/>
              <a:t>​</a:t>
            </a:r>
            <a:r>
              <a:rPr lang="en-HK" b="1" dirty="0"/>
              <a:t>​2020–2024​</a:t>
            </a:r>
            <a:r>
              <a:rPr lang="en-HK" dirty="0"/>
              <a:t>​: GPT-3 (2020), </a:t>
            </a:r>
            <a:r>
              <a:rPr lang="en-HK" dirty="0" err="1"/>
              <a:t>ChatGPT</a:t>
            </a:r>
            <a:r>
              <a:rPr lang="en-HK" dirty="0"/>
              <a:t> (2022), and multimodal models (GPT-4, Gemini) revolutionized generative AI and real-world integration.</a:t>
            </a:r>
          </a:p>
          <a:p>
            <a:pPr lvl="1" fontAlgn="base"/>
            <a:endParaRPr lang="en-HK" dirty="0"/>
          </a:p>
          <a:p>
            <a:pPr fontAlgn="base"/>
            <a:r>
              <a:rPr lang="en-HK" dirty="0"/>
              <a:t>​</a:t>
            </a:r>
            <a:r>
              <a:rPr lang="en-HK" b="1" dirty="0"/>
              <a:t>​2024–2025​</a:t>
            </a:r>
            <a:r>
              <a:rPr lang="en-HK" dirty="0"/>
              <a:t>​: The ​</a:t>
            </a:r>
            <a:r>
              <a:rPr lang="en-HK" b="1" dirty="0"/>
              <a:t>​MCP (Model Context Protocol)​</a:t>
            </a:r>
            <a:r>
              <a:rPr lang="en-HK" dirty="0"/>
              <a:t>​ emerged, standardizing AI interactions with external tools (e.g., databases, APIs) to solve data silos and enable cross-platform automation.</a:t>
            </a:r>
          </a:p>
          <a:p>
            <a:endParaRPr lang="en-HK" dirty="0"/>
          </a:p>
        </p:txBody>
      </p:sp>
      <p:sp>
        <p:nvSpPr>
          <p:cNvPr id="4" name="Slide Number Placeholder 3">
            <a:extLst>
              <a:ext uri="{FF2B5EF4-FFF2-40B4-BE49-F238E27FC236}">
                <a16:creationId xmlns:a16="http://schemas.microsoft.com/office/drawing/2014/main" id="{891CC77B-0A42-4CA2-AA91-F61625DA4345}"/>
              </a:ext>
            </a:extLst>
          </p:cNvPr>
          <p:cNvSpPr>
            <a:spLocks noGrp="1"/>
          </p:cNvSpPr>
          <p:nvPr>
            <p:ph type="sldNum" sz="quarter" idx="12"/>
          </p:nvPr>
        </p:nvSpPr>
        <p:spPr/>
        <p:txBody>
          <a:bodyPr/>
          <a:lstStyle/>
          <a:p>
            <a:pPr>
              <a:defRPr/>
            </a:pPr>
            <a:fld id="{4D43F197-C583-4294-BD21-B6AE0DDD46C4}" type="slidenum">
              <a:rPr lang="en-US" smtClean="0"/>
              <a:pPr>
                <a:defRPr/>
              </a:pPr>
              <a:t>6</a:t>
            </a:fld>
            <a:endParaRPr lang="en-US" dirty="0"/>
          </a:p>
        </p:txBody>
      </p:sp>
    </p:spTree>
    <p:extLst>
      <p:ext uri="{BB962C8B-B14F-4D97-AF65-F5344CB8AC3E}">
        <p14:creationId xmlns:p14="http://schemas.microsoft.com/office/powerpoint/2010/main" val="2316488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AI</a:t>
            </a:r>
          </a:p>
        </p:txBody>
      </p:sp>
      <p:sp>
        <p:nvSpPr>
          <p:cNvPr id="4" name="Slide Number Placeholder 3"/>
          <p:cNvSpPr>
            <a:spLocks noGrp="1"/>
          </p:cNvSpPr>
          <p:nvPr>
            <p:ph type="sldNum" sz="quarter" idx="10"/>
          </p:nvPr>
        </p:nvSpPr>
        <p:spPr/>
        <p:txBody>
          <a:bodyPr/>
          <a:lstStyle/>
          <a:p>
            <a:pPr>
              <a:defRPr/>
            </a:pPr>
            <a:fld id="{FE532613-411E-4DB5-8CDB-94995857F8DF}" type="slidenum">
              <a:rPr lang="en-US" smtClean="0"/>
              <a:pPr>
                <a:defRPr/>
              </a:pPr>
              <a:t>7</a:t>
            </a:fld>
            <a:endParaRPr lang="en-US"/>
          </a:p>
        </p:txBody>
      </p:sp>
      <p:graphicFrame>
        <p:nvGraphicFramePr>
          <p:cNvPr id="5" name="Content Placeholder 4">
            <a:extLst>
              <a:ext uri="{FF2B5EF4-FFF2-40B4-BE49-F238E27FC236}">
                <a16:creationId xmlns:a16="http://schemas.microsoft.com/office/drawing/2014/main" id="{89F9FAC0-A320-4A0F-B012-B425B841B3F1}"/>
              </a:ext>
            </a:extLst>
          </p:cNvPr>
          <p:cNvGraphicFramePr>
            <a:graphicFrameLocks noGrp="1"/>
          </p:cNvGraphicFramePr>
          <p:nvPr>
            <p:ph idx="1"/>
            <p:extLst/>
          </p:nvPr>
        </p:nvGraphicFramePr>
        <p:xfrm>
          <a:off x="838200" y="1600200"/>
          <a:ext cx="7848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706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DA8C0-2885-44B2-91CC-2357EDC12942}"/>
              </a:ext>
            </a:extLst>
          </p:cNvPr>
          <p:cNvSpPr>
            <a:spLocks noGrp="1"/>
          </p:cNvSpPr>
          <p:nvPr>
            <p:ph type="title"/>
          </p:nvPr>
        </p:nvSpPr>
        <p:spPr/>
        <p:txBody>
          <a:bodyPr/>
          <a:lstStyle/>
          <a:p>
            <a:r>
              <a:rPr lang="en-HK" b="1" dirty="0"/>
              <a:t>Machine Learning vs. Deep Learning​</a:t>
            </a:r>
            <a:br>
              <a:rPr lang="en-HK" b="1" dirty="0"/>
            </a:br>
            <a:endParaRPr lang="en-HK" dirty="0"/>
          </a:p>
        </p:txBody>
      </p:sp>
      <p:sp>
        <p:nvSpPr>
          <p:cNvPr id="3" name="Content Placeholder 2">
            <a:extLst>
              <a:ext uri="{FF2B5EF4-FFF2-40B4-BE49-F238E27FC236}">
                <a16:creationId xmlns:a16="http://schemas.microsoft.com/office/drawing/2014/main" id="{33B9FFA4-440C-4E6A-A4F6-171F4BB5CB3A}"/>
              </a:ext>
            </a:extLst>
          </p:cNvPr>
          <p:cNvSpPr>
            <a:spLocks noGrp="1"/>
          </p:cNvSpPr>
          <p:nvPr>
            <p:ph idx="1"/>
          </p:nvPr>
        </p:nvSpPr>
        <p:spPr>
          <a:xfrm>
            <a:off x="628650" y="1752600"/>
            <a:ext cx="8210550" cy="4424363"/>
          </a:xfrm>
        </p:spPr>
        <p:txBody>
          <a:bodyPr>
            <a:normAutofit lnSpcReduction="10000"/>
          </a:bodyPr>
          <a:lstStyle/>
          <a:p>
            <a:pPr marL="0" indent="0">
              <a:buNone/>
            </a:pPr>
            <a:r>
              <a:rPr lang="en-HK" sz="2400" b="1" dirty="0"/>
              <a:t>Machine Learning (ML)</a:t>
            </a:r>
          </a:p>
          <a:p>
            <a:r>
              <a:rPr lang="en-HK" sz="2400" b="1" dirty="0"/>
              <a:t>Definition</a:t>
            </a:r>
            <a:r>
              <a:rPr lang="en-HK" sz="2400" dirty="0"/>
              <a:t>: ML is a subset of AI that focuses on the development of algorithms that allow computers to learn from and make predictions based on data. </a:t>
            </a:r>
          </a:p>
          <a:p>
            <a:endParaRPr lang="en-HK" sz="2400" b="1" dirty="0"/>
          </a:p>
          <a:p>
            <a:pPr marL="0" indent="0">
              <a:buNone/>
            </a:pPr>
            <a:r>
              <a:rPr lang="en-HK" sz="2400" b="1" dirty="0"/>
              <a:t>Deep Learning (DL)</a:t>
            </a:r>
          </a:p>
          <a:p>
            <a:r>
              <a:rPr lang="en-HK" sz="2400" b="1" dirty="0"/>
              <a:t>Definition</a:t>
            </a:r>
            <a:r>
              <a:rPr lang="en-HK" sz="2400" dirty="0"/>
              <a:t>: DL is a specialized area within ML that uses neural networks with many layers (hence "deep"). These networks are particularly effective for handling large amounts of unstructured data, such as images, audio, and text.</a:t>
            </a:r>
          </a:p>
          <a:p>
            <a:endParaRPr lang="en-HK" sz="2400" dirty="0"/>
          </a:p>
          <a:p>
            <a:pPr marL="0" indent="0">
              <a:buNone/>
            </a:pPr>
            <a:r>
              <a:rPr lang="en-HK" sz="2400" dirty="0"/>
              <a:t>@</a:t>
            </a:r>
          </a:p>
          <a:p>
            <a:pPr marL="0" indent="0" fontAlgn="base">
              <a:buNone/>
            </a:pPr>
            <a:endParaRPr lang="en-HK" sz="2400" dirty="0"/>
          </a:p>
        </p:txBody>
      </p:sp>
      <p:sp>
        <p:nvSpPr>
          <p:cNvPr id="4" name="Slide Number Placeholder 3">
            <a:extLst>
              <a:ext uri="{FF2B5EF4-FFF2-40B4-BE49-F238E27FC236}">
                <a16:creationId xmlns:a16="http://schemas.microsoft.com/office/drawing/2014/main" id="{B6604951-5019-4986-ABF8-95AEE2EF2B6D}"/>
              </a:ext>
            </a:extLst>
          </p:cNvPr>
          <p:cNvSpPr>
            <a:spLocks noGrp="1"/>
          </p:cNvSpPr>
          <p:nvPr>
            <p:ph type="sldNum" sz="quarter" idx="12"/>
          </p:nvPr>
        </p:nvSpPr>
        <p:spPr/>
        <p:txBody>
          <a:bodyPr/>
          <a:lstStyle/>
          <a:p>
            <a:pPr>
              <a:defRPr/>
            </a:pPr>
            <a:fld id="{4D43F197-C583-4294-BD21-B6AE0DDD46C4}" type="slidenum">
              <a:rPr lang="en-US" smtClean="0"/>
              <a:pPr>
                <a:defRPr/>
              </a:pPr>
              <a:t>8</a:t>
            </a:fld>
            <a:endParaRPr lang="en-US" dirty="0"/>
          </a:p>
        </p:txBody>
      </p:sp>
    </p:spTree>
    <p:extLst>
      <p:ext uri="{BB962C8B-B14F-4D97-AF65-F5344CB8AC3E}">
        <p14:creationId xmlns:p14="http://schemas.microsoft.com/office/powerpoint/2010/main" val="2917071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6629D-98C5-3976-3639-B0FE19563ADD}"/>
              </a:ext>
            </a:extLst>
          </p:cNvPr>
          <p:cNvSpPr>
            <a:spLocks noGrp="1"/>
          </p:cNvSpPr>
          <p:nvPr>
            <p:ph type="title"/>
          </p:nvPr>
        </p:nvSpPr>
        <p:spPr/>
        <p:txBody>
          <a:bodyPr/>
          <a:lstStyle/>
          <a:p>
            <a:r>
              <a:rPr lang="en-US" altLang="zh-CN" dirty="0"/>
              <a:t>Types of machine learning</a:t>
            </a:r>
            <a:endParaRPr lang="zh-CN" altLang="en-US" dirty="0"/>
          </a:p>
        </p:txBody>
      </p:sp>
      <p:sp>
        <p:nvSpPr>
          <p:cNvPr id="3" name="Content Placeholder 2">
            <a:extLst>
              <a:ext uri="{FF2B5EF4-FFF2-40B4-BE49-F238E27FC236}">
                <a16:creationId xmlns:a16="http://schemas.microsoft.com/office/drawing/2014/main" id="{F5C0D5EE-CCA9-F84D-DA04-BBE95C5402E1}"/>
              </a:ext>
            </a:extLst>
          </p:cNvPr>
          <p:cNvSpPr>
            <a:spLocks noGrp="1"/>
          </p:cNvSpPr>
          <p:nvPr>
            <p:ph idx="1"/>
          </p:nvPr>
        </p:nvSpPr>
        <p:spPr>
          <a:xfrm>
            <a:off x="508001" y="1828801"/>
            <a:ext cx="7645399" cy="4267200"/>
          </a:xfrm>
        </p:spPr>
        <p:txBody>
          <a:bodyPr>
            <a:noAutofit/>
          </a:bodyPr>
          <a:lstStyle/>
          <a:p>
            <a:r>
              <a:rPr lang="en-US" altLang="zh-CN" sz="2800" dirty="0"/>
              <a:t>Supervised learning</a:t>
            </a:r>
          </a:p>
          <a:p>
            <a:endParaRPr lang="en-US" altLang="zh-CN" sz="2800" dirty="0"/>
          </a:p>
          <a:p>
            <a:r>
              <a:rPr lang="en-US" altLang="zh-CN" sz="2800" dirty="0"/>
              <a:t>Unsupervised learning</a:t>
            </a:r>
          </a:p>
          <a:p>
            <a:endParaRPr lang="en-US" altLang="zh-CN" sz="2800" dirty="0"/>
          </a:p>
          <a:p>
            <a:r>
              <a:rPr lang="en-US" altLang="zh-CN" sz="2800" dirty="0"/>
              <a:t>Semi-supervised learning</a:t>
            </a:r>
          </a:p>
          <a:p>
            <a:endParaRPr lang="en-US" altLang="zh-CN" sz="2800" dirty="0"/>
          </a:p>
          <a:p>
            <a:r>
              <a:rPr lang="en-US" altLang="zh-CN" sz="2800" dirty="0"/>
              <a:t>Reinforcement learning</a:t>
            </a:r>
            <a:endParaRPr lang="zh-CN" altLang="en-US" sz="2800" dirty="0"/>
          </a:p>
        </p:txBody>
      </p:sp>
    </p:spTree>
    <p:extLst>
      <p:ext uri="{BB962C8B-B14F-4D97-AF65-F5344CB8AC3E}">
        <p14:creationId xmlns:p14="http://schemas.microsoft.com/office/powerpoint/2010/main" val="1361188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F0262-5C85-044C-5060-80FFF7345C7F}"/>
              </a:ext>
            </a:extLst>
          </p:cNvPr>
          <p:cNvSpPr>
            <a:spLocks noGrp="1"/>
          </p:cNvSpPr>
          <p:nvPr>
            <p:ph type="title"/>
          </p:nvPr>
        </p:nvSpPr>
        <p:spPr>
          <a:xfrm>
            <a:off x="628650" y="-139671"/>
            <a:ext cx="7886700" cy="1325563"/>
          </a:xfrm>
        </p:spPr>
        <p:txBody>
          <a:bodyPr/>
          <a:lstStyle/>
          <a:p>
            <a:r>
              <a:rPr lang="en-US" altLang="zh-CN" dirty="0"/>
              <a:t>Supervised learning</a:t>
            </a:r>
            <a:endParaRPr lang="zh-CN" altLang="en-US" dirty="0"/>
          </a:p>
        </p:txBody>
      </p:sp>
      <p:pic>
        <p:nvPicPr>
          <p:cNvPr id="2050" name="Picture 2" descr="Top 10 Machine Learning Examples in Real Life">
            <a:extLst>
              <a:ext uri="{FF2B5EF4-FFF2-40B4-BE49-F238E27FC236}">
                <a16:creationId xmlns:a16="http://schemas.microsoft.com/office/drawing/2014/main" id="{BF687A33-9BE7-BD7D-EB33-724D1282E3D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3900" y="1066800"/>
            <a:ext cx="7086600" cy="288548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7B55EF1-B31A-44D7-AD0E-7DDD04EBD73D}"/>
              </a:ext>
            </a:extLst>
          </p:cNvPr>
          <p:cNvSpPr/>
          <p:nvPr/>
        </p:nvSpPr>
        <p:spPr>
          <a:xfrm>
            <a:off x="628650" y="4038600"/>
            <a:ext cx="7886700" cy="1938992"/>
          </a:xfrm>
          <a:prstGeom prst="rect">
            <a:avLst/>
          </a:prstGeom>
        </p:spPr>
        <p:txBody>
          <a:bodyPr wrap="square">
            <a:spAutoFit/>
          </a:bodyPr>
          <a:lstStyle/>
          <a:p>
            <a:r>
              <a:rPr lang="en-HK" sz="2400" dirty="0"/>
              <a:t>Supervised learning is a type of machine learning in which the model is trained on </a:t>
            </a:r>
            <a:r>
              <a:rPr lang="en-HK" sz="2400" dirty="0" err="1"/>
              <a:t>labeled</a:t>
            </a:r>
            <a:r>
              <a:rPr lang="en-HK" sz="2400" dirty="0"/>
              <a:t> data. Each training example consists of an input and a known correct output (the label). The algorithm learns the mapping from inputs to outputs so that it can predict the correct label for new, unseen data.</a:t>
            </a:r>
          </a:p>
        </p:txBody>
      </p:sp>
    </p:spTree>
    <p:extLst>
      <p:ext uri="{BB962C8B-B14F-4D97-AF65-F5344CB8AC3E}">
        <p14:creationId xmlns:p14="http://schemas.microsoft.com/office/powerpoint/2010/main" val="1593141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B0414-6404-48F8-A156-E3188E91311E}"/>
              </a:ext>
            </a:extLst>
          </p:cNvPr>
          <p:cNvSpPr>
            <a:spLocks noGrp="1"/>
          </p:cNvSpPr>
          <p:nvPr>
            <p:ph type="title"/>
          </p:nvPr>
        </p:nvSpPr>
        <p:spPr/>
        <p:txBody>
          <a:bodyPr/>
          <a:lstStyle/>
          <a:p>
            <a:r>
              <a:rPr lang="en-US" altLang="zh-CN" dirty="0"/>
              <a:t>Supervised learning – Key characteristics</a:t>
            </a:r>
            <a:endParaRPr lang="en-HK" dirty="0"/>
          </a:p>
        </p:txBody>
      </p:sp>
      <p:sp>
        <p:nvSpPr>
          <p:cNvPr id="3" name="Content Placeholder 2">
            <a:extLst>
              <a:ext uri="{FF2B5EF4-FFF2-40B4-BE49-F238E27FC236}">
                <a16:creationId xmlns:a16="http://schemas.microsoft.com/office/drawing/2014/main" id="{7FAA3E08-923A-4CFC-AAF1-422354F7899C}"/>
              </a:ext>
            </a:extLst>
          </p:cNvPr>
          <p:cNvSpPr>
            <a:spLocks noGrp="1"/>
          </p:cNvSpPr>
          <p:nvPr>
            <p:ph idx="1"/>
          </p:nvPr>
        </p:nvSpPr>
        <p:spPr/>
        <p:txBody>
          <a:bodyPr/>
          <a:lstStyle/>
          <a:p>
            <a:r>
              <a:rPr lang="en-HK" sz="2800" dirty="0"/>
              <a:t>Requires </a:t>
            </a:r>
            <a:r>
              <a:rPr lang="en-HK" sz="2800" dirty="0" err="1"/>
              <a:t>labeled</a:t>
            </a:r>
            <a:r>
              <a:rPr lang="en-HK" sz="2800" dirty="0"/>
              <a:t> historical data (which can be costly or time-consuming to obtain).</a:t>
            </a:r>
          </a:p>
          <a:p>
            <a:endParaRPr lang="en-HK" sz="2800" dirty="0"/>
          </a:p>
          <a:p>
            <a:r>
              <a:rPr lang="en-HK" sz="2800" dirty="0"/>
              <a:t>Performance can be measured directly by comparing predictions against known labels.</a:t>
            </a:r>
          </a:p>
          <a:p>
            <a:endParaRPr lang="en-HK" sz="2800" dirty="0"/>
          </a:p>
          <a:p>
            <a:r>
              <a:rPr lang="en-HK" sz="2800" dirty="0"/>
              <a:t>Most widely used type of machine learning in business applications today.</a:t>
            </a:r>
          </a:p>
          <a:p>
            <a:endParaRPr lang="en-HK" dirty="0"/>
          </a:p>
        </p:txBody>
      </p:sp>
      <p:sp>
        <p:nvSpPr>
          <p:cNvPr id="4" name="Slide Number Placeholder 3">
            <a:extLst>
              <a:ext uri="{FF2B5EF4-FFF2-40B4-BE49-F238E27FC236}">
                <a16:creationId xmlns:a16="http://schemas.microsoft.com/office/drawing/2014/main" id="{EF841F03-EDB9-4C35-82AB-75D5A1FAF784}"/>
              </a:ext>
            </a:extLst>
          </p:cNvPr>
          <p:cNvSpPr>
            <a:spLocks noGrp="1"/>
          </p:cNvSpPr>
          <p:nvPr>
            <p:ph type="sldNum" sz="quarter" idx="12"/>
          </p:nvPr>
        </p:nvSpPr>
        <p:spPr/>
        <p:txBody>
          <a:bodyPr/>
          <a:lstStyle/>
          <a:p>
            <a:pPr>
              <a:defRPr/>
            </a:pPr>
            <a:fld id="{4D43F197-C583-4294-BD21-B6AE0DDD46C4}" type="slidenum">
              <a:rPr lang="en-US" smtClean="0"/>
              <a:pPr>
                <a:defRPr/>
              </a:pPr>
              <a:t>11</a:t>
            </a:fld>
            <a:endParaRPr lang="en-US" dirty="0"/>
          </a:p>
        </p:txBody>
      </p:sp>
    </p:spTree>
    <p:extLst>
      <p:ext uri="{BB962C8B-B14F-4D97-AF65-F5344CB8AC3E}">
        <p14:creationId xmlns:p14="http://schemas.microsoft.com/office/powerpoint/2010/main" val="3829391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151B9-BACB-4E59-8EA0-9B980093AF17}"/>
              </a:ext>
            </a:extLst>
          </p:cNvPr>
          <p:cNvSpPr>
            <a:spLocks noGrp="1"/>
          </p:cNvSpPr>
          <p:nvPr>
            <p:ph type="title"/>
          </p:nvPr>
        </p:nvSpPr>
        <p:spPr>
          <a:xfrm>
            <a:off x="533400" y="-133351"/>
            <a:ext cx="7886700" cy="1325563"/>
          </a:xfrm>
        </p:spPr>
        <p:txBody>
          <a:bodyPr/>
          <a:lstStyle/>
          <a:p>
            <a:r>
              <a:rPr lang="en-US" altLang="zh-CN" dirty="0"/>
              <a:t>Supervised learning – Example</a:t>
            </a:r>
            <a:endParaRPr lang="en-HK" dirty="0"/>
          </a:p>
        </p:txBody>
      </p:sp>
      <p:sp>
        <p:nvSpPr>
          <p:cNvPr id="3" name="Content Placeholder 2">
            <a:extLst>
              <a:ext uri="{FF2B5EF4-FFF2-40B4-BE49-F238E27FC236}">
                <a16:creationId xmlns:a16="http://schemas.microsoft.com/office/drawing/2014/main" id="{64984ECA-C77A-4161-BE57-809929E31BBE}"/>
              </a:ext>
            </a:extLst>
          </p:cNvPr>
          <p:cNvSpPr>
            <a:spLocks noGrp="1"/>
          </p:cNvSpPr>
          <p:nvPr>
            <p:ph idx="1"/>
          </p:nvPr>
        </p:nvSpPr>
        <p:spPr>
          <a:xfrm>
            <a:off x="381000" y="1066800"/>
            <a:ext cx="8458200" cy="5110163"/>
          </a:xfrm>
        </p:spPr>
        <p:txBody>
          <a:bodyPr>
            <a:normAutofit/>
          </a:bodyPr>
          <a:lstStyle/>
          <a:p>
            <a:pPr marL="0" indent="0">
              <a:buNone/>
            </a:pPr>
            <a:r>
              <a:rPr lang="en-HK" b="1" dirty="0"/>
              <a:t>The problem</a:t>
            </a:r>
            <a:endParaRPr lang="en-HK" dirty="0"/>
          </a:p>
          <a:p>
            <a:r>
              <a:rPr lang="en-HK" dirty="0"/>
              <a:t>Finance teams receive thousands of invoices and credit-card transactions. Manually coding each item to the correct expense account (e.g., Travel, Office Supplies, Marketing, Utilities) is time-consuming and inconsistent.</a:t>
            </a:r>
          </a:p>
          <a:p>
            <a:pPr marL="0" indent="0">
              <a:buNone/>
            </a:pPr>
            <a:endParaRPr lang="en-HK" b="1" dirty="0"/>
          </a:p>
          <a:p>
            <a:pPr marL="0" indent="0">
              <a:buNone/>
            </a:pPr>
            <a:r>
              <a:rPr lang="en-HK" b="1" dirty="0"/>
              <a:t>How supervised learning helps</a:t>
            </a:r>
            <a:endParaRPr lang="en-HK" dirty="0"/>
          </a:p>
          <a:p>
            <a:r>
              <a:rPr lang="en-HK" dirty="0"/>
              <a:t>Historical invoices that accountants have already coded become the </a:t>
            </a:r>
            <a:r>
              <a:rPr lang="en-HK" dirty="0" err="1"/>
              <a:t>labeled</a:t>
            </a:r>
            <a:r>
              <a:rPr lang="en-HK" dirty="0"/>
              <a:t> training data.</a:t>
            </a:r>
          </a:p>
          <a:p>
            <a:r>
              <a:rPr lang="en-HK" dirty="0"/>
              <a:t>Features used by the model may include vendor name, invoice description, amount, department, and date.</a:t>
            </a:r>
          </a:p>
          <a:p>
            <a:r>
              <a:rPr lang="en-HK" dirty="0"/>
              <a:t>The model learns patterns such as “Uber or taxi receipts → Travel” or “Adobe subscription → Software / IT.”</a:t>
            </a:r>
          </a:p>
          <a:p>
            <a:r>
              <a:rPr lang="en-HK" dirty="0"/>
              <a:t>New invoices are automatically suggested a code</a:t>
            </a:r>
          </a:p>
          <a:p>
            <a:endParaRPr lang="en-HK" dirty="0"/>
          </a:p>
        </p:txBody>
      </p:sp>
      <p:sp>
        <p:nvSpPr>
          <p:cNvPr id="4" name="Slide Number Placeholder 3">
            <a:extLst>
              <a:ext uri="{FF2B5EF4-FFF2-40B4-BE49-F238E27FC236}">
                <a16:creationId xmlns:a16="http://schemas.microsoft.com/office/drawing/2014/main" id="{21CBA2D1-24FE-465E-9B05-EBC081B89D89}"/>
              </a:ext>
            </a:extLst>
          </p:cNvPr>
          <p:cNvSpPr>
            <a:spLocks noGrp="1"/>
          </p:cNvSpPr>
          <p:nvPr>
            <p:ph type="sldNum" sz="quarter" idx="12"/>
          </p:nvPr>
        </p:nvSpPr>
        <p:spPr/>
        <p:txBody>
          <a:bodyPr/>
          <a:lstStyle/>
          <a:p>
            <a:pPr>
              <a:defRPr/>
            </a:pPr>
            <a:fld id="{4D43F197-C583-4294-BD21-B6AE0DDD46C4}" type="slidenum">
              <a:rPr lang="en-US" smtClean="0"/>
              <a:pPr>
                <a:defRPr/>
              </a:pPr>
              <a:t>12</a:t>
            </a:fld>
            <a:endParaRPr lang="en-US" dirty="0"/>
          </a:p>
        </p:txBody>
      </p:sp>
    </p:spTree>
    <p:extLst>
      <p:ext uri="{BB962C8B-B14F-4D97-AF65-F5344CB8AC3E}">
        <p14:creationId xmlns:p14="http://schemas.microsoft.com/office/powerpoint/2010/main" val="3595423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395D-0596-4AB2-B12E-12A611B9BCBC}"/>
              </a:ext>
            </a:extLst>
          </p:cNvPr>
          <p:cNvSpPr>
            <a:spLocks noGrp="1"/>
          </p:cNvSpPr>
          <p:nvPr>
            <p:ph type="title"/>
          </p:nvPr>
        </p:nvSpPr>
        <p:spPr>
          <a:xfrm>
            <a:off x="628650" y="0"/>
            <a:ext cx="7886700" cy="1325563"/>
          </a:xfrm>
        </p:spPr>
        <p:txBody>
          <a:bodyPr/>
          <a:lstStyle/>
          <a:p>
            <a:r>
              <a:rPr lang="en-US" altLang="zh-CN" dirty="0"/>
              <a:t>Supervised learning – Pros and Cons</a:t>
            </a:r>
            <a:endParaRPr lang="en-HK" dirty="0"/>
          </a:p>
        </p:txBody>
      </p:sp>
      <p:sp>
        <p:nvSpPr>
          <p:cNvPr id="3" name="Content Placeholder 2">
            <a:extLst>
              <a:ext uri="{FF2B5EF4-FFF2-40B4-BE49-F238E27FC236}">
                <a16:creationId xmlns:a16="http://schemas.microsoft.com/office/drawing/2014/main" id="{3371B8FA-727D-40D9-AA26-51818AB4537B}"/>
              </a:ext>
            </a:extLst>
          </p:cNvPr>
          <p:cNvSpPr>
            <a:spLocks noGrp="1"/>
          </p:cNvSpPr>
          <p:nvPr>
            <p:ph idx="1"/>
          </p:nvPr>
        </p:nvSpPr>
        <p:spPr>
          <a:xfrm>
            <a:off x="628650" y="1295400"/>
            <a:ext cx="7886700" cy="4881563"/>
          </a:xfrm>
        </p:spPr>
        <p:txBody>
          <a:bodyPr>
            <a:normAutofit/>
          </a:bodyPr>
          <a:lstStyle/>
          <a:p>
            <a:pPr marL="0" indent="0">
              <a:buNone/>
            </a:pPr>
            <a:r>
              <a:rPr lang="en-HK" sz="2400" dirty="0"/>
              <a:t>+ Clear performance metrics (accuracy, precision, etc.)</a:t>
            </a:r>
          </a:p>
          <a:p>
            <a:pPr marL="0" indent="0">
              <a:buNone/>
            </a:pPr>
            <a:r>
              <a:rPr lang="en-HK" sz="2400" dirty="0"/>
              <a:t>+ Highly effective when good </a:t>
            </a:r>
            <a:r>
              <a:rPr lang="en-HK" sz="2400" dirty="0" err="1"/>
              <a:t>labeled</a:t>
            </a:r>
            <a:r>
              <a:rPr lang="en-HK" sz="2400" dirty="0"/>
              <a:t> data exist </a:t>
            </a:r>
          </a:p>
          <a:p>
            <a:pPr marL="0" indent="0">
              <a:buNone/>
            </a:pPr>
            <a:r>
              <a:rPr lang="en-HK" sz="2400" dirty="0"/>
              <a:t>+ Relatively easier to explain and document than some other methods</a:t>
            </a:r>
          </a:p>
          <a:p>
            <a:pPr marL="0" indent="0">
              <a:buNone/>
            </a:pPr>
            <a:endParaRPr lang="en-HK" sz="2400" dirty="0"/>
          </a:p>
          <a:p>
            <a:pPr>
              <a:buFontTx/>
              <a:buChar char="-"/>
            </a:pPr>
            <a:r>
              <a:rPr lang="en-HK" sz="2400" dirty="0"/>
              <a:t>Requires substantial </a:t>
            </a:r>
            <a:r>
              <a:rPr lang="en-HK" sz="2400" dirty="0" err="1"/>
              <a:t>labeled</a:t>
            </a:r>
            <a:r>
              <a:rPr lang="en-HK" sz="2400" dirty="0"/>
              <a:t> historical data </a:t>
            </a:r>
          </a:p>
          <a:p>
            <a:pPr>
              <a:buFontTx/>
              <a:buChar char="-"/>
            </a:pPr>
            <a:r>
              <a:rPr lang="en-HK" sz="2400" dirty="0" err="1"/>
              <a:t>Labeling</a:t>
            </a:r>
            <a:r>
              <a:rPr lang="en-HK" sz="2400" dirty="0"/>
              <a:t> can be costly and time-consuming </a:t>
            </a:r>
          </a:p>
          <a:p>
            <a:pPr>
              <a:buFontTx/>
              <a:buChar char="-"/>
            </a:pPr>
            <a:r>
              <a:rPr lang="en-HK" sz="2400" dirty="0"/>
              <a:t>Performance degrades if the future differs significantly from the training data </a:t>
            </a:r>
          </a:p>
          <a:p>
            <a:pPr>
              <a:buFontTx/>
              <a:buChar char="-"/>
            </a:pPr>
            <a:r>
              <a:rPr lang="en-HK" sz="2400" dirty="0"/>
              <a:t>Less useful for discovering completely new or unexpected patterns</a:t>
            </a:r>
          </a:p>
        </p:txBody>
      </p:sp>
      <p:sp>
        <p:nvSpPr>
          <p:cNvPr id="4" name="Slide Number Placeholder 3">
            <a:extLst>
              <a:ext uri="{FF2B5EF4-FFF2-40B4-BE49-F238E27FC236}">
                <a16:creationId xmlns:a16="http://schemas.microsoft.com/office/drawing/2014/main" id="{19227851-899F-44F6-B544-DEA881868466}"/>
              </a:ext>
            </a:extLst>
          </p:cNvPr>
          <p:cNvSpPr>
            <a:spLocks noGrp="1"/>
          </p:cNvSpPr>
          <p:nvPr>
            <p:ph type="sldNum" sz="quarter" idx="12"/>
          </p:nvPr>
        </p:nvSpPr>
        <p:spPr/>
        <p:txBody>
          <a:bodyPr/>
          <a:lstStyle/>
          <a:p>
            <a:pPr>
              <a:defRPr/>
            </a:pPr>
            <a:fld id="{4D43F197-C583-4294-BD21-B6AE0DDD46C4}" type="slidenum">
              <a:rPr lang="en-US" smtClean="0"/>
              <a:pPr>
                <a:defRPr/>
              </a:pPr>
              <a:t>13</a:t>
            </a:fld>
            <a:endParaRPr lang="en-US" dirty="0"/>
          </a:p>
        </p:txBody>
      </p:sp>
    </p:spTree>
    <p:extLst>
      <p:ext uri="{BB962C8B-B14F-4D97-AF65-F5344CB8AC3E}">
        <p14:creationId xmlns:p14="http://schemas.microsoft.com/office/powerpoint/2010/main" val="1003816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C3BC0-9608-D649-5F55-99A33D8F9378}"/>
              </a:ext>
            </a:extLst>
          </p:cNvPr>
          <p:cNvSpPr>
            <a:spLocks noGrp="1"/>
          </p:cNvSpPr>
          <p:nvPr>
            <p:ph type="title"/>
          </p:nvPr>
        </p:nvSpPr>
        <p:spPr>
          <a:xfrm>
            <a:off x="628650" y="4187"/>
            <a:ext cx="7886700" cy="1325563"/>
          </a:xfrm>
        </p:spPr>
        <p:txBody>
          <a:bodyPr/>
          <a:lstStyle/>
          <a:p>
            <a:r>
              <a:rPr lang="en-US" altLang="zh-CN" dirty="0"/>
              <a:t>Unsupervised learning</a:t>
            </a:r>
            <a:endParaRPr lang="zh-CN" altLang="en-US" dirty="0"/>
          </a:p>
        </p:txBody>
      </p:sp>
      <p:pic>
        <p:nvPicPr>
          <p:cNvPr id="3074" name="Picture 2" descr="unsupervised learning real life example cheap online">
            <a:extLst>
              <a:ext uri="{FF2B5EF4-FFF2-40B4-BE49-F238E27FC236}">
                <a16:creationId xmlns:a16="http://schemas.microsoft.com/office/drawing/2014/main" id="{1BF60DED-CECC-3ACA-52D0-128F21E2BA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1082760"/>
            <a:ext cx="6324600" cy="230157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E0B0BC9-8EB5-41F6-B586-282FC18EEF2C}"/>
              </a:ext>
            </a:extLst>
          </p:cNvPr>
          <p:cNvSpPr/>
          <p:nvPr/>
        </p:nvSpPr>
        <p:spPr>
          <a:xfrm>
            <a:off x="590550" y="3910368"/>
            <a:ext cx="7924800" cy="1815882"/>
          </a:xfrm>
          <a:prstGeom prst="rect">
            <a:avLst/>
          </a:prstGeom>
        </p:spPr>
        <p:txBody>
          <a:bodyPr wrap="square">
            <a:spAutoFit/>
          </a:bodyPr>
          <a:lstStyle/>
          <a:p>
            <a:r>
              <a:rPr lang="en-HK" sz="2800" dirty="0"/>
              <a:t>Unsupervised learning works with </a:t>
            </a:r>
            <a:r>
              <a:rPr lang="en-HK" sz="2800" dirty="0" err="1"/>
              <a:t>unlabeled</a:t>
            </a:r>
            <a:r>
              <a:rPr lang="en-HK" sz="2800" dirty="0"/>
              <a:t> data. The algorithm is not told what the “correct” answer is. Instead, it searches for hidden patterns, groupings, or structures within the data itself.</a:t>
            </a:r>
          </a:p>
        </p:txBody>
      </p:sp>
    </p:spTree>
    <p:extLst>
      <p:ext uri="{BB962C8B-B14F-4D97-AF65-F5344CB8AC3E}">
        <p14:creationId xmlns:p14="http://schemas.microsoft.com/office/powerpoint/2010/main" val="4268873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91EBC-9238-49E9-94FF-82005B1CD29C}"/>
              </a:ext>
            </a:extLst>
          </p:cNvPr>
          <p:cNvSpPr>
            <a:spLocks noGrp="1"/>
          </p:cNvSpPr>
          <p:nvPr>
            <p:ph type="title"/>
          </p:nvPr>
        </p:nvSpPr>
        <p:spPr/>
        <p:txBody>
          <a:bodyPr/>
          <a:lstStyle/>
          <a:p>
            <a:r>
              <a:rPr lang="en-US" altLang="zh-CN" dirty="0"/>
              <a:t>Unsupervised learning – Key characteristics</a:t>
            </a:r>
            <a:endParaRPr lang="en-HK" dirty="0"/>
          </a:p>
        </p:txBody>
      </p:sp>
      <p:sp>
        <p:nvSpPr>
          <p:cNvPr id="3" name="Content Placeholder 2">
            <a:extLst>
              <a:ext uri="{FF2B5EF4-FFF2-40B4-BE49-F238E27FC236}">
                <a16:creationId xmlns:a16="http://schemas.microsoft.com/office/drawing/2014/main" id="{41A866B7-0D1E-4B9C-B2F2-F40CA65D6295}"/>
              </a:ext>
            </a:extLst>
          </p:cNvPr>
          <p:cNvSpPr>
            <a:spLocks noGrp="1"/>
          </p:cNvSpPr>
          <p:nvPr>
            <p:ph idx="1"/>
          </p:nvPr>
        </p:nvSpPr>
        <p:spPr>
          <a:xfrm>
            <a:off x="628650" y="1600200"/>
            <a:ext cx="7886700" cy="4576763"/>
          </a:xfrm>
        </p:spPr>
        <p:txBody>
          <a:bodyPr/>
          <a:lstStyle/>
          <a:p>
            <a:r>
              <a:rPr lang="en-HK" sz="2800" dirty="0"/>
              <a:t>Useful when labels are unavailable, expensive, or when the goal is exploration rather than prediction.</a:t>
            </a:r>
          </a:p>
          <a:p>
            <a:endParaRPr lang="en-HK" sz="2800" dirty="0"/>
          </a:p>
          <a:p>
            <a:r>
              <a:rPr lang="en-HK" sz="2800" dirty="0"/>
              <a:t>Results often require human interpretation — the algorithm finds groups, but humans assign meaning.</a:t>
            </a:r>
          </a:p>
          <a:p>
            <a:endParaRPr lang="en-HK" sz="2800" dirty="0"/>
          </a:p>
          <a:p>
            <a:r>
              <a:rPr lang="en-HK" sz="2800" dirty="0"/>
              <a:t>Particularly valuable for discovering unexpected patterns that analysts did not anticipate.</a:t>
            </a:r>
          </a:p>
          <a:p>
            <a:endParaRPr lang="en-HK" dirty="0"/>
          </a:p>
        </p:txBody>
      </p:sp>
      <p:sp>
        <p:nvSpPr>
          <p:cNvPr id="4" name="Slide Number Placeholder 3">
            <a:extLst>
              <a:ext uri="{FF2B5EF4-FFF2-40B4-BE49-F238E27FC236}">
                <a16:creationId xmlns:a16="http://schemas.microsoft.com/office/drawing/2014/main" id="{F6AB3455-162E-4102-9BA2-F1828158B827}"/>
              </a:ext>
            </a:extLst>
          </p:cNvPr>
          <p:cNvSpPr>
            <a:spLocks noGrp="1"/>
          </p:cNvSpPr>
          <p:nvPr>
            <p:ph type="sldNum" sz="quarter" idx="12"/>
          </p:nvPr>
        </p:nvSpPr>
        <p:spPr/>
        <p:txBody>
          <a:bodyPr/>
          <a:lstStyle/>
          <a:p>
            <a:pPr>
              <a:defRPr/>
            </a:pPr>
            <a:fld id="{4D43F197-C583-4294-BD21-B6AE0DDD46C4}" type="slidenum">
              <a:rPr lang="en-US" smtClean="0"/>
              <a:pPr>
                <a:defRPr/>
              </a:pPr>
              <a:t>15</a:t>
            </a:fld>
            <a:endParaRPr lang="en-US" dirty="0"/>
          </a:p>
        </p:txBody>
      </p:sp>
    </p:spTree>
    <p:extLst>
      <p:ext uri="{BB962C8B-B14F-4D97-AF65-F5344CB8AC3E}">
        <p14:creationId xmlns:p14="http://schemas.microsoft.com/office/powerpoint/2010/main" val="312207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4903-BA0C-476F-ACB4-17ED3ECC9BCA}"/>
              </a:ext>
            </a:extLst>
          </p:cNvPr>
          <p:cNvSpPr>
            <a:spLocks noGrp="1"/>
          </p:cNvSpPr>
          <p:nvPr>
            <p:ph type="title"/>
          </p:nvPr>
        </p:nvSpPr>
        <p:spPr>
          <a:xfrm>
            <a:off x="628650" y="304800"/>
            <a:ext cx="7886700" cy="473074"/>
          </a:xfrm>
        </p:spPr>
        <p:txBody>
          <a:bodyPr>
            <a:normAutofit fontScale="90000"/>
          </a:bodyPr>
          <a:lstStyle/>
          <a:p>
            <a:r>
              <a:rPr lang="en-US" altLang="zh-CN" dirty="0"/>
              <a:t>Unsupervised learning – Example</a:t>
            </a:r>
            <a:endParaRPr lang="en-HK" dirty="0"/>
          </a:p>
        </p:txBody>
      </p:sp>
      <p:sp>
        <p:nvSpPr>
          <p:cNvPr id="3" name="Content Placeholder 2">
            <a:extLst>
              <a:ext uri="{FF2B5EF4-FFF2-40B4-BE49-F238E27FC236}">
                <a16:creationId xmlns:a16="http://schemas.microsoft.com/office/drawing/2014/main" id="{E6854EFF-8961-4098-8082-9451A534B4D8}"/>
              </a:ext>
            </a:extLst>
          </p:cNvPr>
          <p:cNvSpPr>
            <a:spLocks noGrp="1"/>
          </p:cNvSpPr>
          <p:nvPr>
            <p:ph idx="1"/>
          </p:nvPr>
        </p:nvSpPr>
        <p:spPr>
          <a:xfrm>
            <a:off x="628650" y="914400"/>
            <a:ext cx="8134350" cy="5441951"/>
          </a:xfrm>
        </p:spPr>
        <p:txBody>
          <a:bodyPr>
            <a:normAutofit/>
          </a:bodyPr>
          <a:lstStyle/>
          <a:p>
            <a:pPr marL="0" indent="0">
              <a:buNone/>
            </a:pPr>
            <a:r>
              <a:rPr lang="en-HK" sz="2400" b="1" dirty="0"/>
              <a:t>The problem</a:t>
            </a:r>
            <a:endParaRPr lang="en-HK" sz="2400" dirty="0"/>
          </a:p>
          <a:p>
            <a:r>
              <a:rPr lang="en-HK" sz="2400" dirty="0"/>
              <a:t>Large organizations generate millions of journal entries. Manual review of every entry is impossible. Traditional rule-based filters (e.g., “amounts over $10,000”) miss sophisticated or smaller but unusual items.</a:t>
            </a:r>
          </a:p>
          <a:p>
            <a:endParaRPr lang="en-HK" sz="2400" b="1" dirty="0"/>
          </a:p>
          <a:p>
            <a:r>
              <a:rPr lang="en-HK" sz="2400" b="1" dirty="0"/>
              <a:t>How unsupervised learning helps</a:t>
            </a:r>
            <a:endParaRPr lang="en-HK" sz="2400" dirty="0"/>
          </a:p>
          <a:p>
            <a:r>
              <a:rPr lang="en-HK" sz="2400" dirty="0"/>
              <a:t>The model learns what “normal” looks like across dimensions such as amount, account combinations, timing, user, and description.</a:t>
            </a:r>
          </a:p>
          <a:p>
            <a:r>
              <a:rPr lang="en-HK" sz="2400" dirty="0"/>
              <a:t>It then flags entries that are statistical outliers or that form unusual clusters.</a:t>
            </a:r>
          </a:p>
          <a:p>
            <a:r>
              <a:rPr lang="en-HK" sz="2400" dirty="0"/>
              <a:t>No prior </a:t>
            </a:r>
            <a:r>
              <a:rPr lang="en-HK" sz="2400" dirty="0" err="1"/>
              <a:t>labeling</a:t>
            </a:r>
            <a:r>
              <a:rPr lang="en-HK" sz="2400" dirty="0"/>
              <a:t> of fraudulent entries is required — the system discovers deviations on its own.</a:t>
            </a:r>
          </a:p>
          <a:p>
            <a:endParaRPr lang="en-HK" dirty="0"/>
          </a:p>
        </p:txBody>
      </p:sp>
      <p:sp>
        <p:nvSpPr>
          <p:cNvPr id="4" name="Slide Number Placeholder 3">
            <a:extLst>
              <a:ext uri="{FF2B5EF4-FFF2-40B4-BE49-F238E27FC236}">
                <a16:creationId xmlns:a16="http://schemas.microsoft.com/office/drawing/2014/main" id="{4988F373-5437-4A6C-BB2F-3073433F37D0}"/>
              </a:ext>
            </a:extLst>
          </p:cNvPr>
          <p:cNvSpPr>
            <a:spLocks noGrp="1"/>
          </p:cNvSpPr>
          <p:nvPr>
            <p:ph type="sldNum" sz="quarter" idx="12"/>
          </p:nvPr>
        </p:nvSpPr>
        <p:spPr/>
        <p:txBody>
          <a:bodyPr/>
          <a:lstStyle/>
          <a:p>
            <a:pPr>
              <a:defRPr/>
            </a:pPr>
            <a:fld id="{4D43F197-C583-4294-BD21-B6AE0DDD46C4}" type="slidenum">
              <a:rPr lang="en-US" smtClean="0"/>
              <a:pPr>
                <a:defRPr/>
              </a:pPr>
              <a:t>16</a:t>
            </a:fld>
            <a:endParaRPr lang="en-US" dirty="0"/>
          </a:p>
        </p:txBody>
      </p:sp>
    </p:spTree>
    <p:extLst>
      <p:ext uri="{BB962C8B-B14F-4D97-AF65-F5344CB8AC3E}">
        <p14:creationId xmlns:p14="http://schemas.microsoft.com/office/powerpoint/2010/main" val="3523557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066F-6AAA-49F8-B6B3-4E833D623F9E}"/>
              </a:ext>
            </a:extLst>
          </p:cNvPr>
          <p:cNvSpPr>
            <a:spLocks noGrp="1"/>
          </p:cNvSpPr>
          <p:nvPr>
            <p:ph type="title"/>
          </p:nvPr>
        </p:nvSpPr>
        <p:spPr/>
        <p:txBody>
          <a:bodyPr/>
          <a:lstStyle/>
          <a:p>
            <a:r>
              <a:rPr lang="en-US" altLang="zh-CN" dirty="0"/>
              <a:t>Unsupervised learning – Pros and Cons</a:t>
            </a:r>
            <a:endParaRPr lang="en-HK" dirty="0"/>
          </a:p>
        </p:txBody>
      </p:sp>
      <p:sp>
        <p:nvSpPr>
          <p:cNvPr id="3" name="Content Placeholder 2">
            <a:extLst>
              <a:ext uri="{FF2B5EF4-FFF2-40B4-BE49-F238E27FC236}">
                <a16:creationId xmlns:a16="http://schemas.microsoft.com/office/drawing/2014/main" id="{BD706560-D481-4E1B-B62D-617145D4990E}"/>
              </a:ext>
            </a:extLst>
          </p:cNvPr>
          <p:cNvSpPr>
            <a:spLocks noGrp="1"/>
          </p:cNvSpPr>
          <p:nvPr>
            <p:ph idx="1"/>
          </p:nvPr>
        </p:nvSpPr>
        <p:spPr>
          <a:xfrm>
            <a:off x="628650" y="1690689"/>
            <a:ext cx="7886700" cy="4486274"/>
          </a:xfrm>
        </p:spPr>
        <p:txBody>
          <a:bodyPr>
            <a:normAutofit/>
          </a:bodyPr>
          <a:lstStyle/>
          <a:p>
            <a:pPr marL="0" indent="0">
              <a:buNone/>
            </a:pPr>
            <a:r>
              <a:rPr lang="en-HK" sz="2400" dirty="0"/>
              <a:t>+ No need for </a:t>
            </a:r>
            <a:r>
              <a:rPr lang="en-HK" sz="2400" dirty="0" err="1"/>
              <a:t>labeled</a:t>
            </a:r>
            <a:r>
              <a:rPr lang="en-HK" sz="2400" dirty="0"/>
              <a:t> data </a:t>
            </a:r>
          </a:p>
          <a:p>
            <a:pPr marL="0" indent="0">
              <a:buNone/>
            </a:pPr>
            <a:r>
              <a:rPr lang="en-HK" sz="2400" dirty="0"/>
              <a:t>+ Excellent for discovering hidden patterns and anomalies  </a:t>
            </a:r>
          </a:p>
          <a:p>
            <a:pPr marL="0" indent="0">
              <a:buNone/>
            </a:pPr>
            <a:r>
              <a:rPr lang="en-HK" sz="2400" dirty="0"/>
              <a:t>+ Useful for fraud/error detection and exploratory analysis </a:t>
            </a:r>
          </a:p>
          <a:p>
            <a:pPr marL="0" indent="0">
              <a:buNone/>
            </a:pPr>
            <a:r>
              <a:rPr lang="en-HK" sz="2400" dirty="0"/>
              <a:t>+ Can identify novel issues that have never been </a:t>
            </a:r>
            <a:r>
              <a:rPr lang="en-HK" sz="2400" dirty="0" err="1"/>
              <a:t>labeled</a:t>
            </a:r>
            <a:r>
              <a:rPr lang="en-HK" sz="2400" dirty="0"/>
              <a:t> before</a:t>
            </a:r>
          </a:p>
          <a:p>
            <a:pPr marL="0" indent="0">
              <a:buNone/>
            </a:pPr>
            <a:endParaRPr lang="en-HK" sz="2400" dirty="0"/>
          </a:p>
          <a:p>
            <a:pPr>
              <a:buFontTx/>
              <a:buChar char="-"/>
            </a:pPr>
            <a:r>
              <a:rPr lang="en-HK" sz="2400" dirty="0"/>
              <a:t>Results are harder to evaluate objectively </a:t>
            </a:r>
          </a:p>
          <a:p>
            <a:pPr>
              <a:buFontTx/>
              <a:buChar char="-"/>
            </a:pPr>
            <a:r>
              <a:rPr lang="en-HK" sz="2400" dirty="0"/>
              <a:t>Clusters or anomalies require human interpretation </a:t>
            </a:r>
          </a:p>
          <a:p>
            <a:pPr>
              <a:buFontTx/>
              <a:buChar char="-"/>
            </a:pPr>
            <a:r>
              <a:rPr lang="en-HK" sz="2400" dirty="0"/>
              <a:t>Less precise for tasks that need specific, predefined categories</a:t>
            </a:r>
          </a:p>
        </p:txBody>
      </p:sp>
      <p:sp>
        <p:nvSpPr>
          <p:cNvPr id="4" name="Slide Number Placeholder 3">
            <a:extLst>
              <a:ext uri="{FF2B5EF4-FFF2-40B4-BE49-F238E27FC236}">
                <a16:creationId xmlns:a16="http://schemas.microsoft.com/office/drawing/2014/main" id="{C6F31887-AE8C-480D-8B02-08F5B07F51A7}"/>
              </a:ext>
            </a:extLst>
          </p:cNvPr>
          <p:cNvSpPr>
            <a:spLocks noGrp="1"/>
          </p:cNvSpPr>
          <p:nvPr>
            <p:ph type="sldNum" sz="quarter" idx="12"/>
          </p:nvPr>
        </p:nvSpPr>
        <p:spPr/>
        <p:txBody>
          <a:bodyPr/>
          <a:lstStyle/>
          <a:p>
            <a:pPr>
              <a:defRPr/>
            </a:pPr>
            <a:fld id="{4D43F197-C583-4294-BD21-B6AE0DDD46C4}" type="slidenum">
              <a:rPr lang="en-US" smtClean="0"/>
              <a:pPr>
                <a:defRPr/>
              </a:pPr>
              <a:t>17</a:t>
            </a:fld>
            <a:endParaRPr lang="en-US" dirty="0"/>
          </a:p>
        </p:txBody>
      </p:sp>
    </p:spTree>
    <p:extLst>
      <p:ext uri="{BB962C8B-B14F-4D97-AF65-F5344CB8AC3E}">
        <p14:creationId xmlns:p14="http://schemas.microsoft.com/office/powerpoint/2010/main" val="2558990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06024-3B3C-742D-F70C-B2CCD89AEDB0}"/>
              </a:ext>
            </a:extLst>
          </p:cNvPr>
          <p:cNvSpPr>
            <a:spLocks noGrp="1"/>
          </p:cNvSpPr>
          <p:nvPr>
            <p:ph type="title"/>
          </p:nvPr>
        </p:nvSpPr>
        <p:spPr>
          <a:xfrm>
            <a:off x="628650" y="-314971"/>
            <a:ext cx="7886700" cy="1325563"/>
          </a:xfrm>
        </p:spPr>
        <p:txBody>
          <a:bodyPr/>
          <a:lstStyle/>
          <a:p>
            <a:r>
              <a:rPr lang="en-US" altLang="zh-CN" dirty="0"/>
              <a:t>Semi-supervised learning</a:t>
            </a:r>
            <a:endParaRPr lang="zh-CN" altLang="en-US" dirty="0"/>
          </a:p>
        </p:txBody>
      </p:sp>
      <p:pic>
        <p:nvPicPr>
          <p:cNvPr id="4098" name="Picture 2" descr="Supervised, Semi-Supervised, Unsupervised, and Self-Supervised Learning |  by Ta-Ying Cheng | Towards Data Science">
            <a:extLst>
              <a:ext uri="{FF2B5EF4-FFF2-40B4-BE49-F238E27FC236}">
                <a16:creationId xmlns:a16="http://schemas.microsoft.com/office/drawing/2014/main" id="{FF0F785C-6C29-C232-821E-85DDB9B1A64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6879" y="1010592"/>
            <a:ext cx="7886700" cy="381985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DE7F67F-9791-4BFD-A623-361B603BD13B}"/>
              </a:ext>
            </a:extLst>
          </p:cNvPr>
          <p:cNvSpPr/>
          <p:nvPr/>
        </p:nvSpPr>
        <p:spPr>
          <a:xfrm>
            <a:off x="566058" y="4953000"/>
            <a:ext cx="7663542" cy="1569660"/>
          </a:xfrm>
          <a:prstGeom prst="rect">
            <a:avLst/>
          </a:prstGeom>
        </p:spPr>
        <p:txBody>
          <a:bodyPr wrap="square">
            <a:spAutoFit/>
          </a:bodyPr>
          <a:lstStyle/>
          <a:p>
            <a:pPr>
              <a:spcAft>
                <a:spcPts val="600"/>
              </a:spcAft>
            </a:pPr>
            <a:r>
              <a:rPr lang="en-HK" sz="2400" dirty="0">
                <a:latin typeface="Arial" panose="020B0604020202020204" pitchFamily="34" charset="0"/>
                <a:ea typeface="Arial" panose="020B0604020202020204" pitchFamily="34" charset="0"/>
              </a:rPr>
              <a:t>Semi-supervised learning sits between supervised and unsupervised approaches. It uses a small amount of </a:t>
            </a:r>
            <a:r>
              <a:rPr lang="en-HK" sz="2400" dirty="0" err="1">
                <a:latin typeface="Arial" panose="020B0604020202020204" pitchFamily="34" charset="0"/>
                <a:ea typeface="Arial" panose="020B0604020202020204" pitchFamily="34" charset="0"/>
              </a:rPr>
              <a:t>labeled</a:t>
            </a:r>
            <a:r>
              <a:rPr lang="en-HK" sz="2400" dirty="0">
                <a:latin typeface="Arial" panose="020B0604020202020204" pitchFamily="34" charset="0"/>
                <a:ea typeface="Arial" panose="020B0604020202020204" pitchFamily="34" charset="0"/>
              </a:rPr>
              <a:t> data together with a large amount of </a:t>
            </a:r>
            <a:r>
              <a:rPr lang="en-HK" sz="2400" dirty="0" err="1">
                <a:latin typeface="Arial" panose="020B0604020202020204" pitchFamily="34" charset="0"/>
                <a:ea typeface="Arial" panose="020B0604020202020204" pitchFamily="34" charset="0"/>
              </a:rPr>
              <a:t>unlabeled</a:t>
            </a:r>
            <a:r>
              <a:rPr lang="en-HK" sz="2400" dirty="0">
                <a:latin typeface="Arial" panose="020B0604020202020204" pitchFamily="34" charset="0"/>
                <a:ea typeface="Arial" panose="020B0604020202020204" pitchFamily="34" charset="0"/>
              </a:rPr>
              <a:t> data.</a:t>
            </a:r>
          </a:p>
        </p:txBody>
      </p:sp>
    </p:spTree>
    <p:extLst>
      <p:ext uri="{BB962C8B-B14F-4D97-AF65-F5344CB8AC3E}">
        <p14:creationId xmlns:p14="http://schemas.microsoft.com/office/powerpoint/2010/main" val="2449866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F7AAD-FB91-456D-9867-48B3CC10E754}"/>
              </a:ext>
            </a:extLst>
          </p:cNvPr>
          <p:cNvSpPr>
            <a:spLocks noGrp="1"/>
          </p:cNvSpPr>
          <p:nvPr>
            <p:ph type="title"/>
          </p:nvPr>
        </p:nvSpPr>
        <p:spPr>
          <a:xfrm>
            <a:off x="628650" y="365126"/>
            <a:ext cx="8210550" cy="1325563"/>
          </a:xfrm>
        </p:spPr>
        <p:txBody>
          <a:bodyPr/>
          <a:lstStyle/>
          <a:p>
            <a:r>
              <a:rPr lang="en-US" altLang="zh-CN" dirty="0"/>
              <a:t>Semi-supervised learning – Key characteristics</a:t>
            </a:r>
            <a:endParaRPr lang="en-HK" dirty="0"/>
          </a:p>
        </p:txBody>
      </p:sp>
      <p:sp>
        <p:nvSpPr>
          <p:cNvPr id="3" name="Content Placeholder 2">
            <a:extLst>
              <a:ext uri="{FF2B5EF4-FFF2-40B4-BE49-F238E27FC236}">
                <a16:creationId xmlns:a16="http://schemas.microsoft.com/office/drawing/2014/main" id="{FEF63CF0-EF3A-4CFE-8C83-F6DD4AE46D62}"/>
              </a:ext>
            </a:extLst>
          </p:cNvPr>
          <p:cNvSpPr>
            <a:spLocks noGrp="1"/>
          </p:cNvSpPr>
          <p:nvPr>
            <p:ph idx="1"/>
          </p:nvPr>
        </p:nvSpPr>
        <p:spPr/>
        <p:txBody>
          <a:bodyPr/>
          <a:lstStyle/>
          <a:p>
            <a:r>
              <a:rPr lang="en-HK" sz="2800" dirty="0"/>
              <a:t>Practical when </a:t>
            </a:r>
            <a:r>
              <a:rPr lang="en-HK" sz="2800" dirty="0" err="1"/>
              <a:t>labeling</a:t>
            </a:r>
            <a:r>
              <a:rPr lang="en-HK" sz="2800" dirty="0"/>
              <a:t> data is expensive or time-consuming (common in real-world accounting settings).</a:t>
            </a:r>
          </a:p>
          <a:p>
            <a:endParaRPr lang="en-HK" sz="2800" dirty="0"/>
          </a:p>
          <a:p>
            <a:r>
              <a:rPr lang="en-HK" sz="2800" dirty="0"/>
              <a:t>Can significantly reduce the amount of manual </a:t>
            </a:r>
            <a:r>
              <a:rPr lang="en-HK" sz="2800" dirty="0" err="1"/>
              <a:t>labeling</a:t>
            </a:r>
            <a:r>
              <a:rPr lang="en-HK" sz="2800" dirty="0"/>
              <a:t> required to achieve acceptable accuracy.</a:t>
            </a:r>
          </a:p>
          <a:p>
            <a:endParaRPr lang="en-HK" sz="2800" dirty="0"/>
          </a:p>
          <a:p>
            <a:r>
              <a:rPr lang="en-HK" sz="2800" dirty="0"/>
              <a:t>Widely used in document classification, image recognition, and text categorization tasks.</a:t>
            </a:r>
          </a:p>
          <a:p>
            <a:endParaRPr lang="en-HK" dirty="0"/>
          </a:p>
        </p:txBody>
      </p:sp>
      <p:sp>
        <p:nvSpPr>
          <p:cNvPr id="4" name="Slide Number Placeholder 3">
            <a:extLst>
              <a:ext uri="{FF2B5EF4-FFF2-40B4-BE49-F238E27FC236}">
                <a16:creationId xmlns:a16="http://schemas.microsoft.com/office/drawing/2014/main" id="{A513EF62-89C3-42F2-AE5B-02855897E68F}"/>
              </a:ext>
            </a:extLst>
          </p:cNvPr>
          <p:cNvSpPr>
            <a:spLocks noGrp="1"/>
          </p:cNvSpPr>
          <p:nvPr>
            <p:ph type="sldNum" sz="quarter" idx="12"/>
          </p:nvPr>
        </p:nvSpPr>
        <p:spPr/>
        <p:txBody>
          <a:bodyPr/>
          <a:lstStyle/>
          <a:p>
            <a:pPr>
              <a:defRPr/>
            </a:pPr>
            <a:fld id="{4D43F197-C583-4294-BD21-B6AE0DDD46C4}" type="slidenum">
              <a:rPr lang="en-US" smtClean="0"/>
              <a:pPr>
                <a:defRPr/>
              </a:pPr>
              <a:t>19</a:t>
            </a:fld>
            <a:endParaRPr lang="en-US" dirty="0"/>
          </a:p>
        </p:txBody>
      </p:sp>
    </p:spTree>
    <p:extLst>
      <p:ext uri="{BB962C8B-B14F-4D97-AF65-F5344CB8AC3E}">
        <p14:creationId xmlns:p14="http://schemas.microsoft.com/office/powerpoint/2010/main" val="1936434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3A17-DB40-44EE-9B5F-9BD05C4D09EE}"/>
              </a:ext>
            </a:extLst>
          </p:cNvPr>
          <p:cNvSpPr>
            <a:spLocks noGrp="1"/>
          </p:cNvSpPr>
          <p:nvPr>
            <p:ph type="title"/>
          </p:nvPr>
        </p:nvSpPr>
        <p:spPr/>
        <p:txBody>
          <a:bodyPr/>
          <a:lstStyle/>
          <a:p>
            <a:r>
              <a:rPr lang="en-US" altLang="zh-CN" dirty="0"/>
              <a:t>Semi-supervised learning – Example</a:t>
            </a:r>
            <a:endParaRPr lang="en-HK" dirty="0"/>
          </a:p>
        </p:txBody>
      </p:sp>
      <p:sp>
        <p:nvSpPr>
          <p:cNvPr id="3" name="Content Placeholder 2">
            <a:extLst>
              <a:ext uri="{FF2B5EF4-FFF2-40B4-BE49-F238E27FC236}">
                <a16:creationId xmlns:a16="http://schemas.microsoft.com/office/drawing/2014/main" id="{68B898B4-388D-4BAA-A640-C60F4EC11135}"/>
              </a:ext>
            </a:extLst>
          </p:cNvPr>
          <p:cNvSpPr>
            <a:spLocks noGrp="1"/>
          </p:cNvSpPr>
          <p:nvPr>
            <p:ph idx="1"/>
          </p:nvPr>
        </p:nvSpPr>
        <p:spPr>
          <a:xfrm>
            <a:off x="628650" y="1447800"/>
            <a:ext cx="8210550" cy="4729163"/>
          </a:xfrm>
        </p:spPr>
        <p:txBody>
          <a:bodyPr>
            <a:normAutofit fontScale="92500" lnSpcReduction="20000"/>
          </a:bodyPr>
          <a:lstStyle/>
          <a:p>
            <a:pPr marL="0" indent="0">
              <a:buNone/>
            </a:pPr>
            <a:r>
              <a:rPr lang="en-HK" sz="2600" b="1" dirty="0"/>
              <a:t>The problem</a:t>
            </a:r>
            <a:endParaRPr lang="en-HK" sz="2600" dirty="0"/>
          </a:p>
          <a:p>
            <a:r>
              <a:rPr lang="en-HK" sz="2600" dirty="0"/>
              <a:t>A company may have thousands of contracts, but experts only have time to carefully review and label a few hundred. Fully manual classification is impractical; fully unsupervised methods may lack the precision needed for accounting judgments.</a:t>
            </a:r>
          </a:p>
          <a:p>
            <a:endParaRPr lang="en-HK" sz="2600" dirty="0"/>
          </a:p>
          <a:p>
            <a:pPr marL="0" indent="0">
              <a:buNone/>
            </a:pPr>
            <a:r>
              <a:rPr lang="en-HK" sz="2600" b="1" dirty="0"/>
              <a:t>How semi-supervised learning helps</a:t>
            </a:r>
            <a:endParaRPr lang="en-HK" sz="2600" dirty="0"/>
          </a:p>
          <a:p>
            <a:r>
              <a:rPr lang="en-HK" sz="2600" dirty="0"/>
              <a:t>Experts label a representative sample of contracts (the </a:t>
            </a:r>
            <a:r>
              <a:rPr lang="en-HK" sz="2600" dirty="0" err="1"/>
              <a:t>labeled</a:t>
            </a:r>
            <a:r>
              <a:rPr lang="en-HK" sz="2600" dirty="0"/>
              <a:t> set).</a:t>
            </a:r>
          </a:p>
          <a:p>
            <a:r>
              <a:rPr lang="en-HK" sz="2600" dirty="0"/>
              <a:t>The model uses these labels plus the remaining </a:t>
            </a:r>
            <a:r>
              <a:rPr lang="en-HK" sz="2600" dirty="0" err="1"/>
              <a:t>unlabeled</a:t>
            </a:r>
            <a:r>
              <a:rPr lang="en-HK" sz="2600" dirty="0"/>
              <a:t> contracts to learn better decision boundaries.</a:t>
            </a:r>
          </a:p>
          <a:p>
            <a:r>
              <a:rPr lang="en-HK" sz="2600" dirty="0"/>
              <a:t>Features may include extracted clauses, parties, payment terms, duration, and keywords.</a:t>
            </a:r>
          </a:p>
          <a:p>
            <a:r>
              <a:rPr lang="en-HK" sz="2600" dirty="0"/>
              <a:t>The resulting model can classify the remaining contracts with higher accuracy.</a:t>
            </a:r>
          </a:p>
          <a:p>
            <a:endParaRPr lang="en-HK" dirty="0"/>
          </a:p>
        </p:txBody>
      </p:sp>
      <p:sp>
        <p:nvSpPr>
          <p:cNvPr id="4" name="Slide Number Placeholder 3">
            <a:extLst>
              <a:ext uri="{FF2B5EF4-FFF2-40B4-BE49-F238E27FC236}">
                <a16:creationId xmlns:a16="http://schemas.microsoft.com/office/drawing/2014/main" id="{B8D30642-F34C-4A6E-8C6C-F96A72B1575A}"/>
              </a:ext>
            </a:extLst>
          </p:cNvPr>
          <p:cNvSpPr>
            <a:spLocks noGrp="1"/>
          </p:cNvSpPr>
          <p:nvPr>
            <p:ph type="sldNum" sz="quarter" idx="12"/>
          </p:nvPr>
        </p:nvSpPr>
        <p:spPr/>
        <p:txBody>
          <a:bodyPr/>
          <a:lstStyle/>
          <a:p>
            <a:pPr>
              <a:defRPr/>
            </a:pPr>
            <a:fld id="{4D43F197-C583-4294-BD21-B6AE0DDD46C4}" type="slidenum">
              <a:rPr lang="en-US" smtClean="0"/>
              <a:pPr>
                <a:defRPr/>
              </a:pPr>
              <a:t>20</a:t>
            </a:fld>
            <a:endParaRPr lang="en-US" dirty="0"/>
          </a:p>
        </p:txBody>
      </p:sp>
    </p:spTree>
    <p:extLst>
      <p:ext uri="{BB962C8B-B14F-4D97-AF65-F5344CB8AC3E}">
        <p14:creationId xmlns:p14="http://schemas.microsoft.com/office/powerpoint/2010/main" val="1271527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9DDB6-F8CB-4870-A68A-DE5D11A6DF4E}"/>
              </a:ext>
            </a:extLst>
          </p:cNvPr>
          <p:cNvSpPr>
            <a:spLocks noGrp="1"/>
          </p:cNvSpPr>
          <p:nvPr>
            <p:ph type="title"/>
          </p:nvPr>
        </p:nvSpPr>
        <p:spPr/>
        <p:txBody>
          <a:bodyPr/>
          <a:lstStyle/>
          <a:p>
            <a:r>
              <a:rPr lang="en-US" altLang="zh-CN" dirty="0"/>
              <a:t>Semi-supervised learning – Pros and Cons</a:t>
            </a:r>
            <a:endParaRPr lang="en-HK" dirty="0"/>
          </a:p>
        </p:txBody>
      </p:sp>
      <p:sp>
        <p:nvSpPr>
          <p:cNvPr id="3" name="Content Placeholder 2">
            <a:extLst>
              <a:ext uri="{FF2B5EF4-FFF2-40B4-BE49-F238E27FC236}">
                <a16:creationId xmlns:a16="http://schemas.microsoft.com/office/drawing/2014/main" id="{D95D4A01-EDA4-4527-B9CA-A9BC235256F4}"/>
              </a:ext>
            </a:extLst>
          </p:cNvPr>
          <p:cNvSpPr>
            <a:spLocks noGrp="1"/>
          </p:cNvSpPr>
          <p:nvPr>
            <p:ph idx="1"/>
          </p:nvPr>
        </p:nvSpPr>
        <p:spPr>
          <a:xfrm>
            <a:off x="628650" y="1524000"/>
            <a:ext cx="7886700" cy="4652963"/>
          </a:xfrm>
        </p:spPr>
        <p:txBody>
          <a:bodyPr>
            <a:normAutofit/>
          </a:bodyPr>
          <a:lstStyle/>
          <a:p>
            <a:pPr marL="0" indent="0">
              <a:buNone/>
            </a:pPr>
            <a:r>
              <a:rPr lang="en-HK" sz="2400" dirty="0"/>
              <a:t>+ Reduces the amount of </a:t>
            </a:r>
            <a:r>
              <a:rPr lang="en-HK" sz="2400" dirty="0" err="1"/>
              <a:t>labeling</a:t>
            </a:r>
            <a:r>
              <a:rPr lang="en-HK" sz="2400" dirty="0"/>
              <a:t> required </a:t>
            </a:r>
          </a:p>
          <a:p>
            <a:pPr marL="0" indent="0">
              <a:buNone/>
            </a:pPr>
            <a:r>
              <a:rPr lang="en-HK" sz="2400" dirty="0"/>
              <a:t>+ Often achieves better accuracy than using only a small </a:t>
            </a:r>
            <a:r>
              <a:rPr lang="en-HK" sz="2400" dirty="0" err="1"/>
              <a:t>labeled</a:t>
            </a:r>
            <a:r>
              <a:rPr lang="en-HK" sz="2400" dirty="0"/>
              <a:t> set </a:t>
            </a:r>
          </a:p>
          <a:p>
            <a:pPr marL="0" indent="0">
              <a:buNone/>
            </a:pPr>
            <a:r>
              <a:rPr lang="en-HK" sz="2400" dirty="0"/>
              <a:t>+ Practical compromise when expert review time is limited </a:t>
            </a:r>
          </a:p>
          <a:p>
            <a:pPr marL="0" indent="0">
              <a:buNone/>
            </a:pPr>
            <a:r>
              <a:rPr lang="en-HK" sz="2400" dirty="0"/>
              <a:t>+ Well suited to document and transaction classification tasks</a:t>
            </a:r>
          </a:p>
          <a:p>
            <a:endParaRPr lang="en-HK" sz="2400" dirty="0"/>
          </a:p>
          <a:p>
            <a:pPr>
              <a:buFontTx/>
              <a:buChar char="-"/>
            </a:pPr>
            <a:r>
              <a:rPr lang="en-HK" sz="2400" dirty="0"/>
              <a:t>Still requires some high-quality </a:t>
            </a:r>
            <a:r>
              <a:rPr lang="en-HK" sz="2400" dirty="0" err="1"/>
              <a:t>labeled</a:t>
            </a:r>
            <a:r>
              <a:rPr lang="en-HK" sz="2400" dirty="0"/>
              <a:t> data </a:t>
            </a:r>
          </a:p>
          <a:p>
            <a:pPr>
              <a:buFontTx/>
              <a:buChar char="-"/>
            </a:pPr>
            <a:r>
              <a:rPr lang="en-HK" sz="2400" dirty="0"/>
              <a:t>Performance depends on how representative the </a:t>
            </a:r>
            <a:r>
              <a:rPr lang="en-HK" sz="2400" dirty="0" err="1"/>
              <a:t>labeled</a:t>
            </a:r>
            <a:r>
              <a:rPr lang="en-HK" sz="2400" dirty="0"/>
              <a:t> sample is </a:t>
            </a:r>
          </a:p>
          <a:p>
            <a:pPr>
              <a:buFontTx/>
              <a:buChar char="-"/>
            </a:pPr>
            <a:r>
              <a:rPr lang="en-HK" sz="2400" dirty="0"/>
              <a:t>Risk that errors in the </a:t>
            </a:r>
            <a:r>
              <a:rPr lang="en-HK" sz="2400" dirty="0" err="1"/>
              <a:t>unlabeled</a:t>
            </a:r>
            <a:r>
              <a:rPr lang="en-HK" sz="2400" dirty="0"/>
              <a:t> data affect the model</a:t>
            </a:r>
          </a:p>
        </p:txBody>
      </p:sp>
      <p:sp>
        <p:nvSpPr>
          <p:cNvPr id="4" name="Slide Number Placeholder 3">
            <a:extLst>
              <a:ext uri="{FF2B5EF4-FFF2-40B4-BE49-F238E27FC236}">
                <a16:creationId xmlns:a16="http://schemas.microsoft.com/office/drawing/2014/main" id="{FA7E4AC4-81A2-431D-9C72-498ECE46F345}"/>
              </a:ext>
            </a:extLst>
          </p:cNvPr>
          <p:cNvSpPr>
            <a:spLocks noGrp="1"/>
          </p:cNvSpPr>
          <p:nvPr>
            <p:ph type="sldNum" sz="quarter" idx="12"/>
          </p:nvPr>
        </p:nvSpPr>
        <p:spPr/>
        <p:txBody>
          <a:bodyPr/>
          <a:lstStyle/>
          <a:p>
            <a:pPr>
              <a:defRPr/>
            </a:pPr>
            <a:fld id="{4D43F197-C583-4294-BD21-B6AE0DDD46C4}" type="slidenum">
              <a:rPr lang="en-US" smtClean="0"/>
              <a:pPr>
                <a:defRPr/>
              </a:pPr>
              <a:t>21</a:t>
            </a:fld>
            <a:endParaRPr lang="en-US" dirty="0"/>
          </a:p>
        </p:txBody>
      </p:sp>
    </p:spTree>
    <p:extLst>
      <p:ext uri="{BB962C8B-B14F-4D97-AF65-F5344CB8AC3E}">
        <p14:creationId xmlns:p14="http://schemas.microsoft.com/office/powerpoint/2010/main" val="3926574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E9D8-DD1D-5FAF-B146-ED6CA1150719}"/>
              </a:ext>
            </a:extLst>
          </p:cNvPr>
          <p:cNvSpPr>
            <a:spLocks noGrp="1"/>
          </p:cNvSpPr>
          <p:nvPr>
            <p:ph type="title"/>
          </p:nvPr>
        </p:nvSpPr>
        <p:spPr>
          <a:xfrm>
            <a:off x="628650" y="0"/>
            <a:ext cx="7886700" cy="1325563"/>
          </a:xfrm>
        </p:spPr>
        <p:txBody>
          <a:bodyPr/>
          <a:lstStyle/>
          <a:p>
            <a:r>
              <a:rPr lang="en-US" altLang="zh-CN" dirty="0"/>
              <a:t>Reinforcement learning</a:t>
            </a:r>
            <a:endParaRPr lang="zh-CN" altLang="en-US" dirty="0"/>
          </a:p>
        </p:txBody>
      </p:sp>
      <p:pic>
        <p:nvPicPr>
          <p:cNvPr id="1026" name="Picture 2" descr="Three Things to Know About Reinforcement Learning - KDnuggets">
            <a:extLst>
              <a:ext uri="{FF2B5EF4-FFF2-40B4-BE49-F238E27FC236}">
                <a16:creationId xmlns:a16="http://schemas.microsoft.com/office/drawing/2014/main" id="{89F88F5A-AD05-8551-0EE7-FBC48256B17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064004"/>
            <a:ext cx="5867400" cy="236499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2221DDB-A468-4248-977B-CA40D3A4307A}"/>
              </a:ext>
            </a:extLst>
          </p:cNvPr>
          <p:cNvSpPr/>
          <p:nvPr/>
        </p:nvSpPr>
        <p:spPr>
          <a:xfrm>
            <a:off x="228600" y="3822347"/>
            <a:ext cx="8286750" cy="1938992"/>
          </a:xfrm>
          <a:prstGeom prst="rect">
            <a:avLst/>
          </a:prstGeom>
        </p:spPr>
        <p:txBody>
          <a:bodyPr wrap="square">
            <a:spAutoFit/>
          </a:bodyPr>
          <a:lstStyle/>
          <a:p>
            <a:pPr lvl="1" fontAlgn="base"/>
            <a:r>
              <a:rPr lang="en-HK" sz="2400" dirty="0"/>
              <a:t>Reinforcement learning (RL) is a type of machine learning in which an agent learns to make decisions by interacting with an environment. The agent receives rewards or penalties based on its actions and learns a policy that maximizes cumulative reward over time.</a:t>
            </a:r>
          </a:p>
        </p:txBody>
      </p:sp>
    </p:spTree>
    <p:extLst>
      <p:ext uri="{BB962C8B-B14F-4D97-AF65-F5344CB8AC3E}">
        <p14:creationId xmlns:p14="http://schemas.microsoft.com/office/powerpoint/2010/main" val="3904431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5489B-033F-4C36-BD7E-DF6A0F23F954}"/>
              </a:ext>
            </a:extLst>
          </p:cNvPr>
          <p:cNvSpPr>
            <a:spLocks noGrp="1"/>
          </p:cNvSpPr>
          <p:nvPr>
            <p:ph type="title"/>
          </p:nvPr>
        </p:nvSpPr>
        <p:spPr/>
        <p:txBody>
          <a:bodyPr/>
          <a:lstStyle/>
          <a:p>
            <a:r>
              <a:rPr lang="en-US" altLang="zh-CN" dirty="0"/>
              <a:t>Reinforcement learning – Key characteristics</a:t>
            </a:r>
            <a:endParaRPr lang="en-HK" dirty="0"/>
          </a:p>
        </p:txBody>
      </p:sp>
      <p:sp>
        <p:nvSpPr>
          <p:cNvPr id="3" name="Content Placeholder 2">
            <a:extLst>
              <a:ext uri="{FF2B5EF4-FFF2-40B4-BE49-F238E27FC236}">
                <a16:creationId xmlns:a16="http://schemas.microsoft.com/office/drawing/2014/main" id="{5D0D5D25-ED0B-417D-A0DE-C689842CC140}"/>
              </a:ext>
            </a:extLst>
          </p:cNvPr>
          <p:cNvSpPr>
            <a:spLocks noGrp="1"/>
          </p:cNvSpPr>
          <p:nvPr>
            <p:ph idx="1"/>
          </p:nvPr>
        </p:nvSpPr>
        <p:spPr/>
        <p:txBody>
          <a:bodyPr/>
          <a:lstStyle/>
          <a:p>
            <a:r>
              <a:rPr lang="en-HK" sz="2800" dirty="0"/>
              <a:t>Learning occurs through trial and error rather than from </a:t>
            </a:r>
            <a:r>
              <a:rPr lang="en-HK" sz="2800" dirty="0" err="1"/>
              <a:t>labeled</a:t>
            </a:r>
            <a:r>
              <a:rPr lang="en-HK" sz="2800" dirty="0"/>
              <a:t> examples.</a:t>
            </a:r>
          </a:p>
          <a:p>
            <a:endParaRPr lang="en-HK" sz="2800" dirty="0"/>
          </a:p>
          <a:p>
            <a:r>
              <a:rPr lang="en-HK" sz="2800" dirty="0"/>
              <a:t>Well suited to sequential decision-making problems.</a:t>
            </a:r>
          </a:p>
          <a:p>
            <a:endParaRPr lang="en-HK" sz="2800" dirty="0"/>
          </a:p>
          <a:p>
            <a:r>
              <a:rPr lang="en-HK" sz="2800" dirty="0"/>
              <a:t>Less commonly used in traditional accounting workflows today, but emerging in optimization and adaptive systems.</a:t>
            </a:r>
          </a:p>
          <a:p>
            <a:endParaRPr lang="en-HK" dirty="0"/>
          </a:p>
        </p:txBody>
      </p:sp>
      <p:sp>
        <p:nvSpPr>
          <p:cNvPr id="4" name="Slide Number Placeholder 3">
            <a:extLst>
              <a:ext uri="{FF2B5EF4-FFF2-40B4-BE49-F238E27FC236}">
                <a16:creationId xmlns:a16="http://schemas.microsoft.com/office/drawing/2014/main" id="{C84158CD-0E25-46FE-A350-9F6EFEBCDC88}"/>
              </a:ext>
            </a:extLst>
          </p:cNvPr>
          <p:cNvSpPr>
            <a:spLocks noGrp="1"/>
          </p:cNvSpPr>
          <p:nvPr>
            <p:ph type="sldNum" sz="quarter" idx="12"/>
          </p:nvPr>
        </p:nvSpPr>
        <p:spPr/>
        <p:txBody>
          <a:bodyPr/>
          <a:lstStyle/>
          <a:p>
            <a:pPr>
              <a:defRPr/>
            </a:pPr>
            <a:fld id="{4D43F197-C583-4294-BD21-B6AE0DDD46C4}" type="slidenum">
              <a:rPr lang="en-US" smtClean="0"/>
              <a:pPr>
                <a:defRPr/>
              </a:pPr>
              <a:t>23</a:t>
            </a:fld>
            <a:endParaRPr lang="en-US" dirty="0"/>
          </a:p>
        </p:txBody>
      </p:sp>
    </p:spTree>
    <p:extLst>
      <p:ext uri="{BB962C8B-B14F-4D97-AF65-F5344CB8AC3E}">
        <p14:creationId xmlns:p14="http://schemas.microsoft.com/office/powerpoint/2010/main" val="1757027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F6C8E-E9D3-4733-B114-2003D75FE30D}"/>
              </a:ext>
            </a:extLst>
          </p:cNvPr>
          <p:cNvSpPr>
            <a:spLocks noGrp="1"/>
          </p:cNvSpPr>
          <p:nvPr>
            <p:ph type="title"/>
          </p:nvPr>
        </p:nvSpPr>
        <p:spPr>
          <a:xfrm>
            <a:off x="606879" y="-41051"/>
            <a:ext cx="7886700" cy="1325563"/>
          </a:xfrm>
        </p:spPr>
        <p:txBody>
          <a:bodyPr/>
          <a:lstStyle/>
          <a:p>
            <a:r>
              <a:rPr lang="en-US" altLang="zh-CN" dirty="0"/>
              <a:t>Reinforcement learning – Example</a:t>
            </a:r>
            <a:endParaRPr lang="en-HK" dirty="0"/>
          </a:p>
        </p:txBody>
      </p:sp>
      <p:sp>
        <p:nvSpPr>
          <p:cNvPr id="3" name="Content Placeholder 2">
            <a:extLst>
              <a:ext uri="{FF2B5EF4-FFF2-40B4-BE49-F238E27FC236}">
                <a16:creationId xmlns:a16="http://schemas.microsoft.com/office/drawing/2014/main" id="{5EDE78EE-5DC4-4018-A300-13FBD48D1B13}"/>
              </a:ext>
            </a:extLst>
          </p:cNvPr>
          <p:cNvSpPr>
            <a:spLocks noGrp="1"/>
          </p:cNvSpPr>
          <p:nvPr>
            <p:ph idx="1"/>
          </p:nvPr>
        </p:nvSpPr>
        <p:spPr>
          <a:xfrm>
            <a:off x="628650" y="1143000"/>
            <a:ext cx="8210550" cy="5349874"/>
          </a:xfrm>
        </p:spPr>
        <p:txBody>
          <a:bodyPr>
            <a:normAutofit fontScale="92500"/>
          </a:bodyPr>
          <a:lstStyle/>
          <a:p>
            <a:pPr marL="0" indent="0">
              <a:buNone/>
            </a:pPr>
            <a:r>
              <a:rPr lang="en-HK" sz="2400" b="1" dirty="0"/>
              <a:t>The problem</a:t>
            </a:r>
            <a:endParaRPr lang="en-HK" sz="2400" dirty="0"/>
          </a:p>
          <a:p>
            <a:r>
              <a:rPr lang="en-HK" sz="2400" dirty="0"/>
              <a:t>Traditional audit sampling often uses fixed sample sizes or simple random selection. In complex populations, this can be inefficient: too much effort may be spent on low-risk areas while higher-risk items are under-sampled.</a:t>
            </a:r>
          </a:p>
          <a:p>
            <a:endParaRPr lang="en-HK" sz="2400" dirty="0"/>
          </a:p>
          <a:p>
            <a:pPr marL="0" indent="0">
              <a:buNone/>
            </a:pPr>
            <a:r>
              <a:rPr lang="en-HK" sz="2400" b="1" dirty="0"/>
              <a:t>How reinforcement learning concepts apply</a:t>
            </a:r>
            <a:endParaRPr lang="en-HK" sz="2400" dirty="0"/>
          </a:p>
          <a:p>
            <a:r>
              <a:rPr lang="en-HK" sz="2400" dirty="0"/>
              <a:t>The “agent” is the sampling strategy.</a:t>
            </a:r>
          </a:p>
          <a:p>
            <a:r>
              <a:rPr lang="en-HK" sz="2400" dirty="0"/>
              <a:t>The “environment” is the population of transactions or accounts.</a:t>
            </a:r>
          </a:p>
          <a:p>
            <a:r>
              <a:rPr lang="en-HK" sz="2400" dirty="0"/>
              <a:t>Actions include choosing which item to examine next.</a:t>
            </a:r>
          </a:p>
          <a:p>
            <a:r>
              <a:rPr lang="en-HK" sz="2400" dirty="0"/>
              <a:t>Rewards can be defined in terms of error detection rate, coverage of high-risk items, or efficiency (errors found per hour of work).</a:t>
            </a:r>
          </a:p>
          <a:p>
            <a:r>
              <a:rPr lang="en-HK" sz="2400" dirty="0"/>
              <a:t>Over successive audits or simulations, the strategy learns to allocate effort more effectively.</a:t>
            </a:r>
          </a:p>
          <a:p>
            <a:endParaRPr lang="en-HK" dirty="0"/>
          </a:p>
        </p:txBody>
      </p:sp>
      <p:sp>
        <p:nvSpPr>
          <p:cNvPr id="4" name="Slide Number Placeholder 3">
            <a:extLst>
              <a:ext uri="{FF2B5EF4-FFF2-40B4-BE49-F238E27FC236}">
                <a16:creationId xmlns:a16="http://schemas.microsoft.com/office/drawing/2014/main" id="{B9D70A5F-1A19-4CE4-B1E5-FD6C3829FE6A}"/>
              </a:ext>
            </a:extLst>
          </p:cNvPr>
          <p:cNvSpPr>
            <a:spLocks noGrp="1"/>
          </p:cNvSpPr>
          <p:nvPr>
            <p:ph type="sldNum" sz="quarter" idx="12"/>
          </p:nvPr>
        </p:nvSpPr>
        <p:spPr/>
        <p:txBody>
          <a:bodyPr/>
          <a:lstStyle/>
          <a:p>
            <a:pPr>
              <a:defRPr/>
            </a:pPr>
            <a:fld id="{4D43F197-C583-4294-BD21-B6AE0DDD46C4}" type="slidenum">
              <a:rPr lang="en-US" smtClean="0"/>
              <a:pPr>
                <a:defRPr/>
              </a:pPr>
              <a:t>24</a:t>
            </a:fld>
            <a:endParaRPr lang="en-US" dirty="0"/>
          </a:p>
        </p:txBody>
      </p:sp>
    </p:spTree>
    <p:extLst>
      <p:ext uri="{BB962C8B-B14F-4D97-AF65-F5344CB8AC3E}">
        <p14:creationId xmlns:p14="http://schemas.microsoft.com/office/powerpoint/2010/main" val="3525772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FF3EE-32D7-484C-BB2D-AC49A6D01874}"/>
              </a:ext>
            </a:extLst>
          </p:cNvPr>
          <p:cNvSpPr>
            <a:spLocks noGrp="1"/>
          </p:cNvSpPr>
          <p:nvPr>
            <p:ph type="title"/>
          </p:nvPr>
        </p:nvSpPr>
        <p:spPr/>
        <p:txBody>
          <a:bodyPr/>
          <a:lstStyle/>
          <a:p>
            <a:r>
              <a:rPr lang="en-US" altLang="zh-CN" dirty="0"/>
              <a:t>Reinforcement learning – Pros and Cons</a:t>
            </a:r>
            <a:endParaRPr lang="en-HK" dirty="0"/>
          </a:p>
        </p:txBody>
      </p:sp>
      <p:sp>
        <p:nvSpPr>
          <p:cNvPr id="3" name="Content Placeholder 2">
            <a:extLst>
              <a:ext uri="{FF2B5EF4-FFF2-40B4-BE49-F238E27FC236}">
                <a16:creationId xmlns:a16="http://schemas.microsoft.com/office/drawing/2014/main" id="{54AD4CCB-8EEA-4130-ABC7-716DB8DE6952}"/>
              </a:ext>
            </a:extLst>
          </p:cNvPr>
          <p:cNvSpPr>
            <a:spLocks noGrp="1"/>
          </p:cNvSpPr>
          <p:nvPr>
            <p:ph idx="1"/>
          </p:nvPr>
        </p:nvSpPr>
        <p:spPr>
          <a:xfrm>
            <a:off x="628650" y="1524000"/>
            <a:ext cx="7886700" cy="4652963"/>
          </a:xfrm>
        </p:spPr>
        <p:txBody>
          <a:bodyPr>
            <a:normAutofit/>
          </a:bodyPr>
          <a:lstStyle/>
          <a:p>
            <a:pPr marL="0" indent="0">
              <a:buNone/>
            </a:pPr>
            <a:r>
              <a:rPr lang="en-HK" sz="2400" dirty="0"/>
              <a:t>+ Well suited to sequential decision-making and optimization problems</a:t>
            </a:r>
          </a:p>
          <a:p>
            <a:pPr marL="0" indent="0">
              <a:buNone/>
            </a:pPr>
            <a:r>
              <a:rPr lang="en-HK" sz="2400" dirty="0"/>
              <a:t>+ Can improve strategies over time through feedback </a:t>
            </a:r>
          </a:p>
          <a:p>
            <a:pPr marL="0" indent="0">
              <a:buNone/>
            </a:pPr>
            <a:r>
              <a:rPr lang="en-HK" sz="2400" dirty="0"/>
              <a:t>+ Potential for adaptive processes (e.g., dynamic sampling, resource allocation) </a:t>
            </a:r>
          </a:p>
          <a:p>
            <a:pPr marL="0" indent="0">
              <a:buNone/>
            </a:pPr>
            <a:r>
              <a:rPr lang="en-HK" sz="2400" dirty="0"/>
              <a:t>+ Learns from interaction rather than static historical labels</a:t>
            </a:r>
          </a:p>
          <a:p>
            <a:endParaRPr lang="en-HK" sz="2400" dirty="0"/>
          </a:p>
          <a:p>
            <a:pPr>
              <a:buFontTx/>
              <a:buChar char="-"/>
            </a:pPr>
            <a:r>
              <a:rPr lang="en-HK" sz="2400" dirty="0"/>
              <a:t>Requires a well-defined reward signal and environment </a:t>
            </a:r>
          </a:p>
          <a:p>
            <a:pPr>
              <a:buFontTx/>
              <a:buChar char="-"/>
            </a:pPr>
            <a:r>
              <a:rPr lang="en-HK" sz="2400" dirty="0"/>
              <a:t>Can be data- and computation-intensive </a:t>
            </a:r>
          </a:p>
          <a:p>
            <a:pPr>
              <a:buFontTx/>
              <a:buChar char="-"/>
            </a:pPr>
            <a:r>
              <a:rPr lang="en-HK" sz="2400" dirty="0"/>
              <a:t>Harder to explain and audit </a:t>
            </a:r>
          </a:p>
        </p:txBody>
      </p:sp>
      <p:sp>
        <p:nvSpPr>
          <p:cNvPr id="4" name="Slide Number Placeholder 3">
            <a:extLst>
              <a:ext uri="{FF2B5EF4-FFF2-40B4-BE49-F238E27FC236}">
                <a16:creationId xmlns:a16="http://schemas.microsoft.com/office/drawing/2014/main" id="{4630EBC1-D5D4-482A-9249-B8D1D1236962}"/>
              </a:ext>
            </a:extLst>
          </p:cNvPr>
          <p:cNvSpPr>
            <a:spLocks noGrp="1"/>
          </p:cNvSpPr>
          <p:nvPr>
            <p:ph type="sldNum" sz="quarter" idx="12"/>
          </p:nvPr>
        </p:nvSpPr>
        <p:spPr/>
        <p:txBody>
          <a:bodyPr/>
          <a:lstStyle/>
          <a:p>
            <a:pPr>
              <a:defRPr/>
            </a:pPr>
            <a:fld id="{4D43F197-C583-4294-BD21-B6AE0DDD46C4}" type="slidenum">
              <a:rPr lang="en-US" smtClean="0"/>
              <a:pPr>
                <a:defRPr/>
              </a:pPr>
              <a:t>25</a:t>
            </a:fld>
            <a:endParaRPr lang="en-US" dirty="0"/>
          </a:p>
        </p:txBody>
      </p:sp>
    </p:spTree>
    <p:extLst>
      <p:ext uri="{BB962C8B-B14F-4D97-AF65-F5344CB8AC3E}">
        <p14:creationId xmlns:p14="http://schemas.microsoft.com/office/powerpoint/2010/main" val="3845951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Machine learning</a:t>
            </a:r>
          </a:p>
        </p:txBody>
      </p:sp>
      <p:sp>
        <p:nvSpPr>
          <p:cNvPr id="4" name="Slide Number Placeholder 3"/>
          <p:cNvSpPr>
            <a:spLocks noGrp="1"/>
          </p:cNvSpPr>
          <p:nvPr>
            <p:ph type="sldNum" sz="quarter" idx="10"/>
          </p:nvPr>
        </p:nvSpPr>
        <p:spPr/>
        <p:txBody>
          <a:bodyPr/>
          <a:lstStyle/>
          <a:p>
            <a:pPr>
              <a:defRPr/>
            </a:pPr>
            <a:fld id="{FE532613-411E-4DB5-8CDB-94995857F8DF}" type="slidenum">
              <a:rPr lang="en-US" smtClean="0"/>
              <a:pPr>
                <a:defRPr/>
              </a:pPr>
              <a:t>26</a:t>
            </a:fld>
            <a:endParaRPr lang="en-US"/>
          </a:p>
        </p:txBody>
      </p:sp>
      <p:sp>
        <p:nvSpPr>
          <p:cNvPr id="6" name="Content Placeholder 5">
            <a:extLst>
              <a:ext uri="{FF2B5EF4-FFF2-40B4-BE49-F238E27FC236}">
                <a16:creationId xmlns:a16="http://schemas.microsoft.com/office/drawing/2014/main" id="{98FC560D-09EA-45D7-AB3E-8FF65111A2B6}"/>
              </a:ext>
            </a:extLst>
          </p:cNvPr>
          <p:cNvSpPr>
            <a:spLocks noGrp="1"/>
          </p:cNvSpPr>
          <p:nvPr>
            <p:ph idx="1"/>
          </p:nvPr>
        </p:nvSpPr>
        <p:spPr>
          <a:xfrm>
            <a:off x="628650" y="1600200"/>
            <a:ext cx="7886700" cy="4576763"/>
          </a:xfrm>
        </p:spPr>
        <p:txBody>
          <a:bodyPr/>
          <a:lstStyle/>
          <a:p>
            <a:pPr fontAlgn="base"/>
            <a:r>
              <a:rPr lang="en-HK" sz="2400" dirty="0"/>
              <a:t>Recommendation systems (Facebook news feed, amazon product recommendation)</a:t>
            </a:r>
          </a:p>
          <a:p>
            <a:pPr fontAlgn="base"/>
            <a:r>
              <a:rPr lang="en-HK" sz="2400" dirty="0"/>
              <a:t>Natural language processing (Siri, google voice)</a:t>
            </a:r>
          </a:p>
          <a:p>
            <a:pPr fontAlgn="base"/>
            <a:r>
              <a:rPr lang="en-HK" sz="2400" dirty="0"/>
              <a:t>Medical diagnosis (spotting patterns in images)</a:t>
            </a:r>
          </a:p>
          <a:p>
            <a:pPr fontAlgn="base"/>
            <a:r>
              <a:rPr lang="en-HK" sz="2400" dirty="0"/>
              <a:t>Object recognition and tracking (facial recognition, license plate reading, and tracking)</a:t>
            </a:r>
          </a:p>
          <a:p>
            <a:pPr fontAlgn="base"/>
            <a:r>
              <a:rPr lang="en-HK" sz="2400" dirty="0"/>
              <a:t>Mining 'Big Data' - Analytics (stock with this pattern tend to go up)</a:t>
            </a:r>
          </a:p>
          <a:p>
            <a:pPr fontAlgn="base"/>
            <a:r>
              <a:rPr lang="en-HK" sz="2400" dirty="0"/>
              <a:t>Classification and Clustering of data (fraud detection, sequence mining etc.)</a:t>
            </a:r>
          </a:p>
          <a:p>
            <a:endParaRPr lang="en-HK" dirty="0"/>
          </a:p>
        </p:txBody>
      </p:sp>
    </p:spTree>
    <p:extLst>
      <p:ext uri="{BB962C8B-B14F-4D97-AF65-F5344CB8AC3E}">
        <p14:creationId xmlns:p14="http://schemas.microsoft.com/office/powerpoint/2010/main" val="253414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A6865-F30A-431C-A938-568A315CBA75}"/>
              </a:ext>
            </a:extLst>
          </p:cNvPr>
          <p:cNvSpPr>
            <a:spLocks noGrp="1"/>
          </p:cNvSpPr>
          <p:nvPr>
            <p:ph type="title"/>
          </p:nvPr>
        </p:nvSpPr>
        <p:spPr/>
        <p:txBody>
          <a:bodyPr/>
          <a:lstStyle/>
          <a:p>
            <a:r>
              <a:rPr lang="en-HK" dirty="0"/>
              <a:t>Predictions using machine learning</a:t>
            </a:r>
          </a:p>
        </p:txBody>
      </p:sp>
      <p:sp>
        <p:nvSpPr>
          <p:cNvPr id="3" name="Content Placeholder 2">
            <a:extLst>
              <a:ext uri="{FF2B5EF4-FFF2-40B4-BE49-F238E27FC236}">
                <a16:creationId xmlns:a16="http://schemas.microsoft.com/office/drawing/2014/main" id="{AFFD1F8B-D893-4F65-8913-C4ED267385B0}"/>
              </a:ext>
            </a:extLst>
          </p:cNvPr>
          <p:cNvSpPr>
            <a:spLocks noGrp="1"/>
          </p:cNvSpPr>
          <p:nvPr>
            <p:ph idx="1"/>
          </p:nvPr>
        </p:nvSpPr>
        <p:spPr/>
        <p:txBody>
          <a:bodyPr/>
          <a:lstStyle/>
          <a:p>
            <a:r>
              <a:rPr lang="en-HK" dirty="0"/>
              <a:t>Linear regression is a fundamental concept in machine learning and serves as one of the simplest algorithms for predictive </a:t>
            </a:r>
            <a:r>
              <a:rPr lang="en-HK" dirty="0" err="1"/>
              <a:t>modeling</a:t>
            </a:r>
            <a:r>
              <a:rPr lang="en-HK" dirty="0"/>
              <a:t>. </a:t>
            </a:r>
          </a:p>
          <a:p>
            <a:endParaRPr lang="en-HK" dirty="0"/>
          </a:p>
          <a:p>
            <a:r>
              <a:rPr lang="en-HK" dirty="0"/>
              <a:t>Linear regression is a statistical method used to model the relationship between a dependent variable (target) and one or more independent variables (features) by fitting a linear equation to observed data.</a:t>
            </a:r>
          </a:p>
          <a:p>
            <a:endParaRPr lang="en-HK" dirty="0"/>
          </a:p>
          <a:p>
            <a:pPr fontAlgn="base"/>
            <a:r>
              <a:rPr lang="en-HK" dirty="0"/>
              <a:t>It is mathematically represented by the following equation: </a:t>
            </a:r>
            <a:r>
              <a:rPr lang="en-HK" b="1" dirty="0"/>
              <a:t>Y= </a:t>
            </a:r>
            <a:r>
              <a:rPr lang="en-HK" b="1" dirty="0" err="1"/>
              <a:t>a+b</a:t>
            </a:r>
            <a:r>
              <a:rPr lang="en-HK" b="1" dirty="0"/>
              <a:t>*X + e</a:t>
            </a:r>
            <a:endParaRPr lang="en-HK" dirty="0"/>
          </a:p>
          <a:p>
            <a:pPr fontAlgn="base"/>
            <a:r>
              <a:rPr lang="en-HK" dirty="0"/>
              <a:t>Where,</a:t>
            </a:r>
          </a:p>
          <a:p>
            <a:pPr fontAlgn="base"/>
            <a:r>
              <a:rPr lang="en-HK" dirty="0"/>
              <a:t>a = intercept,  b = slope,  e = error term</a:t>
            </a:r>
          </a:p>
          <a:p>
            <a:endParaRPr lang="en-HK" dirty="0"/>
          </a:p>
        </p:txBody>
      </p:sp>
      <p:sp>
        <p:nvSpPr>
          <p:cNvPr id="4" name="Slide Number Placeholder 3">
            <a:extLst>
              <a:ext uri="{FF2B5EF4-FFF2-40B4-BE49-F238E27FC236}">
                <a16:creationId xmlns:a16="http://schemas.microsoft.com/office/drawing/2014/main" id="{7C7FEB9D-2723-4799-930A-43E50C51B307}"/>
              </a:ext>
            </a:extLst>
          </p:cNvPr>
          <p:cNvSpPr>
            <a:spLocks noGrp="1"/>
          </p:cNvSpPr>
          <p:nvPr>
            <p:ph type="sldNum" sz="quarter" idx="12"/>
          </p:nvPr>
        </p:nvSpPr>
        <p:spPr/>
        <p:txBody>
          <a:bodyPr/>
          <a:lstStyle/>
          <a:p>
            <a:pPr>
              <a:defRPr/>
            </a:pPr>
            <a:fld id="{4D43F197-C583-4294-BD21-B6AE0DDD46C4}" type="slidenum">
              <a:rPr lang="en-US" smtClean="0"/>
              <a:pPr>
                <a:defRPr/>
              </a:pPr>
              <a:t>27</a:t>
            </a:fld>
            <a:endParaRPr lang="en-US" dirty="0"/>
          </a:p>
        </p:txBody>
      </p:sp>
    </p:spTree>
    <p:extLst>
      <p:ext uri="{BB962C8B-B14F-4D97-AF65-F5344CB8AC3E}">
        <p14:creationId xmlns:p14="http://schemas.microsoft.com/office/powerpoint/2010/main" val="3173821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6E681-B579-47C7-B297-24E85C664A0E}"/>
              </a:ext>
            </a:extLst>
          </p:cNvPr>
          <p:cNvSpPr>
            <a:spLocks noGrp="1"/>
          </p:cNvSpPr>
          <p:nvPr>
            <p:ph type="title"/>
          </p:nvPr>
        </p:nvSpPr>
        <p:spPr/>
        <p:txBody>
          <a:bodyPr/>
          <a:lstStyle/>
          <a:p>
            <a:r>
              <a:rPr lang="en-HK" dirty="0"/>
              <a:t>Linear regression</a:t>
            </a:r>
          </a:p>
        </p:txBody>
      </p:sp>
      <p:sp>
        <p:nvSpPr>
          <p:cNvPr id="4" name="Slide Number Placeholder 3">
            <a:extLst>
              <a:ext uri="{FF2B5EF4-FFF2-40B4-BE49-F238E27FC236}">
                <a16:creationId xmlns:a16="http://schemas.microsoft.com/office/drawing/2014/main" id="{58E63423-7673-4273-BA53-BBC8DABCDDE4}"/>
              </a:ext>
            </a:extLst>
          </p:cNvPr>
          <p:cNvSpPr>
            <a:spLocks noGrp="1"/>
          </p:cNvSpPr>
          <p:nvPr>
            <p:ph type="sldNum" sz="quarter" idx="12"/>
          </p:nvPr>
        </p:nvSpPr>
        <p:spPr/>
        <p:txBody>
          <a:bodyPr/>
          <a:lstStyle/>
          <a:p>
            <a:pPr>
              <a:defRPr/>
            </a:pPr>
            <a:fld id="{4D43F197-C583-4294-BD21-B6AE0DDD46C4}" type="slidenum">
              <a:rPr lang="en-US" smtClean="0"/>
              <a:pPr>
                <a:defRPr/>
              </a:pPr>
              <a:t>28</a:t>
            </a:fld>
            <a:endParaRPr lang="en-US" dirty="0"/>
          </a:p>
        </p:txBody>
      </p:sp>
      <p:pic>
        <p:nvPicPr>
          <p:cNvPr id="3074" name="Picture 2" descr="Example of linear regression">
            <a:extLst>
              <a:ext uri="{FF2B5EF4-FFF2-40B4-BE49-F238E27FC236}">
                <a16:creationId xmlns:a16="http://schemas.microsoft.com/office/drawing/2014/main" id="{EBC0C774-6244-4A2D-B10C-077DEC8E03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752600"/>
            <a:ext cx="7677149"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897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16CBF-23E5-4726-8DE6-4F34FE716C5F}"/>
              </a:ext>
            </a:extLst>
          </p:cNvPr>
          <p:cNvSpPr>
            <a:spLocks noGrp="1"/>
          </p:cNvSpPr>
          <p:nvPr>
            <p:ph type="title"/>
          </p:nvPr>
        </p:nvSpPr>
        <p:spPr/>
        <p:txBody>
          <a:bodyPr/>
          <a:lstStyle/>
          <a:p>
            <a:r>
              <a:rPr lang="en-HK" dirty="0"/>
              <a:t>The best-fit line</a:t>
            </a:r>
          </a:p>
        </p:txBody>
      </p:sp>
      <p:sp>
        <p:nvSpPr>
          <p:cNvPr id="3" name="Content Placeholder 2">
            <a:extLst>
              <a:ext uri="{FF2B5EF4-FFF2-40B4-BE49-F238E27FC236}">
                <a16:creationId xmlns:a16="http://schemas.microsoft.com/office/drawing/2014/main" id="{85E4088E-0AF8-47A3-9024-9FD0F19B67A0}"/>
              </a:ext>
            </a:extLst>
          </p:cNvPr>
          <p:cNvSpPr>
            <a:spLocks noGrp="1"/>
          </p:cNvSpPr>
          <p:nvPr>
            <p:ph idx="1"/>
          </p:nvPr>
        </p:nvSpPr>
        <p:spPr/>
        <p:txBody>
          <a:bodyPr/>
          <a:lstStyle/>
          <a:p>
            <a:r>
              <a:rPr lang="en-HK" dirty="0"/>
              <a:t>The most common method for fitting a regression line is the method of least squares. </a:t>
            </a:r>
          </a:p>
          <a:p>
            <a:endParaRPr lang="en-HK" dirty="0"/>
          </a:p>
          <a:p>
            <a:r>
              <a:rPr lang="en-HK" dirty="0"/>
              <a:t>It calculates the best-fit line for the observed data by minimizing the sum of the squares of the vertical deviations from each data point to the line. </a:t>
            </a:r>
          </a:p>
          <a:p>
            <a:endParaRPr lang="en-HK" dirty="0"/>
          </a:p>
        </p:txBody>
      </p:sp>
      <p:sp>
        <p:nvSpPr>
          <p:cNvPr id="4" name="Slide Number Placeholder 3">
            <a:extLst>
              <a:ext uri="{FF2B5EF4-FFF2-40B4-BE49-F238E27FC236}">
                <a16:creationId xmlns:a16="http://schemas.microsoft.com/office/drawing/2014/main" id="{EA098313-4616-4689-AB3C-D5FE1D15431F}"/>
              </a:ext>
            </a:extLst>
          </p:cNvPr>
          <p:cNvSpPr>
            <a:spLocks noGrp="1"/>
          </p:cNvSpPr>
          <p:nvPr>
            <p:ph type="sldNum" sz="quarter" idx="12"/>
          </p:nvPr>
        </p:nvSpPr>
        <p:spPr/>
        <p:txBody>
          <a:bodyPr/>
          <a:lstStyle/>
          <a:p>
            <a:pPr>
              <a:defRPr/>
            </a:pPr>
            <a:fld id="{4D43F197-C583-4294-BD21-B6AE0DDD46C4}" type="slidenum">
              <a:rPr lang="en-US" smtClean="0"/>
              <a:pPr>
                <a:defRPr/>
              </a:pPr>
              <a:t>29</a:t>
            </a:fld>
            <a:endParaRPr lang="en-US" dirty="0"/>
          </a:p>
        </p:txBody>
      </p:sp>
    </p:spTree>
    <p:extLst>
      <p:ext uri="{BB962C8B-B14F-4D97-AF65-F5344CB8AC3E}">
        <p14:creationId xmlns:p14="http://schemas.microsoft.com/office/powerpoint/2010/main" val="766090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6757-C59D-484E-89A9-47F4EF340E62}"/>
              </a:ext>
            </a:extLst>
          </p:cNvPr>
          <p:cNvSpPr>
            <a:spLocks noGrp="1"/>
          </p:cNvSpPr>
          <p:nvPr>
            <p:ph type="title"/>
          </p:nvPr>
        </p:nvSpPr>
        <p:spPr/>
        <p:txBody>
          <a:bodyPr/>
          <a:lstStyle/>
          <a:p>
            <a:r>
              <a:rPr lang="en-HK" dirty="0"/>
              <a:t>Least squared errors</a:t>
            </a:r>
          </a:p>
        </p:txBody>
      </p:sp>
      <p:sp>
        <p:nvSpPr>
          <p:cNvPr id="4" name="Slide Number Placeholder 3">
            <a:extLst>
              <a:ext uri="{FF2B5EF4-FFF2-40B4-BE49-F238E27FC236}">
                <a16:creationId xmlns:a16="http://schemas.microsoft.com/office/drawing/2014/main" id="{7F9E7520-72FF-4D4C-AD0F-267830D81229}"/>
              </a:ext>
            </a:extLst>
          </p:cNvPr>
          <p:cNvSpPr>
            <a:spLocks noGrp="1"/>
          </p:cNvSpPr>
          <p:nvPr>
            <p:ph type="sldNum" sz="quarter" idx="12"/>
          </p:nvPr>
        </p:nvSpPr>
        <p:spPr/>
        <p:txBody>
          <a:bodyPr/>
          <a:lstStyle/>
          <a:p>
            <a:pPr>
              <a:defRPr/>
            </a:pPr>
            <a:fld id="{4D43F197-C583-4294-BD21-B6AE0DDD46C4}" type="slidenum">
              <a:rPr lang="en-US" smtClean="0"/>
              <a:pPr>
                <a:defRPr/>
              </a:pPr>
              <a:t>30</a:t>
            </a:fld>
            <a:endParaRPr lang="en-US" dirty="0"/>
          </a:p>
        </p:txBody>
      </p:sp>
      <p:pic>
        <p:nvPicPr>
          <p:cNvPr id="9" name="Picture 5" descr="17f05">
            <a:extLst>
              <a:ext uri="{FF2B5EF4-FFF2-40B4-BE49-F238E27FC236}">
                <a16:creationId xmlns:a16="http://schemas.microsoft.com/office/drawing/2014/main" id="{723AE847-2122-4B91-8C62-EE869F6EC1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650" y="1690689"/>
            <a:ext cx="7886700" cy="4175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433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4698A-B678-4484-A9DB-447CD75C0F26}"/>
              </a:ext>
            </a:extLst>
          </p:cNvPr>
          <p:cNvSpPr>
            <a:spLocks noGrp="1"/>
          </p:cNvSpPr>
          <p:nvPr>
            <p:ph type="title"/>
          </p:nvPr>
        </p:nvSpPr>
        <p:spPr>
          <a:xfrm>
            <a:off x="359228" y="237793"/>
            <a:ext cx="8210550" cy="829007"/>
          </a:xfrm>
        </p:spPr>
        <p:txBody>
          <a:bodyPr>
            <a:normAutofit fontScale="90000"/>
          </a:bodyPr>
          <a:lstStyle/>
          <a:p>
            <a:r>
              <a:rPr lang="en-HK" b="1" dirty="0"/>
              <a:t>AI in Daily Life in general</a:t>
            </a:r>
            <a:br>
              <a:rPr lang="en-HK" b="1" dirty="0"/>
            </a:br>
            <a:endParaRPr lang="en-HK" dirty="0"/>
          </a:p>
        </p:txBody>
      </p:sp>
      <p:sp>
        <p:nvSpPr>
          <p:cNvPr id="3" name="Content Placeholder 2">
            <a:extLst>
              <a:ext uri="{FF2B5EF4-FFF2-40B4-BE49-F238E27FC236}">
                <a16:creationId xmlns:a16="http://schemas.microsoft.com/office/drawing/2014/main" id="{00272DBE-7137-4634-94E0-103137511850}"/>
              </a:ext>
            </a:extLst>
          </p:cNvPr>
          <p:cNvSpPr>
            <a:spLocks noGrp="1"/>
          </p:cNvSpPr>
          <p:nvPr>
            <p:ph idx="1"/>
          </p:nvPr>
        </p:nvSpPr>
        <p:spPr>
          <a:xfrm>
            <a:off x="359228" y="1066800"/>
            <a:ext cx="8210550" cy="5451913"/>
          </a:xfrm>
        </p:spPr>
        <p:txBody>
          <a:bodyPr>
            <a:normAutofit/>
          </a:bodyPr>
          <a:lstStyle/>
          <a:p>
            <a:pPr marL="0" indent="0">
              <a:buNone/>
            </a:pPr>
            <a:r>
              <a:rPr lang="en-HK" sz="2400" b="1" dirty="0"/>
              <a:t>Smart Home Ecosystems</a:t>
            </a:r>
          </a:p>
          <a:p>
            <a:r>
              <a:rPr lang="en-HK" sz="2400" dirty="0"/>
              <a:t>AI Thermostats (Nest): Optimize heating/cooling, saving 12–15% on energy bills.</a:t>
            </a:r>
          </a:p>
          <a:p>
            <a:r>
              <a:rPr lang="en-HK" sz="2400" dirty="0"/>
              <a:t>Security Systems (Ring): Facial recognition for real-time alerts on suspicious activity.</a:t>
            </a:r>
          </a:p>
          <a:p>
            <a:r>
              <a:rPr lang="en-HK" sz="2400" dirty="0"/>
              <a:t>Robotic Vacuums (iRobot Genius): Efficient cleaning with 99% mapping precision.</a:t>
            </a:r>
          </a:p>
          <a:p>
            <a:endParaRPr lang="en-HK" sz="2400" dirty="0"/>
          </a:p>
          <a:p>
            <a:pPr marL="0" indent="0">
              <a:buNone/>
            </a:pPr>
            <a:r>
              <a:rPr lang="en-HK" sz="2400" b="1" dirty="0"/>
              <a:t>Personal Health Management</a:t>
            </a:r>
          </a:p>
          <a:p>
            <a:r>
              <a:rPr lang="en-HK" sz="2400" dirty="0"/>
              <a:t>Wearables (Fitbit, Apple Watch): Monitor health metrics, detecting issues with 92% accuracy.</a:t>
            </a:r>
          </a:p>
          <a:p>
            <a:r>
              <a:rPr lang="en-HK" sz="2400" dirty="0"/>
              <a:t>AI Telemedicine (Babylon Health): Streamline symptom analysis and reduce ER wait times by 30%.</a:t>
            </a:r>
          </a:p>
          <a:p>
            <a:endParaRPr lang="en-HK" dirty="0"/>
          </a:p>
        </p:txBody>
      </p:sp>
      <p:sp>
        <p:nvSpPr>
          <p:cNvPr id="4" name="Slide Number Placeholder 3">
            <a:extLst>
              <a:ext uri="{FF2B5EF4-FFF2-40B4-BE49-F238E27FC236}">
                <a16:creationId xmlns:a16="http://schemas.microsoft.com/office/drawing/2014/main" id="{86AA7ED9-33E3-4049-9ED8-204107CA6ECB}"/>
              </a:ext>
            </a:extLst>
          </p:cNvPr>
          <p:cNvSpPr>
            <a:spLocks noGrp="1"/>
          </p:cNvSpPr>
          <p:nvPr>
            <p:ph type="sldNum" sz="quarter" idx="12"/>
          </p:nvPr>
        </p:nvSpPr>
        <p:spPr/>
        <p:txBody>
          <a:bodyPr/>
          <a:lstStyle/>
          <a:p>
            <a:pPr>
              <a:defRPr/>
            </a:pPr>
            <a:fld id="{4D43F197-C583-4294-BD21-B6AE0DDD46C4}" type="slidenum">
              <a:rPr lang="en-US" smtClean="0"/>
              <a:pPr>
                <a:defRPr/>
              </a:pPr>
              <a:t>31</a:t>
            </a:fld>
            <a:endParaRPr lang="en-US" dirty="0"/>
          </a:p>
        </p:txBody>
      </p:sp>
    </p:spTree>
    <p:extLst>
      <p:ext uri="{BB962C8B-B14F-4D97-AF65-F5344CB8AC3E}">
        <p14:creationId xmlns:p14="http://schemas.microsoft.com/office/powerpoint/2010/main" val="33762221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9DDF8-ECBF-4985-B8DE-E5051D11357B}"/>
              </a:ext>
            </a:extLst>
          </p:cNvPr>
          <p:cNvSpPr>
            <a:spLocks noGrp="1"/>
          </p:cNvSpPr>
          <p:nvPr>
            <p:ph type="title"/>
          </p:nvPr>
        </p:nvSpPr>
        <p:spPr>
          <a:xfrm>
            <a:off x="639536" y="62592"/>
            <a:ext cx="7886700" cy="1325563"/>
          </a:xfrm>
        </p:spPr>
        <p:txBody>
          <a:bodyPr/>
          <a:lstStyle/>
          <a:p>
            <a:r>
              <a:rPr lang="en-HK" b="1" dirty="0"/>
              <a:t>AI in Daily Life in general</a:t>
            </a:r>
            <a:endParaRPr lang="en-HK" dirty="0"/>
          </a:p>
        </p:txBody>
      </p:sp>
      <p:sp>
        <p:nvSpPr>
          <p:cNvPr id="3" name="Content Placeholder 2">
            <a:extLst>
              <a:ext uri="{FF2B5EF4-FFF2-40B4-BE49-F238E27FC236}">
                <a16:creationId xmlns:a16="http://schemas.microsoft.com/office/drawing/2014/main" id="{4A5D1EA7-ACAD-420C-B848-6A22078DA4B2}"/>
              </a:ext>
            </a:extLst>
          </p:cNvPr>
          <p:cNvSpPr>
            <a:spLocks noGrp="1"/>
          </p:cNvSpPr>
          <p:nvPr>
            <p:ph idx="1"/>
          </p:nvPr>
        </p:nvSpPr>
        <p:spPr>
          <a:xfrm>
            <a:off x="628650" y="1295400"/>
            <a:ext cx="7886700" cy="4881563"/>
          </a:xfrm>
        </p:spPr>
        <p:txBody>
          <a:bodyPr/>
          <a:lstStyle/>
          <a:p>
            <a:pPr marL="0" indent="0">
              <a:buNone/>
            </a:pPr>
            <a:r>
              <a:rPr lang="en-HK" sz="2400" b="1" dirty="0"/>
              <a:t>Entertainment &amp; Social Interaction</a:t>
            </a:r>
          </a:p>
          <a:p>
            <a:r>
              <a:rPr lang="en-HK" sz="2400" dirty="0"/>
              <a:t>Netflix: Saves 1 billion hours monthly by curating recommendations based on viewing history.</a:t>
            </a:r>
          </a:p>
          <a:p>
            <a:r>
              <a:rPr lang="en-HK" sz="2400" dirty="0" err="1"/>
              <a:t>TikTok</a:t>
            </a:r>
            <a:r>
              <a:rPr lang="en-HK" sz="2400" dirty="0"/>
              <a:t>: Increases user retention by 47% through personalized feeds based on engagement.</a:t>
            </a:r>
          </a:p>
          <a:p>
            <a:endParaRPr lang="en-HK" sz="2400" dirty="0"/>
          </a:p>
          <a:p>
            <a:pPr marL="0" indent="0">
              <a:buNone/>
            </a:pPr>
            <a:r>
              <a:rPr lang="en-HK" sz="2400" b="1" dirty="0"/>
              <a:t>Transportation &amp; Mobility</a:t>
            </a:r>
          </a:p>
          <a:p>
            <a:r>
              <a:rPr lang="en-HK" sz="2400" dirty="0"/>
              <a:t>Google Maps: Reduces average commute times by 18% by predicting traffic jams using anonymized location data.</a:t>
            </a:r>
          </a:p>
          <a:p>
            <a:r>
              <a:rPr lang="en-HK" sz="2400" dirty="0"/>
              <a:t>Tesla: Lowers accident rates by 40% with real-time object detection and collision avoidance.</a:t>
            </a:r>
          </a:p>
          <a:p>
            <a:endParaRPr lang="en-HK" dirty="0"/>
          </a:p>
        </p:txBody>
      </p:sp>
      <p:sp>
        <p:nvSpPr>
          <p:cNvPr id="4" name="Slide Number Placeholder 3">
            <a:extLst>
              <a:ext uri="{FF2B5EF4-FFF2-40B4-BE49-F238E27FC236}">
                <a16:creationId xmlns:a16="http://schemas.microsoft.com/office/drawing/2014/main" id="{CFC0FC93-7F23-4E1C-B055-7C8A30A0012C}"/>
              </a:ext>
            </a:extLst>
          </p:cNvPr>
          <p:cNvSpPr>
            <a:spLocks noGrp="1"/>
          </p:cNvSpPr>
          <p:nvPr>
            <p:ph type="sldNum" sz="quarter" idx="12"/>
          </p:nvPr>
        </p:nvSpPr>
        <p:spPr/>
        <p:txBody>
          <a:bodyPr/>
          <a:lstStyle/>
          <a:p>
            <a:pPr>
              <a:defRPr/>
            </a:pPr>
            <a:fld id="{4D43F197-C583-4294-BD21-B6AE0DDD46C4}" type="slidenum">
              <a:rPr lang="en-US" smtClean="0"/>
              <a:pPr>
                <a:defRPr/>
              </a:pPr>
              <a:t>32</a:t>
            </a:fld>
            <a:endParaRPr lang="en-US" dirty="0"/>
          </a:p>
        </p:txBody>
      </p:sp>
    </p:spTree>
    <p:extLst>
      <p:ext uri="{BB962C8B-B14F-4D97-AF65-F5344CB8AC3E}">
        <p14:creationId xmlns:p14="http://schemas.microsoft.com/office/powerpoint/2010/main" val="3444978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BB16F-64DF-4F17-84CF-6830752C2577}"/>
              </a:ext>
            </a:extLst>
          </p:cNvPr>
          <p:cNvSpPr>
            <a:spLocks noGrp="1"/>
          </p:cNvSpPr>
          <p:nvPr>
            <p:ph type="title"/>
          </p:nvPr>
        </p:nvSpPr>
        <p:spPr>
          <a:xfrm>
            <a:off x="752475" y="228600"/>
            <a:ext cx="7886700" cy="800894"/>
          </a:xfrm>
        </p:spPr>
        <p:txBody>
          <a:bodyPr/>
          <a:lstStyle/>
          <a:p>
            <a:r>
              <a:rPr lang="en-HK" b="1" dirty="0"/>
              <a:t>AI in Business in particular</a:t>
            </a:r>
            <a:endParaRPr lang="en-HK" dirty="0"/>
          </a:p>
        </p:txBody>
      </p:sp>
      <p:sp>
        <p:nvSpPr>
          <p:cNvPr id="3" name="Content Placeholder 2">
            <a:extLst>
              <a:ext uri="{FF2B5EF4-FFF2-40B4-BE49-F238E27FC236}">
                <a16:creationId xmlns:a16="http://schemas.microsoft.com/office/drawing/2014/main" id="{816139AA-904E-4689-BF87-77956D71C36C}"/>
              </a:ext>
            </a:extLst>
          </p:cNvPr>
          <p:cNvSpPr>
            <a:spLocks noGrp="1"/>
          </p:cNvSpPr>
          <p:nvPr>
            <p:ph idx="1"/>
          </p:nvPr>
        </p:nvSpPr>
        <p:spPr>
          <a:xfrm>
            <a:off x="628650" y="1029494"/>
            <a:ext cx="8286750" cy="5447506"/>
          </a:xfrm>
        </p:spPr>
        <p:txBody>
          <a:bodyPr>
            <a:noAutofit/>
          </a:bodyPr>
          <a:lstStyle/>
          <a:p>
            <a:pPr marL="0" indent="0">
              <a:buNone/>
            </a:pPr>
            <a:r>
              <a:rPr lang="en-HK" sz="2400" b="1" dirty="0"/>
              <a:t>Customer Service Revolution</a:t>
            </a:r>
          </a:p>
          <a:p>
            <a:r>
              <a:rPr lang="en-HK" sz="2400" dirty="0"/>
              <a:t>AI Chatbots (Zendesk, Intercom): Resolve 85% of routine queries, reducing response times from 10 minutes to 10 seconds and cutting </a:t>
            </a:r>
            <a:r>
              <a:rPr lang="en-HK" sz="2400" dirty="0" err="1"/>
              <a:t>labor</a:t>
            </a:r>
            <a:r>
              <a:rPr lang="en-HK" sz="2400" dirty="0"/>
              <a:t> costs by 30%.</a:t>
            </a:r>
          </a:p>
          <a:p>
            <a:r>
              <a:rPr lang="en-HK" sz="2400" dirty="0"/>
              <a:t>Sentiment Analysis: Detects customer dissatisfaction in emails/social media with 90% accuracy for proactive service recovery.</a:t>
            </a:r>
          </a:p>
          <a:p>
            <a:pPr fontAlgn="base"/>
            <a:endParaRPr lang="en-HK" sz="2400" dirty="0"/>
          </a:p>
          <a:p>
            <a:pPr marL="0" indent="0">
              <a:buNone/>
            </a:pPr>
            <a:r>
              <a:rPr lang="en-HK" sz="2400" b="1" dirty="0"/>
              <a:t>Finance &amp; Risk Management</a:t>
            </a:r>
          </a:p>
          <a:p>
            <a:r>
              <a:rPr lang="en-HK" sz="2400" dirty="0"/>
              <a:t>PayPal: Prevents $4B in fraud annually with real-time transaction pattern analysis.</a:t>
            </a:r>
          </a:p>
          <a:p>
            <a:r>
              <a:rPr lang="en-HK" sz="2400" dirty="0"/>
              <a:t>Algorithmic Trading (</a:t>
            </a:r>
            <a:r>
              <a:rPr lang="en-HK" sz="2400" dirty="0" err="1"/>
              <a:t>Kensho</a:t>
            </a:r>
            <a:r>
              <a:rPr lang="en-HK" sz="2400" dirty="0"/>
              <a:t>): Achieves 20% higher returns than human traders through microsecond trades based on market sentiment.</a:t>
            </a:r>
          </a:p>
          <a:p>
            <a:pPr fontAlgn="base"/>
            <a:endParaRPr lang="en-HK" sz="2000" dirty="0"/>
          </a:p>
        </p:txBody>
      </p:sp>
      <p:sp>
        <p:nvSpPr>
          <p:cNvPr id="4" name="Slide Number Placeholder 3">
            <a:extLst>
              <a:ext uri="{FF2B5EF4-FFF2-40B4-BE49-F238E27FC236}">
                <a16:creationId xmlns:a16="http://schemas.microsoft.com/office/drawing/2014/main" id="{48CDC61B-CF16-4866-AC5D-58D8EB4666EE}"/>
              </a:ext>
            </a:extLst>
          </p:cNvPr>
          <p:cNvSpPr>
            <a:spLocks noGrp="1"/>
          </p:cNvSpPr>
          <p:nvPr>
            <p:ph type="sldNum" sz="quarter" idx="12"/>
          </p:nvPr>
        </p:nvSpPr>
        <p:spPr/>
        <p:txBody>
          <a:bodyPr/>
          <a:lstStyle/>
          <a:p>
            <a:pPr>
              <a:defRPr/>
            </a:pPr>
            <a:fld id="{4D43F197-C583-4294-BD21-B6AE0DDD46C4}" type="slidenum">
              <a:rPr lang="en-US" smtClean="0"/>
              <a:pPr>
                <a:defRPr/>
              </a:pPr>
              <a:t>33</a:t>
            </a:fld>
            <a:endParaRPr lang="en-US" dirty="0"/>
          </a:p>
        </p:txBody>
      </p:sp>
    </p:spTree>
    <p:extLst>
      <p:ext uri="{BB962C8B-B14F-4D97-AF65-F5344CB8AC3E}">
        <p14:creationId xmlns:p14="http://schemas.microsoft.com/office/powerpoint/2010/main" val="3079390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AB18A-03CC-4F2B-9608-51D189DA61D8}"/>
              </a:ext>
            </a:extLst>
          </p:cNvPr>
          <p:cNvSpPr>
            <a:spLocks noGrp="1"/>
          </p:cNvSpPr>
          <p:nvPr>
            <p:ph type="title"/>
          </p:nvPr>
        </p:nvSpPr>
        <p:spPr>
          <a:xfrm>
            <a:off x="628650" y="-30163"/>
            <a:ext cx="7886700" cy="1325563"/>
          </a:xfrm>
        </p:spPr>
        <p:txBody>
          <a:bodyPr/>
          <a:lstStyle/>
          <a:p>
            <a:r>
              <a:rPr lang="en-HK" b="1" dirty="0"/>
              <a:t>AI in Business in particular</a:t>
            </a:r>
            <a:endParaRPr lang="en-HK" dirty="0"/>
          </a:p>
        </p:txBody>
      </p:sp>
      <p:sp>
        <p:nvSpPr>
          <p:cNvPr id="3" name="Content Placeholder 2">
            <a:extLst>
              <a:ext uri="{FF2B5EF4-FFF2-40B4-BE49-F238E27FC236}">
                <a16:creationId xmlns:a16="http://schemas.microsoft.com/office/drawing/2014/main" id="{C511D0CB-F583-407E-A860-328966878E45}"/>
              </a:ext>
            </a:extLst>
          </p:cNvPr>
          <p:cNvSpPr>
            <a:spLocks noGrp="1"/>
          </p:cNvSpPr>
          <p:nvPr>
            <p:ph idx="1"/>
          </p:nvPr>
        </p:nvSpPr>
        <p:spPr>
          <a:xfrm>
            <a:off x="628650" y="1295400"/>
            <a:ext cx="8134350" cy="4881563"/>
          </a:xfrm>
        </p:spPr>
        <p:txBody>
          <a:bodyPr>
            <a:normAutofit lnSpcReduction="10000"/>
          </a:bodyPr>
          <a:lstStyle/>
          <a:p>
            <a:pPr marL="0" indent="0">
              <a:buNone/>
            </a:pPr>
            <a:r>
              <a:rPr lang="en-HK" sz="2400" b="1" dirty="0"/>
              <a:t>Retail &amp; Supply Chain Optimization</a:t>
            </a:r>
          </a:p>
          <a:p>
            <a:r>
              <a:rPr lang="en-HK" sz="2400" dirty="0"/>
              <a:t>Amazon: Generates 35% of sales through hyper-personalized recommendations based on purchase history and browsing </a:t>
            </a:r>
            <a:r>
              <a:rPr lang="en-HK" sz="2400" dirty="0" err="1"/>
              <a:t>behavior</a:t>
            </a:r>
            <a:r>
              <a:rPr lang="en-HK" sz="2400" dirty="0"/>
              <a:t>.</a:t>
            </a:r>
          </a:p>
          <a:p>
            <a:r>
              <a:rPr lang="en-HK" sz="2400" dirty="0"/>
              <a:t>Walmart: Uses inventory AI to predict demand spikes with 98% accuracy, reducing stockouts and waste by 25%.</a:t>
            </a:r>
          </a:p>
          <a:p>
            <a:endParaRPr lang="en-HK" sz="2400" dirty="0"/>
          </a:p>
          <a:p>
            <a:pPr marL="0" indent="0">
              <a:buNone/>
            </a:pPr>
            <a:r>
              <a:rPr lang="en-HK" sz="2400" b="1" dirty="0"/>
              <a:t>Manufacturing Efficiency</a:t>
            </a:r>
          </a:p>
          <a:p>
            <a:r>
              <a:rPr lang="en-HK" sz="2400" dirty="0"/>
              <a:t>Siemens: Predictive maintenance sensors identify machinery issues 48 hours in advance, cutting downtime by 45% and saving $1.7M annually per factory.</a:t>
            </a:r>
          </a:p>
          <a:p>
            <a:r>
              <a:rPr lang="en-HK" sz="2400" dirty="0"/>
              <a:t>Computer Vision: Inspects products at 200 units/minute with 99.9% precision, outperforming human inspectors at 95%.</a:t>
            </a:r>
          </a:p>
          <a:p>
            <a:endParaRPr lang="en-HK" dirty="0"/>
          </a:p>
        </p:txBody>
      </p:sp>
      <p:sp>
        <p:nvSpPr>
          <p:cNvPr id="4" name="Slide Number Placeholder 3">
            <a:extLst>
              <a:ext uri="{FF2B5EF4-FFF2-40B4-BE49-F238E27FC236}">
                <a16:creationId xmlns:a16="http://schemas.microsoft.com/office/drawing/2014/main" id="{FFF81EEC-85B1-460C-A09D-165A9B1697A7}"/>
              </a:ext>
            </a:extLst>
          </p:cNvPr>
          <p:cNvSpPr>
            <a:spLocks noGrp="1"/>
          </p:cNvSpPr>
          <p:nvPr>
            <p:ph type="sldNum" sz="quarter" idx="12"/>
          </p:nvPr>
        </p:nvSpPr>
        <p:spPr/>
        <p:txBody>
          <a:bodyPr/>
          <a:lstStyle/>
          <a:p>
            <a:pPr>
              <a:defRPr/>
            </a:pPr>
            <a:fld id="{4D43F197-C583-4294-BD21-B6AE0DDD46C4}" type="slidenum">
              <a:rPr lang="en-US" smtClean="0"/>
              <a:pPr>
                <a:defRPr/>
              </a:pPr>
              <a:t>34</a:t>
            </a:fld>
            <a:endParaRPr lang="en-US" dirty="0"/>
          </a:p>
        </p:txBody>
      </p:sp>
    </p:spTree>
    <p:extLst>
      <p:ext uri="{BB962C8B-B14F-4D97-AF65-F5344CB8AC3E}">
        <p14:creationId xmlns:p14="http://schemas.microsoft.com/office/powerpoint/2010/main" val="2468528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70C15-4C02-4CA0-9E1A-B4E05BD29E83}"/>
              </a:ext>
            </a:extLst>
          </p:cNvPr>
          <p:cNvSpPr>
            <a:spLocks noGrp="1"/>
          </p:cNvSpPr>
          <p:nvPr>
            <p:ph type="title"/>
          </p:nvPr>
        </p:nvSpPr>
        <p:spPr>
          <a:xfrm>
            <a:off x="628650" y="0"/>
            <a:ext cx="7886700" cy="1325563"/>
          </a:xfrm>
        </p:spPr>
        <p:txBody>
          <a:bodyPr/>
          <a:lstStyle/>
          <a:p>
            <a:r>
              <a:rPr lang="en-HK" dirty="0"/>
              <a:t>The application of AI in accounting</a:t>
            </a:r>
          </a:p>
        </p:txBody>
      </p:sp>
      <p:sp>
        <p:nvSpPr>
          <p:cNvPr id="3" name="Content Placeholder 2">
            <a:extLst>
              <a:ext uri="{FF2B5EF4-FFF2-40B4-BE49-F238E27FC236}">
                <a16:creationId xmlns:a16="http://schemas.microsoft.com/office/drawing/2014/main" id="{09F69101-0C91-4478-96FC-1DF06258764D}"/>
              </a:ext>
            </a:extLst>
          </p:cNvPr>
          <p:cNvSpPr>
            <a:spLocks noGrp="1"/>
          </p:cNvSpPr>
          <p:nvPr>
            <p:ph idx="1"/>
          </p:nvPr>
        </p:nvSpPr>
        <p:spPr>
          <a:xfrm>
            <a:off x="628650" y="1219200"/>
            <a:ext cx="7886700" cy="4957763"/>
          </a:xfrm>
        </p:spPr>
        <p:txBody>
          <a:bodyPr>
            <a:normAutofit fontScale="55000" lnSpcReduction="20000"/>
          </a:bodyPr>
          <a:lstStyle/>
          <a:p>
            <a:r>
              <a:rPr lang="en-HK" sz="4400" dirty="0"/>
              <a:t>Automation of Routine Tasks – e.g., Data Entry and Bookkeeping</a:t>
            </a:r>
          </a:p>
          <a:p>
            <a:endParaRPr lang="en-HK" sz="4400" dirty="0"/>
          </a:p>
          <a:p>
            <a:r>
              <a:rPr lang="en-HK" sz="4400" dirty="0"/>
              <a:t>AI Detection – e.g., Anomaly Detection </a:t>
            </a:r>
          </a:p>
          <a:p>
            <a:endParaRPr lang="en-HK" sz="4400" dirty="0"/>
          </a:p>
          <a:p>
            <a:r>
              <a:rPr lang="en-HK" sz="4400" dirty="0"/>
              <a:t>Financial Forecasting and Planning – e.g., AI automates cash flow analysis by identifying patterns in large datasets, providing actionable insights for accurate predictions.</a:t>
            </a:r>
          </a:p>
          <a:p>
            <a:endParaRPr lang="en-HK" sz="4400" dirty="0"/>
          </a:p>
          <a:p>
            <a:r>
              <a:rPr lang="en-HK" sz="4400" dirty="0"/>
              <a:t>Risk Assessment and Compliance – e.g., AI automates compliance monitoring and reporting by </a:t>
            </a:r>
            <a:r>
              <a:rPr lang="en-HK" sz="4400" dirty="0" err="1"/>
              <a:t>analyzing</a:t>
            </a:r>
            <a:r>
              <a:rPr lang="en-HK" sz="4400" dirty="0"/>
              <a:t> large datasets to identify risks and ensure adherence to laws. </a:t>
            </a:r>
          </a:p>
          <a:p>
            <a:endParaRPr lang="en-HK" sz="4400" dirty="0"/>
          </a:p>
          <a:p>
            <a:r>
              <a:rPr lang="en-HK" sz="4400" dirty="0"/>
              <a:t>Data Analytics and Insights – e.g., Trend analysis uncovers patterns in historical data to improve financial performance. </a:t>
            </a:r>
          </a:p>
          <a:p>
            <a:endParaRPr lang="en-HK" b="1" dirty="0"/>
          </a:p>
          <a:p>
            <a:endParaRPr lang="en-HK" dirty="0"/>
          </a:p>
        </p:txBody>
      </p:sp>
      <p:sp>
        <p:nvSpPr>
          <p:cNvPr id="4" name="Slide Number Placeholder 3">
            <a:extLst>
              <a:ext uri="{FF2B5EF4-FFF2-40B4-BE49-F238E27FC236}">
                <a16:creationId xmlns:a16="http://schemas.microsoft.com/office/drawing/2014/main" id="{3B7C8EFD-80B3-4A50-BF89-37B0D36FEB27}"/>
              </a:ext>
            </a:extLst>
          </p:cNvPr>
          <p:cNvSpPr>
            <a:spLocks noGrp="1"/>
          </p:cNvSpPr>
          <p:nvPr>
            <p:ph type="sldNum" sz="quarter" idx="12"/>
          </p:nvPr>
        </p:nvSpPr>
        <p:spPr/>
        <p:txBody>
          <a:bodyPr/>
          <a:lstStyle/>
          <a:p>
            <a:pPr>
              <a:defRPr/>
            </a:pPr>
            <a:fld id="{4D43F197-C583-4294-BD21-B6AE0DDD46C4}" type="slidenum">
              <a:rPr lang="en-US" smtClean="0"/>
              <a:pPr>
                <a:defRPr/>
              </a:pPr>
              <a:t>35</a:t>
            </a:fld>
            <a:endParaRPr lang="en-US" dirty="0"/>
          </a:p>
        </p:txBody>
      </p:sp>
    </p:spTree>
    <p:extLst>
      <p:ext uri="{BB962C8B-B14F-4D97-AF65-F5344CB8AC3E}">
        <p14:creationId xmlns:p14="http://schemas.microsoft.com/office/powerpoint/2010/main" val="2029913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C7914-0B9E-4F27-82A9-DF23C0B98349}"/>
              </a:ext>
            </a:extLst>
          </p:cNvPr>
          <p:cNvSpPr>
            <a:spLocks noGrp="1"/>
          </p:cNvSpPr>
          <p:nvPr>
            <p:ph type="title"/>
          </p:nvPr>
        </p:nvSpPr>
        <p:spPr>
          <a:xfrm>
            <a:off x="628650" y="838200"/>
            <a:ext cx="7886700" cy="1325563"/>
          </a:xfrm>
        </p:spPr>
        <p:txBody>
          <a:bodyPr/>
          <a:lstStyle/>
          <a:p>
            <a:r>
              <a:rPr lang="en-HK" b="1" dirty="0"/>
              <a:t>Key Technologies in AI Accounting</a:t>
            </a:r>
            <a:br>
              <a:rPr lang="en-HK" b="1" dirty="0"/>
            </a:br>
            <a:endParaRPr lang="en-HK" dirty="0"/>
          </a:p>
        </p:txBody>
      </p:sp>
      <p:sp>
        <p:nvSpPr>
          <p:cNvPr id="3" name="Content Placeholder 2">
            <a:extLst>
              <a:ext uri="{FF2B5EF4-FFF2-40B4-BE49-F238E27FC236}">
                <a16:creationId xmlns:a16="http://schemas.microsoft.com/office/drawing/2014/main" id="{E27702DD-868A-43CF-B20D-BF98F3DE5192}"/>
              </a:ext>
            </a:extLst>
          </p:cNvPr>
          <p:cNvSpPr>
            <a:spLocks noGrp="1"/>
          </p:cNvSpPr>
          <p:nvPr>
            <p:ph idx="1"/>
          </p:nvPr>
        </p:nvSpPr>
        <p:spPr/>
        <p:txBody>
          <a:bodyPr/>
          <a:lstStyle/>
          <a:p>
            <a:r>
              <a:rPr lang="en-HK" sz="2400" dirty="0"/>
              <a:t>Deep Learning</a:t>
            </a:r>
          </a:p>
          <a:p>
            <a:r>
              <a:rPr lang="en-HK" sz="2400" dirty="0"/>
              <a:t>Natural Language Processing</a:t>
            </a:r>
          </a:p>
          <a:p>
            <a:r>
              <a:rPr lang="en-HK" sz="2400" dirty="0"/>
              <a:t>Generative AI</a:t>
            </a:r>
          </a:p>
          <a:p>
            <a:r>
              <a:rPr lang="en-HK" sz="2400" dirty="0"/>
              <a:t>Robotic Process Automation</a:t>
            </a:r>
          </a:p>
          <a:p>
            <a:r>
              <a:rPr lang="en-HK" sz="2400" dirty="0"/>
              <a:t>Optical Character Recognition</a:t>
            </a:r>
          </a:p>
          <a:p>
            <a:endParaRPr lang="en-HK" dirty="0"/>
          </a:p>
        </p:txBody>
      </p:sp>
      <p:sp>
        <p:nvSpPr>
          <p:cNvPr id="4" name="Slide Number Placeholder 3">
            <a:extLst>
              <a:ext uri="{FF2B5EF4-FFF2-40B4-BE49-F238E27FC236}">
                <a16:creationId xmlns:a16="http://schemas.microsoft.com/office/drawing/2014/main" id="{9E9B9A1B-1A98-401A-828E-8AB30708CBF9}"/>
              </a:ext>
            </a:extLst>
          </p:cNvPr>
          <p:cNvSpPr>
            <a:spLocks noGrp="1"/>
          </p:cNvSpPr>
          <p:nvPr>
            <p:ph type="sldNum" sz="quarter" idx="12"/>
          </p:nvPr>
        </p:nvSpPr>
        <p:spPr/>
        <p:txBody>
          <a:bodyPr/>
          <a:lstStyle/>
          <a:p>
            <a:pPr>
              <a:defRPr/>
            </a:pPr>
            <a:fld id="{4D43F197-C583-4294-BD21-B6AE0DDD46C4}" type="slidenum">
              <a:rPr lang="en-US" smtClean="0"/>
              <a:pPr>
                <a:defRPr/>
              </a:pPr>
              <a:t>36</a:t>
            </a:fld>
            <a:endParaRPr lang="en-US" dirty="0"/>
          </a:p>
        </p:txBody>
      </p:sp>
    </p:spTree>
    <p:extLst>
      <p:ext uri="{BB962C8B-B14F-4D97-AF65-F5344CB8AC3E}">
        <p14:creationId xmlns:p14="http://schemas.microsoft.com/office/powerpoint/2010/main" val="2790676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AC39-9B8E-4853-9FD1-1243F4C75232}"/>
              </a:ext>
            </a:extLst>
          </p:cNvPr>
          <p:cNvSpPr>
            <a:spLocks noGrp="1"/>
          </p:cNvSpPr>
          <p:nvPr>
            <p:ph type="title"/>
          </p:nvPr>
        </p:nvSpPr>
        <p:spPr/>
        <p:txBody>
          <a:bodyPr/>
          <a:lstStyle/>
          <a:p>
            <a:r>
              <a:rPr lang="en-HK" sz="3600" dirty="0"/>
              <a:t>Deep Learning</a:t>
            </a:r>
            <a:br>
              <a:rPr lang="en-HK" sz="3600" dirty="0"/>
            </a:br>
            <a:endParaRPr lang="en-HK" dirty="0"/>
          </a:p>
        </p:txBody>
      </p:sp>
      <p:sp>
        <p:nvSpPr>
          <p:cNvPr id="3" name="Content Placeholder 2">
            <a:extLst>
              <a:ext uri="{FF2B5EF4-FFF2-40B4-BE49-F238E27FC236}">
                <a16:creationId xmlns:a16="http://schemas.microsoft.com/office/drawing/2014/main" id="{E1F0F3AF-C74A-403C-9736-2DE8F2979EF0}"/>
              </a:ext>
            </a:extLst>
          </p:cNvPr>
          <p:cNvSpPr>
            <a:spLocks noGrp="1"/>
          </p:cNvSpPr>
          <p:nvPr>
            <p:ph idx="1"/>
          </p:nvPr>
        </p:nvSpPr>
        <p:spPr>
          <a:xfrm>
            <a:off x="628650" y="1447800"/>
            <a:ext cx="7886700" cy="4729163"/>
          </a:xfrm>
        </p:spPr>
        <p:txBody>
          <a:bodyPr/>
          <a:lstStyle/>
          <a:p>
            <a:r>
              <a:rPr lang="en-HK" sz="2400" dirty="0"/>
              <a:t>Deep Learning is a specialized form of Machine Learning that utilizes </a:t>
            </a:r>
            <a:r>
              <a:rPr lang="en-HK" sz="2400" dirty="0" err="1"/>
              <a:t>multilayered</a:t>
            </a:r>
            <a:r>
              <a:rPr lang="en-HK" sz="2400" dirty="0"/>
              <a:t> neural networks of artificial neurons. While earlier AI systems have successfully handled tasks like image recognition, natural language processing (NLP), and predictive analytics, deep-learning-based systems consistently outperform these predecessors.</a:t>
            </a:r>
          </a:p>
          <a:p>
            <a:endParaRPr lang="en-HK" sz="2400" dirty="0"/>
          </a:p>
          <a:p>
            <a:r>
              <a:rPr lang="en-HK" sz="2400" b="1" dirty="0"/>
              <a:t>Enhanced Performance</a:t>
            </a:r>
            <a:r>
              <a:rPr lang="en-HK" sz="2400" dirty="0"/>
              <a:t>: Deep learning significantly improves the effectiveness of various accounting functions discussed in the context of Machine Learning.</a:t>
            </a:r>
          </a:p>
          <a:p>
            <a:endParaRPr lang="en-HK" dirty="0"/>
          </a:p>
        </p:txBody>
      </p:sp>
      <p:sp>
        <p:nvSpPr>
          <p:cNvPr id="4" name="Slide Number Placeholder 3">
            <a:extLst>
              <a:ext uri="{FF2B5EF4-FFF2-40B4-BE49-F238E27FC236}">
                <a16:creationId xmlns:a16="http://schemas.microsoft.com/office/drawing/2014/main" id="{CBB95047-EF31-4818-9AC0-DC56C4BFD133}"/>
              </a:ext>
            </a:extLst>
          </p:cNvPr>
          <p:cNvSpPr>
            <a:spLocks noGrp="1"/>
          </p:cNvSpPr>
          <p:nvPr>
            <p:ph type="sldNum" sz="quarter" idx="12"/>
          </p:nvPr>
        </p:nvSpPr>
        <p:spPr/>
        <p:txBody>
          <a:bodyPr/>
          <a:lstStyle/>
          <a:p>
            <a:pPr>
              <a:defRPr/>
            </a:pPr>
            <a:fld id="{4D43F197-C583-4294-BD21-B6AE0DDD46C4}" type="slidenum">
              <a:rPr lang="en-US" smtClean="0"/>
              <a:pPr>
                <a:defRPr/>
              </a:pPr>
              <a:t>37</a:t>
            </a:fld>
            <a:endParaRPr lang="en-US" dirty="0"/>
          </a:p>
        </p:txBody>
      </p:sp>
    </p:spTree>
    <p:extLst>
      <p:ext uri="{BB962C8B-B14F-4D97-AF65-F5344CB8AC3E}">
        <p14:creationId xmlns:p14="http://schemas.microsoft.com/office/powerpoint/2010/main" val="38166505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D2842-A931-4AA6-958D-C5DF4518D252}"/>
              </a:ext>
            </a:extLst>
          </p:cNvPr>
          <p:cNvSpPr>
            <a:spLocks noGrp="1"/>
          </p:cNvSpPr>
          <p:nvPr>
            <p:ph type="title"/>
          </p:nvPr>
        </p:nvSpPr>
        <p:spPr/>
        <p:txBody>
          <a:bodyPr/>
          <a:lstStyle/>
          <a:p>
            <a:r>
              <a:rPr lang="en-HK" sz="3600" dirty="0"/>
              <a:t>Natural Language Processing</a:t>
            </a:r>
            <a:br>
              <a:rPr lang="en-HK" sz="3600" dirty="0"/>
            </a:br>
            <a:endParaRPr lang="en-HK" dirty="0"/>
          </a:p>
        </p:txBody>
      </p:sp>
      <p:sp>
        <p:nvSpPr>
          <p:cNvPr id="3" name="Content Placeholder 2">
            <a:extLst>
              <a:ext uri="{FF2B5EF4-FFF2-40B4-BE49-F238E27FC236}">
                <a16:creationId xmlns:a16="http://schemas.microsoft.com/office/drawing/2014/main" id="{67D80C04-E75A-4662-B379-58117CAC08FF}"/>
              </a:ext>
            </a:extLst>
          </p:cNvPr>
          <p:cNvSpPr>
            <a:spLocks noGrp="1"/>
          </p:cNvSpPr>
          <p:nvPr>
            <p:ph idx="1"/>
          </p:nvPr>
        </p:nvSpPr>
        <p:spPr>
          <a:xfrm>
            <a:off x="628650" y="1143000"/>
            <a:ext cx="7886700" cy="5033963"/>
          </a:xfrm>
        </p:spPr>
        <p:txBody>
          <a:bodyPr>
            <a:normAutofit fontScale="92500" lnSpcReduction="20000"/>
          </a:bodyPr>
          <a:lstStyle/>
          <a:p>
            <a:r>
              <a:rPr lang="en-HK" sz="2600" dirty="0"/>
              <a:t>Natural Language Processing (NLP) interprets words rather than numerical data. </a:t>
            </a:r>
          </a:p>
          <a:p>
            <a:endParaRPr lang="en-HK" sz="2600" dirty="0"/>
          </a:p>
          <a:p>
            <a:r>
              <a:rPr lang="en-HK" sz="2600" b="1" dirty="0"/>
              <a:t>Text Summarization</a:t>
            </a:r>
            <a:r>
              <a:rPr lang="en-HK" sz="2600" dirty="0"/>
              <a:t>: NLP can condense large volumes of text, such as financial news or customer feedback, into structured data that enhances accounting functions. For example, it can </a:t>
            </a:r>
            <a:r>
              <a:rPr lang="en-HK" sz="2600" dirty="0" err="1"/>
              <a:t>analyze</a:t>
            </a:r>
            <a:r>
              <a:rPr lang="en-HK" sz="2600" dirty="0"/>
              <a:t> thousands of customer reviews to inform reserve estimates for product returns or identify potential inventory shortages.</a:t>
            </a:r>
          </a:p>
          <a:p>
            <a:r>
              <a:rPr lang="en-HK" sz="2600" b="1" dirty="0"/>
              <a:t>Contract Analysis</a:t>
            </a:r>
            <a:r>
              <a:rPr lang="en-HK" sz="2600" dirty="0"/>
              <a:t>: NLP is used to review and extract key points from contracts and legal documents, ensuring compliance with financial agreements and highlighting risks.</a:t>
            </a:r>
          </a:p>
          <a:p>
            <a:r>
              <a:rPr lang="en-HK" sz="2600" b="1" dirty="0"/>
              <a:t>Regulatory Compliance</a:t>
            </a:r>
            <a:r>
              <a:rPr lang="en-HK" sz="2600" dirty="0"/>
              <a:t>: NLP assists in examining regulatory documents from government and accounting authorities, aiding in adherence to compliance requirements.</a:t>
            </a:r>
          </a:p>
          <a:p>
            <a:endParaRPr lang="en-HK" dirty="0"/>
          </a:p>
          <a:p>
            <a:pPr marL="0" indent="0">
              <a:buNone/>
            </a:pPr>
            <a:r>
              <a:rPr lang="en-HK" dirty="0"/>
              <a:t>@</a:t>
            </a:r>
          </a:p>
          <a:p>
            <a:endParaRPr lang="en-HK" dirty="0"/>
          </a:p>
        </p:txBody>
      </p:sp>
      <p:sp>
        <p:nvSpPr>
          <p:cNvPr id="4" name="Slide Number Placeholder 3">
            <a:extLst>
              <a:ext uri="{FF2B5EF4-FFF2-40B4-BE49-F238E27FC236}">
                <a16:creationId xmlns:a16="http://schemas.microsoft.com/office/drawing/2014/main" id="{56825940-4A0F-4AC6-A698-EF9A619D8DFD}"/>
              </a:ext>
            </a:extLst>
          </p:cNvPr>
          <p:cNvSpPr>
            <a:spLocks noGrp="1"/>
          </p:cNvSpPr>
          <p:nvPr>
            <p:ph type="sldNum" sz="quarter" idx="12"/>
          </p:nvPr>
        </p:nvSpPr>
        <p:spPr/>
        <p:txBody>
          <a:bodyPr/>
          <a:lstStyle/>
          <a:p>
            <a:pPr>
              <a:defRPr/>
            </a:pPr>
            <a:fld id="{4D43F197-C583-4294-BD21-B6AE0DDD46C4}" type="slidenum">
              <a:rPr lang="en-US" smtClean="0"/>
              <a:pPr>
                <a:defRPr/>
              </a:pPr>
              <a:t>38</a:t>
            </a:fld>
            <a:endParaRPr lang="en-US" dirty="0"/>
          </a:p>
        </p:txBody>
      </p:sp>
    </p:spTree>
    <p:extLst>
      <p:ext uri="{BB962C8B-B14F-4D97-AF65-F5344CB8AC3E}">
        <p14:creationId xmlns:p14="http://schemas.microsoft.com/office/powerpoint/2010/main" val="1108639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06F49-EAF1-467B-935B-3582D75E0752}"/>
              </a:ext>
            </a:extLst>
          </p:cNvPr>
          <p:cNvSpPr>
            <a:spLocks noGrp="1"/>
          </p:cNvSpPr>
          <p:nvPr>
            <p:ph type="title"/>
          </p:nvPr>
        </p:nvSpPr>
        <p:spPr/>
        <p:txBody>
          <a:bodyPr/>
          <a:lstStyle/>
          <a:p>
            <a:r>
              <a:rPr lang="en-HK" sz="3600" dirty="0"/>
              <a:t>Generative AI</a:t>
            </a:r>
            <a:br>
              <a:rPr lang="en-HK" sz="3600" dirty="0"/>
            </a:br>
            <a:endParaRPr lang="en-HK" dirty="0"/>
          </a:p>
        </p:txBody>
      </p:sp>
      <p:sp>
        <p:nvSpPr>
          <p:cNvPr id="3" name="Content Placeholder 2">
            <a:extLst>
              <a:ext uri="{FF2B5EF4-FFF2-40B4-BE49-F238E27FC236}">
                <a16:creationId xmlns:a16="http://schemas.microsoft.com/office/drawing/2014/main" id="{5515452F-1EC4-4BBA-89E9-BF2ABB4C0C92}"/>
              </a:ext>
            </a:extLst>
          </p:cNvPr>
          <p:cNvSpPr>
            <a:spLocks noGrp="1"/>
          </p:cNvSpPr>
          <p:nvPr>
            <p:ph idx="1"/>
          </p:nvPr>
        </p:nvSpPr>
        <p:spPr>
          <a:xfrm>
            <a:off x="628650" y="1295400"/>
            <a:ext cx="7886700" cy="4881563"/>
          </a:xfrm>
        </p:spPr>
        <p:txBody>
          <a:bodyPr/>
          <a:lstStyle/>
          <a:p>
            <a:r>
              <a:rPr lang="en-HK" sz="2400" dirty="0"/>
              <a:t>Generative AI refers to the ability of certain deep-learning models to rapidly create content in response to text prompts. This technology marks a significant advancement in AI, as it can understand and generate natural language.</a:t>
            </a:r>
          </a:p>
          <a:p>
            <a:endParaRPr lang="en-HK" sz="2400" dirty="0"/>
          </a:p>
          <a:p>
            <a:r>
              <a:rPr lang="en-HK" sz="2400" b="1" dirty="0"/>
              <a:t>Content Creation</a:t>
            </a:r>
            <a:r>
              <a:rPr lang="en-HK" sz="2400" dirty="0"/>
              <a:t>: Generative AI tools can synthesize knowledge from various sources, aiding in problem-solving across multiple domains.</a:t>
            </a:r>
          </a:p>
          <a:p>
            <a:r>
              <a:rPr lang="en-HK" sz="2400" b="1" dirty="0"/>
              <a:t>Application in Accounting</a:t>
            </a:r>
            <a:r>
              <a:rPr lang="en-HK" sz="2400" dirty="0"/>
              <a:t>: In accounting, generative AI can draft reports and financial statements. Additionally, it helps accountants and auditors </a:t>
            </a:r>
            <a:r>
              <a:rPr lang="en-HK" sz="2400" dirty="0" err="1"/>
              <a:t>analyze</a:t>
            </a:r>
            <a:r>
              <a:rPr lang="en-HK" sz="2400" dirty="0"/>
              <a:t> financial data to identify opportunities for improving financial efficiency.</a:t>
            </a:r>
          </a:p>
          <a:p>
            <a:endParaRPr lang="en-HK" dirty="0"/>
          </a:p>
        </p:txBody>
      </p:sp>
      <p:sp>
        <p:nvSpPr>
          <p:cNvPr id="4" name="Slide Number Placeholder 3">
            <a:extLst>
              <a:ext uri="{FF2B5EF4-FFF2-40B4-BE49-F238E27FC236}">
                <a16:creationId xmlns:a16="http://schemas.microsoft.com/office/drawing/2014/main" id="{43CAD5E6-2E36-459B-9CB5-265280848306}"/>
              </a:ext>
            </a:extLst>
          </p:cNvPr>
          <p:cNvSpPr>
            <a:spLocks noGrp="1"/>
          </p:cNvSpPr>
          <p:nvPr>
            <p:ph type="sldNum" sz="quarter" idx="12"/>
          </p:nvPr>
        </p:nvSpPr>
        <p:spPr/>
        <p:txBody>
          <a:bodyPr/>
          <a:lstStyle/>
          <a:p>
            <a:pPr>
              <a:defRPr/>
            </a:pPr>
            <a:fld id="{4D43F197-C583-4294-BD21-B6AE0DDD46C4}" type="slidenum">
              <a:rPr lang="en-US" smtClean="0"/>
              <a:pPr>
                <a:defRPr/>
              </a:pPr>
              <a:t>39</a:t>
            </a:fld>
            <a:endParaRPr lang="en-US" dirty="0"/>
          </a:p>
        </p:txBody>
      </p:sp>
    </p:spTree>
    <p:extLst>
      <p:ext uri="{BB962C8B-B14F-4D97-AF65-F5344CB8AC3E}">
        <p14:creationId xmlns:p14="http://schemas.microsoft.com/office/powerpoint/2010/main" val="3528712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7C5FE-60FB-4605-A15C-541425C7FB9B}"/>
              </a:ext>
            </a:extLst>
          </p:cNvPr>
          <p:cNvSpPr>
            <a:spLocks noGrp="1"/>
          </p:cNvSpPr>
          <p:nvPr>
            <p:ph type="title"/>
          </p:nvPr>
        </p:nvSpPr>
        <p:spPr>
          <a:xfrm>
            <a:off x="628650" y="21771"/>
            <a:ext cx="7886700" cy="1325563"/>
          </a:xfrm>
        </p:spPr>
        <p:txBody>
          <a:bodyPr/>
          <a:lstStyle/>
          <a:p>
            <a:r>
              <a:rPr lang="en-HK" sz="3600" dirty="0"/>
              <a:t>Robotic Process Automation</a:t>
            </a:r>
            <a:br>
              <a:rPr lang="en-HK" sz="3600" dirty="0"/>
            </a:br>
            <a:endParaRPr lang="en-HK" dirty="0"/>
          </a:p>
        </p:txBody>
      </p:sp>
      <p:sp>
        <p:nvSpPr>
          <p:cNvPr id="3" name="Content Placeholder 2">
            <a:extLst>
              <a:ext uri="{FF2B5EF4-FFF2-40B4-BE49-F238E27FC236}">
                <a16:creationId xmlns:a16="http://schemas.microsoft.com/office/drawing/2014/main" id="{B8160E35-D078-446F-BA51-AB653FA85303}"/>
              </a:ext>
            </a:extLst>
          </p:cNvPr>
          <p:cNvSpPr>
            <a:spLocks noGrp="1"/>
          </p:cNvSpPr>
          <p:nvPr>
            <p:ph idx="1"/>
          </p:nvPr>
        </p:nvSpPr>
        <p:spPr>
          <a:xfrm>
            <a:off x="628650" y="990600"/>
            <a:ext cx="7886700" cy="5186363"/>
          </a:xfrm>
        </p:spPr>
        <p:txBody>
          <a:bodyPr>
            <a:normAutofit/>
          </a:bodyPr>
          <a:lstStyle/>
          <a:p>
            <a:r>
              <a:rPr lang="en-HK" sz="2200" dirty="0"/>
              <a:t>Robotic Process Automation (RPA) primarily handles structured data and is best for rules-based transactions.</a:t>
            </a:r>
          </a:p>
          <a:p>
            <a:endParaRPr lang="en-HK" sz="2200" dirty="0"/>
          </a:p>
          <a:p>
            <a:r>
              <a:rPr lang="en-HK" sz="2200" b="1" dirty="0"/>
              <a:t>Accounts Payable</a:t>
            </a:r>
            <a:r>
              <a:rPr lang="en-HK" sz="2200" dirty="0"/>
              <a:t>: Automates tasks like matching supplier invoices with purchase orders, comparing travel expenses with company policies, and reconciling accounts.</a:t>
            </a:r>
          </a:p>
          <a:p>
            <a:r>
              <a:rPr lang="en-HK" sz="2200" b="1" dirty="0"/>
              <a:t>Accounts Receivable</a:t>
            </a:r>
            <a:r>
              <a:rPr lang="en-HK" sz="2200" dirty="0"/>
              <a:t>: Validates customer invoices for proper authorization and pricing, then automatically posts them to revenue accounts.</a:t>
            </a:r>
          </a:p>
          <a:p>
            <a:r>
              <a:rPr lang="en-HK" sz="2200" b="1" dirty="0"/>
              <a:t>Enhanced Capabilities</a:t>
            </a:r>
          </a:p>
          <a:p>
            <a:r>
              <a:rPr lang="en-HK" sz="2200" dirty="0"/>
              <a:t>When combined with ML, RPA enables intelligent invoice processing, fraud detection, and automated compliance checks.</a:t>
            </a:r>
          </a:p>
          <a:p>
            <a:endParaRPr lang="en-HK" dirty="0"/>
          </a:p>
        </p:txBody>
      </p:sp>
      <p:sp>
        <p:nvSpPr>
          <p:cNvPr id="4" name="Slide Number Placeholder 3">
            <a:extLst>
              <a:ext uri="{FF2B5EF4-FFF2-40B4-BE49-F238E27FC236}">
                <a16:creationId xmlns:a16="http://schemas.microsoft.com/office/drawing/2014/main" id="{F6556F97-1ED1-48FD-B2E3-B23EE20ECCE3}"/>
              </a:ext>
            </a:extLst>
          </p:cNvPr>
          <p:cNvSpPr>
            <a:spLocks noGrp="1"/>
          </p:cNvSpPr>
          <p:nvPr>
            <p:ph type="sldNum" sz="quarter" idx="12"/>
          </p:nvPr>
        </p:nvSpPr>
        <p:spPr/>
        <p:txBody>
          <a:bodyPr/>
          <a:lstStyle/>
          <a:p>
            <a:pPr>
              <a:defRPr/>
            </a:pPr>
            <a:fld id="{4D43F197-C583-4294-BD21-B6AE0DDD46C4}" type="slidenum">
              <a:rPr lang="en-US" smtClean="0"/>
              <a:pPr>
                <a:defRPr/>
              </a:pPr>
              <a:t>40</a:t>
            </a:fld>
            <a:endParaRPr lang="en-US" dirty="0"/>
          </a:p>
        </p:txBody>
      </p:sp>
    </p:spTree>
    <p:extLst>
      <p:ext uri="{BB962C8B-B14F-4D97-AF65-F5344CB8AC3E}">
        <p14:creationId xmlns:p14="http://schemas.microsoft.com/office/powerpoint/2010/main" val="874200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8BF3-4A81-4058-ABFC-FB070BC78A6B}"/>
              </a:ext>
            </a:extLst>
          </p:cNvPr>
          <p:cNvSpPr>
            <a:spLocks noGrp="1"/>
          </p:cNvSpPr>
          <p:nvPr>
            <p:ph type="title"/>
          </p:nvPr>
        </p:nvSpPr>
        <p:spPr/>
        <p:txBody>
          <a:bodyPr/>
          <a:lstStyle/>
          <a:p>
            <a:r>
              <a:rPr lang="en-HK" sz="3600" dirty="0"/>
              <a:t>Optical Character Recognition</a:t>
            </a:r>
            <a:br>
              <a:rPr lang="en-HK" sz="3600" dirty="0"/>
            </a:br>
            <a:endParaRPr lang="en-HK" dirty="0"/>
          </a:p>
        </p:txBody>
      </p:sp>
      <p:sp>
        <p:nvSpPr>
          <p:cNvPr id="3" name="Content Placeholder 2">
            <a:extLst>
              <a:ext uri="{FF2B5EF4-FFF2-40B4-BE49-F238E27FC236}">
                <a16:creationId xmlns:a16="http://schemas.microsoft.com/office/drawing/2014/main" id="{A9CB7A13-FAFD-400E-B220-2A6A66506661}"/>
              </a:ext>
            </a:extLst>
          </p:cNvPr>
          <p:cNvSpPr>
            <a:spLocks noGrp="1"/>
          </p:cNvSpPr>
          <p:nvPr>
            <p:ph idx="1"/>
          </p:nvPr>
        </p:nvSpPr>
        <p:spPr>
          <a:xfrm>
            <a:off x="628650" y="1447800"/>
            <a:ext cx="7886700" cy="4729163"/>
          </a:xfrm>
        </p:spPr>
        <p:txBody>
          <a:bodyPr/>
          <a:lstStyle/>
          <a:p>
            <a:r>
              <a:rPr lang="en-HK" dirty="0"/>
              <a:t>Optical Character Recognition (OCR) is a technology that converts text from scanned or digital documents into machine-readable text. </a:t>
            </a:r>
          </a:p>
          <a:p>
            <a:endParaRPr lang="en-HK" dirty="0"/>
          </a:p>
          <a:p>
            <a:r>
              <a:rPr lang="en-HK" b="1" dirty="0"/>
              <a:t>Elimination of Manual Data Entry</a:t>
            </a:r>
            <a:r>
              <a:rPr lang="en-HK" dirty="0"/>
              <a:t>: Both traditional and modern OCR reduce time spent on data entry and minimize human error.</a:t>
            </a:r>
          </a:p>
          <a:p>
            <a:r>
              <a:rPr lang="en-HK" b="1" dirty="0"/>
              <a:t>Enhanced Document Storage</a:t>
            </a:r>
            <a:r>
              <a:rPr lang="en-HK" dirty="0"/>
              <a:t>: OCR digitizes documents, making them searchable and improving document management.</a:t>
            </a:r>
          </a:p>
          <a:p>
            <a:r>
              <a:rPr lang="en-HK" dirty="0"/>
              <a:t>This functionality is typically integrated into advanced accounting software, especially for automating accounts payable (AP) processes.</a:t>
            </a:r>
          </a:p>
          <a:p>
            <a:endParaRPr lang="en-HK" dirty="0"/>
          </a:p>
          <a:p>
            <a:r>
              <a:rPr lang="en-HK" dirty="0"/>
              <a:t>@</a:t>
            </a:r>
          </a:p>
          <a:p>
            <a:endParaRPr lang="en-HK" dirty="0"/>
          </a:p>
          <a:p>
            <a:endParaRPr lang="en-HK" dirty="0"/>
          </a:p>
        </p:txBody>
      </p:sp>
      <p:sp>
        <p:nvSpPr>
          <p:cNvPr id="4" name="Slide Number Placeholder 3">
            <a:extLst>
              <a:ext uri="{FF2B5EF4-FFF2-40B4-BE49-F238E27FC236}">
                <a16:creationId xmlns:a16="http://schemas.microsoft.com/office/drawing/2014/main" id="{52D131B3-8388-4F18-94F0-42C99E266464}"/>
              </a:ext>
            </a:extLst>
          </p:cNvPr>
          <p:cNvSpPr>
            <a:spLocks noGrp="1"/>
          </p:cNvSpPr>
          <p:nvPr>
            <p:ph type="sldNum" sz="quarter" idx="12"/>
          </p:nvPr>
        </p:nvSpPr>
        <p:spPr/>
        <p:txBody>
          <a:bodyPr/>
          <a:lstStyle/>
          <a:p>
            <a:pPr>
              <a:defRPr/>
            </a:pPr>
            <a:fld id="{4D43F197-C583-4294-BD21-B6AE0DDD46C4}" type="slidenum">
              <a:rPr lang="en-US" smtClean="0"/>
              <a:pPr>
                <a:defRPr/>
              </a:pPr>
              <a:t>41</a:t>
            </a:fld>
            <a:endParaRPr lang="en-US" dirty="0"/>
          </a:p>
        </p:txBody>
      </p:sp>
    </p:spTree>
    <p:extLst>
      <p:ext uri="{BB962C8B-B14F-4D97-AF65-F5344CB8AC3E}">
        <p14:creationId xmlns:p14="http://schemas.microsoft.com/office/powerpoint/2010/main" val="1473299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5BE1C-89FB-422A-8C24-4D76AFEC99B9}"/>
              </a:ext>
            </a:extLst>
          </p:cNvPr>
          <p:cNvSpPr>
            <a:spLocks noGrp="1"/>
          </p:cNvSpPr>
          <p:nvPr>
            <p:ph type="title"/>
          </p:nvPr>
        </p:nvSpPr>
        <p:spPr/>
        <p:txBody>
          <a:bodyPr/>
          <a:lstStyle/>
          <a:p>
            <a:r>
              <a:rPr lang="en-HK" dirty="0"/>
              <a:t>AI-powered tools used in Accounting</a:t>
            </a:r>
          </a:p>
        </p:txBody>
      </p:sp>
      <p:sp>
        <p:nvSpPr>
          <p:cNvPr id="3" name="Content Placeholder 2">
            <a:extLst>
              <a:ext uri="{FF2B5EF4-FFF2-40B4-BE49-F238E27FC236}">
                <a16:creationId xmlns:a16="http://schemas.microsoft.com/office/drawing/2014/main" id="{F9D047A8-83BB-4F14-8C25-5EBC6C1FFF3C}"/>
              </a:ext>
            </a:extLst>
          </p:cNvPr>
          <p:cNvSpPr>
            <a:spLocks noGrp="1"/>
          </p:cNvSpPr>
          <p:nvPr>
            <p:ph idx="1"/>
          </p:nvPr>
        </p:nvSpPr>
        <p:spPr>
          <a:xfrm>
            <a:off x="628650" y="1524000"/>
            <a:ext cx="7886700" cy="4652963"/>
          </a:xfrm>
        </p:spPr>
        <p:txBody>
          <a:bodyPr/>
          <a:lstStyle/>
          <a:p>
            <a:r>
              <a:rPr lang="en-HK" dirty="0" err="1"/>
              <a:t>ChatGPT</a:t>
            </a:r>
            <a:endParaRPr lang="en-HK" dirty="0"/>
          </a:p>
          <a:p>
            <a:r>
              <a:rPr lang="en-HK" dirty="0"/>
              <a:t>Claude,</a:t>
            </a:r>
          </a:p>
          <a:p>
            <a:r>
              <a:rPr lang="en-HK" dirty="0" err="1"/>
              <a:t>Copilot</a:t>
            </a:r>
            <a:endParaRPr lang="en-HK" dirty="0"/>
          </a:p>
          <a:p>
            <a:r>
              <a:rPr lang="en-HK" dirty="0"/>
              <a:t>Excel</a:t>
            </a:r>
          </a:p>
          <a:p>
            <a:r>
              <a:rPr lang="en-HK" dirty="0"/>
              <a:t>Python</a:t>
            </a:r>
          </a:p>
          <a:p>
            <a:r>
              <a:rPr lang="en-HK" dirty="0"/>
              <a:t>Vic.ai</a:t>
            </a:r>
          </a:p>
          <a:p>
            <a:r>
              <a:rPr lang="en-HK" dirty="0" err="1"/>
              <a:t>Truewind</a:t>
            </a:r>
            <a:endParaRPr lang="en-HK" dirty="0"/>
          </a:p>
          <a:p>
            <a:r>
              <a:rPr lang="en-HK" dirty="0" err="1"/>
              <a:t>Karbon</a:t>
            </a:r>
            <a:endParaRPr lang="en-HK" dirty="0"/>
          </a:p>
          <a:p>
            <a:pPr marL="0" indent="0">
              <a:buNone/>
            </a:pPr>
            <a:r>
              <a:rPr lang="en-HK" dirty="0"/>
              <a:t>  …Among others</a:t>
            </a:r>
          </a:p>
        </p:txBody>
      </p:sp>
      <p:sp>
        <p:nvSpPr>
          <p:cNvPr id="4" name="Slide Number Placeholder 3">
            <a:extLst>
              <a:ext uri="{FF2B5EF4-FFF2-40B4-BE49-F238E27FC236}">
                <a16:creationId xmlns:a16="http://schemas.microsoft.com/office/drawing/2014/main" id="{B455197B-5474-4D95-B018-4666FB35F070}"/>
              </a:ext>
            </a:extLst>
          </p:cNvPr>
          <p:cNvSpPr>
            <a:spLocks noGrp="1"/>
          </p:cNvSpPr>
          <p:nvPr>
            <p:ph type="sldNum" sz="quarter" idx="12"/>
          </p:nvPr>
        </p:nvSpPr>
        <p:spPr/>
        <p:txBody>
          <a:bodyPr/>
          <a:lstStyle/>
          <a:p>
            <a:pPr>
              <a:defRPr/>
            </a:pPr>
            <a:fld id="{4D43F197-C583-4294-BD21-B6AE0DDD46C4}" type="slidenum">
              <a:rPr lang="en-US" smtClean="0"/>
              <a:pPr>
                <a:defRPr/>
              </a:pPr>
              <a:t>42</a:t>
            </a:fld>
            <a:endParaRPr lang="en-US" dirty="0"/>
          </a:p>
        </p:txBody>
      </p:sp>
    </p:spTree>
    <p:extLst>
      <p:ext uri="{BB962C8B-B14F-4D97-AF65-F5344CB8AC3E}">
        <p14:creationId xmlns:p14="http://schemas.microsoft.com/office/powerpoint/2010/main" val="722332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85E0-213D-438D-9A36-CE2783BDA2C7}"/>
              </a:ext>
            </a:extLst>
          </p:cNvPr>
          <p:cNvSpPr>
            <a:spLocks noGrp="1"/>
          </p:cNvSpPr>
          <p:nvPr>
            <p:ph type="title"/>
          </p:nvPr>
        </p:nvSpPr>
        <p:spPr>
          <a:xfrm>
            <a:off x="628650" y="18255"/>
            <a:ext cx="7886700" cy="1325563"/>
          </a:xfrm>
        </p:spPr>
        <p:txBody>
          <a:bodyPr/>
          <a:lstStyle/>
          <a:p>
            <a:r>
              <a:rPr lang="en-HK" dirty="0"/>
              <a:t>The evolution of AI in accounting</a:t>
            </a:r>
            <a:br>
              <a:rPr lang="en-HK" dirty="0"/>
            </a:br>
            <a:endParaRPr lang="en-HK" dirty="0"/>
          </a:p>
        </p:txBody>
      </p:sp>
      <p:sp>
        <p:nvSpPr>
          <p:cNvPr id="3" name="Content Placeholder 2">
            <a:extLst>
              <a:ext uri="{FF2B5EF4-FFF2-40B4-BE49-F238E27FC236}">
                <a16:creationId xmlns:a16="http://schemas.microsoft.com/office/drawing/2014/main" id="{25369948-82C7-4C9C-8F3A-4EB688D2FD88}"/>
              </a:ext>
            </a:extLst>
          </p:cNvPr>
          <p:cNvSpPr>
            <a:spLocks noGrp="1"/>
          </p:cNvSpPr>
          <p:nvPr>
            <p:ph idx="1"/>
          </p:nvPr>
        </p:nvSpPr>
        <p:spPr>
          <a:xfrm>
            <a:off x="628650" y="762000"/>
            <a:ext cx="8210550" cy="5594351"/>
          </a:xfrm>
        </p:spPr>
        <p:txBody>
          <a:bodyPr>
            <a:normAutofit fontScale="85000" lnSpcReduction="20000"/>
          </a:bodyPr>
          <a:lstStyle/>
          <a:p>
            <a:r>
              <a:rPr lang="en-HK" b="1" dirty="0"/>
              <a:t>Manual Bookkeeping Era</a:t>
            </a:r>
            <a:r>
              <a:rPr lang="en-HK" dirty="0"/>
              <a:t>: For decades, accounting relied on detail-oriented individuals to prepare financial statements manually.</a:t>
            </a:r>
          </a:p>
          <a:p>
            <a:endParaRPr lang="en-HK" dirty="0"/>
          </a:p>
          <a:p>
            <a:r>
              <a:rPr lang="en-HK" b="1" dirty="0"/>
              <a:t>Spreadsheet Introduction (1980s)</a:t>
            </a:r>
            <a:r>
              <a:rPr lang="en-HK" dirty="0"/>
              <a:t>: Tools like VisiCalc, Lotus 1-2-3, and Microsoft Excel automated basic tasks like data entry and expense management, laying the groundwork for future advancements.</a:t>
            </a:r>
          </a:p>
          <a:p>
            <a:endParaRPr lang="en-HK" dirty="0"/>
          </a:p>
          <a:p>
            <a:r>
              <a:rPr lang="en-HK" b="1" dirty="0"/>
              <a:t>OCR Technology Adoption (1980s)</a:t>
            </a:r>
            <a:r>
              <a:rPr lang="en-HK" dirty="0"/>
              <a:t>: Optical character recognition (OCR) facilitated data extraction from invoices, streamlining workflows.</a:t>
            </a:r>
          </a:p>
          <a:p>
            <a:endParaRPr lang="en-HK" dirty="0"/>
          </a:p>
          <a:p>
            <a:r>
              <a:rPr lang="en-HK" b="1" dirty="0"/>
              <a:t>Early AI Applications (1990s)</a:t>
            </a:r>
            <a:r>
              <a:rPr lang="en-HK" dirty="0"/>
              <a:t>: Artificial neural networks supported tasks like fraud detection and financial forecasting, though their adoption was limited due to complexity.</a:t>
            </a:r>
          </a:p>
          <a:p>
            <a:endParaRPr lang="en-HK" dirty="0"/>
          </a:p>
          <a:p>
            <a:r>
              <a:rPr lang="en-HK" b="1" dirty="0"/>
              <a:t>AI Growth Phase (2000s)</a:t>
            </a:r>
            <a:r>
              <a:rPr lang="en-HK" dirty="0"/>
              <a:t>: Improved machine learning algorithms enhanced forecasting, analysis, and risk assessment, leading to wider AI adoption in accounting.</a:t>
            </a:r>
          </a:p>
          <a:p>
            <a:endParaRPr lang="en-HK" dirty="0"/>
          </a:p>
          <a:p>
            <a:r>
              <a:rPr lang="en-HK" b="1" dirty="0"/>
              <a:t>Rise of NLP-Enhanced Tools (2010s and Beyond)</a:t>
            </a:r>
            <a:r>
              <a:rPr lang="en-HK" dirty="0"/>
              <a:t>: Natural language processing allowed AI to interpret human language, generate reports, </a:t>
            </a:r>
            <a:r>
              <a:rPr lang="en-HK" dirty="0" err="1"/>
              <a:t>analyze</a:t>
            </a:r>
            <a:r>
              <a:rPr lang="en-HK" dirty="0"/>
              <a:t> real-time financial data, and support decision-making with predictive insights.</a:t>
            </a:r>
          </a:p>
          <a:p>
            <a:endParaRPr lang="en-HK" dirty="0"/>
          </a:p>
        </p:txBody>
      </p:sp>
      <p:sp>
        <p:nvSpPr>
          <p:cNvPr id="4" name="Slide Number Placeholder 3">
            <a:extLst>
              <a:ext uri="{FF2B5EF4-FFF2-40B4-BE49-F238E27FC236}">
                <a16:creationId xmlns:a16="http://schemas.microsoft.com/office/drawing/2014/main" id="{D9481550-F0C5-4C7C-AF56-7B5CCAD1494C}"/>
              </a:ext>
            </a:extLst>
          </p:cNvPr>
          <p:cNvSpPr>
            <a:spLocks noGrp="1"/>
          </p:cNvSpPr>
          <p:nvPr>
            <p:ph type="sldNum" sz="quarter" idx="12"/>
          </p:nvPr>
        </p:nvSpPr>
        <p:spPr/>
        <p:txBody>
          <a:bodyPr/>
          <a:lstStyle/>
          <a:p>
            <a:pPr>
              <a:defRPr/>
            </a:pPr>
            <a:fld id="{4D43F197-C583-4294-BD21-B6AE0DDD46C4}" type="slidenum">
              <a:rPr lang="en-US" smtClean="0"/>
              <a:pPr>
                <a:defRPr/>
              </a:pPr>
              <a:t>43</a:t>
            </a:fld>
            <a:endParaRPr lang="en-US" dirty="0"/>
          </a:p>
        </p:txBody>
      </p:sp>
    </p:spTree>
    <p:extLst>
      <p:ext uri="{BB962C8B-B14F-4D97-AF65-F5344CB8AC3E}">
        <p14:creationId xmlns:p14="http://schemas.microsoft.com/office/powerpoint/2010/main" val="17181460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96A84-4A0F-47F4-9444-0F2786558E6F}"/>
              </a:ext>
            </a:extLst>
          </p:cNvPr>
          <p:cNvSpPr>
            <a:spLocks noGrp="1"/>
          </p:cNvSpPr>
          <p:nvPr>
            <p:ph type="title"/>
          </p:nvPr>
        </p:nvSpPr>
        <p:spPr>
          <a:xfrm>
            <a:off x="685800" y="124801"/>
            <a:ext cx="7886700" cy="1325563"/>
          </a:xfrm>
        </p:spPr>
        <p:txBody>
          <a:bodyPr/>
          <a:lstStyle/>
          <a:p>
            <a:r>
              <a:rPr lang="en-HK" dirty="0"/>
              <a:t>Advantages of AI in accounting</a:t>
            </a:r>
            <a:br>
              <a:rPr lang="en-HK" b="1" dirty="0"/>
            </a:br>
            <a:endParaRPr lang="en-HK" dirty="0"/>
          </a:p>
        </p:txBody>
      </p:sp>
      <p:sp>
        <p:nvSpPr>
          <p:cNvPr id="3" name="Content Placeholder 2">
            <a:extLst>
              <a:ext uri="{FF2B5EF4-FFF2-40B4-BE49-F238E27FC236}">
                <a16:creationId xmlns:a16="http://schemas.microsoft.com/office/drawing/2014/main" id="{F593E8F3-7CC2-4B8F-8DB1-DF53C82E4511}"/>
              </a:ext>
            </a:extLst>
          </p:cNvPr>
          <p:cNvSpPr>
            <a:spLocks noGrp="1"/>
          </p:cNvSpPr>
          <p:nvPr>
            <p:ph idx="1"/>
          </p:nvPr>
        </p:nvSpPr>
        <p:spPr>
          <a:xfrm>
            <a:off x="457200" y="990600"/>
            <a:ext cx="8305800" cy="5186363"/>
          </a:xfrm>
        </p:spPr>
        <p:txBody>
          <a:bodyPr>
            <a:normAutofit lnSpcReduction="10000"/>
          </a:bodyPr>
          <a:lstStyle/>
          <a:p>
            <a:r>
              <a:rPr lang="en-HK" b="1" dirty="0"/>
              <a:t>Automation</a:t>
            </a:r>
            <a:br>
              <a:rPr lang="en-HK" dirty="0"/>
            </a:br>
            <a:r>
              <a:rPr lang="en-HK" dirty="0"/>
              <a:t>AI automates tasks like data entry, coding, reconciliation, and invoicing, saving time and allowing you to focus on business strategy, client support, and upskilling.</a:t>
            </a:r>
          </a:p>
          <a:p>
            <a:r>
              <a:rPr lang="en-HK" b="1" dirty="0"/>
              <a:t>Accuracy</a:t>
            </a:r>
            <a:br>
              <a:rPr lang="en-HK" dirty="0"/>
            </a:br>
            <a:r>
              <a:rPr lang="en-HK" dirty="0"/>
              <a:t>AI </a:t>
            </a:r>
            <a:r>
              <a:rPr lang="en-HK" dirty="0" err="1"/>
              <a:t>analyzes</a:t>
            </a:r>
            <a:r>
              <a:rPr lang="en-HK" dirty="0"/>
              <a:t> data quickly and accurately, completing repetitive tasks with precision and identifying patterns that may be missed by humans, reducing errors and fraud risk.</a:t>
            </a:r>
          </a:p>
          <a:p>
            <a:r>
              <a:rPr lang="en-HK" b="1" dirty="0"/>
              <a:t>Cost Savings</a:t>
            </a:r>
            <a:br>
              <a:rPr lang="en-HK" dirty="0"/>
            </a:br>
            <a:r>
              <a:rPr lang="en-HK" dirty="0"/>
              <a:t>By reclaiming time spent on repetitive tasks, AI reduces </a:t>
            </a:r>
            <a:r>
              <a:rPr lang="en-HK" dirty="0" err="1"/>
              <a:t>labor</a:t>
            </a:r>
            <a:r>
              <a:rPr lang="en-HK" dirty="0"/>
              <a:t> costs and improves efficiency, potentially enabling you to take on more clients.</a:t>
            </a:r>
          </a:p>
          <a:p>
            <a:r>
              <a:rPr lang="en-HK" b="1" dirty="0"/>
              <a:t>Real-Time Insights</a:t>
            </a:r>
            <a:br>
              <a:rPr lang="en-HK" dirty="0"/>
            </a:br>
            <a:r>
              <a:rPr lang="en-HK" dirty="0"/>
              <a:t>AI provides real-time insights into clients’ financial performance, empowering smarter, data-driven decisions based on current information.</a:t>
            </a:r>
          </a:p>
          <a:p>
            <a:r>
              <a:rPr lang="en-HK" b="1" dirty="0"/>
              <a:t>Enhanced Security</a:t>
            </a:r>
            <a:br>
              <a:rPr lang="en-HK" dirty="0"/>
            </a:br>
            <a:r>
              <a:rPr lang="en-HK" dirty="0"/>
              <a:t>AI accelerates fraud detection by identifying patterns and anomalies, promptly notifying the right personnel and aiding in fraud prevention. </a:t>
            </a:r>
          </a:p>
          <a:p>
            <a:endParaRPr lang="en-HK" dirty="0"/>
          </a:p>
        </p:txBody>
      </p:sp>
      <p:sp>
        <p:nvSpPr>
          <p:cNvPr id="4" name="Slide Number Placeholder 3">
            <a:extLst>
              <a:ext uri="{FF2B5EF4-FFF2-40B4-BE49-F238E27FC236}">
                <a16:creationId xmlns:a16="http://schemas.microsoft.com/office/drawing/2014/main" id="{3681BCA8-7C99-433C-9161-7C6C9EF2483F}"/>
              </a:ext>
            </a:extLst>
          </p:cNvPr>
          <p:cNvSpPr>
            <a:spLocks noGrp="1"/>
          </p:cNvSpPr>
          <p:nvPr>
            <p:ph type="sldNum" sz="quarter" idx="12"/>
          </p:nvPr>
        </p:nvSpPr>
        <p:spPr/>
        <p:txBody>
          <a:bodyPr/>
          <a:lstStyle/>
          <a:p>
            <a:pPr>
              <a:defRPr/>
            </a:pPr>
            <a:fld id="{4D43F197-C583-4294-BD21-B6AE0DDD46C4}" type="slidenum">
              <a:rPr lang="en-US" smtClean="0"/>
              <a:pPr>
                <a:defRPr/>
              </a:pPr>
              <a:t>44</a:t>
            </a:fld>
            <a:endParaRPr lang="en-US" dirty="0"/>
          </a:p>
        </p:txBody>
      </p:sp>
    </p:spTree>
    <p:extLst>
      <p:ext uri="{BB962C8B-B14F-4D97-AF65-F5344CB8AC3E}">
        <p14:creationId xmlns:p14="http://schemas.microsoft.com/office/powerpoint/2010/main" val="40483952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1F4F7-832E-44E1-9E94-18FC8FB8D65E}"/>
              </a:ext>
            </a:extLst>
          </p:cNvPr>
          <p:cNvSpPr>
            <a:spLocks noGrp="1"/>
          </p:cNvSpPr>
          <p:nvPr>
            <p:ph type="title"/>
          </p:nvPr>
        </p:nvSpPr>
        <p:spPr/>
        <p:txBody>
          <a:bodyPr/>
          <a:lstStyle/>
          <a:p>
            <a:r>
              <a:rPr lang="en-HK" dirty="0"/>
              <a:t>Disadvantages of AI in accounting</a:t>
            </a:r>
            <a:br>
              <a:rPr lang="en-HK" b="1" dirty="0"/>
            </a:br>
            <a:endParaRPr lang="en-HK" dirty="0"/>
          </a:p>
        </p:txBody>
      </p:sp>
      <p:sp>
        <p:nvSpPr>
          <p:cNvPr id="3" name="Content Placeholder 2">
            <a:extLst>
              <a:ext uri="{FF2B5EF4-FFF2-40B4-BE49-F238E27FC236}">
                <a16:creationId xmlns:a16="http://schemas.microsoft.com/office/drawing/2014/main" id="{E303BE63-6172-4EBD-8384-FF71BACD639B}"/>
              </a:ext>
            </a:extLst>
          </p:cNvPr>
          <p:cNvSpPr>
            <a:spLocks noGrp="1"/>
          </p:cNvSpPr>
          <p:nvPr>
            <p:ph idx="1"/>
          </p:nvPr>
        </p:nvSpPr>
        <p:spPr>
          <a:xfrm>
            <a:off x="606879" y="1235077"/>
            <a:ext cx="8058150" cy="5121274"/>
          </a:xfrm>
        </p:spPr>
        <p:txBody>
          <a:bodyPr>
            <a:normAutofit/>
          </a:bodyPr>
          <a:lstStyle/>
          <a:p>
            <a:r>
              <a:rPr lang="en-HK" b="1" dirty="0"/>
              <a:t>Learning</a:t>
            </a:r>
            <a:br>
              <a:rPr lang="en-HK" dirty="0"/>
            </a:br>
            <a:r>
              <a:rPr lang="en-HK" dirty="0"/>
              <a:t>Transitioning to AI-powered software can unlock significant benefits, but it may require leaving behind familiar platforms and learning new ones, which can feel daunting.</a:t>
            </a:r>
          </a:p>
          <a:p>
            <a:r>
              <a:rPr lang="en-HK" b="1" dirty="0"/>
              <a:t>Training</a:t>
            </a:r>
            <a:br>
              <a:rPr lang="en-HK" dirty="0"/>
            </a:br>
            <a:r>
              <a:rPr lang="en-HK" dirty="0"/>
              <a:t>Investing time in training is essential, and costs can rise if you choose specialist training or are transitioning an entire practice.</a:t>
            </a:r>
          </a:p>
          <a:p>
            <a:r>
              <a:rPr lang="en-HK" b="1" dirty="0"/>
              <a:t>Switching Costs</a:t>
            </a:r>
            <a:br>
              <a:rPr lang="en-HK" dirty="0"/>
            </a:br>
            <a:r>
              <a:rPr lang="en-HK" dirty="0"/>
              <a:t>Adopting new technology often leads to an initial dip in productivity as users adjust to new processes. While the payback isn't immediate, it typically follows quickly.</a:t>
            </a:r>
          </a:p>
          <a:p>
            <a:r>
              <a:rPr lang="en-HK" b="1" dirty="0"/>
              <a:t>Quality Control</a:t>
            </a:r>
            <a:br>
              <a:rPr lang="en-HK" dirty="0"/>
            </a:br>
            <a:r>
              <a:rPr lang="en-HK" dirty="0"/>
              <a:t>While automation is powerful, relying too heavily on auto-suggestions can lead to errors. Users must focus on reviewing these suggestions. Fortunately, software tools often include features like find-and-recode to help correct mistakes.</a:t>
            </a:r>
          </a:p>
          <a:p>
            <a:endParaRPr lang="en-HK" dirty="0"/>
          </a:p>
        </p:txBody>
      </p:sp>
      <p:sp>
        <p:nvSpPr>
          <p:cNvPr id="4" name="Slide Number Placeholder 3">
            <a:extLst>
              <a:ext uri="{FF2B5EF4-FFF2-40B4-BE49-F238E27FC236}">
                <a16:creationId xmlns:a16="http://schemas.microsoft.com/office/drawing/2014/main" id="{3C7CAAB7-D87E-4885-BF21-78A143C4B9F6}"/>
              </a:ext>
            </a:extLst>
          </p:cNvPr>
          <p:cNvSpPr>
            <a:spLocks noGrp="1"/>
          </p:cNvSpPr>
          <p:nvPr>
            <p:ph type="sldNum" sz="quarter" idx="12"/>
          </p:nvPr>
        </p:nvSpPr>
        <p:spPr/>
        <p:txBody>
          <a:bodyPr/>
          <a:lstStyle/>
          <a:p>
            <a:pPr>
              <a:defRPr/>
            </a:pPr>
            <a:fld id="{4D43F197-C583-4294-BD21-B6AE0DDD46C4}" type="slidenum">
              <a:rPr lang="en-US" smtClean="0"/>
              <a:pPr>
                <a:defRPr/>
              </a:pPr>
              <a:t>45</a:t>
            </a:fld>
            <a:endParaRPr lang="en-US" dirty="0"/>
          </a:p>
        </p:txBody>
      </p:sp>
    </p:spTree>
    <p:extLst>
      <p:ext uri="{BB962C8B-B14F-4D97-AF65-F5344CB8AC3E}">
        <p14:creationId xmlns:p14="http://schemas.microsoft.com/office/powerpoint/2010/main" val="952733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3274</Words>
  <Application>Microsoft Office PowerPoint</Application>
  <PresentationFormat>On-screen Show (4:3)</PresentationFormat>
  <Paragraphs>335</Paragraphs>
  <Slides>45</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DengXian</vt:lpstr>
      <vt:lpstr>DengXian Light</vt:lpstr>
      <vt:lpstr>MS PGothic</vt:lpstr>
      <vt:lpstr>MS PGothic</vt:lpstr>
      <vt:lpstr>Arial</vt:lpstr>
      <vt:lpstr>Calibri</vt:lpstr>
      <vt:lpstr>Calibri Light</vt:lpstr>
      <vt:lpstr>Palatino Linotype</vt:lpstr>
      <vt:lpstr>Wingdings</vt:lpstr>
      <vt:lpstr>Office Theme</vt:lpstr>
      <vt:lpstr>AC6761 Artificial Intelligence Accounting</vt:lpstr>
      <vt:lpstr>What is Artificial Intelligence? </vt:lpstr>
      <vt:lpstr>Types</vt:lpstr>
      <vt:lpstr>History of AI Development </vt:lpstr>
      <vt:lpstr>History of AI Development</vt:lpstr>
      <vt:lpstr>History of AI Development</vt:lpstr>
      <vt:lpstr>AI</vt:lpstr>
      <vt:lpstr>Machine Learning vs. Deep Learning​ </vt:lpstr>
      <vt:lpstr>Types of machine learning</vt:lpstr>
      <vt:lpstr>Supervised learning</vt:lpstr>
      <vt:lpstr>Supervised learning – Key characteristics</vt:lpstr>
      <vt:lpstr>Supervised learning – Example</vt:lpstr>
      <vt:lpstr>Supervised learning – Pros and Cons</vt:lpstr>
      <vt:lpstr>Unsupervised learning</vt:lpstr>
      <vt:lpstr>Unsupervised learning – Key characteristics</vt:lpstr>
      <vt:lpstr>Unsupervised learning – Example</vt:lpstr>
      <vt:lpstr>Unsupervised learning – Pros and Cons</vt:lpstr>
      <vt:lpstr>Semi-supervised learning</vt:lpstr>
      <vt:lpstr>Semi-supervised learning – Key characteristics</vt:lpstr>
      <vt:lpstr>Semi-supervised learning – Example</vt:lpstr>
      <vt:lpstr>Semi-supervised learning – Pros and Cons</vt:lpstr>
      <vt:lpstr>Reinforcement learning</vt:lpstr>
      <vt:lpstr>Reinforcement learning – Key characteristics</vt:lpstr>
      <vt:lpstr>Reinforcement learning – Example</vt:lpstr>
      <vt:lpstr>Reinforcement learning – Pros and Cons</vt:lpstr>
      <vt:lpstr>Applications of Machine learning</vt:lpstr>
      <vt:lpstr>Predictions using machine learning</vt:lpstr>
      <vt:lpstr>Linear regression</vt:lpstr>
      <vt:lpstr>The best-fit line</vt:lpstr>
      <vt:lpstr>Least squared errors</vt:lpstr>
      <vt:lpstr>AI in Daily Life in general </vt:lpstr>
      <vt:lpstr>AI in Daily Life in general</vt:lpstr>
      <vt:lpstr>AI in Business in particular</vt:lpstr>
      <vt:lpstr>AI in Business in particular</vt:lpstr>
      <vt:lpstr>The application of AI in accounting</vt:lpstr>
      <vt:lpstr>Key Technologies in AI Accounting </vt:lpstr>
      <vt:lpstr>Deep Learning </vt:lpstr>
      <vt:lpstr>Natural Language Processing </vt:lpstr>
      <vt:lpstr>Generative AI </vt:lpstr>
      <vt:lpstr>Robotic Process Automation </vt:lpstr>
      <vt:lpstr>Optical Character Recognition </vt:lpstr>
      <vt:lpstr>AI-powered tools used in Accounting</vt:lpstr>
      <vt:lpstr>The evolution of AI in accounting </vt:lpstr>
      <vt:lpstr>Advantages of AI in accounting </vt:lpstr>
      <vt:lpstr>Disadvantages of AI in accounting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2020-08-27T08:06:10Z</dcterms:created>
  <dcterms:modified xsi:type="dcterms:W3CDTF">2026-10-20T10:27:10Z</dcterms:modified>
</cp:coreProperties>
</file>