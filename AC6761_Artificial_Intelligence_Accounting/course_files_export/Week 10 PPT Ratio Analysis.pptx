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18"/>
  </p:notesMasterIdLst>
  <p:handoutMasterIdLst>
    <p:handoutMasterId r:id="rId19"/>
  </p:handoutMasterIdLst>
  <p:sldIdLst>
    <p:sldId id="397" r:id="rId2"/>
    <p:sldId id="398" r:id="rId3"/>
    <p:sldId id="399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2" r:id="rId17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2494" autoAdjust="0"/>
  </p:normalViewPr>
  <p:slideViewPr>
    <p:cSldViewPr>
      <p:cViewPr varScale="1">
        <p:scale>
          <a:sx n="59" d="100"/>
          <a:sy n="59" d="100"/>
        </p:scale>
        <p:origin x="188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192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4" y="1"/>
            <a:ext cx="1510595" cy="330942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46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/>
          <p:cNvSpPr>
            <a:spLocks noGrp="1"/>
          </p:cNvSpPr>
          <p:nvPr>
            <p:ph type="ctrTitle"/>
          </p:nvPr>
        </p:nvSpPr>
        <p:spPr>
          <a:xfrm>
            <a:off x="609600" y="1088237"/>
            <a:ext cx="6858000" cy="171893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b="1" dirty="0"/>
              <a:t>Ratio Analysis</a:t>
            </a:r>
          </a:p>
        </p:txBody>
      </p:sp>
      <p:sp>
        <p:nvSpPr>
          <p:cNvPr id="129027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7696200" cy="1543012"/>
          </a:xfrm>
        </p:spPr>
        <p:txBody>
          <a:bodyPr>
            <a:normAutofit/>
          </a:bodyPr>
          <a:lstStyle/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>
                <a:solidFill>
                  <a:srgbClr val="898989"/>
                </a:solidFill>
              </a:rPr>
              <a:t>Chapter 10</a:t>
            </a:r>
            <a:endParaRPr lang="en-US" altLang="en-US" sz="3600" b="1" dirty="0">
              <a:solidFill>
                <a:srgbClr val="898989"/>
              </a:solidFill>
            </a:endParaRPr>
          </a:p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Supporting Materials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7FDC-BA88-4B6B-8105-708385EE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Liquidity Ratios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816BA-E42B-4260-BAB3-E545F42CB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Current ratio</a:t>
            </a:r>
          </a:p>
          <a:p>
            <a:endParaRPr lang="en-HK" dirty="0"/>
          </a:p>
          <a:p>
            <a:r>
              <a:rPr lang="en-HK" dirty="0"/>
              <a:t>Quick ratio (Acid-test ratio)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62377-9467-4A27-A28A-11041D9F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01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0E2A-3987-4DFC-B262-DD0F5A1C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40" y="114753"/>
            <a:ext cx="7886700" cy="1325563"/>
          </a:xfrm>
        </p:spPr>
        <p:txBody>
          <a:bodyPr/>
          <a:lstStyle/>
          <a:p>
            <a:r>
              <a:rPr lang="en-HK" dirty="0"/>
              <a:t>Current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8CEA6-F336-4519-BB2E-39DA96229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0316"/>
            <a:ext cx="7886700" cy="4736647"/>
          </a:xfrm>
        </p:spPr>
        <p:txBody>
          <a:bodyPr/>
          <a:lstStyle/>
          <a:p>
            <a:pPr fontAlgn="base"/>
            <a:r>
              <a:rPr lang="en-HK" dirty="0"/>
              <a:t>Benchmark: A traditional benchmark is a ratio of 2.0, but this varies by industry. A ratio below 1.0 indicates potential illiquidity.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Quality of Current Assets: A high ratio is meaningless if the current assets are of poor quality. For example, a company full of outdated inventory will struggle to pay its bills even with a high current ratio.  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Window Dressing: Companies can artificially inflate the ratio just before the reporting date (e.g., by paying off some current liabilities), which then reverts to normal after the reporting period.  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743FD-43D1-4E90-A22B-3517A947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61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C4C9-A29A-4A11-8B6F-309A1899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Quick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3699-6637-4D78-A3E5-551D6C7F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dirty="0"/>
              <a:t>A More Stringent Test: This ratio excludes inventory and prepaid expenses, focusing on the most liquid assets. 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Benchmark: A common benchmark is 1.0. A ratio of 1.0 or higher is considered comfortable, indicating that for every dollar of short-term debt, there is at least a dollar of highly liquid assets available.</a:t>
            </a:r>
          </a:p>
          <a:p>
            <a:pPr fontAlgn="base"/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5CAE-5895-4D7A-978A-09AE670D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AF4E-0404-4410-82B4-364825BE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Profitability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C0C2B-481F-491A-999E-724621D08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Gross Profit Margin</a:t>
            </a:r>
          </a:p>
          <a:p>
            <a:endParaRPr lang="en-HK" dirty="0"/>
          </a:p>
          <a:p>
            <a:r>
              <a:rPr lang="en-HK" dirty="0"/>
              <a:t>Return on Equity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1FE21-3255-44B2-9D73-C54C321A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8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4950-8C88-4B49-A630-F132DD17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Gross Profit Margin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F86A8-78D6-472E-91A7-234B33022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dirty="0"/>
              <a:t>Indicator of Production Efficiency: A high ratio indicates the company has pricing power or is controlling its direct costs effectively.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Watch for Trends: A declining gross margin is a major red flag. It could mean increased competition (forcing price cuts), rising raw material costs, or production inefficiencies.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EFBA6-8557-4CB5-B645-38C3AE0E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0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A3A1-495F-44CB-A4EB-28CE90BD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Return on Equity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9263F-3B46-46B4-8B78-E9954243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/>
          <a:lstStyle/>
          <a:p>
            <a:pPr fontAlgn="base"/>
            <a:r>
              <a:rPr lang="en-HK" dirty="0"/>
              <a:t>The Ultimate Measure for Shareholders: ROE measures how effectively management is using the money invested by shareholders to generate profits.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DuPont Analysis:  Decompose it using the DuPont formula. This tells you if the ROE is driven by high profitability (margin), efficient use of assets (turnover), or high financial leverage (debt).  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582A-6D50-498C-B11D-4CED837C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4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53E1-DB17-43B1-909F-1CBE8347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Solvency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1456-81D3-46C5-9649-672F4FC68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Debt-to-Equity Ratio</a:t>
            </a:r>
          </a:p>
          <a:p>
            <a:endParaRPr lang="en-HK" dirty="0"/>
          </a:p>
          <a:p>
            <a:r>
              <a:rPr lang="en-HK" dirty="0"/>
              <a:t>Interest Coverage Ratio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1EBE9-A3FE-404A-983C-BF872942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3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024B-654B-4E8F-9FCD-9FACD88D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Debt-to-Equity Ratio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75BDC-CD12-409C-8AC9-89B16C911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dirty="0"/>
              <a:t>Risk Assessment: This ratio measures the proportion of debt financing relative to equity. A higher ratio means higher financial risk (more fixed interest payments).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Trend is Crucial: A rapidly increasing D/E ratio signals that the company is taking on more debt, which could become unsustainable.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7A6AA-8A33-4044-A131-2E43E8E8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0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44A9-CFC0-4B8E-B7BF-462F425E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Interest Coverage Ratio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F653A-C2BC-49AA-A681-98986F1C1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dirty="0"/>
              <a:t>Safety Margin: This ratio shows how many times a company's operating earnings can cover its annual interest payments.  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Benchmark: A ratio below 1.5 is often considered a warning signal. A ratio below 1.0 means the company is not generating enough profit to pay its interest expenses—a critical situation. 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438ED-5F2F-4C4B-9597-BBEEB58F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3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F7C4-2E8E-4948-A037-1F029EC1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Efficiency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9A85F-F5D8-400F-9029-F9CFF7590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Inventory Turnover</a:t>
            </a:r>
          </a:p>
          <a:p>
            <a:endParaRPr lang="en-HK" dirty="0"/>
          </a:p>
          <a:p>
            <a:r>
              <a:rPr lang="en-HK" dirty="0"/>
              <a:t>Receivables Turnover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82C7-76EF-4DAB-9F74-930C67DF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81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C043-F33C-4FF0-94F5-AD357914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Inventory Turnover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44FDB-BBA0-4574-A229-B13404A93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dirty="0"/>
              <a:t>Interpretation: It indicates how many times a company sells and replaces its inventory during a period. A higher ratio is generally better, indicating efficient inventory management.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Days in Inventory: Calculate it as 365 / Inventory Turnover. This tells you the average number of days an item sits in inventory. 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Benchmark: A very low turnover may indicate obsolete inventory or short of sale An unusually high turnover might mean the company is under-stocked.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8D1DE-BC5C-48C0-BC0B-784BE5B4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12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1111-40D1-4D2D-A118-ECEF5B4E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Receivables Turnover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31F87-B2D2-4889-94F6-724D6EB41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HK" dirty="0"/>
              <a:t>Collection Efficiency: This ratio shows how quickly a company collects cash from its credit customers.  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Days Sales Outstanding (DSO): Calculate it as 365 / Receivable Turnover. It represents the average collection days. 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Trend Analysis: A rising DSO (falling turnover) is a red flag. It could mean customers are facing financial difficulty or the company is being ineffective in its collection efforts.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C5622-6476-48F3-81DC-92060296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0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5FCA-1472-45FE-B852-7CEB8CB2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Market Ratios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9B73-9829-4DA5-83D5-7E97EB6BF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Price-to-Earnings (P/E) Ratio</a:t>
            </a:r>
          </a:p>
          <a:p>
            <a:endParaRPr lang="en-HK" dirty="0"/>
          </a:p>
          <a:p>
            <a:r>
              <a:rPr lang="en-HK" dirty="0"/>
              <a:t>Price-to-Book (P/B) Ratio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22020-E2F9-48A1-B30B-C30F3026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46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9945-1A9D-4DD5-AA13-B8137E25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Price-to-Earnings (P/E) Ratio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B358-476C-4E26-A426-EAAB2865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889375"/>
          </a:xfrm>
        </p:spPr>
        <p:txBody>
          <a:bodyPr>
            <a:normAutofit/>
          </a:bodyPr>
          <a:lstStyle/>
          <a:p>
            <a:pPr fontAlgn="base"/>
            <a:r>
              <a:rPr lang="en-HK" dirty="0"/>
              <a:t>Benchmark: A high P/E suggests the market expects high earnings growth in the future. A low P/E suggests low growth expectations or problems.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Compare it to: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HK" dirty="0"/>
              <a:t>The company's own historical P/E.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HK" dirty="0"/>
              <a:t>The P/E ratios of direct competitors.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HK" dirty="0"/>
              <a:t>The average P/E for the overall market.</a:t>
            </a:r>
          </a:p>
          <a:p>
            <a:pPr fontAlgn="base"/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42EBD-DD2B-4CBC-8F34-AE510B26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1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DC4C-85CC-4029-A480-A7453EF3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Price-to-Book (P/B) Ratio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FB094-47B6-49BB-A43E-C4B45A00E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HK" dirty="0"/>
              <a:t>Benchmark: A P/B ratio above 1.0 means the market values the company more than its accounting value, often due to intangible assets like brand value and human capital. A P/B below 1.0 signal a undervalued company or one in serious trouble.</a:t>
            </a:r>
          </a:p>
          <a:p>
            <a:pPr fontAlgn="base"/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117A4-66A2-419A-A833-77B86A07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3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763</Words>
  <Application>Microsoft Office PowerPoint</Application>
  <PresentationFormat>On-screen Show (4:3)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MS PGothic</vt:lpstr>
      <vt:lpstr>MS PGothic</vt:lpstr>
      <vt:lpstr>Arial</vt:lpstr>
      <vt:lpstr>Calibri</vt:lpstr>
      <vt:lpstr>Calibri Light</vt:lpstr>
      <vt:lpstr>Palatino Linotype</vt:lpstr>
      <vt:lpstr>Wingdings</vt:lpstr>
      <vt:lpstr>Office Theme</vt:lpstr>
      <vt:lpstr>Ratio Analysis</vt:lpstr>
      <vt:lpstr>Liquidity Ratios </vt:lpstr>
      <vt:lpstr>Current ratio</vt:lpstr>
      <vt:lpstr>Quick ratio</vt:lpstr>
      <vt:lpstr>Profitability Ratios</vt:lpstr>
      <vt:lpstr>Gross Profit Margin </vt:lpstr>
      <vt:lpstr>Return on Equity </vt:lpstr>
      <vt:lpstr>Solvency Ratios</vt:lpstr>
      <vt:lpstr>Debt-to-Equity Ratio </vt:lpstr>
      <vt:lpstr>Interest Coverage Ratio </vt:lpstr>
      <vt:lpstr>Efficiency Ratios</vt:lpstr>
      <vt:lpstr>Inventory Turnover </vt:lpstr>
      <vt:lpstr>Receivables Turnover </vt:lpstr>
      <vt:lpstr>Market Ratios  </vt:lpstr>
      <vt:lpstr>Price-to-Earnings (P/E) Ratio </vt:lpstr>
      <vt:lpstr>Price-to-Book (P/B) Ratio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2026-10-21T09:21:48Z</dcterms:modified>
</cp:coreProperties>
</file>