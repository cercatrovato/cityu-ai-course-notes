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41"/>
  </p:notesMasterIdLst>
  <p:handoutMasterIdLst>
    <p:handoutMasterId r:id="rId42"/>
  </p:handoutMasterIdLst>
  <p:sldIdLst>
    <p:sldId id="397" r:id="rId2"/>
    <p:sldId id="439" r:id="rId3"/>
    <p:sldId id="440" r:id="rId4"/>
    <p:sldId id="441" r:id="rId5"/>
    <p:sldId id="442" r:id="rId6"/>
    <p:sldId id="443" r:id="rId7"/>
    <p:sldId id="444" r:id="rId8"/>
    <p:sldId id="445" r:id="rId9"/>
    <p:sldId id="446" r:id="rId10"/>
    <p:sldId id="448" r:id="rId11"/>
    <p:sldId id="447" r:id="rId12"/>
    <p:sldId id="449" r:id="rId13"/>
    <p:sldId id="450" r:id="rId14"/>
    <p:sldId id="451" r:id="rId15"/>
    <p:sldId id="452" r:id="rId16"/>
    <p:sldId id="453" r:id="rId17"/>
    <p:sldId id="454" r:id="rId18"/>
    <p:sldId id="455" r:id="rId19"/>
    <p:sldId id="402" r:id="rId20"/>
    <p:sldId id="403" r:id="rId21"/>
    <p:sldId id="405" r:id="rId22"/>
    <p:sldId id="404" r:id="rId23"/>
    <p:sldId id="406" r:id="rId24"/>
    <p:sldId id="407" r:id="rId25"/>
    <p:sldId id="408" r:id="rId26"/>
    <p:sldId id="413" r:id="rId27"/>
    <p:sldId id="409" r:id="rId28"/>
    <p:sldId id="414" r:id="rId29"/>
    <p:sldId id="415" r:id="rId30"/>
    <p:sldId id="416" r:id="rId31"/>
    <p:sldId id="417" r:id="rId32"/>
    <p:sldId id="411" r:id="rId33"/>
    <p:sldId id="419" r:id="rId34"/>
    <p:sldId id="420" r:id="rId35"/>
    <p:sldId id="421" r:id="rId36"/>
    <p:sldId id="422" r:id="rId37"/>
    <p:sldId id="423" r:id="rId38"/>
    <p:sldId id="424" r:id="rId39"/>
    <p:sldId id="425" r:id="rId40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61" autoAdjust="0"/>
    <p:restoredTop sz="92494" autoAdjust="0"/>
  </p:normalViewPr>
  <p:slideViewPr>
    <p:cSldViewPr>
      <p:cViewPr varScale="1">
        <p:scale>
          <a:sx n="59" d="100"/>
          <a:sy n="59" d="100"/>
        </p:scale>
        <p:origin x="20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240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3" y="0"/>
            <a:ext cx="1510595" cy="330995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46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/>
          <p:cNvSpPr>
            <a:spLocks noGrp="1"/>
          </p:cNvSpPr>
          <p:nvPr>
            <p:ph type="ctrTitle"/>
          </p:nvPr>
        </p:nvSpPr>
        <p:spPr>
          <a:xfrm>
            <a:off x="609600" y="1088237"/>
            <a:ext cx="6858000" cy="171893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b="1" dirty="0"/>
              <a:t>AC6761 Artificial Intelligence Accounting</a:t>
            </a:r>
          </a:p>
        </p:txBody>
      </p:sp>
      <p:sp>
        <p:nvSpPr>
          <p:cNvPr id="129027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7696200" cy="1543012"/>
          </a:xfrm>
        </p:spPr>
        <p:txBody>
          <a:bodyPr>
            <a:normAutofit lnSpcReduction="10000"/>
          </a:bodyPr>
          <a:lstStyle/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Chapter 11 Hands-on AI Application, Ethical Considerations and Future Trends </a:t>
            </a:r>
            <a:r>
              <a:rPr lang="en-US" altLang="zh-CN" sz="3600" b="1" dirty="0">
                <a:solidFill>
                  <a:srgbClr val="898989"/>
                </a:solidFill>
              </a:rPr>
              <a:t>of AI</a:t>
            </a:r>
            <a:endParaRPr lang="en-US" altLang="en-US" sz="3600" b="1" dirty="0">
              <a:solidFill>
                <a:srgbClr val="898989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3896-242A-4F74-88C0-87CAF388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143750" cy="1325563"/>
          </a:xfrm>
        </p:spPr>
        <p:txBody>
          <a:bodyPr/>
          <a:lstStyle/>
          <a:p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979CD-E5BC-4193-845A-3607FCCD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4119563"/>
          </a:xfrm>
        </p:spPr>
        <p:txBody>
          <a:bodyPr/>
          <a:lstStyle/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Financial Forecasting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in AI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 of AI</a:t>
            </a:r>
          </a:p>
          <a:p>
            <a:endParaRPr lang="en-HK" b="1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3F1B2-38D0-488D-B4C0-0AFD66E8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39F866-76B1-45DB-868A-D225B6E20FA9}"/>
              </a:ext>
            </a:extLst>
          </p:cNvPr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7289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F594-71C8-4D70-97A5-221E88AB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Machine Learning?​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EE0F7-469E-4CDE-AE78-8C23F3437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Programming:​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​Input:​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Data + Rules/Program</a:t>
            </a: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​Output:​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Answers</a:t>
            </a:r>
          </a:p>
          <a:p>
            <a:pPr fontAlgn="base"/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​Machine Learning:​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​Input:​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Data + Answers</a:t>
            </a: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​Output:​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Rules/Model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66AE4-5C70-4812-91EC-3F11EE59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82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6A8C-1A49-4C06-BEB3-58ED9731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Forecast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7EFB-6D80-4D4E-8A97-36CFC66B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Stock Price:​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Using historical data where we know the final price to predict future prices. 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Learning: Algorithm learns from 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​labelled data​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​. 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historical financial data and stock price (labelled data) is used to train AI. 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forecast is a typical application of Supervised Learning. 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D1049-F056-4456-8610-569C58D3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52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B9CD-C5E6-4A7F-9C06-ED607768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Supervised Learning Process​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E3C5-577B-46C0-A166-DBC064C60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/>
          <a:lstStyle/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Idea:​​ Learn a function (a ​​model​​) that maps input variables (X) to an output variable (Y).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Flowchart:​​​​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Data:​​ Collect data where we know both the ​​Features (X variables)​​ and the ​​Target (Y variable)​​.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​​Training:​​ The algorithm </a:t>
            </a:r>
            <a:r>
              <a:rPr lang="en-HK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to find the "best" mathematical relationship between X and Y. This creates the ​​model​​.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​​Prediction:​​ Use the trained model with ​​new X data​​ (where Y is unknown) to ​​forecast the future Y​​.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10430-3FA6-4BB0-8ED9-00DC32FA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3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61B2-C1B4-4ECC-928C-B19B766A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6DDF5-2E56-4E71-899A-BFD8C765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​​X Variables (Features):​​ [Book-to-Market Ratio, Company Size, Profitability]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​​Y Variable (Target):​​ Next Year's Stock Return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​​Model:​​ Predicted Return = f(Book-to-Market, Size, Profitability)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08D07-A86A-45CB-A2B1-459562C5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90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F41F-8E02-449A-9FBF-3F78600D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Machine Learning Forecasting​</a:t>
            </a:r>
            <a:br>
              <a:rPr lang="en-HK" b="1" dirty="0"/>
            </a:br>
            <a:endParaRPr lang="en-H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81F56B-86C5-42B0-9436-859E943AE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855045"/>
              </p:ext>
            </p:extLst>
          </p:nvPr>
        </p:nvGraphicFramePr>
        <p:xfrm>
          <a:off x="628650" y="1295400"/>
          <a:ext cx="8134350" cy="4876800"/>
        </p:xfrm>
        <a:graphic>
          <a:graphicData uri="http://schemas.openxmlformats.org/drawingml/2006/table">
            <a:tbl>
              <a:tblPr/>
              <a:tblGrid>
                <a:gridCol w="1002058">
                  <a:extLst>
                    <a:ext uri="{9D8B030D-6E8A-4147-A177-3AD203B41FA5}">
                      <a16:colId xmlns:a16="http://schemas.microsoft.com/office/drawing/2014/main" val="926189409"/>
                    </a:ext>
                  </a:extLst>
                </a:gridCol>
                <a:gridCol w="1571855">
                  <a:extLst>
                    <a:ext uri="{9D8B030D-6E8A-4147-A177-3AD203B41FA5}">
                      <a16:colId xmlns:a16="http://schemas.microsoft.com/office/drawing/2014/main" val="94120993"/>
                    </a:ext>
                  </a:extLst>
                </a:gridCol>
                <a:gridCol w="5560437">
                  <a:extLst>
                    <a:ext uri="{9D8B030D-6E8A-4147-A177-3AD203B41FA5}">
                      <a16:colId xmlns:a16="http://schemas.microsoft.com/office/drawing/2014/main" val="1414749117"/>
                    </a:ext>
                  </a:extLst>
                </a:gridCol>
              </a:tblGrid>
              <a:tr h="508225"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 for Forecasting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420332"/>
                  </a:ext>
                </a:extLst>
              </a:tr>
              <a:tr h="1092144"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​Python</a:t>
                      </a:r>
                      <a:endParaRPr lang="en-HK" sz="16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Programming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flexible, vast library of algorithms, industry standard for AI research.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96743"/>
                  </a:ext>
                </a:extLst>
              </a:tr>
              <a:tr h="800185"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​R​</a:t>
                      </a:r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Programming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for statistical analysis and prototyping new models.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310434"/>
                  </a:ext>
                </a:extLst>
              </a:tr>
              <a:tr h="1384102"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​SAS​</a:t>
                      </a:r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Software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​Enterprise-grade reliability​</a:t>
                      </a:r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​, excellent for handling large datasets, strong emphasis on model validation and deployment.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50486"/>
                  </a:ext>
                </a:extLst>
              </a:tr>
              <a:tr h="1092144"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​Stata​</a:t>
                      </a:r>
                      <a:r>
                        <a:rPr lang="en-HK" sz="16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Software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Popular in econometrics, strong for panel data analysis, but less focused on modern ML.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91689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A25E2-D0DB-4133-8329-34762E88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9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8B4F-F97B-49BA-B95E-3599513E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SAS for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50997-C9BA-406C-88D3-C668BB60D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SAS?​​</a:t>
            </a:r>
          </a:p>
          <a:p>
            <a:pPr fontAlgn="base"/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suite for ​​advanced analytics, multivariate analysis, and predictive </a:t>
            </a:r>
            <a:r>
              <a:rPr lang="en-HK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​​.</a:t>
            </a:r>
          </a:p>
          <a:p>
            <a:pPr fontAlgn="base"/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procedural language where you call pre-defined routines (​​PROCEDURES​​ or ​​PROCs​​).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80B88-797B-4D58-A407-E2676212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99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9889E-D43C-4AB1-8CBD-A5E1EF2E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SAS Procedures for Machine Learning:​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FF9A7E-2D1A-4ADA-82DB-F1B93DC9A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309776"/>
              </p:ext>
            </p:extLst>
          </p:nvPr>
        </p:nvGraphicFramePr>
        <p:xfrm>
          <a:off x="628650" y="1690689"/>
          <a:ext cx="7886700" cy="4329111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169745489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76022325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655267422"/>
                    </a:ext>
                  </a:extLst>
                </a:gridCol>
              </a:tblGrid>
              <a:tr h="549914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 Name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HK" sz="18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755335"/>
                  </a:ext>
                </a:extLst>
              </a:tr>
              <a:tr h="865822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​​PROC REG​​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foundational predictive model.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081218"/>
                  </a:ext>
                </a:extLst>
              </a:tr>
              <a:tr h="865822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​​PROC LOGISTIC​​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(e.g., bankrupt/not bankrupt)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HK" sz="1800" b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052648"/>
                  </a:ext>
                </a:extLst>
              </a:tr>
              <a:tr h="1181731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​​PROC GLMSELECT​​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​​Advanced regression with variable selection​​ (e.g., LASSO). ​​Prevents overfitting.​​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HK" sz="18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815016"/>
                  </a:ext>
                </a:extLst>
              </a:tr>
              <a:tr h="865822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​​PROC HPFOREST​​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Forests - a powerful, non-linear ML algorithm.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HK" sz="18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07057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79D03-E98B-4088-B0AC-C0D2A97A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DDB8D09-C855-45BD-AAA1-CB0AEBFDA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98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2283-625F-43D7-93ED-FB361436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Predicting a Firm's Stock Price​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9372D-8237-40A5-932B-A0A9F9D6E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Question:​​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use a firm's financial characteristics today to predict its stock price one year from now?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D24DC-92D5-4480-865A-50DABA46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8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8C3B-E2F5-472D-8D85-31ED9B01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886700" cy="1325563"/>
          </a:xfrm>
        </p:spPr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D0A0-9F9F-4501-B942-DCA33AA3D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756151"/>
          </a:xfrm>
        </p:spPr>
        <p:txBody>
          <a:bodyPr>
            <a:normAutofit lnSpcReduction="10000"/>
          </a:bodyPr>
          <a:lstStyle/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​​Define the Target (Y):​​ Stock Price in One Year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​​Define the Features (X):​​ Firm's financial ratios from its annual report.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​​Collect Data:​​ Historical data for many firms over many years.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​​Train a Model:​​ Use SAS to find the relationship between X and Y.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​​Make a Prediction:​​ Apply the model to a specific firm's latest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B4A27-F772-4140-98B7-0E2C4CC2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5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F1FC-3AD5-4810-A414-40AF6113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Defining Features (X) from Financial Theory​</a:t>
            </a:r>
            <a:br>
              <a:rPr lang="en-HK" b="1" dirty="0"/>
            </a:br>
            <a:endParaRPr lang="en-H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ABC178-95A3-46BA-A8A7-808A63392E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380177"/>
              </p:ext>
            </p:extLst>
          </p:nvPr>
        </p:nvGraphicFramePr>
        <p:xfrm>
          <a:off x="628650" y="1524000"/>
          <a:ext cx="8134350" cy="4571999"/>
        </p:xfrm>
        <a:graphic>
          <a:graphicData uri="http://schemas.openxmlformats.org/drawingml/2006/table">
            <a:tbl>
              <a:tblPr/>
              <a:tblGrid>
                <a:gridCol w="1739020">
                  <a:extLst>
                    <a:ext uri="{9D8B030D-6E8A-4147-A177-3AD203B41FA5}">
                      <a16:colId xmlns:a16="http://schemas.microsoft.com/office/drawing/2014/main" val="3747710906"/>
                    </a:ext>
                  </a:extLst>
                </a:gridCol>
                <a:gridCol w="3197665">
                  <a:extLst>
                    <a:ext uri="{9D8B030D-6E8A-4147-A177-3AD203B41FA5}">
                      <a16:colId xmlns:a16="http://schemas.microsoft.com/office/drawing/2014/main" val="1019849542"/>
                    </a:ext>
                  </a:extLst>
                </a:gridCol>
                <a:gridCol w="3197665">
                  <a:extLst>
                    <a:ext uri="{9D8B030D-6E8A-4147-A177-3AD203B41FA5}">
                      <a16:colId xmlns:a16="http://schemas.microsoft.com/office/drawing/2014/main" val="1305870581"/>
                    </a:ext>
                  </a:extLst>
                </a:gridCol>
              </a:tblGrid>
              <a:tr h="515309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Predictor Variable (X)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Rationale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357550"/>
                  </a:ext>
                </a:extLst>
              </a:tr>
              <a:tr h="811338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​Value​</a:t>
                      </a:r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Book-to-Market Ratio (B/M)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B/M ("value" stocks) often outperform.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53896"/>
                  </a:ext>
                </a:extLst>
              </a:tr>
              <a:tr h="811338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​Profitability​</a:t>
                      </a:r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on Equity (ROE)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profitable firms should have higher returns.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89688"/>
                  </a:ext>
                </a:extLst>
              </a:tr>
              <a:tr h="811338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​Investment​</a:t>
                      </a:r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 Growth (AG)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Firms growing assets too fast may have lower future returns.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64647"/>
                  </a:ext>
                </a:extLst>
              </a:tr>
              <a:tr h="811338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​Momentum​</a:t>
                      </a:r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 1-Year Return (MOM)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Stocks with good recent performance may continue.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511166"/>
                  </a:ext>
                </a:extLst>
              </a:tr>
              <a:tr h="811338"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​Size​</a:t>
                      </a:r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 of Market Capitalization (SIZE)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Smaller firms may have higher expected returns.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9628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8B6E0-D6B2-4308-9505-B7E72177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405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0717-E82D-43B9-ACF7-A5D6B1A8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SAS Code: Data Preparation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2646C-CE77-4470-BCD2-E31E96730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729163"/>
          </a:xfrm>
        </p:spPr>
        <p:txBody>
          <a:bodyPr>
            <a:normAutofit/>
          </a:bodyPr>
          <a:lstStyle/>
          <a:p>
            <a:r>
              <a:rPr lang="en-HK" i="1" dirty="0"/>
              <a:t>/* 1. Import stock price data (e.g., from CRSP database) */</a:t>
            </a:r>
            <a:r>
              <a:rPr lang="en-HK" dirty="0"/>
              <a:t> proc import datafile="/data/stock_prices.csv" out=prices </a:t>
            </a:r>
            <a:r>
              <a:rPr lang="en-HK" dirty="0" err="1"/>
              <a:t>dbms</a:t>
            </a:r>
            <a:r>
              <a:rPr lang="en-HK" dirty="0"/>
              <a:t>=csv replace; run; </a:t>
            </a:r>
          </a:p>
          <a:p>
            <a:endParaRPr lang="en-HK" i="1" dirty="0"/>
          </a:p>
          <a:p>
            <a:r>
              <a:rPr lang="en-HK" i="1" dirty="0"/>
              <a:t>/*2. Import financial statement data (e.g., from </a:t>
            </a:r>
            <a:r>
              <a:rPr lang="en-HK" i="1" dirty="0" err="1"/>
              <a:t>Compustat</a:t>
            </a:r>
            <a:r>
              <a:rPr lang="en-HK" i="1" dirty="0"/>
              <a:t>) */</a:t>
            </a:r>
            <a:r>
              <a:rPr lang="en-HK" dirty="0"/>
              <a:t> proc import datafile="/data/financials.csv" out=financials </a:t>
            </a:r>
            <a:r>
              <a:rPr lang="en-HK" dirty="0" err="1"/>
              <a:t>dbms</a:t>
            </a:r>
            <a:r>
              <a:rPr lang="en-HK" dirty="0"/>
              <a:t>=csv replace; run; </a:t>
            </a:r>
          </a:p>
          <a:p>
            <a:endParaRPr lang="en-HK" i="1" dirty="0"/>
          </a:p>
          <a:p>
            <a:r>
              <a:rPr lang="en-HK" i="1" dirty="0"/>
              <a:t>/* 3. Calculate the features (X variables) for each firm-year */</a:t>
            </a:r>
            <a:r>
              <a:rPr lang="en-HK" dirty="0"/>
              <a:t> data features; set financials; by </a:t>
            </a:r>
            <a:r>
              <a:rPr lang="en-HK" dirty="0" err="1"/>
              <a:t>gvkey</a:t>
            </a:r>
            <a:r>
              <a:rPr lang="en-HK" dirty="0"/>
              <a:t> </a:t>
            </a:r>
            <a:r>
              <a:rPr lang="en-HK" dirty="0" err="1"/>
              <a:t>fyear</a:t>
            </a:r>
            <a:r>
              <a:rPr lang="en-HK" dirty="0"/>
              <a:t>; </a:t>
            </a:r>
            <a:r>
              <a:rPr lang="en-HK" i="1" dirty="0"/>
              <a:t>/* Group by firm and fiscal year */</a:t>
            </a:r>
            <a:r>
              <a:rPr lang="en-HK" dirty="0"/>
              <a:t> </a:t>
            </a:r>
            <a:r>
              <a:rPr lang="en-HK" i="1" dirty="0"/>
              <a:t>/* Calculate predictor variables */</a:t>
            </a:r>
            <a:r>
              <a:rPr lang="en-HK" dirty="0"/>
              <a:t> BM = </a:t>
            </a:r>
            <a:r>
              <a:rPr lang="en-HK" dirty="0" err="1"/>
              <a:t>bkvlps</a:t>
            </a:r>
            <a:r>
              <a:rPr lang="en-HK" dirty="0"/>
              <a:t> / </a:t>
            </a:r>
            <a:r>
              <a:rPr lang="en-HK" dirty="0" err="1"/>
              <a:t>prcc_f</a:t>
            </a:r>
            <a:r>
              <a:rPr lang="en-HK" dirty="0"/>
              <a:t>; </a:t>
            </a:r>
            <a:r>
              <a:rPr lang="en-HK" i="1" dirty="0"/>
              <a:t>/* Book-to-Market Ratio */</a:t>
            </a:r>
            <a:r>
              <a:rPr lang="en-HK" dirty="0"/>
              <a:t> ROE = </a:t>
            </a:r>
            <a:r>
              <a:rPr lang="en-HK" dirty="0" err="1"/>
              <a:t>ni</a:t>
            </a:r>
            <a:r>
              <a:rPr lang="en-HK" dirty="0"/>
              <a:t> / she; </a:t>
            </a:r>
            <a:r>
              <a:rPr lang="en-HK" i="1" dirty="0"/>
              <a:t>/* Return on Equity */</a:t>
            </a:r>
            <a:r>
              <a:rPr lang="en-HK" dirty="0"/>
              <a:t> AG = (at / lag(at)) - 1; </a:t>
            </a:r>
            <a:r>
              <a:rPr lang="en-HK" i="1" dirty="0"/>
              <a:t>/* Asset Growth */</a:t>
            </a:r>
            <a:r>
              <a:rPr lang="en-HK" dirty="0"/>
              <a:t> </a:t>
            </a:r>
            <a:r>
              <a:rPr lang="en-HK" i="1" dirty="0"/>
              <a:t>/* ... calculate other variables ... */</a:t>
            </a:r>
            <a:r>
              <a:rPr lang="en-HK" dirty="0"/>
              <a:t> keep </a:t>
            </a:r>
            <a:r>
              <a:rPr lang="en-HK" dirty="0" err="1"/>
              <a:t>gvkey</a:t>
            </a:r>
            <a:r>
              <a:rPr lang="en-HK" dirty="0"/>
              <a:t> </a:t>
            </a:r>
            <a:r>
              <a:rPr lang="en-HK" dirty="0" err="1"/>
              <a:t>fyear</a:t>
            </a:r>
            <a:r>
              <a:rPr lang="en-HK" dirty="0"/>
              <a:t> BM ROE AG; run;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B95C3-6731-42F7-BF84-F0AC0100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4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101E-3942-4CB4-8610-F5AE9A67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6E9BB-FFEF-4F46-B636-CF7F9D20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i="1" dirty="0"/>
              <a:t>/* 4. Calculate the target (Y variable): Next year's stock return */</a:t>
            </a:r>
            <a:r>
              <a:rPr lang="en-HK" dirty="0"/>
              <a:t> data target; set prices; by </a:t>
            </a:r>
            <a:r>
              <a:rPr lang="en-HK" dirty="0" err="1"/>
              <a:t>permno</a:t>
            </a:r>
            <a:r>
              <a:rPr lang="en-HK" dirty="0"/>
              <a:t> date; </a:t>
            </a:r>
            <a:r>
              <a:rPr lang="en-HK" i="1" dirty="0"/>
              <a:t>/* Group by stock and date */</a:t>
            </a:r>
            <a:r>
              <a:rPr lang="en-HK" dirty="0"/>
              <a:t> </a:t>
            </a:r>
            <a:r>
              <a:rPr lang="en-HK" i="1" dirty="0"/>
              <a:t>/* Calculate return from today to one year in the future */</a:t>
            </a:r>
            <a:r>
              <a:rPr lang="en-HK" dirty="0"/>
              <a:t> </a:t>
            </a:r>
            <a:r>
              <a:rPr lang="en-HK" dirty="0" err="1"/>
              <a:t>FutureReturn</a:t>
            </a:r>
            <a:r>
              <a:rPr lang="en-HK" dirty="0"/>
              <a:t> = ( (lead(price, 12) / price) - 1 ); keep </a:t>
            </a:r>
            <a:r>
              <a:rPr lang="en-HK" dirty="0" err="1"/>
              <a:t>permno</a:t>
            </a:r>
            <a:r>
              <a:rPr lang="en-HK" dirty="0"/>
              <a:t> date </a:t>
            </a:r>
            <a:r>
              <a:rPr lang="en-HK" dirty="0" err="1"/>
              <a:t>FutureReturn</a:t>
            </a:r>
            <a:r>
              <a:rPr lang="en-HK" dirty="0"/>
              <a:t>; run; </a:t>
            </a:r>
          </a:p>
          <a:p>
            <a:endParaRPr lang="en-HK" i="1" dirty="0"/>
          </a:p>
          <a:p>
            <a:r>
              <a:rPr lang="en-HK" i="1" dirty="0"/>
              <a:t>/* 5. Merge features and target into one dataset for </a:t>
            </a:r>
            <a:r>
              <a:rPr lang="en-HK" i="1" dirty="0" err="1"/>
              <a:t>modeling</a:t>
            </a:r>
            <a:r>
              <a:rPr lang="en-HK" i="1" dirty="0"/>
              <a:t> */</a:t>
            </a:r>
            <a:r>
              <a:rPr lang="en-HK" dirty="0"/>
              <a:t> proc </a:t>
            </a:r>
            <a:r>
              <a:rPr lang="en-HK" dirty="0" err="1"/>
              <a:t>sql</a:t>
            </a:r>
            <a:r>
              <a:rPr lang="en-HK" dirty="0"/>
              <a:t>; create table </a:t>
            </a:r>
            <a:r>
              <a:rPr lang="en-HK" dirty="0" err="1"/>
              <a:t>model_data</a:t>
            </a:r>
            <a:r>
              <a:rPr lang="en-HK" dirty="0"/>
              <a:t> as select a.*, b.BM, </a:t>
            </a:r>
            <a:r>
              <a:rPr lang="en-HK" dirty="0" err="1"/>
              <a:t>b.ROE</a:t>
            </a:r>
            <a:r>
              <a:rPr lang="en-HK" dirty="0"/>
              <a:t>, b.AG from target as a left join features as b on </a:t>
            </a:r>
            <a:r>
              <a:rPr lang="en-HK" dirty="0" err="1"/>
              <a:t>a.permno</a:t>
            </a:r>
            <a:r>
              <a:rPr lang="en-HK" dirty="0"/>
              <a:t> = </a:t>
            </a:r>
            <a:r>
              <a:rPr lang="en-HK" dirty="0" err="1"/>
              <a:t>b.gvkey</a:t>
            </a:r>
            <a:r>
              <a:rPr lang="en-HK" dirty="0"/>
              <a:t> and </a:t>
            </a:r>
            <a:r>
              <a:rPr lang="en-HK" dirty="0" err="1"/>
              <a:t>a.date</a:t>
            </a:r>
            <a:r>
              <a:rPr lang="en-HK" dirty="0"/>
              <a:t> = </a:t>
            </a:r>
            <a:r>
              <a:rPr lang="en-HK" dirty="0" err="1"/>
              <a:t>b.fyear</a:t>
            </a:r>
            <a:r>
              <a:rPr lang="en-HK" dirty="0"/>
              <a:t>; quit;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3B3C1-3B59-4D54-A121-B036C17D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35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3FC6-DB7F-42D8-A310-15ADD84C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SAS Code: Building the ML Model​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65DE7-70AB-4195-A223-2AB0BE5E2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>
            <a:normAutofit lnSpcReduction="10000"/>
          </a:bodyPr>
          <a:lstStyle/>
          <a:p>
            <a:r>
              <a:rPr lang="en-HK" i="1" dirty="0"/>
              <a:t>/* Split data into Training set (to build model) and Testing set (to validate it) */</a:t>
            </a:r>
            <a:r>
              <a:rPr lang="en-HK" dirty="0"/>
              <a:t> data training testing; set </a:t>
            </a:r>
            <a:r>
              <a:rPr lang="en-HK" dirty="0" err="1"/>
              <a:t>model_data</a:t>
            </a:r>
            <a:r>
              <a:rPr lang="en-HK" dirty="0"/>
              <a:t>; if </a:t>
            </a:r>
            <a:r>
              <a:rPr lang="en-HK" dirty="0" err="1"/>
              <a:t>fyear</a:t>
            </a:r>
            <a:r>
              <a:rPr lang="en-HK" dirty="0"/>
              <a:t> &lt;= 2020 then output training; </a:t>
            </a:r>
            <a:r>
              <a:rPr lang="en-HK" i="1" dirty="0"/>
              <a:t>/* Use older data to train */</a:t>
            </a:r>
            <a:r>
              <a:rPr lang="en-HK" dirty="0"/>
              <a:t> else output testing; </a:t>
            </a:r>
            <a:r>
              <a:rPr lang="en-HK" i="1" dirty="0"/>
              <a:t>/* Reserve recent data for testing */</a:t>
            </a:r>
            <a:r>
              <a:rPr lang="en-HK" dirty="0"/>
              <a:t> run; </a:t>
            </a:r>
          </a:p>
          <a:p>
            <a:endParaRPr lang="en-HK" i="1" dirty="0"/>
          </a:p>
          <a:p>
            <a:r>
              <a:rPr lang="en-HK" i="1" dirty="0"/>
              <a:t>/* Use PROC GLMSELECT to train the model with LASSO */</a:t>
            </a:r>
            <a:r>
              <a:rPr lang="en-HK" dirty="0"/>
              <a:t> </a:t>
            </a:r>
            <a:r>
              <a:rPr lang="en-HK" i="1" dirty="0"/>
              <a:t>/* This procedure automatically selects the most important variables */</a:t>
            </a:r>
            <a:r>
              <a:rPr lang="en-HK" dirty="0"/>
              <a:t> proc </a:t>
            </a:r>
            <a:r>
              <a:rPr lang="en-HK" dirty="0" err="1"/>
              <a:t>glmselect</a:t>
            </a:r>
            <a:r>
              <a:rPr lang="en-HK" dirty="0"/>
              <a:t> data=training; model </a:t>
            </a:r>
            <a:r>
              <a:rPr lang="en-HK" dirty="0" err="1"/>
              <a:t>FutureReturn</a:t>
            </a:r>
            <a:r>
              <a:rPr lang="en-HK" dirty="0"/>
              <a:t> = BM ROE AG SIZE MOM / </a:t>
            </a:r>
            <a:r>
              <a:rPr lang="en-HK" i="1" dirty="0"/>
              <a:t>/* List of X variables */</a:t>
            </a:r>
            <a:r>
              <a:rPr lang="en-HK" dirty="0"/>
              <a:t> selection=lar (choose=</a:t>
            </a:r>
            <a:r>
              <a:rPr lang="en-HK" dirty="0" err="1"/>
              <a:t>sbc</a:t>
            </a:r>
            <a:r>
              <a:rPr lang="en-HK" dirty="0"/>
              <a:t>) </a:t>
            </a:r>
            <a:r>
              <a:rPr lang="en-HK" dirty="0" err="1"/>
              <a:t>stb</a:t>
            </a:r>
            <a:r>
              <a:rPr lang="en-HK" dirty="0"/>
              <a:t>; </a:t>
            </a:r>
            <a:r>
              <a:rPr lang="en-HK" i="1" dirty="0"/>
              <a:t>/* Use LASSO to avoid overfitting */</a:t>
            </a:r>
            <a:r>
              <a:rPr lang="en-HK" dirty="0"/>
              <a:t> output out=</a:t>
            </a:r>
            <a:r>
              <a:rPr lang="en-HK" dirty="0" err="1"/>
              <a:t>model_out</a:t>
            </a:r>
            <a:r>
              <a:rPr lang="en-HK" dirty="0"/>
              <a:t> p=</a:t>
            </a:r>
            <a:r>
              <a:rPr lang="en-HK" dirty="0" err="1"/>
              <a:t>PredictedReturn</a:t>
            </a:r>
            <a:r>
              <a:rPr lang="en-HK" dirty="0"/>
              <a:t>; </a:t>
            </a:r>
            <a:r>
              <a:rPr lang="en-HK" i="1" dirty="0"/>
              <a:t>/* Save the model's predictions */</a:t>
            </a:r>
            <a:r>
              <a:rPr lang="en-HK" dirty="0"/>
              <a:t> store </a:t>
            </a:r>
            <a:r>
              <a:rPr lang="en-HK" dirty="0" err="1"/>
              <a:t>work.forecast_model</a:t>
            </a:r>
            <a:r>
              <a:rPr lang="en-HK" dirty="0"/>
              <a:t>; </a:t>
            </a:r>
            <a:r>
              <a:rPr lang="en-HK" i="1" dirty="0"/>
              <a:t>/* Save the model to disk */</a:t>
            </a:r>
            <a:r>
              <a:rPr lang="en-HK" dirty="0"/>
              <a:t> run;</a:t>
            </a:r>
          </a:p>
          <a:p>
            <a:endParaRPr lang="en-HK" dirty="0"/>
          </a:p>
          <a:p>
            <a:r>
              <a:rPr lang="en-HK" dirty="0"/>
              <a:t>​​Key Output:​​ A formula (model) like:</a:t>
            </a:r>
          </a:p>
          <a:p>
            <a:r>
              <a:rPr lang="en-HK" dirty="0"/>
              <a:t>Predicted Return = 0.05*BM + 0.03*ROE - 0.08*AG + 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B45B6-F568-4FA6-8D77-3FD4D16A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186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FE82-9729-45BD-BE74-E6BB5E1A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Making the Forecast for 2026​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5F295-C010-4BB0-BE56-43B779843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729163"/>
          </a:xfrm>
        </p:spPr>
        <p:txBody>
          <a:bodyPr>
            <a:normAutofit fontScale="92500"/>
          </a:bodyPr>
          <a:lstStyle/>
          <a:p>
            <a:r>
              <a:rPr lang="en-HK" i="1" dirty="0"/>
              <a:t>/* Create a dataset with Company XYZ's latest financials (2025) */</a:t>
            </a:r>
            <a:r>
              <a:rPr lang="en-HK" dirty="0"/>
              <a:t> data xyz_2025; input BM ROE AG SIZE MOM; </a:t>
            </a:r>
            <a:r>
              <a:rPr lang="en-HK" dirty="0" err="1"/>
              <a:t>datalines</a:t>
            </a:r>
            <a:r>
              <a:rPr lang="en-HK" dirty="0"/>
              <a:t>; 0.85 0.15 0.05 23.1 0.10 ; </a:t>
            </a:r>
            <a:r>
              <a:rPr lang="en-HK" i="1" dirty="0"/>
              <a:t>/* These are XYZ's actual 2025 financial ratios */</a:t>
            </a:r>
            <a:r>
              <a:rPr lang="en-HK" dirty="0"/>
              <a:t> run; </a:t>
            </a:r>
          </a:p>
          <a:p>
            <a:endParaRPr lang="en-HK" i="1" dirty="0"/>
          </a:p>
          <a:p>
            <a:r>
              <a:rPr lang="en-HK" i="1" dirty="0"/>
              <a:t>/* Use the PROCPLM to score (predict for) the new data */</a:t>
            </a:r>
            <a:r>
              <a:rPr lang="en-HK" dirty="0"/>
              <a:t> proc </a:t>
            </a:r>
            <a:r>
              <a:rPr lang="en-HK" dirty="0" err="1"/>
              <a:t>plm</a:t>
            </a:r>
            <a:r>
              <a:rPr lang="en-HK" dirty="0"/>
              <a:t> restore=</a:t>
            </a:r>
            <a:r>
              <a:rPr lang="en-HK" dirty="0" err="1"/>
              <a:t>work.forecast_model</a:t>
            </a:r>
            <a:r>
              <a:rPr lang="en-HK" dirty="0"/>
              <a:t>; </a:t>
            </a:r>
            <a:r>
              <a:rPr lang="en-HK" i="1" dirty="0"/>
              <a:t>/* Load the trained model */</a:t>
            </a:r>
            <a:r>
              <a:rPr lang="en-HK" dirty="0"/>
              <a:t> score data=xyz_2025 out=</a:t>
            </a:r>
            <a:r>
              <a:rPr lang="en-HK" dirty="0" err="1"/>
              <a:t>xyz_scored</a:t>
            </a:r>
            <a:r>
              <a:rPr lang="en-HK" dirty="0"/>
              <a:t> predicted=PredReturn2026; </a:t>
            </a:r>
            <a:r>
              <a:rPr lang="en-HK" i="1" dirty="0"/>
              <a:t>/* Make prediction! */</a:t>
            </a:r>
            <a:r>
              <a:rPr lang="en-HK" dirty="0"/>
              <a:t> run; </a:t>
            </a:r>
          </a:p>
          <a:p>
            <a:endParaRPr lang="en-HK" i="1" dirty="0"/>
          </a:p>
          <a:p>
            <a:r>
              <a:rPr lang="en-HK" i="1" dirty="0"/>
              <a:t>/* Calculate the predicted 2026 price */</a:t>
            </a:r>
            <a:r>
              <a:rPr lang="en-HK" dirty="0"/>
              <a:t> data </a:t>
            </a:r>
            <a:r>
              <a:rPr lang="en-HK" dirty="0" err="1"/>
              <a:t>final_forecast</a:t>
            </a:r>
            <a:r>
              <a:rPr lang="en-HK" dirty="0"/>
              <a:t>; set </a:t>
            </a:r>
            <a:r>
              <a:rPr lang="en-HK" dirty="0" err="1"/>
              <a:t>xyz_scored</a:t>
            </a:r>
            <a:r>
              <a:rPr lang="en-HK" dirty="0"/>
              <a:t>; CurrentPrice2025 = 150; </a:t>
            </a:r>
            <a:r>
              <a:rPr lang="en-HK" i="1" dirty="0"/>
              <a:t>/* Assume current price is $150 */</a:t>
            </a:r>
            <a:r>
              <a:rPr lang="en-HK" dirty="0"/>
              <a:t> PredictedPrice2026 = CurrentPrice2025 * (1 + PredReturn2026); run; </a:t>
            </a:r>
          </a:p>
          <a:p>
            <a:endParaRPr lang="en-HK" i="1" dirty="0"/>
          </a:p>
          <a:p>
            <a:r>
              <a:rPr lang="en-HK" i="1" dirty="0"/>
              <a:t>/* Print the result */</a:t>
            </a:r>
            <a:r>
              <a:rPr lang="en-HK" dirty="0"/>
              <a:t> proc print data=</a:t>
            </a:r>
            <a:r>
              <a:rPr lang="en-HK" dirty="0" err="1"/>
              <a:t>final_forecast</a:t>
            </a:r>
            <a:r>
              <a:rPr lang="en-HK" dirty="0"/>
              <a:t>; var CurrentPrice2025 PredReturn2026 PredictedPrice2026; run;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A5240-2839-4C03-81A6-D1882B84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614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2E20-815D-4010-B1A8-EE9BDAD1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85800"/>
            <a:ext cx="7886700" cy="1325563"/>
          </a:xfrm>
        </p:spPr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Output​​</a:t>
            </a:r>
            <a:br>
              <a:rPr lang="en-HK" dirty="0"/>
            </a:br>
            <a:endParaRPr lang="en-HK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CB7B847-3AB8-4AB4-935A-7DB66E884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76993"/>
              </p:ext>
            </p:extLst>
          </p:nvPr>
        </p:nvGraphicFramePr>
        <p:xfrm>
          <a:off x="762000" y="2303621"/>
          <a:ext cx="7886700" cy="1546702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33082705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82096034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365442095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algn="l" fontAlgn="ctr"/>
                      <a:r>
                        <a:rPr lang="en-HK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Price (2025)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 Return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​​Predicted Price (2026)​​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90767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algn="l" fontAlgn="ctr"/>
                      <a:r>
                        <a:rPr lang="en-HK" sz="2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$150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+ 8.2%</a:t>
                      </a: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HK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​$162.30​</a:t>
                      </a:r>
                      <a:endParaRPr lang="en-HK" sz="2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504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CF68B-7030-4D06-B04B-65CE8680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3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F321-D7A3-46FB-8411-4B638774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4849"/>
            <a:ext cx="7886700" cy="1325563"/>
          </a:xfrm>
        </p:spPr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Caveats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C28A-8EC7-4936-8882-518338AE3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138" y="1169988"/>
            <a:ext cx="8134350" cy="5551488"/>
          </a:xfrm>
        </p:spPr>
        <p:txBody>
          <a:bodyPr>
            <a:normAutofit fontScale="92500"/>
          </a:bodyPr>
          <a:lstStyle/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​ML is Pattern Recognition:​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We used historical patterns to inform a future prediction.</a:t>
            </a: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​SAS is an ML Tool:​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It provides powerful, validated procedures for building predictive models.</a:t>
            </a: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​Process is Key:​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Define target → Choose features → Prepare data → Train model → Predict.</a:t>
            </a:r>
          </a:p>
          <a:p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 is Not a Guarantee:​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It is a statement based on historical relationships.</a:t>
            </a: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​Garbage In, Garbage Out:​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The model's accuracy depends entirely on the quality of the data and the relevance of the chosen features.</a:t>
            </a:r>
          </a:p>
          <a:p>
            <a:pPr fontAlgn="base"/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​Markets Change:​</a:t>
            </a: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Relationships that held in the past may break down in the future.</a:t>
            </a:r>
          </a:p>
          <a:p>
            <a:pPr fontAlgn="base"/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9037B-73A7-47A0-A67F-33F35324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170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E0A7-F5A9-4411-83C7-422FAC41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60" y="46037"/>
            <a:ext cx="7886700" cy="1325563"/>
          </a:xfrm>
        </p:spPr>
        <p:txBody>
          <a:bodyPr/>
          <a:lstStyle/>
          <a:p>
            <a:r>
              <a:rPr lang="en-HK" dirty="0"/>
              <a:t>Example of Python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25189-2B63-41E7-A9F9-08C2D0F99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033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3600" dirty="0"/>
              <a:t>Predicting sales using linear regression</a:t>
            </a:r>
          </a:p>
          <a:p>
            <a:pPr marL="0" indent="0">
              <a:buNone/>
            </a:pPr>
            <a:endParaRPr lang="en-US" altLang="zh-CN" sz="3600" dirty="0"/>
          </a:p>
          <a:p>
            <a:r>
              <a:rPr lang="en-US" altLang="zh-CN" dirty="0"/>
              <a:t>import pandas as pd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sklearn.model_selection</a:t>
            </a:r>
            <a:r>
              <a:rPr lang="en-US" altLang="zh-CN" dirty="0"/>
              <a:t> import </a:t>
            </a:r>
            <a:r>
              <a:rPr lang="en-US" altLang="zh-CN" dirty="0" err="1"/>
              <a:t>train_test_split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sklearn.linear_model</a:t>
            </a:r>
            <a:r>
              <a:rPr lang="en-US" altLang="zh-CN" dirty="0"/>
              <a:t> import </a:t>
            </a:r>
            <a:r>
              <a:rPr lang="en-US" altLang="zh-CN" dirty="0" err="1"/>
              <a:t>LinearRegression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</a:p>
          <a:p>
            <a:r>
              <a:rPr lang="en-US" altLang="zh-CN" dirty="0"/>
              <a:t>data = {</a:t>
            </a:r>
          </a:p>
          <a:p>
            <a:r>
              <a:rPr lang="en-US" altLang="zh-CN" dirty="0"/>
              <a:t>    ‘advertising expenditure': [1000, 1500, 2000, 2500, 3000, 3500, 4000, 4500, 5000, 5500],</a:t>
            </a:r>
          </a:p>
          <a:p>
            <a:r>
              <a:rPr lang="en-US" altLang="zh-CN" dirty="0"/>
              <a:t>    ‘</a:t>
            </a:r>
            <a:r>
              <a:rPr lang="zh-CN" altLang="en-US" dirty="0"/>
              <a:t>销售额</a:t>
            </a:r>
            <a:r>
              <a:rPr lang="en-HK" altLang="zh-CN" dirty="0"/>
              <a:t>sales</a:t>
            </a:r>
            <a:r>
              <a:rPr lang="en-US" altLang="zh-CN" dirty="0"/>
              <a:t>': [2000, 2500, 3000, 4000, 4500, 5000, 6000, 6500, 7000, 8000]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df = </a:t>
            </a:r>
            <a:r>
              <a:rPr lang="en-US" altLang="zh-CN" dirty="0" err="1"/>
              <a:t>pd.DataFrame</a:t>
            </a:r>
            <a:r>
              <a:rPr lang="en-US" altLang="zh-CN" dirty="0"/>
              <a:t>(data)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endParaRPr lang="zh-CN" altLang="en-US" dirty="0"/>
          </a:p>
          <a:p>
            <a:r>
              <a:rPr lang="en-US" altLang="zh-CN" dirty="0"/>
              <a:t>X = df[[‘advertisement expenditure']]</a:t>
            </a:r>
          </a:p>
          <a:p>
            <a:r>
              <a:rPr lang="en-US" altLang="zh-CN" dirty="0"/>
              <a:t>y = df[‘</a:t>
            </a:r>
            <a:r>
              <a:rPr lang="en-HK" altLang="zh-CN" dirty="0"/>
              <a:t>sales</a:t>
            </a:r>
            <a:r>
              <a:rPr lang="en-US" altLang="zh-CN" dirty="0"/>
              <a:t>']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endParaRPr lang="zh-CN" altLang="en-US" dirty="0"/>
          </a:p>
          <a:p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X_test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, </a:t>
            </a:r>
            <a:r>
              <a:rPr lang="en-US" altLang="zh-CN" dirty="0" err="1"/>
              <a:t>y_test</a:t>
            </a:r>
            <a:r>
              <a:rPr lang="en-US" altLang="zh-CN" dirty="0"/>
              <a:t> = </a:t>
            </a:r>
            <a:r>
              <a:rPr lang="en-US" altLang="zh-CN" dirty="0" err="1"/>
              <a:t>train_test_split</a:t>
            </a:r>
            <a:r>
              <a:rPr lang="en-US" altLang="zh-CN" dirty="0"/>
              <a:t>(X, y, </a:t>
            </a:r>
            <a:r>
              <a:rPr lang="en-US" altLang="zh-CN" dirty="0" err="1"/>
              <a:t>test_size</a:t>
            </a:r>
            <a:r>
              <a:rPr lang="en-US" altLang="zh-CN" dirty="0"/>
              <a:t>=0.2, </a:t>
            </a:r>
            <a:r>
              <a:rPr lang="en-US" altLang="zh-CN" dirty="0" err="1"/>
              <a:t>random_state</a:t>
            </a:r>
            <a:r>
              <a:rPr lang="en-US" altLang="zh-CN" dirty="0"/>
              <a:t>=42)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9BAF-C795-4564-9356-296620EC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78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1DFBB-E5C6-482D-B375-F7317CD66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85800"/>
            <a:ext cx="8286750" cy="54911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# </a:t>
            </a:r>
            <a:endParaRPr lang="zh-CN" altLang="en-US" dirty="0"/>
          </a:p>
          <a:p>
            <a:r>
              <a:rPr lang="en-US" altLang="zh-CN" dirty="0"/>
              <a:t>model = </a:t>
            </a:r>
            <a:r>
              <a:rPr lang="en-US" altLang="zh-CN" dirty="0" err="1"/>
              <a:t>LinearRegression</a:t>
            </a:r>
            <a:r>
              <a:rPr lang="en-US" altLang="zh-CN" dirty="0"/>
              <a:t>()</a:t>
            </a:r>
          </a:p>
          <a:p>
            <a:r>
              <a:rPr lang="en-US" altLang="zh-CN" dirty="0" err="1"/>
              <a:t>model.fit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endParaRPr lang="zh-CN" altLang="en-US" dirty="0"/>
          </a:p>
          <a:p>
            <a:r>
              <a:rPr lang="en-US" altLang="zh-CN" dirty="0" err="1"/>
              <a:t>y_pred</a:t>
            </a:r>
            <a:r>
              <a:rPr lang="en-US" altLang="zh-CN" dirty="0"/>
              <a:t> = </a:t>
            </a:r>
            <a:r>
              <a:rPr lang="en-US" altLang="zh-CN" dirty="0" err="1"/>
              <a:t>model.predict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endParaRPr lang="zh-CN" altLang="en-US" dirty="0"/>
          </a:p>
          <a:p>
            <a:r>
              <a:rPr lang="en-US" altLang="zh-CN" dirty="0" err="1"/>
              <a:t>plt.scatter</a:t>
            </a:r>
            <a:r>
              <a:rPr lang="en-US" altLang="zh-CN" dirty="0"/>
              <a:t>(X, y, color='blue', label=‘</a:t>
            </a:r>
            <a:r>
              <a:rPr lang="en-HK" altLang="zh-CN" dirty="0"/>
              <a:t>actual sales data</a:t>
            </a:r>
            <a:r>
              <a:rPr lang="en-US" altLang="zh-CN" dirty="0"/>
              <a:t>')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, </a:t>
            </a:r>
            <a:r>
              <a:rPr lang="en-US" altLang="zh-CN" dirty="0" err="1"/>
              <a:t>y_pred</a:t>
            </a:r>
            <a:r>
              <a:rPr lang="en-US" altLang="zh-CN" dirty="0"/>
              <a:t>, color='red', label=‘</a:t>
            </a:r>
            <a:r>
              <a:rPr lang="en-HK" altLang="zh-CN" dirty="0"/>
              <a:t>predicted sales data</a:t>
            </a:r>
            <a:r>
              <a:rPr lang="en-US" altLang="zh-CN" dirty="0"/>
              <a:t>')</a:t>
            </a:r>
          </a:p>
          <a:p>
            <a:r>
              <a:rPr lang="en-US" altLang="zh-CN" dirty="0" err="1"/>
              <a:t>plt.xlabel</a:t>
            </a:r>
            <a:r>
              <a:rPr lang="en-US" altLang="zh-CN" dirty="0"/>
              <a:t>(‘</a:t>
            </a:r>
            <a:r>
              <a:rPr lang="en-HK" altLang="zh-CN" dirty="0"/>
              <a:t>advertisement expenditure</a:t>
            </a:r>
            <a:r>
              <a:rPr lang="en-US" altLang="zh-CN" dirty="0"/>
              <a:t>')</a:t>
            </a:r>
          </a:p>
          <a:p>
            <a:r>
              <a:rPr lang="en-US" altLang="zh-CN" dirty="0" err="1"/>
              <a:t>plt.ylabel</a:t>
            </a:r>
            <a:r>
              <a:rPr lang="en-US" altLang="zh-CN" dirty="0"/>
              <a:t>(‘</a:t>
            </a:r>
            <a:r>
              <a:rPr lang="en-HK" altLang="zh-CN" dirty="0"/>
              <a:t>sales</a:t>
            </a:r>
            <a:r>
              <a:rPr lang="en-US" altLang="zh-CN" dirty="0"/>
              <a:t>')</a:t>
            </a:r>
          </a:p>
          <a:p>
            <a:r>
              <a:rPr lang="en-US" altLang="zh-CN" dirty="0" err="1"/>
              <a:t>plt.legend</a:t>
            </a:r>
            <a:r>
              <a:rPr lang="en-US" altLang="zh-CN" dirty="0"/>
              <a:t>()</a:t>
            </a:r>
          </a:p>
          <a:p>
            <a:r>
              <a:rPr lang="en-US" altLang="zh-CN" dirty="0" err="1"/>
              <a:t>plt.title</a:t>
            </a:r>
            <a:r>
              <a:rPr lang="en-US" altLang="zh-CN" dirty="0"/>
              <a:t>(‘sales prediction')</a:t>
            </a:r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endParaRPr lang="zh-CN" altLang="en-US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f’regression</a:t>
            </a:r>
            <a:r>
              <a:rPr lang="en-US" altLang="zh-CN" dirty="0"/>
              <a:t> coefficient: {</a:t>
            </a:r>
            <a:r>
              <a:rPr lang="en-US" altLang="zh-CN" dirty="0" err="1"/>
              <a:t>model.coef</a:t>
            </a:r>
            <a:r>
              <a:rPr lang="en-US" altLang="zh-CN" dirty="0"/>
              <a:t>_[0]}, </a:t>
            </a:r>
            <a:r>
              <a:rPr lang="en-HK" altLang="zh-CN" dirty="0"/>
              <a:t>intercept</a:t>
            </a:r>
            <a:r>
              <a:rPr lang="en-US" altLang="zh-CN" dirty="0"/>
              <a:t>: {</a:t>
            </a:r>
            <a:r>
              <a:rPr lang="en-US" altLang="zh-CN" dirty="0" err="1"/>
              <a:t>model.intercept</a:t>
            </a:r>
            <a:r>
              <a:rPr lang="en-US" altLang="zh-CN" dirty="0"/>
              <a:t>_}’)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@</a:t>
            </a:r>
            <a:endParaRPr lang="zh-CN" altLang="en-US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C4A14-9FC7-46B3-80C9-6CC37B38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296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2B89-8254-44AF-804D-050170BF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82" y="914400"/>
            <a:ext cx="7886700" cy="1325563"/>
          </a:xfrm>
        </p:spPr>
        <p:txBody>
          <a:bodyPr/>
          <a:lstStyle/>
          <a:p>
            <a:r>
              <a:rPr lang="en-HK" dirty="0"/>
              <a:t>Example of SAS analyses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C3202-C467-41F8-B4F6-3511EA1F0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495706"/>
            <a:ext cx="8686800" cy="15278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C7E39-483E-4826-82FF-8EFCC106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8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72CA-020B-4936-BE72-AADAF483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84" y="221347"/>
            <a:ext cx="7886700" cy="1325563"/>
          </a:xfrm>
        </p:spPr>
        <p:txBody>
          <a:bodyPr/>
          <a:lstStyle/>
          <a:p>
            <a:r>
              <a:rPr lang="en-HK" dirty="0"/>
              <a:t>Example of SAS analyses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8197A-CFB6-47D6-B8C1-D342299B4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909" y="1447800"/>
            <a:ext cx="7886700" cy="45260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B8778-F673-4182-A074-2D0A2F90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598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181E-0A86-4A81-92E3-7CB63CFD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 of STATA analyses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6169-0B6E-4EA9-B51A-C6322311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13991BA0-CA41-430F-BE28-5A1AB68CB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0200"/>
            <a:ext cx="7239000" cy="422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96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DFC3-AA9A-4714-9A60-74046759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Ethics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2CD0B-BE54-4292-A8B5-B095163C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Data privacy and security</a:t>
            </a:r>
          </a:p>
          <a:p>
            <a:endParaRPr lang="en-HK" dirty="0"/>
          </a:p>
          <a:p>
            <a:r>
              <a:rPr lang="en-HK" dirty="0"/>
              <a:t>Bias and fairness</a:t>
            </a:r>
          </a:p>
          <a:p>
            <a:endParaRPr lang="en-HK" dirty="0"/>
          </a:p>
          <a:p>
            <a:r>
              <a:rPr lang="en-HK" dirty="0"/>
              <a:t>Transparency and explainability  </a:t>
            </a:r>
          </a:p>
          <a:p>
            <a:endParaRPr lang="en-HK" dirty="0"/>
          </a:p>
          <a:p>
            <a:r>
              <a:rPr lang="en-HK" dirty="0"/>
              <a:t>Responsibility and accountability</a:t>
            </a:r>
          </a:p>
          <a:p>
            <a:endParaRPr lang="en-HK" dirty="0"/>
          </a:p>
          <a:p>
            <a:pPr marL="0" indent="0">
              <a:buNone/>
            </a:pPr>
            <a:r>
              <a:rPr lang="en-HK"/>
              <a:t>@ 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CD52C-FD82-40A6-A84E-6EEF106A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10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4EFF-E2E7-4FC3-8422-191329D5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 privacy and security – Key concerns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8F78-78C6-4B60-966C-272C39CA9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AI systems often rely on large datasets, including sensitive financial information such as client data and transaction records.</a:t>
            </a:r>
          </a:p>
          <a:p>
            <a:endParaRPr lang="en-HK" dirty="0"/>
          </a:p>
          <a:p>
            <a:r>
              <a:rPr lang="en-HK" dirty="0"/>
              <a:t>Risks include data breaches, unauthorized access, and misuse of sensitive information.</a:t>
            </a:r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DE051-2DC8-47A8-B738-BC5379CA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621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EE77-D2C4-4574-8EDB-2223DA05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 privacy and security –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575F-2012-4BE3-AF82-EA54FCCA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Implement data encryption to protect sensitive information.</a:t>
            </a:r>
          </a:p>
          <a:p>
            <a:endParaRPr lang="en-HK" dirty="0"/>
          </a:p>
          <a:p>
            <a:r>
              <a:rPr lang="en-HK" dirty="0"/>
              <a:t>Establish strict access controls to limit who can view and manipulate data.</a:t>
            </a:r>
          </a:p>
          <a:p>
            <a:endParaRPr lang="en-HK" dirty="0"/>
          </a:p>
          <a:p>
            <a:r>
              <a:rPr lang="en-HK" dirty="0"/>
              <a:t>Conduct regular security audits to identify and remediate vulnerabilities.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32DF2-B0A8-485D-A2A9-893B4EB6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94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B42E-BF8B-4881-8099-B28CA590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Bias and fairness - concept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7EB0-8F0C-4101-A903-3325EC17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Bias in AI can arise from unrepresentative training data, leading to unfair or discriminatory outcomes.</a:t>
            </a:r>
          </a:p>
          <a:p>
            <a:endParaRPr lang="en-HK" dirty="0"/>
          </a:p>
          <a:p>
            <a:r>
              <a:rPr lang="en-HK" dirty="0"/>
              <a:t>Example: An AI model trained predominantly on data from one demographic may not perform well for others, resulting in biased decisions.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E2F07-369F-4BBB-B0FA-DED626B2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0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6D80-DB5B-40E2-AB77-D70DE72A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Bias and fairness -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FA6BE-28AE-4674-9BE0-EE6D5BBE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Biased algorithms can lead to discriminatory practices in areas like hiring, lending, or auditing, undermining trust in AI systems.</a:t>
            </a:r>
          </a:p>
          <a:p>
            <a:endParaRPr lang="en-HK" dirty="0"/>
          </a:p>
          <a:p>
            <a:r>
              <a:rPr lang="en-HK" dirty="0"/>
              <a:t>Stakeholders may lose confidence in the accounting process if biases are detected.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A899-9CAA-467A-817E-E253BE1F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153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1A96-BFFE-4BC4-9F90-5F161C75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Bias and fairness – Strategies for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0FC11-9C1B-4D9A-8277-D318BA003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Use diverse datasets to train AI models, ensuring representation across different demographics.</a:t>
            </a:r>
          </a:p>
          <a:p>
            <a:endParaRPr lang="en-HK" dirty="0"/>
          </a:p>
          <a:p>
            <a:r>
              <a:rPr lang="en-HK" dirty="0"/>
              <a:t>Regularly audit algorithms for bias using statistical methods and fairness metrics.</a:t>
            </a:r>
          </a:p>
          <a:p>
            <a:endParaRPr lang="en-HK" dirty="0"/>
          </a:p>
          <a:p>
            <a:r>
              <a:rPr lang="en-HK" dirty="0"/>
              <a:t>Engage with diverse teams to provide varied perspectives during model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54004-263D-40E1-85D3-C4A33541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245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0A27-9AB7-4C12-AF5F-0084A338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Transparency and explainability  -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14E15-4CFA-4683-A900-C7C67738C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 lnSpcReduction="10000"/>
          </a:bodyPr>
          <a:lstStyle/>
          <a:p>
            <a:r>
              <a:rPr lang="en-HK" dirty="0"/>
              <a:t>Complexity of Models</a:t>
            </a:r>
            <a:br>
              <a:rPr lang="en-HK" dirty="0"/>
            </a:br>
            <a:r>
              <a:rPr lang="en-HK" dirty="0"/>
              <a:t>Advanced AI models, like deep learning algorithms, can be highly complex, making it challenging to understand their decision-making processes.</a:t>
            </a:r>
          </a:p>
          <a:p>
            <a:endParaRPr lang="en-HK" dirty="0"/>
          </a:p>
          <a:p>
            <a:r>
              <a:rPr lang="en-HK" dirty="0"/>
              <a:t>Trade-Offs Between Accuracy and Interpretability</a:t>
            </a:r>
            <a:br>
              <a:rPr lang="en-HK" dirty="0"/>
            </a:br>
            <a:r>
              <a:rPr lang="en-HK" dirty="0"/>
              <a:t>There’s often a trade-off between accuracy and interpretability. Complex models may perform better but are harder to explain. For example, a deep learning model may outperform a linear regression model in accuracy but lacks its interpretability.</a:t>
            </a:r>
          </a:p>
          <a:p>
            <a:endParaRPr lang="en-HK" dirty="0"/>
          </a:p>
          <a:p>
            <a:r>
              <a:rPr lang="en-HK" dirty="0"/>
              <a:t>“Black Box” Nature of AI</a:t>
            </a:r>
            <a:br>
              <a:rPr lang="en-HK" dirty="0"/>
            </a:br>
            <a:r>
              <a:rPr lang="en-HK" dirty="0"/>
              <a:t>Many AI systems operate as “black boxes,” with internal workings that are not transparent to users. This lack of visibility can lead to </a:t>
            </a:r>
            <a:r>
              <a:rPr lang="en-HK" dirty="0" err="1"/>
              <a:t>skepticism</a:t>
            </a:r>
            <a:r>
              <a:rPr lang="en-HK" dirty="0"/>
              <a:t> and resistance to adoption.</a:t>
            </a:r>
          </a:p>
          <a:p>
            <a:endParaRPr lang="en-HK" dirty="0"/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A322C-0821-4832-834D-AB92C442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84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4E5E-DBBF-4A4A-BB36-80DB3D53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Transparency and explainability  -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A539-03A3-4C7A-A00B-05E9475C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Use simpler models, such as linear regression or decision trees, when possible for better interpretability.</a:t>
            </a:r>
          </a:p>
          <a:p>
            <a:endParaRPr lang="en-HK" dirty="0"/>
          </a:p>
          <a:p>
            <a:r>
              <a:rPr lang="en-HK" dirty="0"/>
              <a:t>Create visualizations (e.g., feature importance graphs) to illustrate how decisions are derived.</a:t>
            </a:r>
          </a:p>
          <a:p>
            <a:endParaRPr lang="en-HK" dirty="0"/>
          </a:p>
          <a:p>
            <a:r>
              <a:rPr lang="en-HK" dirty="0"/>
              <a:t>Provide comprehensive documentation of algorithms, the data used, and the rationale behind model choices.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46CF8-1552-4C55-8B89-C18DF457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1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78E7-6EC7-45D1-96FD-98E10624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Responsibility and accountability – who is responsible?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9377-8A2D-4BEC-BFFA-459720CD4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Clarify accountability for AI-driven decisions: should it lie with management, developers, or data scientists?</a:t>
            </a:r>
          </a:p>
          <a:p>
            <a:endParaRPr lang="en-HK" dirty="0"/>
          </a:p>
          <a:p>
            <a:r>
              <a:rPr lang="en-HK" dirty="0"/>
              <a:t>Establish clear guidelines on how responsibilities are allocated in AI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5290-9F04-4F0C-8877-DB1F5D0D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75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2587-4119-457A-935F-F405143B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Responsibility and accountability –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2A17B-4C88-4F8B-BDCF-E2CA8EFD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Develop a framework outlining roles and responsibilities regarding AI use and decision-making.</a:t>
            </a:r>
          </a:p>
          <a:p>
            <a:endParaRPr lang="en-HK" dirty="0"/>
          </a:p>
          <a:p>
            <a:r>
              <a:rPr lang="en-HK" dirty="0"/>
              <a:t>Implement accountability measures such as regular reviews and audits of AI systems to ensure ethical compliance.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98E2B-FE7E-4785-9B82-64C6AE7B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38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6E86-202A-4837-AA5C-E631A159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Key Trends Shaping the Future of AI in Accounting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DD3C-84C3-4E6B-B792-597D4ED2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Increased automation</a:t>
            </a:r>
          </a:p>
          <a:p>
            <a:endParaRPr lang="en-HK" dirty="0"/>
          </a:p>
          <a:p>
            <a:r>
              <a:rPr lang="en-HK" dirty="0"/>
              <a:t>Enhanced predictive analytics</a:t>
            </a:r>
          </a:p>
          <a:p>
            <a:endParaRPr lang="en-HK" dirty="0"/>
          </a:p>
          <a:p>
            <a:r>
              <a:rPr lang="en-HK" dirty="0"/>
              <a:t>Integration with Blockchain technology</a:t>
            </a:r>
          </a:p>
          <a:p>
            <a:endParaRPr lang="en-HK" dirty="0"/>
          </a:p>
          <a:p>
            <a:r>
              <a:rPr lang="en-HK" dirty="0"/>
              <a:t>Personalized client services</a:t>
            </a:r>
          </a:p>
          <a:p>
            <a:endParaRPr lang="en-HK" dirty="0"/>
          </a:p>
          <a:p>
            <a:r>
              <a:rPr lang="en-HK" dirty="0"/>
              <a:t>Continuous learning and adaption</a:t>
            </a:r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75EA0-39C8-42D7-91EC-DA86909D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98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5B07-6294-44A4-BADB-75102E9E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Increased automation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EBEF-92F8-4EC5-808A-FEA205D4C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805363"/>
          </a:xfrm>
        </p:spPr>
        <p:txBody>
          <a:bodyPr>
            <a:normAutofit/>
          </a:bodyPr>
          <a:lstStyle/>
          <a:p>
            <a:r>
              <a:rPr lang="en-HK" b="1" dirty="0"/>
              <a:t>Routine Task Automation</a:t>
            </a:r>
            <a:r>
              <a:rPr lang="en-HK" dirty="0"/>
              <a:t> </a:t>
            </a:r>
          </a:p>
          <a:p>
            <a:r>
              <a:rPr lang="en-HK" dirty="0"/>
              <a:t>AI will increasingly handle repetitive tasks such as data entry, invoice processing, and bank reconciliations, reducing the time and effort required from accountants.</a:t>
            </a:r>
          </a:p>
          <a:p>
            <a:r>
              <a:rPr lang="en-HK" dirty="0"/>
              <a:t>Example: Automated invoice processing systems that extract data from invoices and input it into accounting software with minimal human intervention.</a:t>
            </a:r>
          </a:p>
          <a:p>
            <a:endParaRPr lang="en-HK" dirty="0"/>
          </a:p>
          <a:p>
            <a:r>
              <a:rPr lang="en-HK" b="1" dirty="0"/>
              <a:t>Impact on Workforce</a:t>
            </a:r>
            <a:r>
              <a:rPr lang="en-HK" dirty="0"/>
              <a:t> </a:t>
            </a:r>
          </a:p>
          <a:p>
            <a:r>
              <a:rPr lang="en-HK" dirty="0"/>
              <a:t>Traditional roles will evolve, leading to a shift in job responsibilities. Accountants will spend less time on mundane tasks and more on strategic activities.</a:t>
            </a:r>
          </a:p>
          <a:p>
            <a:r>
              <a:rPr lang="en-HK" dirty="0"/>
              <a:t>Reskilling Opportunities: Accountants will need training in AI tools, data analysis, and strategic advisory to adapt to new roles.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E020C-4ECA-4DD8-8926-CDF117E6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CE93-A5D1-4102-8C42-7BF6DCD6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Enhanced predictive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41E19-DF43-497D-8C42-93F17B8D9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Leveraging Big Data</a:t>
            </a:r>
            <a:endParaRPr lang="en-HK" dirty="0"/>
          </a:p>
          <a:p>
            <a:r>
              <a:rPr lang="en-HK" dirty="0"/>
              <a:t>AI will utilize vast datasets to </a:t>
            </a:r>
            <a:r>
              <a:rPr lang="en-HK" dirty="0" err="1"/>
              <a:t>analyze</a:t>
            </a:r>
            <a:r>
              <a:rPr lang="en-HK" dirty="0"/>
              <a:t> trends, enabling firms to make informed predictions about financial performance.</a:t>
            </a:r>
          </a:p>
          <a:p>
            <a:r>
              <a:rPr lang="en-HK" dirty="0"/>
              <a:t>Machine Learning Models: Algorithms will identify patterns and forecast future outcomes, such as cash flow trends or revenue growth.</a:t>
            </a:r>
          </a:p>
          <a:p>
            <a:endParaRPr lang="en-HK" dirty="0"/>
          </a:p>
          <a:p>
            <a:r>
              <a:rPr lang="en-HK" b="1" dirty="0"/>
              <a:t>Real-Time Insights</a:t>
            </a:r>
            <a:endParaRPr lang="en-HK" dirty="0"/>
          </a:p>
          <a:p>
            <a:r>
              <a:rPr lang="en-HK" dirty="0"/>
              <a:t>Businesses will benefit from real-time analytics, allowing for timely decision-making based on current data rather than historical reports.</a:t>
            </a:r>
          </a:p>
          <a:p>
            <a:r>
              <a:rPr lang="en-HK" dirty="0"/>
              <a:t>Scenario Analysis: AI can simulate various financial scenarios, helping firms prepare for potential market changes or economic fluctuations.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98972-3238-43CC-9D1E-8226DC7D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24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9086-CF96-423D-BD29-68A2B786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Integration with Blockchain technology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2C28-B45C-4741-BEAC-60890D61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121274"/>
          </a:xfrm>
        </p:spPr>
        <p:txBody>
          <a:bodyPr>
            <a:normAutofit lnSpcReduction="10000"/>
          </a:bodyPr>
          <a:lstStyle/>
          <a:p>
            <a:r>
              <a:rPr lang="en-HK" b="1" dirty="0"/>
              <a:t>Improved Transparency</a:t>
            </a:r>
            <a:endParaRPr lang="en-HK" dirty="0"/>
          </a:p>
          <a:p>
            <a:r>
              <a:rPr lang="en-HK" dirty="0"/>
              <a:t>Combining AI with blockchain technology can enhance the transparency of financial transactions, making it easier to track and verify transactions.</a:t>
            </a:r>
          </a:p>
          <a:p>
            <a:r>
              <a:rPr lang="en-HK" dirty="0"/>
              <a:t>Example: Smart contracts that automatically execute transactions when predefined conditions are met, reducing the need for manual oversight.</a:t>
            </a:r>
          </a:p>
          <a:p>
            <a:endParaRPr lang="en-HK" dirty="0"/>
          </a:p>
          <a:p>
            <a:r>
              <a:rPr lang="en-HK" b="1" dirty="0"/>
              <a:t>Security and Fraud Prevention</a:t>
            </a:r>
            <a:endParaRPr lang="en-HK" dirty="0"/>
          </a:p>
          <a:p>
            <a:r>
              <a:rPr lang="en-HK" dirty="0"/>
              <a:t>Blockchain’s decentralized nature adds a layer of security, making it harder for fraud to occur. AI can </a:t>
            </a:r>
            <a:r>
              <a:rPr lang="en-HK" dirty="0" err="1"/>
              <a:t>analyze</a:t>
            </a:r>
            <a:r>
              <a:rPr lang="en-HK" dirty="0"/>
              <a:t> blockchain data to detect anomalies and potential fraud in real time.</a:t>
            </a:r>
          </a:p>
          <a:p>
            <a:r>
              <a:rPr lang="en-HK" dirty="0"/>
              <a:t>Audit Efficiency: AI tools can quickly </a:t>
            </a:r>
            <a:r>
              <a:rPr lang="en-HK" dirty="0" err="1"/>
              <a:t>analyze</a:t>
            </a:r>
            <a:r>
              <a:rPr lang="en-HK" dirty="0"/>
              <a:t> blockchain records, streamlining the audit process and ensuring compliance.</a:t>
            </a:r>
          </a:p>
          <a:p>
            <a:endParaRPr lang="en-HK" dirty="0"/>
          </a:p>
          <a:p>
            <a:pPr marL="0" indent="0">
              <a:buNone/>
            </a:pPr>
            <a:r>
              <a:rPr lang="en-HK" dirty="0"/>
              <a:t>@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4DB6A-BB95-48F8-A17E-A59E22FF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26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888A-49B2-4630-8282-37C50CB5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Personalized client services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ABCA-CE6F-436B-A6D4-276C8EFA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729163"/>
          </a:xfrm>
        </p:spPr>
        <p:txBody>
          <a:bodyPr>
            <a:normAutofit lnSpcReduction="10000"/>
          </a:bodyPr>
          <a:lstStyle/>
          <a:p>
            <a:r>
              <a:rPr lang="en-HK" b="1" dirty="0"/>
              <a:t>Tailored Recommendations</a:t>
            </a:r>
            <a:endParaRPr lang="en-HK" dirty="0"/>
          </a:p>
          <a:p>
            <a:r>
              <a:rPr lang="en-HK" dirty="0"/>
              <a:t>AI will enable accountants to offer personalized financial advice by </a:t>
            </a:r>
            <a:r>
              <a:rPr lang="en-HK" dirty="0" err="1"/>
              <a:t>analyzing</a:t>
            </a:r>
            <a:r>
              <a:rPr lang="en-HK" dirty="0"/>
              <a:t> individual client data and preferences.</a:t>
            </a:r>
          </a:p>
          <a:p>
            <a:r>
              <a:rPr lang="en-HK" dirty="0"/>
              <a:t>Example: AI-driven platforms can suggest optimal investment strategies or tax-saving opportunities based on a client’s unique financial situation.</a:t>
            </a:r>
          </a:p>
          <a:p>
            <a:endParaRPr lang="en-HK" dirty="0"/>
          </a:p>
          <a:p>
            <a:r>
              <a:rPr lang="en-HK" b="1" dirty="0"/>
              <a:t>Enhanced Communication</a:t>
            </a:r>
            <a:endParaRPr lang="en-HK" dirty="0"/>
          </a:p>
          <a:p>
            <a:r>
              <a:rPr lang="en-HK" dirty="0"/>
              <a:t>Natural Language Processing (NLP) will facilitate more intuitive interactions between clients and AI systems, allowing clients to ask questions and receive instant, accurate responses.</a:t>
            </a:r>
          </a:p>
          <a:p>
            <a:r>
              <a:rPr lang="en-HK" dirty="0"/>
              <a:t>Chatbots and Virtual Assistants: These tools can handle client inquiries, provide updates on financial status, and assist with basic accounting tasks.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589A-D0C8-4D58-8EC8-07A3EA79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307E-17D0-40FA-8DD6-8D279860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Continuous learning and adaption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599B-C67D-4F53-B6A8-5A1A19A58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/>
          <a:lstStyle/>
          <a:p>
            <a:r>
              <a:rPr lang="en-HK" b="1" dirty="0"/>
              <a:t>AI Systems that Learn</a:t>
            </a:r>
            <a:endParaRPr lang="en-HK" dirty="0"/>
          </a:p>
          <a:p>
            <a:r>
              <a:rPr lang="en-HK" dirty="0"/>
              <a:t>Machine learning algorithms will continuously learn from new data, improving their accuracy and effectiveness over time.</a:t>
            </a:r>
          </a:p>
          <a:p>
            <a:r>
              <a:rPr lang="en-HK" dirty="0"/>
              <a:t>Adaptability: As market conditions and regulations change, AI systems can adjust their models to remain compliant and effective.</a:t>
            </a:r>
          </a:p>
          <a:p>
            <a:endParaRPr lang="en-HK" dirty="0"/>
          </a:p>
          <a:p>
            <a:r>
              <a:rPr lang="en-HK" b="1" dirty="0"/>
              <a:t>Feedback Mechanisms</a:t>
            </a:r>
            <a:endParaRPr lang="en-HK" dirty="0"/>
          </a:p>
          <a:p>
            <a:r>
              <a:rPr lang="en-HK" dirty="0"/>
              <a:t>Incorporating feedback loops into AI systems will allow for ongoing refinement and improvement, ensuring that the tools remain relevant and useful.</a:t>
            </a:r>
          </a:p>
          <a:p>
            <a:r>
              <a:rPr lang="en-HK" dirty="0"/>
              <a:t>User Engagement: Encouraging user feedback on AI outputs can help enhance system performance and address any ethical concerns.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0C3FB-FC65-4E01-A542-D10C62CB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8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2883</Words>
  <Application>Microsoft Office PowerPoint</Application>
  <PresentationFormat>On-screen Show (4:3)</PresentationFormat>
  <Paragraphs>335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等线</vt:lpstr>
      <vt:lpstr>MS PGothic</vt:lpstr>
      <vt:lpstr>MS PGothic</vt:lpstr>
      <vt:lpstr>Arial</vt:lpstr>
      <vt:lpstr>Calibri</vt:lpstr>
      <vt:lpstr>Calibri Light</vt:lpstr>
      <vt:lpstr>Palatino Linotype</vt:lpstr>
      <vt:lpstr>Times New Roman</vt:lpstr>
      <vt:lpstr>Wingdings</vt:lpstr>
      <vt:lpstr>Office Theme</vt:lpstr>
      <vt:lpstr>AC6761 Artificial Intelligence Accounting</vt:lpstr>
      <vt:lpstr> </vt:lpstr>
      <vt:lpstr>What is Machine Learning?​ </vt:lpstr>
      <vt:lpstr>Financial Forecast &amp; Machine Learning</vt:lpstr>
      <vt:lpstr>The Supervised Learning Process​ </vt:lpstr>
      <vt:lpstr>Example</vt:lpstr>
      <vt:lpstr>Tools for Machine Learning Forecasting​ </vt:lpstr>
      <vt:lpstr>Introduction to SAS for Machine Learning</vt:lpstr>
      <vt:lpstr>Key SAS Procedures for Machine Learning:​</vt:lpstr>
      <vt:lpstr>Case Study: Predicting a Firm's Stock Price​ </vt:lpstr>
      <vt:lpstr>Our plan</vt:lpstr>
      <vt:lpstr>Step 1 — Defining Features (X) from Financial Theory​ </vt:lpstr>
      <vt:lpstr>Step 2 — SAS Code: Data Preparation </vt:lpstr>
      <vt:lpstr>PowerPoint Presentation</vt:lpstr>
      <vt:lpstr>Step 3 — SAS Code: Building the ML Model​ </vt:lpstr>
      <vt:lpstr>Step 4 — Making the Forecast for 2026​ </vt:lpstr>
      <vt:lpstr>Final Output​​ </vt:lpstr>
      <vt:lpstr>Summary &amp; Caveats </vt:lpstr>
      <vt:lpstr>Example of Python analyses</vt:lpstr>
      <vt:lpstr>PowerPoint Presentation</vt:lpstr>
      <vt:lpstr>Example of SAS analyses</vt:lpstr>
      <vt:lpstr>Example of SAS analyses</vt:lpstr>
      <vt:lpstr>Example of STATA analyses</vt:lpstr>
      <vt:lpstr>Ethics in AI</vt:lpstr>
      <vt:lpstr>Data privacy and security – Key concerns </vt:lpstr>
      <vt:lpstr>Data privacy and security – Best practices</vt:lpstr>
      <vt:lpstr>Bias and fairness - concept </vt:lpstr>
      <vt:lpstr>Bias and fairness - Impact</vt:lpstr>
      <vt:lpstr>Bias and fairness – Strategies for mitigation</vt:lpstr>
      <vt:lpstr>Transparency and explainability  - Challenges</vt:lpstr>
      <vt:lpstr>Transparency and explainability  - Improvement</vt:lpstr>
      <vt:lpstr>Responsibility and accountability – who is responsible?</vt:lpstr>
      <vt:lpstr>Responsibility and accountability – Guidelines</vt:lpstr>
      <vt:lpstr>Key Trends Shaping the Future of AI in Accounting</vt:lpstr>
      <vt:lpstr>Increased automation </vt:lpstr>
      <vt:lpstr>Enhanced predictive analytics</vt:lpstr>
      <vt:lpstr>Integration with Blockchain technology </vt:lpstr>
      <vt:lpstr>Personalized client services </vt:lpstr>
      <vt:lpstr>Continuous learning and adaption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2026-10-21T06:53:10Z</dcterms:modified>
</cp:coreProperties>
</file>