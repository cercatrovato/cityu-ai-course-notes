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5721" r:id="rId1"/>
  </p:sldMasterIdLst>
  <p:notesMasterIdLst>
    <p:notesMasterId r:id="rId44"/>
  </p:notesMasterIdLst>
  <p:handoutMasterIdLst>
    <p:handoutMasterId r:id="rId45"/>
  </p:handoutMasterIdLst>
  <p:sldIdLst>
    <p:sldId id="397" r:id="rId2"/>
    <p:sldId id="429" r:id="rId3"/>
    <p:sldId id="454" r:id="rId4"/>
    <p:sldId id="455" r:id="rId5"/>
    <p:sldId id="430" r:id="rId6"/>
    <p:sldId id="441" r:id="rId7"/>
    <p:sldId id="470" r:id="rId8"/>
    <p:sldId id="471" r:id="rId9"/>
    <p:sldId id="475" r:id="rId10"/>
    <p:sldId id="472" r:id="rId11"/>
    <p:sldId id="473" r:id="rId12"/>
    <p:sldId id="456" r:id="rId13"/>
    <p:sldId id="457" r:id="rId14"/>
    <p:sldId id="436" r:id="rId15"/>
    <p:sldId id="477" r:id="rId16"/>
    <p:sldId id="442" r:id="rId17"/>
    <p:sldId id="458" r:id="rId18"/>
    <p:sldId id="438" r:id="rId19"/>
    <p:sldId id="444" r:id="rId20"/>
    <p:sldId id="459" r:id="rId21"/>
    <p:sldId id="439" r:id="rId22"/>
    <p:sldId id="445" r:id="rId23"/>
    <p:sldId id="446" r:id="rId24"/>
    <p:sldId id="447" r:id="rId25"/>
    <p:sldId id="469" r:id="rId26"/>
    <p:sldId id="460" r:id="rId27"/>
    <p:sldId id="461" r:id="rId28"/>
    <p:sldId id="440" r:id="rId29"/>
    <p:sldId id="448" r:id="rId30"/>
    <p:sldId id="449" r:id="rId31"/>
    <p:sldId id="450" r:id="rId32"/>
    <p:sldId id="451" r:id="rId33"/>
    <p:sldId id="462" r:id="rId34"/>
    <p:sldId id="463" r:id="rId35"/>
    <p:sldId id="431" r:id="rId36"/>
    <p:sldId id="464" r:id="rId37"/>
    <p:sldId id="432" r:id="rId38"/>
    <p:sldId id="467" r:id="rId39"/>
    <p:sldId id="468" r:id="rId40"/>
    <p:sldId id="435" r:id="rId41"/>
    <p:sldId id="476" r:id="rId42"/>
    <p:sldId id="453" r:id="rId43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hor" initials="A" lastIdx="0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2D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61" autoAdjust="0"/>
    <p:restoredTop sz="92494" autoAdjust="0"/>
  </p:normalViewPr>
  <p:slideViewPr>
    <p:cSldViewPr>
      <p:cViewPr varScale="1">
        <p:scale>
          <a:sx n="59" d="100"/>
          <a:sy n="59" d="100"/>
        </p:scale>
        <p:origin x="20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3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885" y="67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966849" y="0"/>
            <a:ext cx="829254" cy="298192"/>
          </a:xfrm>
          <a:prstGeom prst="rect">
            <a:avLst/>
          </a:prstGeom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dirty="0"/>
              <a:t>1-</a:t>
            </a:r>
            <a:fld id="{4FC70F1E-A9CF-4725-BA99-5BD9E946C6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21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3164" tIns="46582" rIns="93164" bIns="4658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  <a:ln>
            <a:noFill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Slide Number Placeholder 4"/>
          <p:cNvSpPr txBox="1">
            <a:spLocks/>
          </p:cNvSpPr>
          <p:nvPr/>
        </p:nvSpPr>
        <p:spPr>
          <a:xfrm>
            <a:off x="5287084" y="1"/>
            <a:ext cx="1510595" cy="330942"/>
          </a:xfrm>
          <a:prstGeom prst="rect">
            <a:avLst/>
          </a:prstGeom>
        </p:spPr>
        <p:txBody>
          <a:bodyPr lIns="93164" tIns="46582" rIns="93164" bIns="46582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latin typeface="Calibri" pitchFamily="-107" charset="0"/>
              </a:rPr>
              <a:t>1 - </a:t>
            </a:r>
            <a:fld id="{E8754586-748E-423B-B46D-321A01942A47}" type="slidenum">
              <a:rPr lang="en-US" sz="1200" smtClean="0">
                <a:latin typeface="Calibri" pitchFamily="-107" charset="0"/>
              </a:rPr>
              <a:pPr algn="r" eaLnBrk="1" hangingPunct="1">
                <a:defRPr/>
              </a:pPr>
              <a:t>‹#›</a:t>
            </a:fld>
            <a:endParaRPr lang="en-US" sz="1200" dirty="0">
              <a:latin typeface="Calibri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260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8462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2059077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376978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975687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947074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358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FB42-E70C-4FA6-B141-9BD8E6020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4AD63-5068-4E4E-A3E7-F90521A24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6812-10C8-433B-B6CA-EEC7F433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29925E-EED2-44FE-A088-00640B77843B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28831-A964-419A-8F9B-E13A6AC9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D5A45-30F2-4BA8-A795-B19884B2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DA46-A0C8-43DB-B9C0-C1581C69E3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4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9A0F-11F4-468A-92A1-C983B748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AD7F-CA6D-45BF-B764-72E47621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37278-C858-4DC0-AFCD-3C6A68D3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32F547-B0D0-4CB8-8543-44DCD76FB919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C488E-4D8B-43F6-9EB5-45796484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EFFA-FE3F-4B63-A363-A60D6A34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5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6687-01E3-4EFA-AAF4-3B4BB497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F4309-F76B-4BB7-B6F9-72503B851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824F7-8986-499F-A6D6-173E38F0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80D1F-64D5-4D03-86A8-B0C78FB9D084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C674-1E77-404C-A67C-7EEBBF9A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AFC3-E5CC-4C2D-9F40-7AC36D99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116888-0E84-4000-8C9A-DF22FF32135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6322-B5D5-4209-90AD-C2E43075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3636-E557-4BF5-BDB8-7608D671E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DEDD-0FE5-4DE5-8D0C-0BF6BF334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DEA4-5D2C-45AC-A09E-EA1426FF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A3584-A3FD-4926-AF2B-BA4A2209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32EB-F0E7-4396-94E9-D3172F1D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75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8068-C533-471D-B504-99206ADA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A985D-5BF7-4CB5-A92B-4A6FDFBB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B07C4-7F34-446A-9E2E-1B83A53EA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32C3C-0143-494D-9F52-9E04ECF3F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6F971-95B4-46A0-91C2-A0AFD49D1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71DDC-BE93-430E-B7EA-CDF6C2BE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7A58-19C6-42DB-9019-46F96D1C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BDDE3-F8EA-46B4-9C1F-FFEAFED2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375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99D1-45FB-49A6-A72B-39DFBA79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AEA5B-B844-499C-BA2B-C67C65D2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12F0C6-B5C0-45E6-85FD-C21AB31A1A95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586E5-DF4D-41FD-939D-D5906457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8673F-6F56-412B-8D53-B5B5D1D6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B8CC1-C7B3-4BC4-BEEE-A4A95954513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0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17015-38ED-4E49-B354-BF1208BF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224EFF-F9F8-496A-8AFF-0F456197E8B5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ED087-1CA0-4D1D-A5B0-CA6A3706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9A89-0D3C-4EB6-BC78-A5673BA3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19379-17AD-4E0D-9610-E34AD365F0A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35F3-02F6-4359-A8DD-7118AD1E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6DA7-C41C-4B1D-821B-A34DDED7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F4FC8-0644-4504-8FD0-62DFC733C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DD565-4EB8-457E-B8A9-509B3DCE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88E37B-CCA0-4BF7-B7AF-2BF4EC7610D2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9D874-3E53-419D-8C82-3E772F73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B5090-F9E3-4FA5-B32F-54204C78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9EE4FC-2A91-409C-B8D2-F3728F9891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5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437F-279B-4932-9EF7-FFD910F0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7D60-0F4E-4BE9-B09F-E7246F969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0D92-3484-4528-A351-19165E1E6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D33E0-CCF8-4FEC-A987-DCEDD319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906EF-43E0-4C73-8925-C4A8189F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2ED9E-B863-4067-A92B-B18B6217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503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C477-2B1A-4487-9A1A-D9D3C01F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A2816-85E2-44D9-878A-B0F1465BB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A877E-BE39-43C8-9EE8-D621A9D0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03DD5F-3ADD-4550-807E-1C58669018A4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29F1C-DBE1-4824-91C7-103FAFC4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950F-2711-4E12-8356-E605F748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D7A4F-0B31-4615-9C11-A8677BAFCA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CA952-B5B7-4257-8694-84F3A9F90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B2DB1-6CAB-4906-8B39-FB4DED0A8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8120D-AC6D-4553-9834-55272B2A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1D123-9B63-43A4-93F3-FBB2E34B51D6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6FC3-224D-4426-B73C-2AA0B48F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E764-C080-4BE3-AFC3-EA929A6E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1C260-B825-4CE8-9DDA-33D812275B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28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220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64F96-0661-4ECF-9982-9B197F1F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15EEC-6249-47C2-8057-6D2EEB8E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0C48-B9DE-4CE6-A788-912657533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B9AB-B01B-4609-977B-94A63EF8D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4386-A281-4CF3-A02F-A34096AE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34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22" r:id="rId1"/>
    <p:sldLayoutId id="2147485723" r:id="rId2"/>
    <p:sldLayoutId id="2147485724" r:id="rId3"/>
    <p:sldLayoutId id="2147485725" r:id="rId4"/>
    <p:sldLayoutId id="2147485726" r:id="rId5"/>
    <p:sldLayoutId id="2147485727" r:id="rId6"/>
    <p:sldLayoutId id="2147485728" r:id="rId7"/>
    <p:sldLayoutId id="2147485729" r:id="rId8"/>
    <p:sldLayoutId id="2147485730" r:id="rId9"/>
    <p:sldLayoutId id="2147485731" r:id="rId10"/>
    <p:sldLayoutId id="2147485732" r:id="rId11"/>
    <p:sldLayoutId id="2147484929" r:id="rId12"/>
    <p:sldLayoutId id="2147484917" r:id="rId13"/>
    <p:sldLayoutId id="2147485054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itle 3"/>
          <p:cNvSpPr>
            <a:spLocks noGrp="1"/>
          </p:cNvSpPr>
          <p:nvPr>
            <p:ph type="ctrTitle"/>
          </p:nvPr>
        </p:nvSpPr>
        <p:spPr>
          <a:xfrm>
            <a:off x="609600" y="1088237"/>
            <a:ext cx="6858000" cy="1718936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b="1" dirty="0"/>
              <a:t>AC6761 Artificial Intelligence Accounting</a:t>
            </a:r>
          </a:p>
        </p:txBody>
      </p:sp>
      <p:sp>
        <p:nvSpPr>
          <p:cNvPr id="129027" name="Subtitle 2"/>
          <p:cNvSpPr>
            <a:spLocks noGrp="1"/>
          </p:cNvSpPr>
          <p:nvPr>
            <p:ph type="subTitle" idx="1"/>
          </p:nvPr>
        </p:nvSpPr>
        <p:spPr>
          <a:xfrm>
            <a:off x="762000" y="3429000"/>
            <a:ext cx="7696200" cy="1543012"/>
          </a:xfrm>
        </p:spPr>
        <p:txBody>
          <a:bodyPr>
            <a:normAutofit lnSpcReduction="10000"/>
          </a:bodyPr>
          <a:lstStyle/>
          <a:p>
            <a:pPr algn="l" eaLnBrk="1" hangingPunct="1">
              <a:buFont typeface="Wingdings" pitchFamily="-107" charset="2"/>
              <a:buNone/>
            </a:pPr>
            <a:r>
              <a:rPr lang="en-US" altLang="en-US" sz="3600" b="1" dirty="0">
                <a:solidFill>
                  <a:srgbClr val="898989"/>
                </a:solidFill>
              </a:rPr>
              <a:t>Chapter 10 </a:t>
            </a:r>
          </a:p>
          <a:p>
            <a:pPr algn="l" eaLnBrk="1" hangingPunct="1">
              <a:buFont typeface="Wingdings" pitchFamily="-107" charset="2"/>
              <a:buNone/>
            </a:pPr>
            <a:r>
              <a:rPr lang="en-US" altLang="en-US" sz="3600" b="1" dirty="0">
                <a:solidFill>
                  <a:srgbClr val="898989"/>
                </a:solidFill>
              </a:rPr>
              <a:t>AI in financial statement analyses – Utilizing a variety of analytical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006991"/>
          </a:solidFill>
          <a:ln w="28575" cap="flat" cmpd="sng" algn="ctr">
            <a:solidFill>
              <a:srgbClr val="6076B4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" lastClr="FFFFFF"/>
              </a:solidFill>
              <a:latin typeface="Palatino Linotype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54575-9E9F-4390-9FC0-00915FFEC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99" y="206811"/>
            <a:ext cx="7886700" cy="1325563"/>
          </a:xfrm>
        </p:spPr>
        <p:txBody>
          <a:bodyPr/>
          <a:lstStyle/>
          <a:p>
            <a:r>
              <a:rPr lang="en-HK" dirty="0"/>
              <a:t>Financial statement analyses – analytical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CA759-B22F-4557-B884-3AE98A330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652963"/>
          </a:xfrm>
        </p:spPr>
        <p:txBody>
          <a:bodyPr/>
          <a:lstStyle/>
          <a:p>
            <a:r>
              <a:rPr lang="en-HK" dirty="0"/>
              <a:t>Ratio Analysis</a:t>
            </a:r>
          </a:p>
          <a:p>
            <a:r>
              <a:rPr lang="en-HK" dirty="0"/>
              <a:t>Trend Analysis</a:t>
            </a:r>
          </a:p>
          <a:p>
            <a:r>
              <a:rPr lang="en-HK" dirty="0"/>
              <a:t>DuPont Analysis</a:t>
            </a:r>
          </a:p>
          <a:p>
            <a:r>
              <a:rPr lang="en-HK" dirty="0"/>
              <a:t>SWOT Analysis</a:t>
            </a:r>
          </a:p>
          <a:p>
            <a:r>
              <a:rPr lang="en-HK" dirty="0"/>
              <a:t>Porter’s Five Forces</a:t>
            </a:r>
          </a:p>
          <a:p>
            <a:r>
              <a:rPr lang="en-HK" dirty="0"/>
              <a:t>Z-score Analysis</a:t>
            </a:r>
          </a:p>
          <a:p>
            <a:r>
              <a:rPr lang="en-HK" dirty="0"/>
              <a:t>Scenario Analysis </a:t>
            </a:r>
          </a:p>
          <a:p>
            <a:r>
              <a:rPr lang="en-HK" dirty="0"/>
              <a:t>Value Chain Analysis</a:t>
            </a:r>
          </a:p>
          <a:p>
            <a:r>
              <a:rPr lang="en-HK" dirty="0"/>
              <a:t>Financial Statement Forecasting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FFAF9-2B3C-4A39-B475-918206CBE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34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C99C-E318-4340-8795-28B0D595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Ratio Analysis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A36EF-FDC8-4E01-AF67-A060F9CA8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Calculates relationships between financial metrics (e.g., debt vs. equity, revenue vs. costs) to evaluate liquidity, profitability, solvency, efficiency, and market valuation</a:t>
            </a:r>
          </a:p>
          <a:p>
            <a:endParaRPr lang="en-HK" dirty="0"/>
          </a:p>
          <a:p>
            <a:pPr fontAlgn="base"/>
            <a:r>
              <a:rPr lang="en-HK" dirty="0"/>
              <a:t>Provides benchmarks for comparing a company’s performance against:</a:t>
            </a:r>
          </a:p>
          <a:p>
            <a:pPr fontAlgn="base"/>
            <a:r>
              <a:rPr lang="en-HK" dirty="0"/>
              <a:t>Historical trends (e.g., 5-year profit margin trends),</a:t>
            </a:r>
          </a:p>
          <a:p>
            <a:pPr fontAlgn="base"/>
            <a:r>
              <a:rPr lang="en-HK" dirty="0"/>
              <a:t>Competitors (e.g., Apple vs. Samsung gross margins),</a:t>
            </a:r>
          </a:p>
          <a:p>
            <a:pPr fontAlgn="base"/>
            <a:r>
              <a:rPr lang="en-HK" dirty="0"/>
              <a:t>Industry averages (e.g., tech sector P/E ratios) 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8EB33-737D-49AD-90C6-D85E1A8F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10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40271-809D-49A6-B99C-80872E79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6386"/>
            <a:ext cx="7886700" cy="1325563"/>
          </a:xfrm>
        </p:spPr>
        <p:txBody>
          <a:bodyPr/>
          <a:lstStyle/>
          <a:p>
            <a:r>
              <a:rPr lang="en-HK" dirty="0"/>
              <a:t>Ratio Analysis - examples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510C393-92E2-443C-9E00-68B6A4A723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3209792"/>
              </p:ext>
            </p:extLst>
          </p:nvPr>
        </p:nvGraphicFramePr>
        <p:xfrm>
          <a:off x="381000" y="990600"/>
          <a:ext cx="8134350" cy="5595813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723400794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248677956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4012327692"/>
                    </a:ext>
                  </a:extLst>
                </a:gridCol>
              </a:tblGrid>
              <a:tr h="307236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1" dirty="0">
                          <a:effectLst/>
                          <a:latin typeface="inherit"/>
                        </a:rPr>
                        <a:t>Category​</a:t>
                      </a:r>
                      <a:r>
                        <a:rPr lang="en-HK" sz="1400" b="0" dirty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L="65681" marR="65681" marT="54734" marB="54734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400" b="1">
                          <a:effectLst/>
                          <a:latin typeface="inherit"/>
                        </a:rPr>
                        <a:t>​Purpose​</a:t>
                      </a:r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400" b="1">
                          <a:effectLst/>
                          <a:latin typeface="inherit"/>
                        </a:rPr>
                        <a:t>​Key Ratios &amp; Formulas​</a:t>
                      </a:r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443816"/>
                  </a:ext>
                </a:extLst>
              </a:tr>
              <a:tr h="1069228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 dirty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400" b="1" dirty="0">
                          <a:effectLst/>
                          <a:latin typeface="inherit"/>
                        </a:rPr>
                        <a:t>​Liquidity Ratios​</a:t>
                      </a:r>
                      <a:r>
                        <a:rPr lang="en-HK" sz="1400" b="0" dirty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L="65681" marR="65681" marT="54734" marB="54734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 dirty="0">
                          <a:effectLst/>
                          <a:latin typeface="inherit"/>
                        </a:rPr>
                        <a:t>Assess short-term debt-paying ability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 dirty="0">
                          <a:effectLst/>
                          <a:latin typeface="inherit"/>
                        </a:rPr>
                        <a:t>Current Ratio = Current Assets / Current Liabilities </a:t>
                      </a:r>
                    </a:p>
                    <a:p>
                      <a:pPr algn="ctr" fontAlgn="ctr"/>
                      <a:br>
                        <a:rPr lang="en-HK" sz="1400" b="0" dirty="0">
                          <a:effectLst/>
                          <a:latin typeface="PingFang SC"/>
                        </a:rPr>
                      </a:br>
                      <a:r>
                        <a:rPr lang="en-HK" sz="1400" b="0" dirty="0">
                          <a:effectLst/>
                          <a:latin typeface="PingFang SC"/>
                        </a:rPr>
                        <a:t>Quick Ratio = (Cash + Receivables) / Current Liabilities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183797"/>
                  </a:ext>
                </a:extLst>
              </a:tr>
              <a:tr h="995353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400" b="1">
                          <a:effectLst/>
                          <a:latin typeface="inherit"/>
                        </a:rPr>
                        <a:t>​Profitability Ratios​</a:t>
                      </a:r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L="65681" marR="65681" marT="54734" marB="54734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 dirty="0">
                          <a:effectLst/>
                          <a:latin typeface="inherit"/>
                        </a:rPr>
                        <a:t>Measure profit generation efficiency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 dirty="0">
                          <a:effectLst/>
                          <a:latin typeface="inherit"/>
                        </a:rPr>
                        <a:t>Gross Margin = (Revenue - COGS) / Revenue </a:t>
                      </a:r>
                    </a:p>
                    <a:p>
                      <a:pPr algn="ctr" fontAlgn="ctr"/>
                      <a:br>
                        <a:rPr lang="en-HK" sz="1400" b="0" dirty="0">
                          <a:effectLst/>
                          <a:latin typeface="PingFang SC"/>
                        </a:rPr>
                      </a:br>
                      <a:r>
                        <a:rPr lang="en-HK" sz="1400" b="0" dirty="0">
                          <a:effectLst/>
                          <a:latin typeface="PingFang SC"/>
                        </a:rPr>
                        <a:t>ROE = Net Income / Shareholder Equity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21674"/>
                  </a:ext>
                </a:extLst>
              </a:tr>
              <a:tr h="1069228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400" b="1">
                          <a:effectLst/>
                          <a:latin typeface="inherit"/>
                        </a:rPr>
                        <a:t>​Solvency Ratios​</a:t>
                      </a:r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L="65681" marR="65681" marT="54734" marB="54734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 dirty="0">
                          <a:effectLst/>
                          <a:latin typeface="inherit"/>
                        </a:rPr>
                        <a:t>Evaluate long-term debt sustainability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 dirty="0">
                          <a:effectLst/>
                          <a:latin typeface="inherit"/>
                        </a:rPr>
                        <a:t>Debt-to-Equity = Total Debt / Total Equity </a:t>
                      </a:r>
                    </a:p>
                    <a:p>
                      <a:pPr algn="ctr" fontAlgn="ctr"/>
                      <a:br>
                        <a:rPr lang="en-HK" sz="1400" b="0" dirty="0">
                          <a:effectLst/>
                          <a:latin typeface="PingFang SC"/>
                        </a:rPr>
                      </a:br>
                      <a:r>
                        <a:rPr lang="en-HK" sz="1400" b="0" dirty="0">
                          <a:effectLst/>
                          <a:latin typeface="PingFang SC"/>
                        </a:rPr>
                        <a:t>Interest Coverage = EBIT / Interest Expense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293085"/>
                  </a:ext>
                </a:extLst>
              </a:tr>
              <a:tr h="1069228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400" b="1">
                          <a:effectLst/>
                          <a:latin typeface="inherit"/>
                        </a:rPr>
                        <a:t>​Efficiency Ratios​</a:t>
                      </a:r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L="65681" marR="65681" marT="54734" marB="54734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>
                          <a:effectLst/>
                          <a:latin typeface="inherit"/>
                        </a:rPr>
                        <a:t>Track asset/utilization effectiveness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 dirty="0">
                          <a:effectLst/>
                          <a:latin typeface="inherit"/>
                        </a:rPr>
                        <a:t>Inventory Turnover = COGS / Avg. Inventory </a:t>
                      </a:r>
                    </a:p>
                    <a:p>
                      <a:pPr algn="ctr" fontAlgn="ctr"/>
                      <a:br>
                        <a:rPr lang="en-HK" sz="1400" b="0" dirty="0">
                          <a:effectLst/>
                          <a:latin typeface="PingFang SC"/>
                        </a:rPr>
                      </a:br>
                      <a:r>
                        <a:rPr lang="en-HK" sz="1400" b="0" dirty="0">
                          <a:effectLst/>
                          <a:latin typeface="PingFang SC"/>
                        </a:rPr>
                        <a:t>Receivables Turnover = Net Credit Sales / Avg. Receivables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0252"/>
                  </a:ext>
                </a:extLst>
              </a:tr>
              <a:tr h="878246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400" b="1">
                          <a:effectLst/>
                          <a:latin typeface="inherit"/>
                        </a:rPr>
                        <a:t>​Market Ratios​</a:t>
                      </a:r>
                      <a:r>
                        <a:rPr lang="en-HK" sz="14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L="65681" marR="65681" marT="54734" marB="54734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>
                          <a:effectLst/>
                          <a:latin typeface="inherit"/>
                        </a:rPr>
                        <a:t>Reflect market perception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400" b="0" dirty="0">
                          <a:effectLst/>
                          <a:latin typeface="inherit"/>
                        </a:rPr>
                        <a:t>P/E Ratio = Share Price / EPS </a:t>
                      </a:r>
                    </a:p>
                    <a:p>
                      <a:pPr algn="ctr" fontAlgn="ctr"/>
                      <a:br>
                        <a:rPr lang="en-HK" sz="1400" b="0" dirty="0">
                          <a:effectLst/>
                          <a:latin typeface="PingFang SC"/>
                        </a:rPr>
                      </a:br>
                      <a:r>
                        <a:rPr lang="en-HK" sz="1400" b="0" dirty="0">
                          <a:effectLst/>
                          <a:latin typeface="PingFang SC"/>
                        </a:rPr>
                        <a:t>Price-to-Book = Market Value per Share / Book Value per Share</a:t>
                      </a:r>
                    </a:p>
                  </a:txBody>
                  <a:tcPr marL="65681" marR="65681" marT="54734" marB="54734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997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9A9C6-E581-429D-9E27-9E857609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340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4C37-837E-4CB7-B099-277320813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94" y="18422"/>
            <a:ext cx="7886700" cy="1325563"/>
          </a:xfrm>
        </p:spPr>
        <p:txBody>
          <a:bodyPr/>
          <a:lstStyle/>
          <a:p>
            <a:r>
              <a:rPr lang="en-HK" dirty="0"/>
              <a:t>Ratio Analysis – questions asked to AI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F8F0-3A46-4F34-9DA7-33841EBFD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38200"/>
            <a:ext cx="8134350" cy="5714999"/>
          </a:xfrm>
        </p:spPr>
        <p:txBody>
          <a:bodyPr>
            <a:noAutofit/>
          </a:bodyPr>
          <a:lstStyle/>
          <a:p>
            <a:r>
              <a:rPr lang="en-HK" sz="1800" b="1" dirty="0"/>
              <a:t>Liquidity Ratios</a:t>
            </a:r>
          </a:p>
          <a:p>
            <a:r>
              <a:rPr lang="en-HK" sz="1800" dirty="0"/>
              <a:t>What is Apple's current ratio over the past three years, and how does it compare to industry benchmarks?</a:t>
            </a:r>
          </a:p>
          <a:p>
            <a:r>
              <a:rPr lang="en-HK" sz="1800" dirty="0"/>
              <a:t>What is the quick ratio for Apple, and what does it indicate about the company's short-term financial health?</a:t>
            </a:r>
          </a:p>
          <a:p>
            <a:endParaRPr lang="en-HK" sz="1800" dirty="0"/>
          </a:p>
          <a:p>
            <a:r>
              <a:rPr lang="en-HK" sz="1800" b="1" dirty="0"/>
              <a:t>Profitability Ratios</a:t>
            </a:r>
          </a:p>
          <a:p>
            <a:r>
              <a:rPr lang="en-HK" sz="1800" dirty="0"/>
              <a:t>What are Apple's return on equity (ROE) and return on assets (ROA) for the last three years?</a:t>
            </a:r>
          </a:p>
          <a:p>
            <a:r>
              <a:rPr lang="en-HK" sz="1800" dirty="0"/>
              <a:t>How has Apple's profit margin changed over the past three years, and what factors could have influenced this trend?</a:t>
            </a:r>
          </a:p>
          <a:p>
            <a:endParaRPr lang="en-HK" sz="1800" dirty="0"/>
          </a:p>
          <a:p>
            <a:r>
              <a:rPr lang="en-HK" sz="1800" b="1" dirty="0"/>
              <a:t>Leverage Ratios</a:t>
            </a:r>
          </a:p>
          <a:p>
            <a:r>
              <a:rPr lang="en-HK" sz="1800" dirty="0"/>
              <a:t>What is the debt-to-equity ratio for Apple over the last three years, and what does it suggest about the company's financial risk?</a:t>
            </a:r>
          </a:p>
          <a:p>
            <a:r>
              <a:rPr lang="en-HK" sz="1800" dirty="0"/>
              <a:t>How has Apple's interest coverage ratio evolved, and what does this indicate about its ability to meet interest obligations?</a:t>
            </a:r>
          </a:p>
          <a:p>
            <a:endParaRPr lang="en-HK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E0709-6FDF-4B4A-B6B4-FC29FF94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99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C318E-7262-497E-8832-C5377F7A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Ratio Analysis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D0C6A-5025-4F8E-B61D-E67BE9D63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HK" sz="2400" b="1" dirty="0"/>
              <a:t>Efficiency Ratios</a:t>
            </a:r>
          </a:p>
          <a:p>
            <a:r>
              <a:rPr lang="en-HK" sz="2400" dirty="0"/>
              <a:t>What is the inventory turnover ratio for Apple, and how does it compare to previous years and competitors?</a:t>
            </a:r>
          </a:p>
          <a:p>
            <a:r>
              <a:rPr lang="en-HK" sz="2400" dirty="0"/>
              <a:t>What is Apple's accounts receivable turnover ratio, and what does it reveal about its credit policies and collection efficiency?</a:t>
            </a:r>
          </a:p>
          <a:p>
            <a:endParaRPr lang="en-HK" sz="2400" dirty="0"/>
          </a:p>
          <a:p>
            <a:r>
              <a:rPr lang="en-HK" sz="2400" b="1" dirty="0"/>
              <a:t>Market Ratios</a:t>
            </a:r>
          </a:p>
          <a:p>
            <a:r>
              <a:rPr lang="en-HK" sz="2400" dirty="0"/>
              <a:t>What is Apple's earnings per share (EPS) trend over the last three years, and how does it compare with industry averages?</a:t>
            </a:r>
          </a:p>
          <a:p>
            <a:r>
              <a:rPr lang="en-HK" sz="2400" dirty="0"/>
              <a:t>What is the price-to-earnings (P/E) ratio for Apple, and how does it compare to competitors in the technology sector?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BC292-E5DF-4F3D-BF6B-D84FD299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913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AD58-A2E5-4269-90A2-1C5E8EE88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Perplexity &amp; Gemini &amp; Kimi &amp; </a:t>
            </a:r>
            <a:r>
              <a:rPr lang="en-HK" dirty="0" err="1"/>
              <a:t>DeepSeek</a:t>
            </a:r>
            <a:r>
              <a:rPr lang="en-HK" dirty="0"/>
              <a:t> as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AA009-FE73-4ED5-81F0-9F3830F88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APPLE Inc.</a:t>
            </a:r>
          </a:p>
          <a:p>
            <a:endParaRPr lang="en-HK" dirty="0"/>
          </a:p>
          <a:p>
            <a:r>
              <a:rPr lang="en-HK" dirty="0"/>
              <a:t>2024</a:t>
            </a:r>
          </a:p>
          <a:p>
            <a:endParaRPr lang="en-HK" dirty="0"/>
          </a:p>
          <a:p>
            <a:r>
              <a:rPr lang="en-HK" dirty="0"/>
              <a:t>Annual report (10-K)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6DC7-F78D-47D3-B739-BFFB9F7B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610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083AB-1ED8-4233-9C9D-C633F14F2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6908"/>
            <a:ext cx="7886700" cy="1325563"/>
          </a:xfrm>
        </p:spPr>
        <p:txBody>
          <a:bodyPr/>
          <a:lstStyle/>
          <a:p>
            <a:r>
              <a:rPr lang="en-HK" dirty="0"/>
              <a:t>Perplexity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D6FDD-94FA-4603-BC91-3DB36FE9D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8800"/>
            <a:ext cx="7886700" cy="4348163"/>
          </a:xfrm>
        </p:spPr>
        <p:txBody>
          <a:bodyPr>
            <a:normAutofit/>
          </a:bodyPr>
          <a:lstStyle/>
          <a:p>
            <a:r>
              <a:rPr lang="en-HK" dirty="0"/>
              <a:t>Q:</a:t>
            </a:r>
          </a:p>
          <a:p>
            <a:r>
              <a:rPr lang="en-HK" dirty="0"/>
              <a:t>Please </a:t>
            </a:r>
            <a:r>
              <a:rPr lang="en-HK" dirty="0" err="1"/>
              <a:t>analyze</a:t>
            </a:r>
            <a:r>
              <a:rPr lang="en-HK" dirty="0"/>
              <a:t> APPLE’s financial statements using ratio analysis models based on 2024 annual report as attached. </a:t>
            </a:r>
          </a:p>
          <a:p>
            <a:endParaRPr lang="en-HK" dirty="0"/>
          </a:p>
          <a:p>
            <a:r>
              <a:rPr lang="en-HK" dirty="0"/>
              <a:t>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1. Profitability Ratios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2. Liquidity Ratios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3. Leverage Ratios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4. Efficiency Ratios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5. Market Ratios</a:t>
            </a:r>
          </a:p>
          <a:p>
            <a:endParaRPr lang="en-HK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FF0A8-F978-4793-B776-865C6424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30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6FCE-C638-4A4F-B8EC-C0F4B1872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Gemini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78A74-8E44-4516-BD4E-4BCF6B658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3" y="1295400"/>
            <a:ext cx="7978877" cy="4830763"/>
          </a:xfrm>
        </p:spPr>
        <p:txBody>
          <a:bodyPr/>
          <a:lstStyle/>
          <a:p>
            <a:r>
              <a:rPr lang="en-HK" sz="2400" dirty="0"/>
              <a:t>Q:</a:t>
            </a:r>
          </a:p>
          <a:p>
            <a:r>
              <a:rPr lang="en-HK" sz="2400" dirty="0"/>
              <a:t>Please </a:t>
            </a:r>
            <a:r>
              <a:rPr lang="en-HK" sz="2400" dirty="0" err="1"/>
              <a:t>analyze</a:t>
            </a:r>
            <a:r>
              <a:rPr lang="en-HK" sz="2400" dirty="0"/>
              <a:t> APPLE’s financial statements using ratio analysis models based on 2024 annual report as attached. </a:t>
            </a:r>
          </a:p>
          <a:p>
            <a:endParaRPr lang="en-HK" sz="2400" dirty="0"/>
          </a:p>
          <a:p>
            <a:r>
              <a:rPr lang="en-HK" sz="2400" dirty="0"/>
              <a:t>A:</a:t>
            </a:r>
          </a:p>
          <a:p>
            <a:r>
              <a:rPr lang="en-HK" sz="2400" dirty="0"/>
              <a:t>Profitability ratios</a:t>
            </a:r>
          </a:p>
          <a:p>
            <a:r>
              <a:rPr lang="en-HK" sz="2400" dirty="0"/>
              <a:t>Liquidity ratios</a:t>
            </a:r>
          </a:p>
          <a:p>
            <a:r>
              <a:rPr lang="en-HK" sz="2400" dirty="0"/>
              <a:t>Solvency ratios</a:t>
            </a:r>
          </a:p>
          <a:p>
            <a:r>
              <a:rPr lang="en-HK" sz="2400" dirty="0"/>
              <a:t>Activity ratios</a:t>
            </a:r>
          </a:p>
          <a:p>
            <a:r>
              <a:rPr lang="en-HK" sz="2400" dirty="0"/>
              <a:t>Market ratios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6A6F4-1149-42A6-B1C5-19A4B084CF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81493E-36EB-4ADD-B985-471D3CD45A9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19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C5AB-29A2-416E-8A90-CB069C04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Kimi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3DCD1-E8D1-4FE2-A1DF-1AAF29C7E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HK" dirty="0"/>
              <a:t>Q:</a:t>
            </a:r>
          </a:p>
          <a:p>
            <a:r>
              <a:rPr lang="en-HK" dirty="0"/>
              <a:t>Please </a:t>
            </a:r>
            <a:r>
              <a:rPr lang="en-HK" dirty="0" err="1"/>
              <a:t>analyze</a:t>
            </a:r>
            <a:r>
              <a:rPr lang="en-HK" dirty="0"/>
              <a:t> APPLE’s financial statements using ratio analysis models based on 2024 annual report as attached. </a:t>
            </a:r>
          </a:p>
          <a:p>
            <a:endParaRPr lang="en-HK" dirty="0"/>
          </a:p>
          <a:p>
            <a:r>
              <a:rPr lang="en-HK" dirty="0"/>
              <a:t>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1. Liquidity Ratios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2. Profitability Ratios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3. Leverage &amp; Solvency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4. Activity / Efficiency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5. Market Ratios (as of 28 Sep 2024 close)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6. Segment &amp; Product Margin Snapshot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7. Key Takeaways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6F845-72FC-4CB9-8200-A38D7EA9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346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9CF99-E418-44BA-B0ED-FFA7FB433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 err="1"/>
              <a:t>DeepSeek</a:t>
            </a: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200-04C7-4E24-9523-5435A8FB3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Q:</a:t>
            </a:r>
          </a:p>
          <a:p>
            <a:r>
              <a:rPr lang="en-HK" dirty="0"/>
              <a:t>Please </a:t>
            </a:r>
            <a:r>
              <a:rPr lang="en-HK" dirty="0" err="1"/>
              <a:t>analyze</a:t>
            </a:r>
            <a:r>
              <a:rPr lang="en-HK" dirty="0"/>
              <a:t> APPLE’s financial statements using ratio analysis models based on 2024 annual report as attached. </a:t>
            </a:r>
          </a:p>
          <a:p>
            <a:endParaRPr lang="en-HK" dirty="0"/>
          </a:p>
          <a:p>
            <a:r>
              <a:rPr lang="en-HK" dirty="0"/>
              <a:t>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1. Liquidity Ratios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2. Profitability Ratios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3. Leverage Ratios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4. Efficiency Ratios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5. Market Value Ratios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FF51D-C46E-42A3-B2D9-896C12FEF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0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AB11-8EA9-44F1-B179-D2484414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Trend Analysis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B474C-674E-4D15-A7D8-74D83C2D4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 err="1"/>
              <a:t>Analyze</a:t>
            </a:r>
            <a:r>
              <a:rPr lang="en-HK" dirty="0"/>
              <a:t> changes in financial metrics (e.g., revenue, expenses, assets) over time to detect ​​growth patterns​​, ​​anomalies​​, or ​​structural shifts​​.</a:t>
            </a:r>
          </a:p>
          <a:p>
            <a:endParaRPr lang="en-HK" dirty="0"/>
          </a:p>
          <a:p>
            <a:r>
              <a:rPr lang="en-HK" dirty="0"/>
              <a:t>Informed Decision-Making: Provides insights that support strategic planning and operational adjustments.</a:t>
            </a:r>
          </a:p>
          <a:p>
            <a:r>
              <a:rPr lang="en-HK" dirty="0"/>
              <a:t>Risk Management: Identifies potential financial issues early on, enabling proactive measures.</a:t>
            </a:r>
          </a:p>
          <a:p>
            <a:r>
              <a:rPr lang="en-HK" dirty="0"/>
              <a:t>Investor Insights: Assists investors in understanding the company's growth trajectory and financial stability.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A23FD-05C2-425D-9F19-5C33C788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030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1994-F0AF-428C-8CB2-BB93CD855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-69519"/>
            <a:ext cx="7886700" cy="1325563"/>
          </a:xfrm>
        </p:spPr>
        <p:txBody>
          <a:bodyPr/>
          <a:lstStyle/>
          <a:p>
            <a:r>
              <a:rPr lang="en-HK" dirty="0"/>
              <a:t>Trend Analysis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B194D-92D5-4B45-AC6A-9619F7F76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19200"/>
            <a:ext cx="8210550" cy="4957763"/>
          </a:xfrm>
        </p:spPr>
        <p:txBody>
          <a:bodyPr>
            <a:normAutofit/>
          </a:bodyPr>
          <a:lstStyle/>
          <a:p>
            <a:pPr fontAlgn="base"/>
            <a:r>
              <a:rPr lang="en-HK" dirty="0"/>
              <a:t>​</a:t>
            </a:r>
            <a:r>
              <a:rPr lang="en-HK" b="1" dirty="0"/>
              <a:t>​Line-Item Trends​</a:t>
            </a:r>
            <a:r>
              <a:rPr lang="en-HK" dirty="0"/>
              <a:t>​</a:t>
            </a:r>
          </a:p>
          <a:p>
            <a:pPr lvl="1" fontAlgn="base"/>
            <a:r>
              <a:rPr lang="en-HK" dirty="0"/>
              <a:t>Compares absolute values of specific line items (e.g., revenue, net income) year-over-year.​</a:t>
            </a:r>
            <a:r>
              <a:rPr lang="en-HK" b="1" dirty="0"/>
              <a:t>​</a:t>
            </a:r>
            <a:endParaRPr lang="en-HK" dirty="0"/>
          </a:p>
          <a:p>
            <a:pPr lvl="2" fontAlgn="base"/>
            <a:r>
              <a:rPr lang="en-HK" i="1" dirty="0"/>
              <a:t>Absolute Change</a:t>
            </a:r>
            <a:r>
              <a:rPr lang="en-HK" dirty="0"/>
              <a:t>= Current Year Figure − Base Year Figure</a:t>
            </a:r>
          </a:p>
          <a:p>
            <a:pPr lvl="2" fontAlgn="base"/>
            <a:r>
              <a:rPr lang="en-HK" i="1" dirty="0"/>
              <a:t>Percentage Change</a:t>
            </a:r>
            <a:r>
              <a:rPr lang="en-HK" dirty="0"/>
              <a:t>= (Absolute Change ÷ Base Year Figure) × 100% </a:t>
            </a:r>
          </a:p>
          <a:p>
            <a:pPr lvl="1" fontAlgn="base"/>
            <a:endParaRPr lang="en-HK" dirty="0"/>
          </a:p>
          <a:p>
            <a:pPr fontAlgn="base"/>
            <a:r>
              <a:rPr lang="en-HK" dirty="0"/>
              <a:t>​</a:t>
            </a:r>
            <a:r>
              <a:rPr lang="en-HK" b="1" dirty="0"/>
              <a:t>​Common-Size Trends​</a:t>
            </a:r>
            <a:r>
              <a:rPr lang="en-HK" dirty="0"/>
              <a:t>​</a:t>
            </a:r>
          </a:p>
          <a:p>
            <a:pPr lvl="1" fontAlgn="base"/>
            <a:r>
              <a:rPr lang="en-HK" dirty="0"/>
              <a:t>Converts line items to percentages of a base figure (e.g., revenue for income statements; total assets for balance sheets) to standardize comparisons.</a:t>
            </a:r>
          </a:p>
          <a:p>
            <a:pPr lvl="2" fontAlgn="base"/>
            <a:r>
              <a:rPr lang="en-HK" dirty="0"/>
              <a:t>Declining </a:t>
            </a:r>
            <a:r>
              <a:rPr lang="en-HK" i="1" dirty="0"/>
              <a:t>Gross Margin %</a:t>
            </a:r>
            <a:r>
              <a:rPr lang="en-HK" dirty="0"/>
              <a:t>→ Rising production costs or pricing pressure </a:t>
            </a:r>
          </a:p>
          <a:p>
            <a:pPr lvl="2" fontAlgn="base"/>
            <a:r>
              <a:rPr lang="en-HK" dirty="0"/>
              <a:t>Increasing </a:t>
            </a:r>
            <a:r>
              <a:rPr lang="en-HK" i="1" dirty="0"/>
              <a:t>R&amp;D % of Revenue</a:t>
            </a:r>
            <a:r>
              <a:rPr lang="en-HK" dirty="0"/>
              <a:t>→ Strategic focus on innovation </a:t>
            </a:r>
          </a:p>
          <a:p>
            <a:pPr lvl="2" fontAlgn="base"/>
            <a:endParaRPr lang="en-HK" dirty="0"/>
          </a:p>
          <a:p>
            <a:pPr fontAlgn="base"/>
            <a:r>
              <a:rPr lang="en-HK" dirty="0"/>
              <a:t>​</a:t>
            </a:r>
            <a:r>
              <a:rPr lang="en-HK" b="1" dirty="0"/>
              <a:t>​Ratio Trends​</a:t>
            </a:r>
            <a:r>
              <a:rPr lang="en-HK" dirty="0"/>
              <a:t>​</a:t>
            </a:r>
          </a:p>
          <a:p>
            <a:pPr lvl="1" fontAlgn="base"/>
            <a:r>
              <a:rPr lang="en-HK" dirty="0"/>
              <a:t>Tracks financial ratios (e.g., debt-to-equity, inventory turnover) over time.​</a:t>
            </a:r>
            <a:r>
              <a:rPr lang="en-HK" b="1" dirty="0"/>
              <a:t>​</a:t>
            </a:r>
            <a:endParaRPr lang="en-HK" dirty="0"/>
          </a:p>
          <a:p>
            <a:pPr lvl="2" fontAlgn="base"/>
            <a:r>
              <a:rPr lang="en-HK" i="1" dirty="0"/>
              <a:t>Inventory Turnover</a:t>
            </a:r>
            <a:r>
              <a:rPr lang="en-HK" dirty="0"/>
              <a:t>: Decline indicates overstocking or weak sales .</a:t>
            </a:r>
          </a:p>
          <a:p>
            <a:pPr lvl="2" fontAlgn="base"/>
            <a:r>
              <a:rPr lang="en-HK" i="1" dirty="0"/>
              <a:t>Current Ratio</a:t>
            </a:r>
            <a:r>
              <a:rPr lang="en-HK" dirty="0"/>
              <a:t>: Sustained drop below 1.0 signals liquidity risk 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E06C5-B082-449C-85F7-3E13BC2E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89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E8615-7F02-4FC8-B66C-40F731912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373" y="228600"/>
            <a:ext cx="7886700" cy="1325563"/>
          </a:xfrm>
        </p:spPr>
        <p:txBody>
          <a:bodyPr/>
          <a:lstStyle/>
          <a:p>
            <a:r>
              <a:rPr lang="en-HK" dirty="0"/>
              <a:t>Trend Analysis – questions asked to AI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4E88F-ABBF-4478-808B-135649B9D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19200"/>
            <a:ext cx="7886700" cy="4957763"/>
          </a:xfrm>
        </p:spPr>
        <p:txBody>
          <a:bodyPr>
            <a:normAutofit/>
          </a:bodyPr>
          <a:lstStyle/>
          <a:p>
            <a:r>
              <a:rPr lang="en-HK" b="1" dirty="0"/>
              <a:t>Revenue and Growth</a:t>
            </a:r>
          </a:p>
          <a:p>
            <a:r>
              <a:rPr lang="en-HK" dirty="0"/>
              <a:t>What has been the trend in Apple's total revenue over the last three years?</a:t>
            </a:r>
          </a:p>
          <a:p>
            <a:r>
              <a:rPr lang="en-HK" dirty="0"/>
              <a:t>How has Apple's revenue growth rate changed year over year, and what factors contributed to these changes?</a:t>
            </a:r>
          </a:p>
          <a:p>
            <a:endParaRPr lang="en-HK" dirty="0"/>
          </a:p>
          <a:p>
            <a:r>
              <a:rPr lang="en-HK" b="1" dirty="0"/>
              <a:t>Profitability Trends</a:t>
            </a:r>
          </a:p>
          <a:p>
            <a:r>
              <a:rPr lang="en-HK" dirty="0"/>
              <a:t>What is the trend in Apple's net income over the last three years?</a:t>
            </a:r>
          </a:p>
          <a:p>
            <a:r>
              <a:rPr lang="en-HK" dirty="0"/>
              <a:t>How have profit margins (gross, operating, and net) trended during this period?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CFD91-DDBA-4B0B-9C03-99BD5FFD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352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746A-C8B7-4329-AAEE-4D2ED1F5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Trend Analysis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A3203-05CA-4C30-996D-ADD8DD067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/>
              <a:t>Expense Analysis</a:t>
            </a:r>
          </a:p>
          <a:p>
            <a:r>
              <a:rPr lang="en-HK" dirty="0"/>
              <a:t>What trends can be observed in Apple's operating expenses and cost of goods sold (COGS) over the last three years?</a:t>
            </a:r>
          </a:p>
          <a:p>
            <a:r>
              <a:rPr lang="en-HK" dirty="0"/>
              <a:t>How do selling, general, and administrative (SG&amp;A) expenses trend in relation to revenue growth?</a:t>
            </a:r>
          </a:p>
          <a:p>
            <a:endParaRPr lang="en-HK" dirty="0"/>
          </a:p>
          <a:p>
            <a:r>
              <a:rPr lang="en-HK" b="1" dirty="0"/>
              <a:t>Asset and Liability Trends</a:t>
            </a:r>
          </a:p>
          <a:p>
            <a:r>
              <a:rPr lang="en-HK" dirty="0"/>
              <a:t>What has been the trend in Apple's total assets and total liabilities over the past three years?</a:t>
            </a:r>
          </a:p>
          <a:p>
            <a:r>
              <a:rPr lang="en-HK" dirty="0"/>
              <a:t>How has the debt-to-equity ratio trended, and what does this indicate about Apple's financial leverage?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E52F8-2139-4B4E-B308-DA91A5C1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650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C4C9F-CD5D-4577-A032-D6CEC3AF4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Trend Analysis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BC6F9-19AE-4E18-A8C5-2E4D6F403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652963"/>
          </a:xfrm>
        </p:spPr>
        <p:txBody>
          <a:bodyPr>
            <a:normAutofit fontScale="92500" lnSpcReduction="20000"/>
          </a:bodyPr>
          <a:lstStyle/>
          <a:p>
            <a:r>
              <a:rPr lang="en-HK" b="1" dirty="0"/>
              <a:t>Cash Flow Trends</a:t>
            </a:r>
          </a:p>
          <a:p>
            <a:r>
              <a:rPr lang="en-HK" dirty="0"/>
              <a:t>What trends can be identified in Apple's cash flow from operating activities over the last three years?</a:t>
            </a:r>
          </a:p>
          <a:p>
            <a:r>
              <a:rPr lang="en-HK" dirty="0"/>
              <a:t>How have investing and financing cash flows trended, and what implications does this have for Apple's strategy?</a:t>
            </a:r>
          </a:p>
          <a:p>
            <a:endParaRPr lang="en-HK" dirty="0"/>
          </a:p>
          <a:p>
            <a:r>
              <a:rPr lang="en-HK" b="1" dirty="0"/>
              <a:t>Market Performance</a:t>
            </a:r>
          </a:p>
          <a:p>
            <a:r>
              <a:rPr lang="en-HK" dirty="0"/>
              <a:t>How has Apple's earnings per share (EPS) trended over the past three years, and what does this suggest about shareholder value?</a:t>
            </a:r>
          </a:p>
          <a:p>
            <a:r>
              <a:rPr lang="en-HK" dirty="0"/>
              <a:t>What is the trend in Apple's stock price over the last three years, and how does it correlate with financial performance metrics?</a:t>
            </a:r>
          </a:p>
          <a:p>
            <a:endParaRPr lang="en-HK" dirty="0"/>
          </a:p>
          <a:p>
            <a:r>
              <a:rPr lang="en-HK" b="1" dirty="0"/>
              <a:t>Comparative Trends</a:t>
            </a:r>
          </a:p>
          <a:p>
            <a:r>
              <a:rPr lang="en-HK" dirty="0"/>
              <a:t>How do the trends in Apple's financial metrics compare with industry averages or key competitors?</a:t>
            </a:r>
          </a:p>
          <a:p>
            <a:r>
              <a:rPr lang="en-HK" dirty="0"/>
              <a:t>What external factors (e.g., economic conditions, market trends) have influenced Apple's financial trends over the past three years?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58FAC-653C-4895-903A-F5B3D634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51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A6C6-DC2A-4383-A0DB-AEC3B645A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69" y="-111125"/>
            <a:ext cx="7886700" cy="1325563"/>
          </a:xfrm>
        </p:spPr>
        <p:txBody>
          <a:bodyPr/>
          <a:lstStyle/>
          <a:p>
            <a:r>
              <a:rPr lang="en-HK" dirty="0"/>
              <a:t>DuPont Analysis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89ECB-6B57-45B7-9397-7FD535E45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698" y="1066800"/>
            <a:ext cx="8200502" cy="5132389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HK" dirty="0"/>
              <a:t>It breaks ROE into three multiplicative ratios:</a:t>
            </a:r>
          </a:p>
          <a:p>
            <a:pPr fontAlgn="base"/>
            <a:endParaRPr lang="en-HK" dirty="0"/>
          </a:p>
          <a:p>
            <a:pPr fontAlgn="base"/>
            <a:r>
              <a:rPr lang="en-HK" dirty="0"/>
              <a:t>​</a:t>
            </a:r>
            <a:r>
              <a:rPr lang="en-HK" b="1" dirty="0"/>
              <a:t>​Net Profit Margin (NPM)​</a:t>
            </a:r>
            <a:r>
              <a:rPr lang="en-HK" dirty="0"/>
              <a:t>​:</a:t>
            </a:r>
          </a:p>
          <a:p>
            <a:pPr lvl="1" fontAlgn="base"/>
            <a:r>
              <a:rPr lang="en-HK" dirty="0"/>
              <a:t>​</a:t>
            </a:r>
            <a:r>
              <a:rPr lang="en-HK" b="1" dirty="0"/>
              <a:t>​Formula​</a:t>
            </a:r>
            <a:r>
              <a:rPr lang="en-HK" dirty="0"/>
              <a:t>​: Net </a:t>
            </a:r>
            <a:r>
              <a:rPr lang="en-HK" dirty="0" err="1"/>
              <a:t>Profit÷Revenue</a:t>
            </a:r>
            <a:endParaRPr lang="en-HK" dirty="0"/>
          </a:p>
          <a:p>
            <a:pPr lvl="1" fontAlgn="base"/>
            <a:r>
              <a:rPr lang="en-HK" dirty="0"/>
              <a:t>​</a:t>
            </a:r>
            <a:r>
              <a:rPr lang="en-HK" b="1" dirty="0"/>
              <a:t>​Measures​</a:t>
            </a:r>
            <a:r>
              <a:rPr lang="en-HK" dirty="0"/>
              <a:t>​: Profitability per dollar of revenue (e.g., cost control, pricing power).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​Total Asset Turnover (TAT)​</a:t>
            </a:r>
            <a:r>
              <a:rPr lang="en-HK" dirty="0"/>
              <a:t>​:</a:t>
            </a:r>
          </a:p>
          <a:p>
            <a:pPr lvl="1" fontAlgn="base"/>
            <a:r>
              <a:rPr lang="en-HK" dirty="0"/>
              <a:t>​</a:t>
            </a:r>
            <a:r>
              <a:rPr lang="en-HK" b="1" dirty="0"/>
              <a:t>​Formula​</a:t>
            </a:r>
            <a:r>
              <a:rPr lang="en-HK" dirty="0"/>
              <a:t>​: </a:t>
            </a:r>
            <a:r>
              <a:rPr lang="en-HK" dirty="0" err="1"/>
              <a:t>Revenue÷Average</a:t>
            </a:r>
            <a:r>
              <a:rPr lang="en-HK" dirty="0"/>
              <a:t> Total Assets</a:t>
            </a:r>
          </a:p>
          <a:p>
            <a:pPr lvl="1" fontAlgn="base"/>
            <a:r>
              <a:rPr lang="en-HK" dirty="0"/>
              <a:t>​</a:t>
            </a:r>
            <a:r>
              <a:rPr lang="en-HK" b="1" dirty="0"/>
              <a:t>​Measures​</a:t>
            </a:r>
            <a:r>
              <a:rPr lang="en-HK" dirty="0"/>
              <a:t>​: Operational efficiency (e.g., how well assets generate sales).</a:t>
            </a:r>
          </a:p>
          <a:p>
            <a:pPr fontAlgn="base"/>
            <a:r>
              <a:rPr lang="en-HK" dirty="0"/>
              <a:t>​</a:t>
            </a:r>
            <a:r>
              <a:rPr lang="en-HK" b="1" dirty="0"/>
              <a:t>​Equity Multiplier (EM)​</a:t>
            </a:r>
            <a:r>
              <a:rPr lang="en-HK" dirty="0"/>
              <a:t>​:</a:t>
            </a:r>
          </a:p>
          <a:p>
            <a:pPr lvl="1" fontAlgn="base"/>
            <a:r>
              <a:rPr lang="en-HK" dirty="0"/>
              <a:t>​</a:t>
            </a:r>
            <a:r>
              <a:rPr lang="en-HK" b="1" dirty="0"/>
              <a:t>​Formula​</a:t>
            </a:r>
            <a:r>
              <a:rPr lang="en-HK" dirty="0"/>
              <a:t>​: Total </a:t>
            </a:r>
            <a:r>
              <a:rPr lang="en-HK" dirty="0" err="1"/>
              <a:t>Assets÷Shareholders</a:t>
            </a:r>
            <a:r>
              <a:rPr lang="en-HK" dirty="0"/>
              <a:t>’ Equity</a:t>
            </a:r>
          </a:p>
          <a:p>
            <a:pPr lvl="1" fontAlgn="base"/>
            <a:r>
              <a:rPr lang="en-HK" dirty="0"/>
              <a:t>​</a:t>
            </a:r>
            <a:r>
              <a:rPr lang="en-HK" b="1" dirty="0"/>
              <a:t>​Measures​</a:t>
            </a:r>
            <a:r>
              <a:rPr lang="en-HK" dirty="0"/>
              <a:t>​: Financial leverage (e.g., debt usage to amplify returns).</a:t>
            </a:r>
          </a:p>
          <a:p>
            <a:endParaRPr lang="en-HK" dirty="0"/>
          </a:p>
          <a:p>
            <a:r>
              <a:rPr lang="en-HK" dirty="0"/>
              <a:t>ROE=NPM×TAT×EM</a:t>
            </a:r>
          </a:p>
          <a:p>
            <a:endParaRPr lang="en-HK" dirty="0"/>
          </a:p>
          <a:p>
            <a:pPr marL="0" indent="0">
              <a:buNone/>
            </a:pPr>
            <a:r>
              <a:rPr lang="en-HK" dirty="0"/>
              <a:t>@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BE3EE-1B34-4DA9-8B68-4C132B71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554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EDC6-81B9-436D-8346-C44583C25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DuPont Analysis – questions asked to AI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8FD83-2111-47E6-9ECE-D899E9034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652963"/>
          </a:xfrm>
        </p:spPr>
        <p:txBody>
          <a:bodyPr>
            <a:normAutofit/>
          </a:bodyPr>
          <a:lstStyle/>
          <a:p>
            <a:r>
              <a:rPr lang="en-HK" dirty="0"/>
              <a:t>What is the breakdown of Apple's Return on Equity (ROE) into its components: profit margin, asset turnover, and equity multiplier for each of the last three years?</a:t>
            </a:r>
          </a:p>
          <a:p>
            <a:r>
              <a:rPr lang="en-HK" dirty="0"/>
              <a:t>How has Apple’s profit margin changed over the past three years, and what factors have contributed to any fluctuations?</a:t>
            </a:r>
          </a:p>
          <a:p>
            <a:r>
              <a:rPr lang="en-HK" dirty="0"/>
              <a:t>What is the trend in Apple's asset turnover ratio, and how does it compare to industry standards or key competitors?</a:t>
            </a:r>
          </a:p>
          <a:p>
            <a:r>
              <a:rPr lang="en-HK" dirty="0"/>
              <a:t>How has the equity multiplier changed over the last three years, and what does this indicate about Apple's financial leverage?</a:t>
            </a:r>
          </a:p>
          <a:p>
            <a:r>
              <a:rPr lang="en-HK" dirty="0"/>
              <a:t>What are the implications of changes in each component of the DuPont analysis on Apple's overall financial health?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057B7-CB7B-4884-855B-3E4CC416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143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947F-A682-40D1-94F8-FC053698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DuPont Analysis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A3B8D-1F7F-40A0-8608-D61692DD2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How does the ROE calculated using the DuPont analysis compare to the ROE calculated using traditional methods?</a:t>
            </a:r>
          </a:p>
          <a:p>
            <a:r>
              <a:rPr lang="en-HK" dirty="0"/>
              <a:t>What external factors (e.g., market conditions, economic factors) might have impacted Apple's DuPont analysis components in the past three years?</a:t>
            </a:r>
          </a:p>
          <a:p>
            <a:r>
              <a:rPr lang="en-HK" dirty="0"/>
              <a:t>How do the results of the DuPont analysis compare with those of major competitors in the technology sector?</a:t>
            </a:r>
          </a:p>
          <a:p>
            <a:r>
              <a:rPr lang="en-HK" dirty="0"/>
              <a:t>Based on the DuPont analysis, what strengths and weaknesses can be identified in Apple's financial performance?</a:t>
            </a:r>
          </a:p>
          <a:p>
            <a:r>
              <a:rPr lang="en-HK" dirty="0"/>
              <a:t>What strategic recommendations can be made to improve Apple’s ROE based on the findings from the DuPont analysis?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161A4-E7A9-46A6-A40D-71F913CB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453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149B1-DC20-4732-8AF7-B1E6B8E4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228600"/>
            <a:ext cx="7886700" cy="1325563"/>
          </a:xfrm>
        </p:spPr>
        <p:txBody>
          <a:bodyPr/>
          <a:lstStyle/>
          <a:p>
            <a:r>
              <a:rPr lang="en-HK" dirty="0"/>
              <a:t>SWOT Analysis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902A9-99CC-4A15-9C0E-A31769AE9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38200"/>
            <a:ext cx="8286750" cy="579120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HK" dirty="0"/>
              <a:t>​</a:t>
            </a:r>
            <a:r>
              <a:rPr lang="en-HK" b="1" dirty="0"/>
              <a:t>​Strengths (S)​</a:t>
            </a:r>
            <a:r>
              <a:rPr lang="en-HK" dirty="0"/>
              <a:t>​: </a:t>
            </a:r>
            <a:r>
              <a:rPr lang="en-HK" i="1" dirty="0"/>
              <a:t>Internal </a:t>
            </a:r>
            <a:r>
              <a:rPr lang="en-HK" dirty="0"/>
              <a:t>advantages derived from financial statements, such as:</a:t>
            </a:r>
          </a:p>
          <a:p>
            <a:pPr lvl="1" fontAlgn="base"/>
            <a:r>
              <a:rPr lang="en-HK" dirty="0"/>
              <a:t>Robust liquidity (e.g., high cash reserves, strong current ratio).</a:t>
            </a:r>
          </a:p>
          <a:p>
            <a:pPr lvl="1" fontAlgn="base"/>
            <a:r>
              <a:rPr lang="en-HK" dirty="0"/>
              <a:t>High profitability (e.g., rising net margins, superior ROE).</a:t>
            </a:r>
          </a:p>
          <a:p>
            <a:pPr lvl="1" fontAlgn="base"/>
            <a:endParaRPr lang="en-HK" dirty="0"/>
          </a:p>
          <a:p>
            <a:pPr fontAlgn="base"/>
            <a:r>
              <a:rPr lang="en-HK" dirty="0"/>
              <a:t>​</a:t>
            </a:r>
            <a:r>
              <a:rPr lang="en-HK" b="1" dirty="0"/>
              <a:t>​Weaknesses (W)​</a:t>
            </a:r>
            <a:r>
              <a:rPr lang="en-HK" dirty="0"/>
              <a:t>​: </a:t>
            </a:r>
            <a:r>
              <a:rPr lang="en-HK" i="1" dirty="0"/>
              <a:t>Internal </a:t>
            </a:r>
            <a:r>
              <a:rPr lang="en-HK" dirty="0"/>
              <a:t>financial vulnerabilities, including:</a:t>
            </a:r>
          </a:p>
          <a:p>
            <a:pPr lvl="1" fontAlgn="base"/>
            <a:r>
              <a:rPr lang="en-HK" dirty="0"/>
              <a:t>Declining revenue streams, excessive debt levels, or poor inventory turnover.</a:t>
            </a:r>
          </a:p>
          <a:p>
            <a:pPr lvl="1" fontAlgn="base"/>
            <a:r>
              <a:rPr lang="en-HK" dirty="0"/>
              <a:t>Inefficient cost structures (e.g., rising operating expenses eroding margins).</a:t>
            </a:r>
          </a:p>
          <a:p>
            <a:pPr lvl="1" fontAlgn="base"/>
            <a:endParaRPr lang="en-HK" dirty="0"/>
          </a:p>
          <a:p>
            <a:pPr fontAlgn="base"/>
            <a:r>
              <a:rPr lang="en-HK" dirty="0"/>
              <a:t>​</a:t>
            </a:r>
            <a:r>
              <a:rPr lang="en-HK" b="1" dirty="0"/>
              <a:t>​Opportunities (O)​</a:t>
            </a:r>
            <a:r>
              <a:rPr lang="en-HK" dirty="0"/>
              <a:t>​: </a:t>
            </a:r>
            <a:r>
              <a:rPr lang="en-HK" i="1" dirty="0"/>
              <a:t>External </a:t>
            </a:r>
            <a:r>
              <a:rPr lang="en-HK" dirty="0"/>
              <a:t>factors exploitable for growth, identified through financial trends:</a:t>
            </a:r>
          </a:p>
          <a:p>
            <a:pPr lvl="1" fontAlgn="base"/>
            <a:r>
              <a:rPr lang="en-HK" dirty="0"/>
              <a:t>Market expansion potential (e.g., rising demand in emerging markets).</a:t>
            </a:r>
          </a:p>
          <a:p>
            <a:pPr lvl="1" fontAlgn="base"/>
            <a:r>
              <a:rPr lang="en-HK" dirty="0"/>
              <a:t>Regulatory/tax changes </a:t>
            </a:r>
            <a:r>
              <a:rPr lang="en-HK" dirty="0" err="1"/>
              <a:t>favoring</a:t>
            </a:r>
            <a:r>
              <a:rPr lang="en-HK" dirty="0"/>
              <a:t> revenue diversification (e.g., new service segments).</a:t>
            </a:r>
          </a:p>
          <a:p>
            <a:pPr lvl="1" fontAlgn="base"/>
            <a:endParaRPr lang="en-HK" dirty="0"/>
          </a:p>
          <a:p>
            <a:pPr fontAlgn="base"/>
            <a:r>
              <a:rPr lang="en-HK" dirty="0"/>
              <a:t>​</a:t>
            </a:r>
            <a:r>
              <a:rPr lang="en-HK" b="1" dirty="0"/>
              <a:t>​Threats (T)​</a:t>
            </a:r>
            <a:r>
              <a:rPr lang="en-HK" dirty="0"/>
              <a:t>​: </a:t>
            </a:r>
            <a:r>
              <a:rPr lang="en-HK" i="1" dirty="0"/>
              <a:t>External </a:t>
            </a:r>
            <a:r>
              <a:rPr lang="en-HK" dirty="0"/>
              <a:t>risks impacting financial stability:</a:t>
            </a:r>
          </a:p>
          <a:p>
            <a:pPr lvl="1" fontAlgn="base"/>
            <a:r>
              <a:rPr lang="en-HK" dirty="0"/>
              <a:t>Supply chain disruptions (e.g., affecting cost of goods sold).</a:t>
            </a:r>
          </a:p>
          <a:p>
            <a:pPr lvl="1" fontAlgn="base"/>
            <a:r>
              <a:rPr lang="en-HK" dirty="0"/>
              <a:t>Competitive pressures (e.g., market share erosion visible in declining sales).</a:t>
            </a:r>
          </a:p>
          <a:p>
            <a:pPr marL="342900" lvl="1" indent="0" fontAlgn="base">
              <a:buNone/>
            </a:pPr>
            <a:endParaRPr lang="en-HK" dirty="0"/>
          </a:p>
          <a:p>
            <a:pPr marL="342900" lvl="1" indent="0" fontAlgn="base">
              <a:buNone/>
            </a:pPr>
            <a:r>
              <a:rPr lang="en-HK" dirty="0"/>
              <a:t>@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BAA67-E468-4138-BCDB-A35446ED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38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5C4F-2DD5-4FF0-91A3-3BEDDCF0C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SWOT Analysis – questions asked to AI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0E4F7-8B20-4571-AA70-1B38E256F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52600"/>
            <a:ext cx="7886700" cy="4424363"/>
          </a:xfrm>
        </p:spPr>
        <p:txBody>
          <a:bodyPr/>
          <a:lstStyle/>
          <a:p>
            <a:r>
              <a:rPr lang="en-HK" b="1" dirty="0"/>
              <a:t>Strengths</a:t>
            </a:r>
          </a:p>
          <a:p>
            <a:endParaRPr lang="en-HK" b="1" dirty="0"/>
          </a:p>
          <a:p>
            <a:r>
              <a:rPr lang="en-HK" dirty="0"/>
              <a:t>What are Apple's key competitive advantages as reflected in its financial performance over the last three years?</a:t>
            </a:r>
          </a:p>
          <a:p>
            <a:r>
              <a:rPr lang="en-HK" dirty="0"/>
              <a:t>How does Apple's brand value and customer loyalty contribute to its market position?</a:t>
            </a:r>
          </a:p>
          <a:p>
            <a:r>
              <a:rPr lang="en-HK" dirty="0"/>
              <a:t>What innovations or product launches have significantly boosted Apple’s revenue and market share?</a:t>
            </a:r>
          </a:p>
          <a:p>
            <a:r>
              <a:rPr lang="en-HK" dirty="0"/>
              <a:t>How does Apple’s financial stability (e.g., cash reserves, profitability) enhance its operational strengths?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79F48-7DC5-468E-B6C4-54F27F14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371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AB45-CF51-409E-A4CF-86EAA389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SWOT Analysis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60A00-7E1E-4343-A311-81A9DFC2C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/>
              <a:t>Weaknesses</a:t>
            </a:r>
          </a:p>
          <a:p>
            <a:endParaRPr lang="en-HK" b="1" dirty="0"/>
          </a:p>
          <a:p>
            <a:r>
              <a:rPr lang="en-HK" dirty="0"/>
              <a:t>What financial metrics indicate potential weaknesses in Apple's operations or market strategy?</a:t>
            </a:r>
          </a:p>
          <a:p>
            <a:r>
              <a:rPr lang="en-HK" dirty="0"/>
              <a:t>Are there any areas where Apple has experienced declining sales or market share in the last three years?</a:t>
            </a:r>
          </a:p>
          <a:p>
            <a:r>
              <a:rPr lang="en-HK" dirty="0"/>
              <a:t>How does Apple’s dependence on specific products (e.g., iPhone) create vulnerabilities?</a:t>
            </a:r>
          </a:p>
          <a:p>
            <a:r>
              <a:rPr lang="en-HK" dirty="0"/>
              <a:t>What challenges has Apple faced in its supply chain or production costs that could impact profitability?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6352C-C858-493E-95EE-492A2BB6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844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C115B-4069-4819-96A4-B9F36E994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SWOT Analysis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58D7D-4EDD-4066-A116-37230307B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/>
              <a:t>Opportunities</a:t>
            </a:r>
          </a:p>
          <a:p>
            <a:endParaRPr lang="en-HK" b="1" dirty="0"/>
          </a:p>
          <a:p>
            <a:r>
              <a:rPr lang="en-HK" dirty="0"/>
              <a:t>What emerging market trends could provide growth opportunities for Apple in the coming years?</a:t>
            </a:r>
          </a:p>
          <a:p>
            <a:r>
              <a:rPr lang="en-HK" dirty="0"/>
              <a:t>How can advancements in technology (e.g., AI, AR/VR) create new product lines or revenue streams for Apple?</a:t>
            </a:r>
          </a:p>
          <a:p>
            <a:r>
              <a:rPr lang="en-HK" dirty="0"/>
              <a:t>What potential partnerships or acquisitions could enhance Apple’s market position?</a:t>
            </a:r>
          </a:p>
          <a:p>
            <a:r>
              <a:rPr lang="en-HK" dirty="0"/>
              <a:t>How is the growing demand for services (e.g., Apple Music, iCloud) reflected in Apple's financial strategy?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B6D3D-7B92-4A2E-9439-C5F3FFD3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116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4689F-7B9A-4195-976F-EA09E6D09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SWOT Analysis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809E3-9F16-490B-B6A3-48DBA4D3E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/>
              <a:t>Threats</a:t>
            </a:r>
          </a:p>
          <a:p>
            <a:endParaRPr lang="en-HK" b="1" dirty="0"/>
          </a:p>
          <a:p>
            <a:r>
              <a:rPr lang="en-HK" dirty="0"/>
              <a:t>What competitive threats have emerged in the technology sector that could impact Apple's market share?</a:t>
            </a:r>
          </a:p>
          <a:p>
            <a:r>
              <a:rPr lang="en-HK" dirty="0"/>
              <a:t>How do economic conditions (e.g., inflation, recession) pose risks to Apple's financial performance?</a:t>
            </a:r>
          </a:p>
          <a:p>
            <a:r>
              <a:rPr lang="en-HK" dirty="0"/>
              <a:t>What regulatory challenges or legal issues could affect Apple's operations and profitability?</a:t>
            </a:r>
          </a:p>
          <a:p>
            <a:r>
              <a:rPr lang="en-HK" dirty="0"/>
              <a:t>How does currency fluctuation impact Apple's international sales and profitability?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62D0D-B025-4F97-8460-E654D0A3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425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C72C-D5F0-4ECC-8B8F-D7F95C1A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32657"/>
            <a:ext cx="7886700" cy="1325563"/>
          </a:xfrm>
        </p:spPr>
        <p:txBody>
          <a:bodyPr/>
          <a:lstStyle/>
          <a:p>
            <a:r>
              <a:rPr lang="en-HK" dirty="0"/>
              <a:t>Porter’s Five Forces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EF84-508D-49BB-9921-B2F645BBB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3000"/>
            <a:ext cx="8058150" cy="5213351"/>
          </a:xfrm>
        </p:spPr>
        <p:txBody>
          <a:bodyPr>
            <a:normAutofit/>
          </a:bodyPr>
          <a:lstStyle/>
          <a:p>
            <a:r>
              <a:rPr lang="en-HK" dirty="0"/>
              <a:t>Developed by Michael Porter, is a ​​strategic framework​​ used to assess an industry's competitive intensity and profitability potential. While not a direct component of financial statement analysis, it provides critical context for interpreting financial data by revealing industry dynamics that influence revenue, costs, and risk. </a:t>
            </a:r>
          </a:p>
          <a:p>
            <a:endParaRPr lang="en-HK" dirty="0"/>
          </a:p>
          <a:p>
            <a:r>
              <a:rPr lang="en-HK" dirty="0"/>
              <a:t>Five forces: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Threat of New Entrants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Bargaining Power of Suppliers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Bargaining Power of Buyers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Threat of Substitute Products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HK" dirty="0"/>
              <a:t>Intensity of Competitive Rivalry</a:t>
            </a:r>
          </a:p>
          <a:p>
            <a:pPr>
              <a:buFont typeface="Wingdings" panose="05000000000000000000" pitchFamily="2" charset="2"/>
              <a:buChar char="Ø"/>
            </a:pPr>
            <a:endParaRPr lang="en-HK" dirty="0"/>
          </a:p>
          <a:p>
            <a:pPr marL="0" indent="0">
              <a:buNone/>
            </a:pPr>
            <a:r>
              <a:rPr lang="en-HK" dirty="0"/>
              <a:t>@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CE2FB-9F70-4C2C-8EAD-A3223F5CA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845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646E4-DD53-4BF4-B9E7-9090378A6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886700" cy="1325563"/>
          </a:xfrm>
        </p:spPr>
        <p:txBody>
          <a:bodyPr/>
          <a:lstStyle/>
          <a:p>
            <a:r>
              <a:rPr lang="en-HK" dirty="0"/>
              <a:t>Porter’s Five Forces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86470-BBBC-46D8-924D-3ED9EC55D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19200"/>
            <a:ext cx="7886700" cy="4957763"/>
          </a:xfrm>
        </p:spPr>
        <p:txBody>
          <a:bodyPr>
            <a:normAutofit/>
          </a:bodyPr>
          <a:lstStyle/>
          <a:p>
            <a:pPr fontAlgn="base"/>
            <a:r>
              <a:rPr lang="en-HK" b="1" dirty="0"/>
              <a:t>Threat of New Entrants​: </a:t>
            </a:r>
            <a:r>
              <a:rPr lang="en-HK" dirty="0"/>
              <a:t>Risk of new competitors eroding market share and profitability. </a:t>
            </a:r>
          </a:p>
          <a:p>
            <a:pPr marL="0" indent="0" fontAlgn="base">
              <a:buNone/>
            </a:pPr>
            <a:r>
              <a:rPr lang="en-HK" dirty="0"/>
              <a:t>- Balance Sheet​​: High barriers (e.g., capital intensity) appear as large ​​PP&amp;E investments​​ </a:t>
            </a:r>
          </a:p>
          <a:p>
            <a:pPr marL="0" indent="0" fontAlgn="base">
              <a:buNone/>
            </a:pPr>
            <a:r>
              <a:rPr lang="en-HK" dirty="0"/>
              <a:t>- ​​Income Statement​​: Low threats correlate with ​​sustained gross margins​​; high threats may show ​​rising marketing/R&amp;D expenses​​ to deter entrants </a:t>
            </a:r>
          </a:p>
          <a:p>
            <a:endParaRPr lang="en-HK" dirty="0"/>
          </a:p>
          <a:p>
            <a:pPr fontAlgn="base"/>
            <a:r>
              <a:rPr lang="en-HK" b="1" dirty="0"/>
              <a:t>Bargaining Power of Suppliers​: </a:t>
            </a:r>
            <a:r>
              <a:rPr lang="en-HK" dirty="0"/>
              <a:t>Suppliers' ability to raise input prices or reduce quality. </a:t>
            </a:r>
          </a:p>
          <a:p>
            <a:pPr marL="0" indent="0" fontAlgn="base">
              <a:buNone/>
            </a:pPr>
            <a:r>
              <a:rPr lang="en-HK" dirty="0"/>
              <a:t>- ​​Income Statement​​: High supplier power → ​​rising COGS​​ or ​​inventory costs​​.</a:t>
            </a:r>
          </a:p>
          <a:p>
            <a:pPr marL="0" indent="0" fontAlgn="base">
              <a:buNone/>
            </a:pPr>
            <a:r>
              <a:rPr lang="en-HK" dirty="0"/>
              <a:t>- ​​Cash Flow Statement​​: Concentrated suppliers may force ​​upfront payments​​, straining operating cash flow.</a:t>
            </a:r>
          </a:p>
          <a:p>
            <a:endParaRPr lang="en-HK" dirty="0"/>
          </a:p>
          <a:p>
            <a:endParaRPr lang="en-HK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F1780-8152-4B6E-BD94-26D80D7B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425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2EF39-E790-402C-8B9B-61A68038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-152400"/>
            <a:ext cx="7886700" cy="1325563"/>
          </a:xfrm>
        </p:spPr>
        <p:txBody>
          <a:bodyPr/>
          <a:lstStyle/>
          <a:p>
            <a:r>
              <a:rPr lang="en-HK" dirty="0"/>
              <a:t>Porter’s Five Forces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12B4E-3E57-4BA7-BA50-A7F82C9D2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0600"/>
            <a:ext cx="7886700" cy="5186363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HK" dirty="0"/>
              <a:t>​​</a:t>
            </a:r>
            <a:r>
              <a:rPr lang="en-HK" b="1" dirty="0"/>
              <a:t>Bargaining Power of Buyers​: </a:t>
            </a:r>
            <a:r>
              <a:rPr lang="en-HK" dirty="0"/>
              <a:t>Customers' ability to demand lower prices or better terms. </a:t>
            </a:r>
          </a:p>
          <a:p>
            <a:pPr marL="0" indent="0" fontAlgn="base">
              <a:buNone/>
            </a:pPr>
            <a:r>
              <a:rPr lang="en-HK" dirty="0"/>
              <a:t>- Income Statement​​: High buyer power → ​​price discounts​​ → reduced revenue growth and ​​compressed margins​​.</a:t>
            </a:r>
          </a:p>
          <a:p>
            <a:pPr marL="0" indent="0" fontAlgn="base">
              <a:buNone/>
            </a:pPr>
            <a:r>
              <a:rPr lang="en-HK" dirty="0"/>
              <a:t>-​​ Receivables​​: Rising days sales outstanding (DSO) indicates buyer leverage over payment terms </a:t>
            </a:r>
          </a:p>
          <a:p>
            <a:endParaRPr lang="en-HK" dirty="0"/>
          </a:p>
          <a:p>
            <a:r>
              <a:rPr lang="en-HK" b="1" dirty="0"/>
              <a:t>Threat of Substitute Products​</a:t>
            </a:r>
            <a:r>
              <a:rPr lang="en-HK" dirty="0"/>
              <a:t>: Risk of alternative solutions capturing market share.</a:t>
            </a:r>
          </a:p>
          <a:p>
            <a:pPr marL="0" indent="0" fontAlgn="base">
              <a:buNone/>
            </a:pPr>
            <a:r>
              <a:rPr lang="en-HK" dirty="0"/>
              <a:t>- Income Statement​​: Substitutes force ​​price ceilings​​ → stagnant pricing power.</a:t>
            </a:r>
          </a:p>
          <a:p>
            <a:pPr marL="0" indent="0" fontAlgn="base">
              <a:buNone/>
            </a:pPr>
            <a:r>
              <a:rPr lang="en-HK" dirty="0"/>
              <a:t>​- ​R&amp;D Costs​​: High threats may increase R&amp;D spending to enhance product differentiation</a:t>
            </a:r>
          </a:p>
          <a:p>
            <a:endParaRPr lang="en-HK" dirty="0"/>
          </a:p>
          <a:p>
            <a:r>
              <a:rPr lang="en-HK" dirty="0"/>
              <a:t>​​</a:t>
            </a:r>
            <a:r>
              <a:rPr lang="en-HK" b="1" dirty="0"/>
              <a:t>Intensity of Competitive Rivalry​: </a:t>
            </a:r>
            <a:r>
              <a:rPr lang="en-HK" dirty="0"/>
              <a:t>Degree of competition among existing firms.</a:t>
            </a:r>
          </a:p>
          <a:p>
            <a:pPr marL="0" indent="0" fontAlgn="base">
              <a:buNone/>
            </a:pPr>
            <a:r>
              <a:rPr lang="en-HK" dirty="0"/>
              <a:t>- Profitability​​: High rivalry → ​​price wars​​ → lower net margins and ROE.</a:t>
            </a:r>
          </a:p>
          <a:p>
            <a:pPr marL="0" indent="0" fontAlgn="base">
              <a:buNone/>
            </a:pPr>
            <a:r>
              <a:rPr lang="en-HK" dirty="0"/>
              <a:t>- ​​Leverage​​: Debt-</a:t>
            </a:r>
            <a:r>
              <a:rPr lang="en-HK" dirty="0" err="1"/>
              <a:t>fueled</a:t>
            </a:r>
            <a:r>
              <a:rPr lang="en-HK" dirty="0"/>
              <a:t> competition may raise ​​debt-to-equity ratios​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66905-BE0E-4BAE-A6F8-CD11DBEA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1649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A6C3-C589-4F8E-BD46-41A1DD97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Porter’s Five Forces – questions asked to AI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74DFD-5032-45B2-A6CE-CD315868B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576763"/>
          </a:xfrm>
        </p:spPr>
        <p:txBody>
          <a:bodyPr/>
          <a:lstStyle/>
          <a:p>
            <a:r>
              <a:rPr lang="en-HK" b="1" dirty="0"/>
              <a:t>Threat of New Entrants</a:t>
            </a:r>
          </a:p>
          <a:p>
            <a:endParaRPr lang="en-HK" b="1" dirty="0"/>
          </a:p>
          <a:p>
            <a:r>
              <a:rPr lang="en-HK" dirty="0"/>
              <a:t>What barriers to entry exist in the technology and consumer electronics markets that may affect new competitors entering the industry?</a:t>
            </a:r>
          </a:p>
          <a:p>
            <a:r>
              <a:rPr lang="en-HK" dirty="0"/>
              <a:t>How does Apple’s brand strength and customer loyalty serve as a deterrent for new entrants?</a:t>
            </a:r>
          </a:p>
          <a:p>
            <a:r>
              <a:rPr lang="en-HK" dirty="0"/>
              <a:t>What capital requirements are necessary for new companies to compete effectively with Apple?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FCA8A-BE2E-49C5-A2C3-57956804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171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01C2-AA68-4F86-B372-20D003C9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Porter’s Five Forces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72B30-20D3-41A3-A244-893F04CE7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/>
              <a:t>Bargaining Power of Suppliers</a:t>
            </a:r>
          </a:p>
          <a:p>
            <a:endParaRPr lang="en-HK" b="1" dirty="0"/>
          </a:p>
          <a:p>
            <a:r>
              <a:rPr lang="en-HK" dirty="0"/>
              <a:t>How concentrated is Apple’s supplier base, and what impact does this have on its negotiating power?</a:t>
            </a:r>
          </a:p>
          <a:p>
            <a:r>
              <a:rPr lang="en-HK" dirty="0"/>
              <a:t>What alternative sourcing options does Apple have for critical components, and how does this affect supplier power?</a:t>
            </a:r>
          </a:p>
          <a:p>
            <a:r>
              <a:rPr lang="en-HK" dirty="0"/>
              <a:t>How do fluctuations in raw material prices influence Apple's cost structure and supplier relationships?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88E89-1C85-4770-AB9C-2A6DABE7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012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F54D-5C0C-42AC-8E6E-CB6FFBB8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Porter’s Five Forces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21B7-E160-4F06-A37A-5484B02FE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/>
              <a:t>Bargaining Power of Buyers</a:t>
            </a:r>
          </a:p>
          <a:p>
            <a:endParaRPr lang="en-HK" b="1" dirty="0"/>
          </a:p>
          <a:p>
            <a:r>
              <a:rPr lang="en-HK" dirty="0"/>
              <a:t>What is the level of customer loyalty towards Apple products, and how does this influence buyer power?</a:t>
            </a:r>
          </a:p>
          <a:p>
            <a:r>
              <a:rPr lang="en-HK" dirty="0"/>
              <a:t>How does the availability of alternative products affect customer bargaining power in the technology sector?</a:t>
            </a:r>
          </a:p>
          <a:p>
            <a:r>
              <a:rPr lang="en-HK" dirty="0"/>
              <a:t>What role does pricing play in customer decision-making for Apple’s products compared to competitors?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0AC20-E607-4353-8128-B038ADE7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095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53B1-AAF2-432F-878B-D028CA1F5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Porter’s Five Forces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FB24-69C4-4AC5-A906-D7DEE53DD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/>
              <a:t>Threat of Substitute Products or Services</a:t>
            </a:r>
          </a:p>
          <a:p>
            <a:endParaRPr lang="en-HK" b="1" dirty="0"/>
          </a:p>
          <a:p>
            <a:r>
              <a:rPr lang="en-HK" dirty="0"/>
              <a:t>What substitute products exist in the market that could replace Apple’s offerings, and how do they compare in terms of price and quality?</a:t>
            </a:r>
          </a:p>
          <a:p>
            <a:r>
              <a:rPr lang="en-HK" dirty="0"/>
              <a:t>How has the rise of competing technologies (e.g., Android devices) impacted Apple’s market share?</a:t>
            </a:r>
          </a:p>
          <a:p>
            <a:r>
              <a:rPr lang="en-HK" dirty="0"/>
              <a:t>What innovations or changes in consumer preferences could increase the threat of substitutes for Apple?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BB01B-ABA2-42A5-AC77-BFD180D6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93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3348-0E8E-4010-8C35-8AC1FE3B0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Porter’s Five Forces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483C0-65A8-4D2D-9DC1-4FC607EEC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/>
              <a:t>Industry Rivalry</a:t>
            </a:r>
          </a:p>
          <a:p>
            <a:endParaRPr lang="en-HK" b="1" dirty="0"/>
          </a:p>
          <a:p>
            <a:r>
              <a:rPr lang="en-HK" dirty="0"/>
              <a:t>How intense is the competition among existing players in the technology sector, particularly in smartphones and personal computing?</a:t>
            </a:r>
          </a:p>
          <a:p>
            <a:r>
              <a:rPr lang="en-HK" dirty="0"/>
              <a:t>What strategies are competitors employing to gain market share, and how is Apple responding?</a:t>
            </a:r>
          </a:p>
          <a:p>
            <a:r>
              <a:rPr lang="en-HK" dirty="0"/>
              <a:t>How do pricing strategies among competitors impact Apple’s market positioning and profitability?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8F2FD-28C3-4638-9004-C2B3F37D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703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A7A4-503C-4F53-8D4B-7015CD69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Z-score Analysis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AB358-1875-472C-8049-4B83F9F3D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The ​​z-score analysis​​ in financial statement analysis—primarily referring to the ​​Altman Z-Score model​​—is a quantitative method developed by Edward Altman in 1968 to predict a company's likelihood of bankruptcy within two years.</a:t>
            </a:r>
          </a:p>
          <a:p>
            <a:endParaRPr lang="en-HK" dirty="0"/>
          </a:p>
          <a:p>
            <a:r>
              <a:rPr lang="pl-PL" i="1" dirty="0"/>
              <a:t>Z</a:t>
            </a:r>
            <a:r>
              <a:rPr lang="pl-PL" dirty="0"/>
              <a:t>=1.2</a:t>
            </a:r>
            <a:r>
              <a:rPr lang="pl-PL" i="1" dirty="0"/>
              <a:t>X</a:t>
            </a:r>
            <a:r>
              <a:rPr lang="pl-PL" dirty="0"/>
              <a:t>1​+1.4</a:t>
            </a:r>
            <a:r>
              <a:rPr lang="pl-PL" i="1" dirty="0"/>
              <a:t>X</a:t>
            </a:r>
            <a:r>
              <a:rPr lang="pl-PL" dirty="0"/>
              <a:t>2​+3.3</a:t>
            </a:r>
            <a:r>
              <a:rPr lang="pl-PL" i="1" dirty="0"/>
              <a:t>X</a:t>
            </a:r>
            <a:r>
              <a:rPr lang="pl-PL" dirty="0"/>
              <a:t>3​+0.6</a:t>
            </a:r>
            <a:r>
              <a:rPr lang="pl-PL" i="1" dirty="0"/>
              <a:t>X</a:t>
            </a:r>
            <a:r>
              <a:rPr lang="pl-PL" dirty="0"/>
              <a:t>4​+1.0</a:t>
            </a:r>
            <a:r>
              <a:rPr lang="pl-PL" i="1" dirty="0"/>
              <a:t>X</a:t>
            </a:r>
            <a:r>
              <a:rPr lang="pl-PL" dirty="0"/>
              <a:t>5​</a:t>
            </a:r>
            <a:br>
              <a:rPr lang="pl-PL" dirty="0"/>
            </a:br>
            <a:endParaRPr lang="en-HK" dirty="0"/>
          </a:p>
          <a:p>
            <a:pPr fontAlgn="base"/>
            <a:r>
              <a:rPr lang="en-HK" dirty="0"/>
              <a:t>​​Safe Zone (Z &gt; 2.99)​​: Low bankruptcy risk (e.g., Apple, Microsoft).</a:t>
            </a:r>
          </a:p>
          <a:p>
            <a:pPr fontAlgn="base"/>
            <a:r>
              <a:rPr lang="en-HK" dirty="0"/>
              <a:t>​​</a:t>
            </a:r>
            <a:r>
              <a:rPr lang="en-HK" dirty="0" err="1"/>
              <a:t>Gray</a:t>
            </a:r>
            <a:r>
              <a:rPr lang="en-HK" dirty="0"/>
              <a:t> Zone (1.81 ≤ Z ≤ 2.99)​​: Moderate risk; warrants monitoring.</a:t>
            </a:r>
          </a:p>
          <a:p>
            <a:pPr fontAlgn="base"/>
            <a:r>
              <a:rPr lang="en-HK" dirty="0"/>
              <a:t>​​Distress Zone (Z &lt; 1.81)​​: High bankruptcy probability (e.g., ST companies in Chinese markets).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44986-3E17-4D85-B96D-DA39BF09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3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2CBF-C206-420C-9FBB-8D80D6FF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Z-score Analysis - definition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8711C0-88B3-4061-9CC2-539DA9AC03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8421010"/>
              </p:ext>
            </p:extLst>
          </p:nvPr>
        </p:nvGraphicFramePr>
        <p:xfrm>
          <a:off x="628650" y="1752600"/>
          <a:ext cx="7886700" cy="4216736"/>
        </p:xfrm>
        <a:graphic>
          <a:graphicData uri="http://schemas.openxmlformats.org/drawingml/2006/table">
            <a:tbl>
              <a:tblPr/>
              <a:tblGrid>
                <a:gridCol w="1733550">
                  <a:extLst>
                    <a:ext uri="{9D8B030D-6E8A-4147-A177-3AD203B41FA5}">
                      <a16:colId xmlns:a16="http://schemas.microsoft.com/office/drawing/2014/main" val="78862915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498142613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641502403"/>
                    </a:ext>
                  </a:extLst>
                </a:gridCol>
              </a:tblGrid>
              <a:tr h="522904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1" dirty="0">
                          <a:effectLst/>
                          <a:latin typeface="inherit"/>
                        </a:rPr>
                        <a:t>Variable​</a:t>
                      </a:r>
                      <a:r>
                        <a:rPr lang="en-HK" sz="1800" b="0" dirty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800" b="1" dirty="0">
                          <a:effectLst/>
                          <a:latin typeface="inherit"/>
                        </a:rPr>
                        <a:t>​Ratio​</a:t>
                      </a:r>
                      <a:r>
                        <a:rPr lang="en-HK" sz="1800" b="0" dirty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800" b="1">
                          <a:effectLst/>
                          <a:latin typeface="inherit"/>
                        </a:rPr>
                        <a:t>​Financial Significance​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257368"/>
                  </a:ext>
                </a:extLst>
              </a:tr>
              <a:tr h="522904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i="1" dirty="0">
                          <a:effectLst/>
                          <a:latin typeface="KaTeX_Math"/>
                        </a:rPr>
                        <a:t>X</a:t>
                      </a:r>
                      <a:r>
                        <a:rPr lang="en-HK" sz="1800" b="0" dirty="0">
                          <a:effectLst/>
                          <a:latin typeface="inherit"/>
                        </a:rPr>
                        <a:t>1​</a:t>
                      </a:r>
                    </a:p>
                  </a:txBody>
                  <a:tcPr marT="76200" marB="76200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Working Capital / Total Assets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Liquidity &amp; operational efficiency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444545"/>
                  </a:ext>
                </a:extLst>
              </a:tr>
              <a:tr h="823296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i="1">
                          <a:effectLst/>
                          <a:latin typeface="KaTeX_Math"/>
                        </a:rPr>
                        <a:t>X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2​</a:t>
                      </a:r>
                    </a:p>
                  </a:txBody>
                  <a:tcPr marT="76200" marB="76200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Retained Earnings / Total Assets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Profit retention &amp; long-term stability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84740"/>
                  </a:ext>
                </a:extLst>
              </a:tr>
              <a:tr h="823296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i="1">
                          <a:effectLst/>
                          <a:latin typeface="KaTeX_Math"/>
                        </a:rPr>
                        <a:t>X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3​</a:t>
                      </a:r>
                    </a:p>
                  </a:txBody>
                  <a:tcPr marT="76200" marB="76200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EBIT / Total Assets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Asset productivity &amp; core profitability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293448"/>
                  </a:ext>
                </a:extLst>
              </a:tr>
              <a:tr h="823296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i="1">
                          <a:effectLst/>
                          <a:latin typeface="KaTeX_Math"/>
                        </a:rPr>
                        <a:t>X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4​</a:t>
                      </a:r>
                    </a:p>
                  </a:txBody>
                  <a:tcPr marT="76200" marB="76200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Market Value of Equity / Total Liabilities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Leverage &amp; solvency risk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503060"/>
                  </a:ext>
                </a:extLst>
              </a:tr>
              <a:tr h="522904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i="1">
                          <a:effectLst/>
                          <a:latin typeface="KaTeX_Math"/>
                        </a:rPr>
                        <a:t>X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5​</a:t>
                      </a:r>
                    </a:p>
                  </a:txBody>
                  <a:tcPr marT="76200" marB="76200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Sales / Total Assets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Asset turnover efficiency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17198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07499-DF6D-49DF-AE8D-C2596151A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927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AE4E-F72E-44F4-A8CB-0063A817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Z-score Analysis – questions asked to AI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91D7B-9CC1-466E-8081-A50D48F93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652963"/>
          </a:xfrm>
        </p:spPr>
        <p:txBody>
          <a:bodyPr>
            <a:normAutofit fontScale="92500" lnSpcReduction="10000"/>
          </a:bodyPr>
          <a:lstStyle/>
          <a:p>
            <a:r>
              <a:rPr lang="en-HK" dirty="0"/>
              <a:t>Can you provide the specific financial data (e.g., working capital, retained earnings, EBIT, market value of equity, total assets) needed to compute Apple's Z-Score?</a:t>
            </a:r>
          </a:p>
          <a:p>
            <a:endParaRPr lang="en-HK" dirty="0"/>
          </a:p>
          <a:p>
            <a:r>
              <a:rPr lang="en-HK" dirty="0"/>
              <a:t>What has been Apple's Z-Score over the past three years, and how does it indicate the company’s financial health?</a:t>
            </a:r>
          </a:p>
          <a:p>
            <a:endParaRPr lang="en-HK" dirty="0"/>
          </a:p>
          <a:p>
            <a:r>
              <a:rPr lang="en-HK" dirty="0"/>
              <a:t>How does Apple's Z-Score compare to industry benchmarks or key competitors?</a:t>
            </a:r>
          </a:p>
          <a:p>
            <a:endParaRPr lang="en-HK" dirty="0"/>
          </a:p>
          <a:p>
            <a:r>
              <a:rPr lang="en-HK" dirty="0"/>
              <a:t>What factors have contributed to any significant changes in Apple's Z-Score during the analysis period?</a:t>
            </a:r>
          </a:p>
          <a:p>
            <a:endParaRPr lang="en-HK" dirty="0"/>
          </a:p>
          <a:p>
            <a:r>
              <a:rPr lang="en-HK" dirty="0"/>
              <a:t>Based on the Z-Score analysis, what strengths and weaknesses can be identified in Apple's financial position?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1BD52-E111-414D-B33C-CDD53C53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696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BDF2-03A0-4D3A-A4F1-78D1AB63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Scenario Analysis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CFCED-B74F-4E24-9C7F-52ACF04BB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A ​​forward-looking financial </a:t>
            </a:r>
            <a:r>
              <a:rPr lang="en-HK" dirty="0" err="1"/>
              <a:t>modeling</a:t>
            </a:r>
            <a:r>
              <a:rPr lang="en-HK" dirty="0"/>
              <a:t> technique​​ that evaluates how different future conditions (e.g., economic shifts, market changes, or strategic decisions) impact a company's financial performance. </a:t>
            </a:r>
          </a:p>
          <a:p>
            <a:pPr marL="0" indent="0" fontAlgn="base">
              <a:buNone/>
            </a:pPr>
            <a:endParaRPr lang="en-HK" dirty="0"/>
          </a:p>
          <a:p>
            <a:pPr fontAlgn="base"/>
            <a:r>
              <a:rPr lang="en-HK" dirty="0"/>
              <a:t>Base Case​​: Uses current assumptions reflecting expected performance (e.g., 5% revenue growth, stable costs). ​​</a:t>
            </a:r>
          </a:p>
          <a:p>
            <a:pPr fontAlgn="base"/>
            <a:r>
              <a:rPr lang="en-HK" dirty="0"/>
              <a:t>Bull / Best Case (Optimistic)​​: Assumes </a:t>
            </a:r>
            <a:r>
              <a:rPr lang="en-HK" dirty="0" err="1"/>
              <a:t>favorable</a:t>
            </a:r>
            <a:r>
              <a:rPr lang="en-HK" dirty="0"/>
              <a:t> conditions (e.g., 15% revenue surge, low inflation).</a:t>
            </a:r>
          </a:p>
          <a:p>
            <a:pPr fontAlgn="base"/>
            <a:r>
              <a:rPr lang="en-HK" dirty="0"/>
              <a:t>​​Bear / Worst Case (Pessimistic)​​: Models adverse events (e.g., 10% sales decline, input cost spikes)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2BD21-6D25-4399-A1BA-723F3BDA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3681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F30B0-F988-4EB8-9676-D7BB49EC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Scenario Analysis – questions asked to AI 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2AD54-1D0A-4823-88DB-FBF172B86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What are the best-case, worst-case, and most likely scenarios for Apple's revenue growth in the next few years?</a:t>
            </a:r>
          </a:p>
          <a:p>
            <a:r>
              <a:rPr lang="en-HK" dirty="0"/>
              <a:t>How would changes in consumer preferences (e.g., demand for sustainable products) affect Apple's financial performance in different scenarios?</a:t>
            </a:r>
          </a:p>
          <a:p>
            <a:r>
              <a:rPr lang="en-HK" dirty="0"/>
              <a:t>What potential market disruptions (e.g., new competitors, economic downturns) should be included in the scenario analysis?</a:t>
            </a:r>
          </a:p>
          <a:p>
            <a:r>
              <a:rPr lang="en-HK" dirty="0"/>
              <a:t>How would each scenario impact key financial metrics such as revenue, profit margins, and cash flow?</a:t>
            </a:r>
          </a:p>
          <a:p>
            <a:r>
              <a:rPr lang="en-HK" dirty="0"/>
              <a:t>What are the potential effects on Apple's stock price and market capitalization under different scenarios?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C21A4-1657-41D2-8428-EB69634B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53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49758-50A8-48C2-A5F3-EE71CF4E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Financial Statement Forecasting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32CDE-C3ED-489A-B007-F659CBC39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A ​​forward-looking analytical process​​ that projects a company's future financial performance based on historical data, market trends, and strategic assumptions. It transforms historical financial statements into predictive models to guide strategic decisions, risk management, and resource allocation.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0F9F3-8C40-49CC-B1F0-0413C4B20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9189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4D0D-B3D3-4F81-8F51-A97FCCC9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Financial Statement Forecasting - techniques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0A93509-059E-40F0-B7A5-785EDC507A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5515413"/>
              </p:ext>
            </p:extLst>
          </p:nvPr>
        </p:nvGraphicFramePr>
        <p:xfrm>
          <a:off x="304800" y="1690689"/>
          <a:ext cx="8210550" cy="4160995"/>
        </p:xfrm>
        <a:graphic>
          <a:graphicData uri="http://schemas.openxmlformats.org/drawingml/2006/table">
            <a:tbl>
              <a:tblPr/>
              <a:tblGrid>
                <a:gridCol w="2736850">
                  <a:extLst>
                    <a:ext uri="{9D8B030D-6E8A-4147-A177-3AD203B41FA5}">
                      <a16:colId xmlns:a16="http://schemas.microsoft.com/office/drawing/2014/main" val="2031740353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3806610817"/>
                    </a:ext>
                  </a:extLst>
                </a:gridCol>
                <a:gridCol w="2736850">
                  <a:extLst>
                    <a:ext uri="{9D8B030D-6E8A-4147-A177-3AD203B41FA5}">
                      <a16:colId xmlns:a16="http://schemas.microsoft.com/office/drawing/2014/main" val="1875940030"/>
                    </a:ext>
                  </a:extLst>
                </a:gridCol>
              </a:tblGrid>
              <a:tr h="519942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800" b="1">
                          <a:effectLst/>
                          <a:latin typeface="inherit"/>
                        </a:rPr>
                        <a:t>​Method​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800" b="1">
                          <a:effectLst/>
                          <a:latin typeface="inherit"/>
                        </a:rPr>
                        <a:t>​Application​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800" b="1">
                          <a:effectLst/>
                          <a:latin typeface="inherit"/>
                        </a:rPr>
                        <a:t>​Example​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79867"/>
                  </a:ext>
                </a:extLst>
              </a:tr>
              <a:tr h="818633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800" b="1">
                          <a:effectLst/>
                          <a:latin typeface="inherit"/>
                        </a:rPr>
                        <a:t>​Trend Analysis​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Extrapolates historical patterns (e.g., 5% annual revenue growth)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Linear projection of past sales data</a:t>
                      </a:r>
                      <a:r>
                        <a:rPr lang="en-HK" sz="1800" b="0" dirty="0">
                          <a:effectLst/>
                          <a:latin typeface="PingFang SC"/>
                        </a:rPr>
                        <a:t>.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520652"/>
                  </a:ext>
                </a:extLst>
              </a:tr>
              <a:tr h="1117323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800" b="1">
                          <a:effectLst/>
                          <a:latin typeface="inherit"/>
                        </a:rPr>
                        <a:t>​Regression Analysis​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Links variables (e.g., ad spend → sales) via equation: </a:t>
                      </a:r>
                      <a:r>
                        <a:rPr lang="en-HK" sz="1800" b="0" i="1">
                          <a:effectLst/>
                          <a:latin typeface="inherit"/>
                        </a:rPr>
                        <a:t>Y = BX + A</a:t>
                      </a:r>
                      <a:endParaRPr lang="en-HK" sz="1800" b="0">
                        <a:effectLst/>
                        <a:latin typeface="inherit"/>
                      </a:endParaRPr>
                    </a:p>
                    <a:p>
                      <a:pPr algn="ctr" fontAlgn="ctr"/>
                      <a:r>
                        <a:rPr lang="en-HK" sz="1800" b="0">
                          <a:effectLst/>
                          <a:latin typeface="PingFang SC"/>
                        </a:rPr>
                        <a:t>.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Ad spend (</a:t>
                      </a:r>
                      <a:r>
                        <a:rPr lang="en-HK" sz="1800" b="0" i="1" dirty="0">
                          <a:effectLst/>
                          <a:latin typeface="KaTeX_Math"/>
                        </a:rPr>
                        <a:t>X</a:t>
                      </a:r>
                      <a:r>
                        <a:rPr lang="en-HK" sz="1800" b="0" dirty="0">
                          <a:effectLst/>
                          <a:latin typeface="KaTeX_Main"/>
                        </a:rPr>
                        <a:t>) </a:t>
                      </a:r>
                      <a:r>
                        <a:rPr lang="en-HK" sz="1800" b="0" i="1" dirty="0">
                          <a:effectLst/>
                          <a:latin typeface="KaTeX_Math"/>
                        </a:rPr>
                        <a:t>vs</a:t>
                      </a:r>
                      <a:r>
                        <a:rPr lang="en-HK" sz="1800" b="0" dirty="0">
                          <a:effectLst/>
                          <a:latin typeface="KaTeX_Main"/>
                        </a:rPr>
                        <a:t>. </a:t>
                      </a:r>
                      <a:r>
                        <a:rPr lang="en-HK" sz="1800" b="0" i="1" dirty="0">
                          <a:effectLst/>
                          <a:latin typeface="KaTeX_Math"/>
                        </a:rPr>
                        <a:t>revenue</a:t>
                      </a:r>
                      <a:r>
                        <a:rPr lang="en-HK" sz="1800" b="0" dirty="0">
                          <a:effectLst/>
                          <a:latin typeface="KaTeX_Main"/>
                        </a:rPr>
                        <a:t>(</a:t>
                      </a:r>
                      <a:r>
                        <a:rPr lang="en-HK" sz="1800" b="0" dirty="0">
                          <a:effectLst/>
                          <a:latin typeface="inherit"/>
                        </a:rPr>
                        <a:t>Y) correlation</a:t>
                      </a:r>
                      <a:r>
                        <a:rPr lang="en-HK" sz="1800" b="0" dirty="0">
                          <a:effectLst/>
                          <a:latin typeface="PingFang SC"/>
                        </a:rPr>
                        <a:t>.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966787"/>
                  </a:ext>
                </a:extLst>
              </a:tr>
              <a:tr h="1416013"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  <a:r>
                        <a:rPr lang="en-HK" sz="1800" b="1">
                          <a:effectLst/>
                          <a:latin typeface="inherit"/>
                        </a:rPr>
                        <a:t>​Scenario Analysis​</a:t>
                      </a:r>
                      <a:r>
                        <a:rPr lang="en-HK" sz="1800" b="0">
                          <a:effectLst/>
                          <a:latin typeface="inherit"/>
                        </a:rPr>
                        <a:t>​</a:t>
                      </a:r>
                    </a:p>
                  </a:txBody>
                  <a:tcPr marT="76200" marB="76200" anchor="ctr">
                    <a:lnL>
                      <a:noFill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Tests outcomes under best/worst/base cases (e.g., ±10% demand shifts)</a:t>
                      </a:r>
                      <a:r>
                        <a:rPr lang="en-HK" sz="1800" b="0" dirty="0">
                          <a:effectLst/>
                          <a:latin typeface="PingFang SC"/>
                        </a:rPr>
                        <a:t>.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HK" sz="1800" b="0" dirty="0">
                          <a:effectLst/>
                          <a:latin typeface="inherit"/>
                        </a:rPr>
                        <a:t>Bear case: 20% raw material cost spike impacting gross margins</a:t>
                      </a:r>
                      <a:r>
                        <a:rPr lang="en-HK" sz="1800" b="0" dirty="0">
                          <a:effectLst/>
                          <a:latin typeface="PingFang SC"/>
                        </a:rPr>
                        <a:t>.</a:t>
                      </a:r>
                    </a:p>
                  </a:txBody>
                  <a:tcPr marT="76200" marB="76200" anchor="ctr">
                    <a:lnL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34245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28EFD-0AB9-4D6D-91E4-0DBB3081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54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54FE-3BD6-44D9-894B-EE64AA3A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K" dirty="0"/>
              <a:t>Financial Statement Forecasting – questions asked to AI</a:t>
            </a:r>
            <a:br>
              <a:rPr lang="en-HK" dirty="0"/>
            </a:br>
            <a:endParaRPr lang="en-H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B37FC-73C6-434D-B432-6F525A2FE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4652963"/>
          </a:xfrm>
        </p:spPr>
        <p:txBody>
          <a:bodyPr>
            <a:normAutofit/>
          </a:bodyPr>
          <a:lstStyle/>
          <a:p>
            <a:r>
              <a:rPr lang="en-HK" b="1" dirty="0"/>
              <a:t>Historical Data Review</a:t>
            </a:r>
          </a:p>
          <a:p>
            <a:r>
              <a:rPr lang="en-HK" dirty="0"/>
              <a:t>What key financial metrics (e.g., revenue, net income, EPS) from the last three years should be considered for forecasting?</a:t>
            </a:r>
          </a:p>
          <a:p>
            <a:r>
              <a:rPr lang="en-HK" dirty="0"/>
              <a:t>How have Apple's historical growth rates in revenue and profit margins trended over the past three years?</a:t>
            </a:r>
          </a:p>
          <a:p>
            <a:endParaRPr lang="en-HK" dirty="0"/>
          </a:p>
          <a:p>
            <a:r>
              <a:rPr lang="en-HK" b="1" dirty="0"/>
              <a:t>Assumptions for Forecasting</a:t>
            </a:r>
          </a:p>
          <a:p>
            <a:r>
              <a:rPr lang="en-HK" dirty="0"/>
              <a:t>What assumptions should be made regarding market conditions, economic factors, and industry trends for the forecast period?</a:t>
            </a:r>
          </a:p>
          <a:p>
            <a:r>
              <a:rPr lang="en-HK" dirty="0"/>
              <a:t>How should changes in consumer </a:t>
            </a:r>
            <a:r>
              <a:rPr lang="en-HK" dirty="0" err="1"/>
              <a:t>behavior</a:t>
            </a:r>
            <a:r>
              <a:rPr lang="en-HK" dirty="0"/>
              <a:t> (e.g., demand for new technology) be factored into the revenue projections?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75C06-D644-46C8-8FA6-47A9D3BA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92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51784-B843-439B-B741-A37B6339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Financial Statement Forecasting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3D68D-804F-4836-90CA-9A365A052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/>
              <a:t>Revenue Forecasting</a:t>
            </a:r>
          </a:p>
          <a:p>
            <a:r>
              <a:rPr lang="en-HK" dirty="0"/>
              <a:t>What methods can be used to project Apple’s future revenue growth (e.g., linear regression, percentage of sales)?</a:t>
            </a:r>
          </a:p>
          <a:p>
            <a:r>
              <a:rPr lang="en-HK" dirty="0"/>
              <a:t>How might new product launches or expansions into new markets impact revenue forecasts?</a:t>
            </a:r>
          </a:p>
          <a:p>
            <a:endParaRPr lang="en-HK" dirty="0"/>
          </a:p>
          <a:p>
            <a:r>
              <a:rPr lang="en-HK" b="1" dirty="0"/>
              <a:t>Expense Projections</a:t>
            </a:r>
          </a:p>
          <a:p>
            <a:r>
              <a:rPr lang="en-HK" dirty="0"/>
              <a:t>What historical trends in operating expenses and cost of goods sold (COGS) should be considered when forecasting future expenses?</a:t>
            </a:r>
          </a:p>
          <a:p>
            <a:r>
              <a:rPr lang="en-HK" dirty="0"/>
              <a:t>How will anticipated changes in supply chain costs (e.g., raw materials, </a:t>
            </a:r>
            <a:r>
              <a:rPr lang="en-HK" dirty="0" err="1"/>
              <a:t>labor</a:t>
            </a:r>
            <a:r>
              <a:rPr lang="en-HK" dirty="0"/>
              <a:t>) affect future expenses?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54C82-3C03-496B-A266-54AE7B28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4812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E6B83-649C-42E2-A905-7825E37C4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Financial Statement Forecasting – questions asked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7E540-89D5-4BA5-83FA-88E31EB03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576763"/>
          </a:xfrm>
        </p:spPr>
        <p:txBody>
          <a:bodyPr>
            <a:normAutofit/>
          </a:bodyPr>
          <a:lstStyle/>
          <a:p>
            <a:r>
              <a:rPr lang="en-HK" b="1" dirty="0"/>
              <a:t>Cash Flow Projections</a:t>
            </a:r>
          </a:p>
          <a:p>
            <a:r>
              <a:rPr lang="en-HK" dirty="0"/>
              <a:t>How can cash flow from operating activities be projected based on historical trends and future expectations?</a:t>
            </a:r>
          </a:p>
          <a:p>
            <a:r>
              <a:rPr lang="en-HK" dirty="0"/>
              <a:t>What factors should be considered when forecasting cash flows from investing and financing activities?</a:t>
            </a:r>
          </a:p>
          <a:p>
            <a:endParaRPr lang="en-HK" dirty="0"/>
          </a:p>
          <a:p>
            <a:r>
              <a:rPr lang="en-HK" b="1" dirty="0"/>
              <a:t>Financial Statements Integration</a:t>
            </a:r>
          </a:p>
          <a:p>
            <a:r>
              <a:rPr lang="en-HK" dirty="0"/>
              <a:t>How will projected revenue and expenses impact the income statement, balance sheet, and cash flow statement?</a:t>
            </a:r>
          </a:p>
          <a:p>
            <a:r>
              <a:rPr lang="en-HK" dirty="0"/>
              <a:t>What key ratios (e.g., liquidity, profitability) should be monitored during the forecasting period to assess financial health?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CC204-F4AE-490E-BBAD-DB1802BA0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012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3861</Words>
  <Application>Microsoft Office PowerPoint</Application>
  <PresentationFormat>On-screen Show (4:3)</PresentationFormat>
  <Paragraphs>426</Paragraphs>
  <Slides>42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4" baseType="lpstr">
      <vt:lpstr>inherit</vt:lpstr>
      <vt:lpstr>KaTeX_Main</vt:lpstr>
      <vt:lpstr>KaTeX_Math</vt:lpstr>
      <vt:lpstr>MS PGothic</vt:lpstr>
      <vt:lpstr>MS PGothic</vt:lpstr>
      <vt:lpstr>PingFang SC</vt:lpstr>
      <vt:lpstr>Arial</vt:lpstr>
      <vt:lpstr>Calibri</vt:lpstr>
      <vt:lpstr>Calibri Light</vt:lpstr>
      <vt:lpstr>Palatino Linotype</vt:lpstr>
      <vt:lpstr>Wingdings</vt:lpstr>
      <vt:lpstr>Office Theme</vt:lpstr>
      <vt:lpstr>AC6761 Artificial Intelligence Accounting</vt:lpstr>
      <vt:lpstr>Financial statement analyses – analytical models</vt:lpstr>
      <vt:lpstr>Ratio Analysis - definition</vt:lpstr>
      <vt:lpstr>Ratio Analysis - examples</vt:lpstr>
      <vt:lpstr>Ratio Analysis – questions asked to AI </vt:lpstr>
      <vt:lpstr>Ratio Analysis – questions asked to AI</vt:lpstr>
      <vt:lpstr>Perplexity &amp; Gemini &amp; Kimi &amp; DeepSeek as examples</vt:lpstr>
      <vt:lpstr>Perplexity</vt:lpstr>
      <vt:lpstr>Gemini</vt:lpstr>
      <vt:lpstr>Kimi</vt:lpstr>
      <vt:lpstr>DeepSeek</vt:lpstr>
      <vt:lpstr>Trend Analysis - definition</vt:lpstr>
      <vt:lpstr>Trend Analysis - examples</vt:lpstr>
      <vt:lpstr>Trend Analysis – questions asked to AI </vt:lpstr>
      <vt:lpstr>Trend Analysis – questions asked to AI</vt:lpstr>
      <vt:lpstr>Trend Analysis – questions asked to AI</vt:lpstr>
      <vt:lpstr>DuPont Analysis - definition</vt:lpstr>
      <vt:lpstr>DuPont Analysis – questions asked to AI </vt:lpstr>
      <vt:lpstr>DuPont Analysis – questions asked to AI</vt:lpstr>
      <vt:lpstr>SWOT Analysis - definition</vt:lpstr>
      <vt:lpstr>SWOT Analysis – questions asked to AI </vt:lpstr>
      <vt:lpstr>SWOT Analysis – questions asked to AI</vt:lpstr>
      <vt:lpstr>SWOT Analysis – questions asked to AI</vt:lpstr>
      <vt:lpstr>SWOT Analysis – questions asked to AI</vt:lpstr>
      <vt:lpstr>Porter’s Five Forces - definition</vt:lpstr>
      <vt:lpstr>Porter’s Five Forces - definition</vt:lpstr>
      <vt:lpstr>Porter’s Five Forces - definition</vt:lpstr>
      <vt:lpstr>Porter’s Five Forces – questions asked to AI </vt:lpstr>
      <vt:lpstr>Porter’s Five Forces – questions asked to AI</vt:lpstr>
      <vt:lpstr>Porter’s Five Forces – questions asked to AI</vt:lpstr>
      <vt:lpstr>Porter’s Five Forces – questions asked to AI</vt:lpstr>
      <vt:lpstr>Porter’s Five Forces – questions asked to AI</vt:lpstr>
      <vt:lpstr>Z-score Analysis - definition</vt:lpstr>
      <vt:lpstr>Z-score Analysis - definition</vt:lpstr>
      <vt:lpstr>Z-score Analysis – questions asked to AI </vt:lpstr>
      <vt:lpstr>Scenario Analysis - definition</vt:lpstr>
      <vt:lpstr>Scenario Analysis – questions asked to AI  </vt:lpstr>
      <vt:lpstr>Financial Statement Forecasting - definition</vt:lpstr>
      <vt:lpstr>Financial Statement Forecasting - techniques</vt:lpstr>
      <vt:lpstr>Financial Statement Forecasting – questions asked to AI </vt:lpstr>
      <vt:lpstr>Financial Statement Forecasting – questions asked to AI</vt:lpstr>
      <vt:lpstr>Financial Statement Forecasting – questions asked to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2020-08-27T08:06:10Z</dcterms:created>
  <dcterms:modified xsi:type="dcterms:W3CDTF">2026-10-21T09:22:19Z</dcterms:modified>
</cp:coreProperties>
</file>