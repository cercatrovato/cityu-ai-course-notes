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5721" r:id="rId1"/>
  </p:sldMasterIdLst>
  <p:notesMasterIdLst>
    <p:notesMasterId r:id="rId59"/>
  </p:notesMasterIdLst>
  <p:handoutMasterIdLst>
    <p:handoutMasterId r:id="rId60"/>
  </p:handoutMasterIdLst>
  <p:sldIdLst>
    <p:sldId id="397" r:id="rId2"/>
    <p:sldId id="276" r:id="rId3"/>
    <p:sldId id="296" r:id="rId4"/>
    <p:sldId id="277" r:id="rId5"/>
    <p:sldId id="358" r:id="rId6"/>
    <p:sldId id="359" r:id="rId7"/>
    <p:sldId id="355" r:id="rId8"/>
    <p:sldId id="357" r:id="rId9"/>
    <p:sldId id="389" r:id="rId10"/>
    <p:sldId id="390" r:id="rId11"/>
    <p:sldId id="392" r:id="rId12"/>
    <p:sldId id="391" r:id="rId13"/>
    <p:sldId id="395" r:id="rId14"/>
    <p:sldId id="396" r:id="rId15"/>
    <p:sldId id="398" r:id="rId16"/>
    <p:sldId id="399" r:id="rId17"/>
    <p:sldId id="400" r:id="rId18"/>
    <p:sldId id="401" r:id="rId19"/>
    <p:sldId id="403" r:id="rId20"/>
    <p:sldId id="404" r:id="rId21"/>
    <p:sldId id="402" r:id="rId22"/>
    <p:sldId id="377" r:id="rId23"/>
    <p:sldId id="364" r:id="rId24"/>
    <p:sldId id="371" r:id="rId25"/>
    <p:sldId id="363" r:id="rId26"/>
    <p:sldId id="373" r:id="rId27"/>
    <p:sldId id="406" r:id="rId28"/>
    <p:sldId id="367" r:id="rId29"/>
    <p:sldId id="375" r:id="rId30"/>
    <p:sldId id="374" r:id="rId31"/>
    <p:sldId id="407" r:id="rId32"/>
    <p:sldId id="372" r:id="rId33"/>
    <p:sldId id="378" r:id="rId34"/>
    <p:sldId id="380" r:id="rId35"/>
    <p:sldId id="278" r:id="rId36"/>
    <p:sldId id="379" r:id="rId37"/>
    <p:sldId id="381" r:id="rId38"/>
    <p:sldId id="382" r:id="rId39"/>
    <p:sldId id="305" r:id="rId40"/>
    <p:sldId id="306" r:id="rId41"/>
    <p:sldId id="308" r:id="rId42"/>
    <p:sldId id="309" r:id="rId43"/>
    <p:sldId id="313" r:id="rId44"/>
    <p:sldId id="314" r:id="rId45"/>
    <p:sldId id="319" r:id="rId46"/>
    <p:sldId id="321" r:id="rId47"/>
    <p:sldId id="322" r:id="rId48"/>
    <p:sldId id="412" r:id="rId49"/>
    <p:sldId id="326" r:id="rId50"/>
    <p:sldId id="328" r:id="rId51"/>
    <p:sldId id="330" r:id="rId52"/>
    <p:sldId id="331" r:id="rId53"/>
    <p:sldId id="336" r:id="rId54"/>
    <p:sldId id="337" r:id="rId55"/>
    <p:sldId id="344" r:id="rId56"/>
    <p:sldId id="346" r:id="rId57"/>
    <p:sldId id="347" r:id="rId58"/>
  </p:sldIdLst>
  <p:sldSz cx="9144000" cy="6858000" type="screen4x3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h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2D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61" autoAdjust="0"/>
    <p:restoredTop sz="92494" autoAdjust="0"/>
  </p:normalViewPr>
  <p:slideViewPr>
    <p:cSldViewPr>
      <p:cViewPr varScale="1">
        <p:scale>
          <a:sx n="76" d="100"/>
          <a:sy n="76" d="100"/>
        </p:scale>
        <p:origin x="196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3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885" y="67"/>
      </p:cViewPr>
      <p:guideLst>
        <p:guide orient="horz" pos="3128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966849" y="0"/>
            <a:ext cx="829254" cy="298240"/>
          </a:xfrm>
          <a:prstGeom prst="rect">
            <a:avLst/>
          </a:prstGeom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dirty="0"/>
              <a:t>1-</a:t>
            </a:r>
            <a:fld id="{4FC70F1E-A9CF-4725-BA99-5BD9E946C6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21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3164" tIns="46582" rIns="93164" bIns="4658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6662"/>
            <a:ext cx="5438140" cy="4468416"/>
          </a:xfrm>
          <a:prstGeom prst="rect">
            <a:avLst/>
          </a:prstGeom>
          <a:ln>
            <a:noFill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Slide Number Placeholder 4"/>
          <p:cNvSpPr txBox="1">
            <a:spLocks/>
          </p:cNvSpPr>
          <p:nvPr/>
        </p:nvSpPr>
        <p:spPr>
          <a:xfrm>
            <a:off x="5287083" y="0"/>
            <a:ext cx="1510595" cy="330995"/>
          </a:xfrm>
          <a:prstGeom prst="rect">
            <a:avLst/>
          </a:prstGeom>
        </p:spPr>
        <p:txBody>
          <a:bodyPr lIns="93164" tIns="46582" rIns="93164" bIns="46582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latin typeface="Calibri" pitchFamily="-107" charset="0"/>
              </a:rPr>
              <a:t>1 - </a:t>
            </a:r>
            <a:fld id="{E8754586-748E-423B-B46D-321A01942A47}" type="slidenum">
              <a:rPr lang="en-US" sz="1200" smtClean="0">
                <a:latin typeface="Calibri" pitchFamily="-107" charset="0"/>
              </a:rPr>
              <a:pPr algn="r" eaLnBrk="1" hangingPunct="1">
                <a:defRPr/>
              </a:pPr>
              <a:t>‹#›</a:t>
            </a:fld>
            <a:endParaRPr lang="en-US" sz="1200" dirty="0">
              <a:latin typeface="Calibri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260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8462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333049C-0198-446C-908D-60004EBDC471}" type="slidenum">
              <a:rPr lang="en-US" smtClean="0"/>
              <a:pPr eaLnBrk="1" hangingPunct="1"/>
              <a:t>2</a:t>
            </a:fld>
            <a:endParaRPr 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54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0EB3F2F-D2FB-4A13-91FD-3B3B8BDD26B6}" type="slidenum">
              <a:rPr lang="en-US" smtClean="0"/>
              <a:pPr eaLnBrk="1" hangingPunct="1"/>
              <a:t>3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69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99A5CBA-03A8-47CE-8115-F9FAED656165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41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1EE6C61-21E7-4B28-B021-413B97A6E71A}" type="slidenum">
              <a:rPr lang="en-US" smtClean="0"/>
              <a:pPr eaLnBrk="1" hangingPunct="1"/>
              <a:t>5</a:t>
            </a:fld>
            <a:endParaRPr lang="en-US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91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4AC2278-B53D-4AA5-9E5A-4F75E991A009}" type="slidenum">
              <a:rPr lang="en-US" smtClean="0"/>
              <a:pPr eaLnBrk="1" hangingPunct="1"/>
              <a:t>6</a:t>
            </a:fld>
            <a:endParaRPr lang="en-US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04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1659216-4C8B-493F-AF18-FC094A752974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0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45017-B61E-46A2-80C2-45F924B3621B}" type="slidenum">
              <a:rPr lang="en-US" smtClean="0"/>
              <a:pPr eaLnBrk="1" hangingPunct="1"/>
              <a:t>8</a:t>
            </a:fld>
            <a:endParaRPr lang="en-US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59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22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88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23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94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24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41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49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26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17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4802FF8-BC98-4C5E-B8EB-B34FC6AB2CA8}" type="slidenum">
              <a:rPr lang="en-US" smtClean="0"/>
              <a:pPr eaLnBrk="1" hangingPunct="1"/>
              <a:t>27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82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48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29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59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30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64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140FBF4-AA4A-4B60-9B5E-14814DC145B9}" type="slidenum">
              <a:rPr lang="en-US" smtClean="0"/>
              <a:pPr eaLnBrk="1" hangingPunct="1"/>
              <a:t>31</a:t>
            </a:fld>
            <a:endParaRPr 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16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32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1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33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04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34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402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3373D5A-3DB6-427D-BCA6-A32CB3C3F983}" type="slidenum">
              <a:rPr lang="en-US" smtClean="0"/>
              <a:pPr eaLnBrk="1" hangingPunct="1"/>
              <a:t>35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51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36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146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F3983-8375-4A7E-A6A1-9138F0AA4027}" type="slidenum">
              <a:rPr lang="en-US" smtClean="0"/>
              <a:pPr eaLnBrk="1" hangingPunct="1"/>
              <a:t>37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731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7A1A1D-C968-4240-BD56-289232D332DB}" type="slidenum">
              <a:rPr lang="en-US" smtClean="0"/>
              <a:pPr eaLnBrk="1" hangingPunct="1"/>
              <a:t>39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8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EC96D22-CA6F-458C-B732-FD306AF6ABF3}" type="slidenum">
              <a:rPr lang="en-US" smtClean="0"/>
              <a:pPr eaLnBrk="1" hangingPunct="1"/>
              <a:t>40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48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8E4CD6-CFA6-4994-9DF1-85725E378C41}" type="slidenum">
              <a:rPr lang="en-US" smtClean="0"/>
              <a:pPr eaLnBrk="1" hangingPunct="1"/>
              <a:t>41</a:t>
            </a:fld>
            <a:endParaRPr 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153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9E1DB6C-FE16-446F-905E-3AA1AABA6519}" type="slidenum">
              <a:rPr lang="en-US" smtClean="0"/>
              <a:pPr eaLnBrk="1" hangingPunct="1"/>
              <a:t>42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978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A9D0C9-38EE-428D-9A70-8B447A08D16E}" type="slidenum">
              <a:rPr lang="en-US" smtClean="0"/>
              <a:pPr eaLnBrk="1" hangingPunct="1"/>
              <a:t>43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016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DC53E1-8F85-4359-A3BF-DE613994A6B0}" type="slidenum">
              <a:rPr lang="en-US" smtClean="0"/>
              <a:pPr eaLnBrk="1" hangingPunct="1"/>
              <a:t>44</a:t>
            </a:fld>
            <a:endParaRPr 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058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6F8C41A-544F-410B-9F23-F9E7229955B1}" type="slidenum">
              <a:rPr lang="en-US" smtClean="0"/>
              <a:pPr eaLnBrk="1" hangingPunct="1"/>
              <a:t>45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329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E7FFFFB-4AD3-4085-9476-DB595FC8EE80}" type="slidenum">
              <a:rPr lang="en-US" smtClean="0"/>
              <a:pPr eaLnBrk="1" hangingPunct="1"/>
              <a:t>46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433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04BA636-AB62-4A80-8FC1-CB0E46B65ACC}" type="slidenum">
              <a:rPr lang="en-US" smtClean="0"/>
              <a:pPr eaLnBrk="1" hangingPunct="1"/>
              <a:t>47</a:t>
            </a:fld>
            <a:endParaRPr lang="en-US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195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6384F4-5641-4297-A030-5EFC85E1E365}" type="slidenum">
              <a:rPr lang="en-US" smtClean="0"/>
              <a:pPr eaLnBrk="1" hangingPunct="1"/>
              <a:t>49</a:t>
            </a:fld>
            <a:endParaRPr lang="en-US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096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6943204-3C38-4751-975E-4270158A6777}" type="slidenum">
              <a:rPr lang="en-US" smtClean="0"/>
              <a:pPr eaLnBrk="1" hangingPunct="1"/>
              <a:t>50</a:t>
            </a:fld>
            <a:endParaRPr lang="en-US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299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1ADA9B9-2018-4FA4-B86A-C29C5B8008E9}" type="slidenum">
              <a:rPr lang="en-US" smtClean="0"/>
              <a:pPr eaLnBrk="1" hangingPunct="1"/>
              <a:t>51</a:t>
            </a:fld>
            <a:endParaRPr lang="en-US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46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CB404C4-28B8-4556-901D-527077CD51FD}" type="slidenum">
              <a:rPr lang="en-US" smtClean="0"/>
              <a:pPr eaLnBrk="1" hangingPunct="1"/>
              <a:t>52</a:t>
            </a:fld>
            <a:endParaRPr lang="en-US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93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B32307-A6BB-498B-98B4-7715296E37FA}" type="slidenum">
              <a:rPr lang="en-US" smtClean="0"/>
              <a:pPr eaLnBrk="1" hangingPunct="1"/>
              <a:t>53</a:t>
            </a:fld>
            <a:endParaRPr lang="en-US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239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6B4E205-54D5-4C19-9386-54052A2697E1}" type="slidenum">
              <a:rPr lang="en-US" smtClean="0"/>
              <a:pPr eaLnBrk="1" hangingPunct="1"/>
              <a:t>54</a:t>
            </a:fld>
            <a:endParaRPr lang="en-US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267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924496-362F-42B0-AC16-37C6C371874E}" type="slidenum">
              <a:rPr lang="en-US" smtClean="0"/>
              <a:pPr eaLnBrk="1" hangingPunct="1"/>
              <a:t>55</a:t>
            </a:fld>
            <a:endParaRPr lang="en-US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046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E590608-DAB4-4A76-8126-69ED82FD7F18}" type="slidenum">
              <a:rPr lang="en-US" smtClean="0"/>
              <a:pPr eaLnBrk="1" hangingPunct="1"/>
              <a:t>56</a:t>
            </a:fld>
            <a:endParaRPr lang="en-US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328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63359DC-86EA-4E8E-B75C-0600277D4215}" type="slidenum">
              <a:rPr lang="en-US" smtClean="0"/>
              <a:pPr eaLnBrk="1" hangingPunct="1"/>
              <a:t>57</a:t>
            </a:fld>
            <a:endParaRPr lang="en-US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4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B42-E70C-4FA6-B141-9BD8E6020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4AD63-5068-4E4E-A3E7-F90521A24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6812-10C8-433B-B6CA-EEC7F433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29925E-EED2-44FE-A088-00640B77843B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8831-A964-419A-8F9B-E13A6AC9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D5A45-30F2-4BA8-A795-B19884B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DA46-A0C8-43DB-B9C0-C1581C69E3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4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9A0F-11F4-468A-92A1-C983B748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AD7F-CA6D-45BF-B764-72E47621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7278-C858-4DC0-AFCD-3C6A68D3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32F547-B0D0-4CB8-8543-44DCD76FB919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C488E-4D8B-43F6-9EB5-45796484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EFFA-FE3F-4B63-A363-A60D6A34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5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6687-01E3-4EFA-AAF4-3B4BB497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F4309-F76B-4BB7-B6F9-72503B851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24F7-8986-499F-A6D6-173E38F0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80D1F-64D5-4D03-86A8-B0C78FB9D084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C674-1E77-404C-A67C-7EEBBF9A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AFC3-E5CC-4C2D-9F40-7AC36D99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116888-0E84-4000-8C9A-DF22FF3213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6322-B5D5-4209-90AD-C2E43075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3636-E557-4BF5-BDB8-7608D671E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DEDD-0FE5-4DE5-8D0C-0BF6BF33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DEA4-5D2C-45AC-A09E-EA1426FF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A3584-A3FD-4926-AF2B-BA4A2209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32EB-F0E7-4396-94E9-D3172F1D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75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8068-C533-471D-B504-99206ADA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A985D-5BF7-4CB5-A92B-4A6FDFBB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B07C4-7F34-446A-9E2E-1B83A53EA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32C3C-0143-494D-9F52-9E04ECF3F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6F971-95B4-46A0-91C2-A0AFD49D1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71DDC-BE93-430E-B7EA-CDF6C2BE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7A58-19C6-42DB-9019-46F96D1C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BDDE3-F8EA-46B4-9C1F-FFEAFED2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375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99D1-45FB-49A6-A72B-39DFBA79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AEA5B-B844-499C-BA2B-C67C65D2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12F0C6-B5C0-45E6-85FD-C21AB31A1A95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586E5-DF4D-41FD-939D-D5906457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8673F-6F56-412B-8D53-B5B5D1D6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B8CC1-C7B3-4BC4-BEEE-A4A95954513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17015-38ED-4E49-B354-BF1208BF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224EFF-F9F8-496A-8AFF-0F456197E8B5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ED087-1CA0-4D1D-A5B0-CA6A3706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9A89-0D3C-4EB6-BC78-A5673BA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19379-17AD-4E0D-9610-E34AD365F0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35F3-02F6-4359-A8DD-7118AD1E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6DA7-C41C-4B1D-821B-A34DDED7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F4FC8-0644-4504-8FD0-62DFC733C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DD565-4EB8-457E-B8A9-509B3DCE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88E37B-CCA0-4BF7-B7AF-2BF4EC7610D2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9D874-3E53-419D-8C82-3E772F73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B5090-F9E3-4FA5-B32F-54204C78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9EE4FC-2A91-409C-B8D2-F3728F9891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5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437F-279B-4932-9EF7-FFD910F0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7D60-0F4E-4BE9-B09F-E7246F969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0D92-3484-4528-A351-19165E1E6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D33E0-CCF8-4FEC-A987-DCEDD319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906EF-43E0-4C73-8925-C4A8189F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2ED9E-B863-4067-A92B-B18B6217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503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C477-2B1A-4487-9A1A-D9D3C01F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A2816-85E2-44D9-878A-B0F1465BB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877E-BE39-43C8-9EE8-D621A9D0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03DD5F-3ADD-4550-807E-1C58669018A4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9F1C-DBE1-4824-91C7-103FAFC4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950F-2711-4E12-8356-E605F748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D7A4F-0B31-4615-9C11-A8677BAFCA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CA952-B5B7-4257-8694-84F3A9F90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B2DB1-6CAB-4906-8B39-FB4DED0A8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8120D-AC6D-4553-9834-55272B2A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D123-9B63-43A4-93F3-FBB2E34B51D6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6FC3-224D-4426-B73C-2AA0B48F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E764-C080-4BE3-AFC3-EA929A6E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1C260-B825-4CE8-9DDA-33D812275B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8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220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64F96-0661-4ECF-9982-9B197F1F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5EEC-6249-47C2-8057-6D2EEB8E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0C48-B9DE-4CE6-A788-912657533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B9AB-B01B-4609-977B-94A63EF8D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4386-A281-4CF3-A02F-A34096AE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34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22" r:id="rId1"/>
    <p:sldLayoutId id="2147485723" r:id="rId2"/>
    <p:sldLayoutId id="2147485724" r:id="rId3"/>
    <p:sldLayoutId id="2147485725" r:id="rId4"/>
    <p:sldLayoutId id="2147485726" r:id="rId5"/>
    <p:sldLayoutId id="2147485727" r:id="rId6"/>
    <p:sldLayoutId id="2147485728" r:id="rId7"/>
    <p:sldLayoutId id="2147485729" r:id="rId8"/>
    <p:sldLayoutId id="2147485730" r:id="rId9"/>
    <p:sldLayoutId id="2147485731" r:id="rId10"/>
    <p:sldLayoutId id="2147485732" r:id="rId11"/>
    <p:sldLayoutId id="2147484929" r:id="rId12"/>
    <p:sldLayoutId id="2147484917" r:id="rId13"/>
    <p:sldLayoutId id="2147485054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3"/>
          <p:cNvSpPr>
            <a:spLocks noGrp="1"/>
          </p:cNvSpPr>
          <p:nvPr>
            <p:ph type="ctrTitle"/>
          </p:nvPr>
        </p:nvSpPr>
        <p:spPr>
          <a:xfrm>
            <a:off x="609600" y="1088237"/>
            <a:ext cx="6858000" cy="1718936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b="1" dirty="0"/>
              <a:t>AC6761 Artificial Intelligence Accounting</a:t>
            </a:r>
          </a:p>
        </p:txBody>
      </p:sp>
      <p:sp>
        <p:nvSpPr>
          <p:cNvPr id="129027" name="Subtitle 2"/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7162800" cy="1543012"/>
          </a:xfrm>
        </p:spPr>
        <p:txBody>
          <a:bodyPr>
            <a:normAutofit/>
          </a:bodyPr>
          <a:lstStyle/>
          <a:p>
            <a:pPr algn="l" eaLnBrk="1" hangingPunct="1">
              <a:buFont typeface="Wingdings" pitchFamily="-107" charset="2"/>
              <a:buNone/>
            </a:pPr>
            <a:r>
              <a:rPr lang="en-US" altLang="en-US" sz="3600" b="1" dirty="0">
                <a:solidFill>
                  <a:srgbClr val="898989"/>
                </a:solidFill>
              </a:rPr>
              <a:t>Chapter 5 REA Business Process Modeling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10B4163-8980-4CFB-8DD8-D7C57BD4E5CA}" type="slidenum">
              <a:rPr lang="en-US" smtClean="0">
                <a:solidFill>
                  <a:srgbClr val="19138D"/>
                </a:solidFill>
              </a:rPr>
              <a:pPr eaLnBrk="1" hangingPunct="1"/>
              <a:t>2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1784350" y="250825"/>
            <a:ext cx="5938838" cy="700088"/>
          </a:xfrm>
        </p:spPr>
        <p:txBody>
          <a:bodyPr/>
          <a:lstStyle/>
          <a:p>
            <a:pPr eaLnBrk="1" hangingPunct="1"/>
            <a:r>
              <a:rPr lang="en-US" sz="4000" dirty="0"/>
              <a:t>Core REA Classes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7113" y="1216025"/>
            <a:ext cx="7537450" cy="4943475"/>
          </a:xfrm>
        </p:spPr>
        <p:txBody>
          <a:bodyPr/>
          <a:lstStyle/>
          <a:p>
            <a:pPr eaLnBrk="1" hangingPunct="1"/>
            <a:r>
              <a:rPr lang="en-US" u="sng" dirty="0"/>
              <a:t>Resources</a:t>
            </a:r>
            <a:r>
              <a:rPr lang="en-US" dirty="0"/>
              <a:t> and Resource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Whether the individual instances will be interchangeable, for example cookies (resource type) and diamonds </a:t>
            </a:r>
            <a:r>
              <a:rPr lang="en-US" sz="2200"/>
              <a:t>(resource)</a:t>
            </a:r>
            <a:endParaRPr lang="en-US" dirty="0"/>
          </a:p>
          <a:p>
            <a:pPr eaLnBrk="1" hangingPunct="1"/>
            <a:r>
              <a:rPr lang="en-US" u="sng" dirty="0"/>
              <a:t>Economic Events</a:t>
            </a:r>
          </a:p>
          <a:p>
            <a:pPr lvl="1" eaLnBrk="1" hangingPunct="1"/>
            <a:r>
              <a:rPr lang="en-US" dirty="0"/>
              <a:t>Events in which a resource is either given up or taken</a:t>
            </a:r>
          </a:p>
          <a:p>
            <a:pPr lvl="2" eaLnBrk="1" hangingPunct="1"/>
            <a:r>
              <a:rPr lang="en-US" dirty="0"/>
              <a:t>Increment economic event results in resource inflow</a:t>
            </a:r>
          </a:p>
          <a:p>
            <a:pPr lvl="3" eaLnBrk="1" hangingPunct="1"/>
            <a:r>
              <a:rPr lang="en-US" dirty="0"/>
              <a:t>In quantity or value</a:t>
            </a:r>
          </a:p>
          <a:p>
            <a:pPr lvl="2" eaLnBrk="1" hangingPunct="1"/>
            <a:r>
              <a:rPr lang="en-US" dirty="0"/>
              <a:t>Decrement economic event results in resource outflow</a:t>
            </a:r>
          </a:p>
          <a:p>
            <a:pPr lvl="3" eaLnBrk="1" hangingPunct="1"/>
            <a:r>
              <a:rPr lang="en-US" dirty="0"/>
              <a:t>In quantity or value</a:t>
            </a:r>
          </a:p>
          <a:p>
            <a:pPr eaLnBrk="1" hangingPunct="1">
              <a:lnSpc>
                <a:spcPct val="90000"/>
              </a:lnSpc>
            </a:pPr>
            <a:r>
              <a:rPr lang="en-US" u="sng" dirty="0"/>
              <a:t>Agents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Internal agents act on behalf of the enterprise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External agents are external business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933321-E5CC-45CC-94BB-01C36506DA6B}" type="slidenum">
              <a:rPr lang="en-US" smtClean="0">
                <a:solidFill>
                  <a:srgbClr val="19138D"/>
                </a:solidFill>
              </a:rPr>
              <a:pPr eaLnBrk="1" hangingPunct="1"/>
              <a:t>3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787400" y="0"/>
            <a:ext cx="75311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Core REA Primary Associations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6275" y="1195388"/>
            <a:ext cx="8223250" cy="47164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Duality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/>
              <a:t>Links increment and decrement economic events</a:t>
            </a:r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en-US" sz="2800" dirty="0" err="1"/>
              <a:t>Stockflow</a:t>
            </a:r>
            <a:r>
              <a:rPr lang="en-US" sz="28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Links economic events and resources or resource types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Inflow links increment event to resource or resource type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Outflow links decrement event to resource or resource type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dirty="0"/>
              <a:t>Participation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Links economic events and agents (internal and external)</a:t>
            </a:r>
          </a:p>
          <a:p>
            <a:pPr lvl="1" eaLnBrk="1" hangingPunct="1">
              <a:lnSpc>
                <a:spcPct val="90000"/>
              </a:lnSpc>
            </a:pP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AD04C61-EBCA-410B-913A-C2B1BC5871F8}" type="slidenum">
              <a:rPr lang="en-US" smtClean="0">
                <a:solidFill>
                  <a:srgbClr val="19138D"/>
                </a:solidFill>
              </a:rPr>
              <a:pPr eaLnBrk="1" hangingPunct="1"/>
              <a:t>4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201"/>
            <a:ext cx="8108951" cy="808038"/>
          </a:xfrm>
        </p:spPr>
        <p:txBody>
          <a:bodyPr/>
          <a:lstStyle/>
          <a:p>
            <a:pPr eaLnBrk="1" hangingPunct="1"/>
            <a:r>
              <a:rPr lang="en-US" sz="4000" dirty="0"/>
              <a:t>Core REA Secondary Associations 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889000"/>
            <a:ext cx="8242300" cy="5397500"/>
          </a:xfrm>
        </p:spPr>
        <p:txBody>
          <a:bodyPr/>
          <a:lstStyle/>
          <a:p>
            <a:pPr eaLnBrk="1" hangingPunct="1"/>
            <a:r>
              <a:rPr lang="en-US" dirty="0"/>
              <a:t>Custody</a:t>
            </a:r>
          </a:p>
          <a:p>
            <a:pPr lvl="1" eaLnBrk="1" hangingPunct="1"/>
            <a:r>
              <a:rPr lang="en-US" sz="2200" dirty="0"/>
              <a:t>Links Agents and Resources such that agent has physical control over the resource or controls access to the resource</a:t>
            </a:r>
          </a:p>
          <a:p>
            <a:pPr eaLnBrk="1" hangingPunct="1"/>
            <a:r>
              <a:rPr lang="en-US" dirty="0"/>
              <a:t>Assignment </a:t>
            </a:r>
          </a:p>
          <a:p>
            <a:pPr lvl="1" eaLnBrk="1" hangingPunct="1"/>
            <a:r>
              <a:rPr lang="en-US" sz="2200" dirty="0"/>
              <a:t>Links Internal Agent to External Agent</a:t>
            </a:r>
          </a:p>
          <a:p>
            <a:pPr lvl="2" eaLnBrk="1" hangingPunct="1"/>
            <a:r>
              <a:rPr lang="en-US" dirty="0"/>
              <a:t>Use only when relationship between internal agent and external agent exists independently of their mutual participation in an event</a:t>
            </a:r>
          </a:p>
          <a:p>
            <a:pPr eaLnBrk="1" hangingPunct="1"/>
            <a:r>
              <a:rPr lang="en-US" dirty="0"/>
              <a:t>Responsibility </a:t>
            </a:r>
          </a:p>
          <a:p>
            <a:pPr lvl="1" eaLnBrk="1" hangingPunct="1"/>
            <a:r>
              <a:rPr lang="en-US" sz="2200" dirty="0"/>
              <a:t>Links Internal Agent to Internal Agent</a:t>
            </a:r>
          </a:p>
          <a:p>
            <a:pPr lvl="2" eaLnBrk="1" hangingPunct="1"/>
            <a:r>
              <a:rPr lang="en-US" dirty="0"/>
              <a:t>Use when one internal agent is responsible for another, independent of their mutual participation in an event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2E350A-3F21-48BF-BC9A-C705BB8DB05D}" type="slidenum">
              <a:rPr lang="en-US" smtClean="0">
                <a:solidFill>
                  <a:srgbClr val="19138D"/>
                </a:solidFill>
              </a:rPr>
              <a:pPr eaLnBrk="1" hangingPunct="1"/>
              <a:t>5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69988"/>
            <a:ext cx="7761288" cy="50149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Determine whether the attribute describes just one thing (class) or a combination of things (association)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Resource attributes typically include an identifier, description, and attributes indicating value or dimensions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Event attributes typically include an identifier, a date/time (or beginning and ending dates/times), and attributes indicating value or other dimensions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Agent attributes typically include an identifier, name, address, telephone, other contact information</a:t>
            </a:r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title"/>
          </p:nvPr>
        </p:nvSpPr>
        <p:spPr>
          <a:xfrm>
            <a:off x="863600" y="152400"/>
            <a:ext cx="7696200" cy="917575"/>
          </a:xfrm>
          <a:noFill/>
        </p:spPr>
        <p:txBody>
          <a:bodyPr/>
          <a:lstStyle/>
          <a:p>
            <a:pPr eaLnBrk="1" hangingPunct="1"/>
            <a:r>
              <a:rPr lang="en-US" sz="3600"/>
              <a:t>Assigning Attributes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DDB4C87-A019-40A8-B2F1-B8A88656D40F}" type="slidenum">
              <a:rPr lang="en-US" smtClean="0">
                <a:solidFill>
                  <a:srgbClr val="19138D"/>
                </a:solidFill>
              </a:rPr>
              <a:pPr eaLnBrk="1" hangingPunct="1"/>
              <a:t>6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696200" cy="998538"/>
          </a:xfrm>
        </p:spPr>
        <p:txBody>
          <a:bodyPr/>
          <a:lstStyle/>
          <a:p>
            <a:pPr eaLnBrk="1" hangingPunct="1"/>
            <a:r>
              <a:rPr lang="en-US" sz="3600"/>
              <a:t>Multiplicity Assignment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30300"/>
            <a:ext cx="8382000" cy="5003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dirty="0"/>
              <a:t>Narrative descriptions / business common sense / </a:t>
            </a:r>
            <a:r>
              <a:rPr lang="en-US" sz="2200"/>
              <a:t>reasonable assumptions</a:t>
            </a:r>
            <a:endParaRPr lang="en-US" sz="2200" dirty="0"/>
          </a:p>
          <a:p>
            <a:pPr eaLnBrk="1" hangingPunct="1">
              <a:lnSpc>
                <a:spcPct val="90000"/>
              </a:lnSpc>
            </a:pPr>
            <a:endParaRPr lang="en-US" sz="2200" dirty="0"/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Rules that usually (but don’t always) apply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Resource Type 1..* – 0..* Economic Event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Resource 1..* – 0..1 Economic Event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Economic Event 0..* – 1..1 Agent</a:t>
            </a:r>
          </a:p>
          <a:p>
            <a:pPr lvl="3" eaLnBrk="1" hangingPunct="1">
              <a:lnSpc>
                <a:spcPct val="90000"/>
              </a:lnSpc>
              <a:buFont typeface="Arial" charset="0"/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6C1934B-CD72-4948-8F7A-BB03C92C0F92}" type="slidenum">
              <a:rPr lang="en-US" smtClean="0">
                <a:solidFill>
                  <a:srgbClr val="19138D"/>
                </a:solidFill>
              </a:rPr>
              <a:pPr eaLnBrk="1" hangingPunct="1"/>
              <a:t>7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7885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3600" y="152400"/>
            <a:ext cx="7696200" cy="9175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/>
              <a:t>Steps to Create a REA Business Process Level </a:t>
            </a:r>
            <a:r>
              <a:rPr lang="en-US" sz="3600">
                <a:solidFill>
                  <a:srgbClr val="FF0000"/>
                </a:solidFill>
              </a:rPr>
              <a:t>*Core* </a:t>
            </a:r>
            <a:r>
              <a:rPr lang="en-US" sz="3600"/>
              <a:t>Model</a:t>
            </a:r>
          </a:p>
        </p:txBody>
      </p:sp>
      <p:sp>
        <p:nvSpPr>
          <p:cNvPr id="7885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36600" y="1347788"/>
            <a:ext cx="7850188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Step 1: Identify Economic Exchange Events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Create each economic exchange event as a class and create a duality association between them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Step 2: Attach Resources to the Economic Events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Create each resource as a class and create a stockflow association between it and the related economic event</a:t>
            </a:r>
          </a:p>
          <a:p>
            <a:pPr eaLnBrk="1" hangingPunct="1"/>
            <a:r>
              <a:rPr lang="en-US" sz="2400">
                <a:solidFill>
                  <a:srgbClr val="000000"/>
                </a:solidFill>
              </a:rPr>
              <a:t>Step 3: Attach External Agents to Economic Events</a:t>
            </a:r>
          </a:p>
          <a:p>
            <a:pPr lvl="1" eaLnBrk="1" hangingPunct="1">
              <a:buClr>
                <a:srgbClr val="333399"/>
              </a:buClr>
            </a:pPr>
            <a:r>
              <a:rPr lang="en-US" sz="2000">
                <a:solidFill>
                  <a:srgbClr val="000000"/>
                </a:solidFill>
              </a:rPr>
              <a:t>Create as a class the external agent from whom resources are obtained in each economic increment event and create a participation association between the event and agent</a:t>
            </a:r>
          </a:p>
          <a:p>
            <a:pPr lvl="1" eaLnBrk="1" hangingPunct="1">
              <a:buClr>
                <a:srgbClr val="333399"/>
              </a:buClr>
            </a:pPr>
            <a:r>
              <a:rPr lang="en-US" sz="2000">
                <a:solidFill>
                  <a:srgbClr val="000000"/>
                </a:solidFill>
              </a:rPr>
              <a:t>Create as a class the external agent to whom resources are transferred in each economic decrement event and create a participation association between the event and agent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A26096-53C6-49DF-90A1-6313687D88C8}" type="slidenum">
              <a:rPr lang="en-US" smtClean="0">
                <a:solidFill>
                  <a:srgbClr val="19138D"/>
                </a:solidFill>
              </a:rPr>
              <a:pPr eaLnBrk="1" hangingPunct="1"/>
              <a:t>8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5500" y="1309688"/>
            <a:ext cx="7670800" cy="4525962"/>
          </a:xfrm>
        </p:spPr>
        <p:txBody>
          <a:bodyPr/>
          <a:lstStyle/>
          <a:p>
            <a:pPr eaLnBrk="1" hangingPunct="1"/>
            <a:r>
              <a:rPr lang="en-US" sz="2400" dirty="0"/>
              <a:t>Step 4: Attach internal agents to economic events</a:t>
            </a:r>
          </a:p>
          <a:p>
            <a:pPr lvl="1" eaLnBrk="1" hangingPunct="1"/>
            <a:r>
              <a:rPr lang="en-US" sz="2000" dirty="0"/>
              <a:t>Create as classes the internal agents who process, accomplish, or authorize each economic increment event and create participation associations between the events and agents</a:t>
            </a:r>
          </a:p>
          <a:p>
            <a:pPr lvl="1" eaLnBrk="1" hangingPunct="1"/>
            <a:r>
              <a:rPr lang="en-US" sz="2000" dirty="0"/>
              <a:t>Create as classes the internal agents who process, accomplish, or authorize each economic decrement event and create participation associations between the events and agents</a:t>
            </a:r>
          </a:p>
          <a:p>
            <a:pPr eaLnBrk="1" hangingPunct="1"/>
            <a:r>
              <a:rPr lang="en-US" sz="2400" dirty="0"/>
              <a:t>Step 5: Assign attributes to classes and associations</a:t>
            </a:r>
          </a:p>
          <a:p>
            <a:pPr eaLnBrk="1" hangingPunct="1"/>
            <a:r>
              <a:rPr lang="en-US" sz="2400" dirty="0"/>
              <a:t>Step 6: Assign multiplicities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title"/>
          </p:nvPr>
        </p:nvSpPr>
        <p:spPr>
          <a:xfrm>
            <a:off x="863600" y="152400"/>
            <a:ext cx="7696200" cy="917575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/>
              <a:t>Steps to Create a REA Business Process Level </a:t>
            </a:r>
            <a:r>
              <a:rPr lang="en-US" sz="3600">
                <a:solidFill>
                  <a:srgbClr val="FF0000"/>
                </a:solidFill>
              </a:rPr>
              <a:t>*Core* </a:t>
            </a:r>
            <a:r>
              <a:rPr lang="en-US" sz="3600"/>
              <a:t>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4000" dirty="0"/>
              <a:t>Core REA Modeling of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617" y="1257300"/>
            <a:ext cx="8296183" cy="4868863"/>
          </a:xfrm>
        </p:spPr>
        <p:txBody>
          <a:bodyPr/>
          <a:lstStyle/>
          <a:p>
            <a:r>
              <a:rPr lang="en-US" dirty="0"/>
              <a:t>Economic Increment Event</a:t>
            </a:r>
          </a:p>
          <a:p>
            <a:pPr lvl="1"/>
            <a:r>
              <a:rPr lang="en-US" dirty="0"/>
              <a:t>Purchase (receipt of goods)</a:t>
            </a:r>
          </a:p>
          <a:p>
            <a:pPr lvl="2"/>
            <a:r>
              <a:rPr lang="en-US" dirty="0"/>
              <a:t>If title to goods transfers from vendor to enterprise</a:t>
            </a:r>
          </a:p>
          <a:p>
            <a:pPr lvl="1"/>
            <a:r>
              <a:rPr lang="en-US" dirty="0"/>
              <a:t>Rental</a:t>
            </a:r>
          </a:p>
          <a:p>
            <a:pPr lvl="2"/>
            <a:r>
              <a:rPr lang="en-US" dirty="0"/>
              <a:t>If enterprise acquires temporary right to use goods</a:t>
            </a:r>
          </a:p>
          <a:p>
            <a:pPr lvl="1"/>
            <a:r>
              <a:rPr lang="en-US" dirty="0"/>
              <a:t>Service Acquisition (or G&amp;A Service Acquisition)</a:t>
            </a:r>
          </a:p>
          <a:p>
            <a:pPr lvl="2"/>
            <a:r>
              <a:rPr lang="en-US" dirty="0"/>
              <a:t>If services or utilities are acquired</a:t>
            </a:r>
          </a:p>
          <a:p>
            <a:pPr lvl="1"/>
            <a:r>
              <a:rPr lang="en-US" dirty="0"/>
              <a:t>Resource/Resource Type:  Inventory, Inventory Type, Service, operating assets etc.</a:t>
            </a:r>
          </a:p>
          <a:p>
            <a:pPr lvl="1"/>
            <a:r>
              <a:rPr lang="en-US" dirty="0"/>
              <a:t>External Agent:  Vendor or Supplier</a:t>
            </a:r>
          </a:p>
          <a:p>
            <a:pPr lvl="1"/>
            <a:r>
              <a:rPr lang="en-US" dirty="0"/>
              <a:t>Internal Agent:  Purchasing Agent or Buyer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9</a:t>
            </a:fld>
            <a:endParaRPr lang="en-US" dirty="0">
              <a:solidFill>
                <a:srgbClr val="191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389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4000" dirty="0"/>
              <a:t>Core REA Modeling of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7300"/>
            <a:ext cx="7848600" cy="4868863"/>
          </a:xfrm>
        </p:spPr>
        <p:txBody>
          <a:bodyPr/>
          <a:lstStyle/>
          <a:p>
            <a:r>
              <a:rPr lang="en-US" dirty="0"/>
              <a:t>Economic Decrement Event</a:t>
            </a:r>
          </a:p>
          <a:p>
            <a:pPr lvl="1"/>
            <a:r>
              <a:rPr lang="en-US" dirty="0"/>
              <a:t>Cash Disbursement</a:t>
            </a:r>
          </a:p>
          <a:p>
            <a:pPr lvl="1"/>
            <a:r>
              <a:rPr lang="en-US" dirty="0"/>
              <a:t>Resource/Resource Type:  Cash</a:t>
            </a:r>
          </a:p>
          <a:p>
            <a:pPr lvl="1"/>
            <a:r>
              <a:rPr lang="en-US" dirty="0"/>
              <a:t>External Agent:  Vendor or Supplier</a:t>
            </a:r>
          </a:p>
          <a:p>
            <a:pPr lvl="1"/>
            <a:r>
              <a:rPr lang="en-US" dirty="0"/>
              <a:t>Internal Agent:  Cashier or Accounts Payable Clerk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10</a:t>
            </a:fld>
            <a:endParaRPr lang="en-US" dirty="0">
              <a:solidFill>
                <a:srgbClr val="191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972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20700" y="736600"/>
            <a:ext cx="7835900" cy="5003800"/>
            <a:chOff x="0" y="0"/>
            <a:chExt cx="5627370" cy="2437130"/>
          </a:xfrm>
        </p:grpSpPr>
        <p:sp>
          <p:nvSpPr>
            <p:cNvPr id="6" name="Text Box 165"/>
            <p:cNvSpPr txBox="1">
              <a:spLocks noChangeArrowheads="1"/>
            </p:cNvSpPr>
            <p:nvPr/>
          </p:nvSpPr>
          <p:spPr bwMode="auto">
            <a:xfrm>
              <a:off x="0" y="76200"/>
              <a:ext cx="2543175" cy="4495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457200" marR="0" indent="-22860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b="1" i="1" dirty="0">
                  <a:effectLst/>
                  <a:latin typeface="Arial"/>
                  <a:ea typeface="Calibri"/>
                  <a:cs typeface="Times New Roman"/>
                </a:rPr>
                <a:t>For Inventory</a:t>
              </a:r>
              <a:endParaRPr lang="en-US" dirty="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b="1" i="1" dirty="0">
                  <a:effectLst/>
                  <a:latin typeface="Arial"/>
                  <a:ea typeface="Calibri"/>
                  <a:cs typeface="Times New Roman"/>
                </a:rPr>
                <a:t>(merchandise, raw materials, or supplies)</a:t>
              </a:r>
              <a:endParaRPr lang="en-US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7" name="Text Box 250"/>
            <p:cNvSpPr txBox="1">
              <a:spLocks noChangeArrowheads="1"/>
            </p:cNvSpPr>
            <p:nvPr/>
          </p:nvSpPr>
          <p:spPr bwMode="auto">
            <a:xfrm>
              <a:off x="2438400" y="1228725"/>
              <a:ext cx="617855" cy="3409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Duality</a:t>
              </a:r>
              <a:endParaRPr lang="en-US" sz="1200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8" name="Text Box 251"/>
            <p:cNvSpPr txBox="1">
              <a:spLocks noChangeArrowheads="1"/>
            </p:cNvSpPr>
            <p:nvPr/>
          </p:nvSpPr>
          <p:spPr bwMode="auto">
            <a:xfrm>
              <a:off x="3524250" y="2066925"/>
              <a:ext cx="1120140" cy="2559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Participation5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9" name="Text Box 252"/>
            <p:cNvSpPr txBox="1">
              <a:spLocks noChangeArrowheads="1"/>
            </p:cNvSpPr>
            <p:nvPr/>
          </p:nvSpPr>
          <p:spPr bwMode="auto">
            <a:xfrm>
              <a:off x="3552825" y="1552575"/>
              <a:ext cx="1119505" cy="2546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Participation4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0" name="Text Box 253"/>
            <p:cNvSpPr txBox="1">
              <a:spLocks noChangeArrowheads="1"/>
            </p:cNvSpPr>
            <p:nvPr/>
          </p:nvSpPr>
          <p:spPr bwMode="auto">
            <a:xfrm>
              <a:off x="3552825" y="1009650"/>
              <a:ext cx="1120140" cy="255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Participation3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1" name="Text Box 254"/>
            <p:cNvSpPr txBox="1">
              <a:spLocks noChangeArrowheads="1"/>
            </p:cNvSpPr>
            <p:nvPr/>
          </p:nvSpPr>
          <p:spPr bwMode="auto">
            <a:xfrm>
              <a:off x="3552825" y="704850"/>
              <a:ext cx="1118870" cy="255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Participation2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2" name="Text Box 255"/>
            <p:cNvSpPr txBox="1">
              <a:spLocks noChangeArrowheads="1"/>
            </p:cNvSpPr>
            <p:nvPr/>
          </p:nvSpPr>
          <p:spPr bwMode="auto">
            <a:xfrm>
              <a:off x="3552825" y="247650"/>
              <a:ext cx="1119505" cy="2559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Participation1</a:t>
              </a:r>
              <a:endParaRPr lang="en-US" sz="1200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3" name="Text Box 259"/>
            <p:cNvSpPr txBox="1">
              <a:spLocks noChangeArrowheads="1"/>
            </p:cNvSpPr>
            <p:nvPr/>
          </p:nvSpPr>
          <p:spPr bwMode="auto">
            <a:xfrm>
              <a:off x="1333500" y="1885950"/>
              <a:ext cx="885825" cy="2559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Stockflow2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4" name="Text Box 260"/>
            <p:cNvSpPr txBox="1">
              <a:spLocks noChangeArrowheads="1"/>
            </p:cNvSpPr>
            <p:nvPr/>
          </p:nvSpPr>
          <p:spPr bwMode="auto">
            <a:xfrm>
              <a:off x="1304925" y="885825"/>
              <a:ext cx="885825" cy="2559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Stockflow1</a:t>
              </a:r>
              <a:endParaRPr lang="en-US" sz="1200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5" name="Text Box 268"/>
            <p:cNvSpPr txBox="1">
              <a:spLocks noChangeArrowheads="1"/>
            </p:cNvSpPr>
            <p:nvPr/>
          </p:nvSpPr>
          <p:spPr bwMode="auto">
            <a:xfrm>
              <a:off x="38100" y="695325"/>
              <a:ext cx="1140460" cy="619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36576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&lt;&lt;Resource&gt;&gt;  or &lt;&lt;</a:t>
              </a:r>
              <a:r>
                <a:rPr lang="en-US" sz="1200" dirty="0" err="1">
                  <a:effectLst/>
                  <a:latin typeface="Arial"/>
                  <a:ea typeface="Calibri"/>
                  <a:cs typeface="Times New Roman"/>
                </a:rPr>
                <a:t>ResourceType</a:t>
              </a: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&gt;&gt;</a:t>
              </a:r>
              <a:endParaRPr lang="en-US" sz="1200" dirty="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Inventory or Inventory Type</a:t>
              </a:r>
              <a:endParaRPr lang="en-US" sz="1200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6" name="Text Box 269"/>
            <p:cNvSpPr txBox="1">
              <a:spLocks noChangeArrowheads="1"/>
            </p:cNvSpPr>
            <p:nvPr/>
          </p:nvSpPr>
          <p:spPr bwMode="auto">
            <a:xfrm>
              <a:off x="4486275" y="0"/>
              <a:ext cx="1141095" cy="5314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12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Purchase Agent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7" name="Text Box 271"/>
            <p:cNvSpPr txBox="1">
              <a:spLocks noChangeArrowheads="1"/>
            </p:cNvSpPr>
            <p:nvPr/>
          </p:nvSpPr>
          <p:spPr bwMode="auto">
            <a:xfrm>
              <a:off x="38100" y="1609725"/>
              <a:ext cx="1140460" cy="5327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36576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&lt;&lt;Resource&gt;&gt;</a:t>
              </a:r>
              <a:br>
                <a:rPr lang="en-US" sz="1200" dirty="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Cash Account</a:t>
              </a:r>
              <a:endParaRPr lang="en-US" sz="1200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8" name="Text Box 273"/>
            <p:cNvSpPr txBox="1">
              <a:spLocks noChangeArrowheads="1"/>
            </p:cNvSpPr>
            <p:nvPr/>
          </p:nvSpPr>
          <p:spPr bwMode="auto">
            <a:xfrm>
              <a:off x="4486275" y="619125"/>
              <a:ext cx="1141095" cy="5321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12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Receiving Clerk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9" name="Text Box 274"/>
            <p:cNvSpPr txBox="1">
              <a:spLocks noChangeArrowheads="1"/>
            </p:cNvSpPr>
            <p:nvPr/>
          </p:nvSpPr>
          <p:spPr bwMode="auto">
            <a:xfrm>
              <a:off x="4476750" y="1905000"/>
              <a:ext cx="1141095" cy="5321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12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Payables Clerk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0" name="Text Box 275"/>
            <p:cNvSpPr txBox="1">
              <a:spLocks noChangeArrowheads="1"/>
            </p:cNvSpPr>
            <p:nvPr/>
          </p:nvSpPr>
          <p:spPr bwMode="auto">
            <a:xfrm>
              <a:off x="4486275" y="1314450"/>
              <a:ext cx="1141095" cy="5321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&lt;&lt;ExternalAgent&gt;&gt;</a:t>
              </a:r>
              <a:br>
                <a:rPr lang="en-US" sz="12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Supplier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21" name="AutoShape 278"/>
            <p:cNvCxnSpPr>
              <a:cxnSpLocks noChangeShapeType="1"/>
            </p:cNvCxnSpPr>
            <p:nvPr/>
          </p:nvCxnSpPr>
          <p:spPr bwMode="auto">
            <a:xfrm>
              <a:off x="1181100" y="885825"/>
              <a:ext cx="1059180" cy="12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279"/>
            <p:cNvCxnSpPr>
              <a:cxnSpLocks noChangeShapeType="1"/>
            </p:cNvCxnSpPr>
            <p:nvPr/>
          </p:nvCxnSpPr>
          <p:spPr bwMode="auto">
            <a:xfrm>
              <a:off x="1181100" y="1905000"/>
              <a:ext cx="1059180" cy="12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284"/>
            <p:cNvCxnSpPr>
              <a:cxnSpLocks noChangeShapeType="1"/>
            </p:cNvCxnSpPr>
            <p:nvPr/>
          </p:nvCxnSpPr>
          <p:spPr bwMode="auto">
            <a:xfrm flipV="1">
              <a:off x="3438525" y="342900"/>
              <a:ext cx="1034415" cy="3105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285"/>
            <p:cNvCxnSpPr>
              <a:cxnSpLocks noChangeShapeType="1"/>
            </p:cNvCxnSpPr>
            <p:nvPr/>
          </p:nvCxnSpPr>
          <p:spPr bwMode="auto">
            <a:xfrm>
              <a:off x="3390900" y="1076325"/>
              <a:ext cx="1084580" cy="4051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AutoShape 287"/>
            <p:cNvCxnSpPr>
              <a:cxnSpLocks noChangeShapeType="1"/>
            </p:cNvCxnSpPr>
            <p:nvPr/>
          </p:nvCxnSpPr>
          <p:spPr bwMode="auto">
            <a:xfrm>
              <a:off x="3381375" y="1905000"/>
              <a:ext cx="1091565" cy="2343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AutoShape 288"/>
            <p:cNvCxnSpPr>
              <a:cxnSpLocks noChangeShapeType="1"/>
            </p:cNvCxnSpPr>
            <p:nvPr/>
          </p:nvCxnSpPr>
          <p:spPr bwMode="auto">
            <a:xfrm>
              <a:off x="3371850" y="866775"/>
              <a:ext cx="112204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Text Box 289"/>
            <p:cNvSpPr txBox="1">
              <a:spLocks noChangeArrowheads="1"/>
            </p:cNvSpPr>
            <p:nvPr/>
          </p:nvSpPr>
          <p:spPr bwMode="auto">
            <a:xfrm>
              <a:off x="2190750" y="1590675"/>
              <a:ext cx="1253490" cy="5327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effectLst/>
                  <a:latin typeface="Arial"/>
                  <a:ea typeface="Calibri"/>
                  <a:cs typeface="Times New Roman"/>
                </a:rPr>
                <a:t>&lt;&lt;</a:t>
              </a:r>
              <a:r>
                <a:rPr lang="en-US" sz="1100" dirty="0" err="1">
                  <a:effectLst/>
                  <a:latin typeface="Arial"/>
                  <a:ea typeface="Calibri"/>
                  <a:cs typeface="Times New Roman"/>
                </a:rPr>
                <a:t>EconomicDecrement</a:t>
              </a:r>
              <a:r>
                <a:rPr lang="en-US" sz="1100" dirty="0">
                  <a:effectLst/>
                  <a:latin typeface="Arial"/>
                  <a:ea typeface="Calibri"/>
                  <a:cs typeface="Times New Roman"/>
                </a:rPr>
                <a:t>&gt;&gt;</a:t>
              </a:r>
              <a:br>
                <a:rPr lang="en-US" sz="1100" dirty="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100" dirty="0">
                  <a:effectLst/>
                  <a:latin typeface="Arial"/>
                  <a:ea typeface="Calibri"/>
                  <a:cs typeface="Times New Roman"/>
                </a:rPr>
                <a:t>Cash Disbursement</a:t>
              </a:r>
              <a:endParaRPr lang="en-US" sz="1100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8" name="Text Box 290"/>
            <p:cNvSpPr txBox="1">
              <a:spLocks noChangeArrowheads="1"/>
            </p:cNvSpPr>
            <p:nvPr/>
          </p:nvSpPr>
          <p:spPr bwMode="auto">
            <a:xfrm>
              <a:off x="2125085" y="647700"/>
              <a:ext cx="1319155" cy="5314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&lt;&lt;</a:t>
              </a:r>
              <a:r>
                <a:rPr lang="en-US" sz="1200" dirty="0" err="1">
                  <a:effectLst/>
                  <a:latin typeface="Arial"/>
                  <a:ea typeface="Calibri"/>
                  <a:cs typeface="Times New Roman"/>
                </a:rPr>
                <a:t>EconomicIncrement</a:t>
              </a: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&gt;&gt;</a:t>
              </a:r>
              <a:br>
                <a:rPr lang="en-US" sz="1200" dirty="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200" dirty="0">
                  <a:effectLst/>
                  <a:latin typeface="Arial"/>
                  <a:ea typeface="Calibri"/>
                  <a:cs typeface="Times New Roman"/>
                </a:rPr>
                <a:t>Purchase</a:t>
              </a:r>
              <a:endParaRPr lang="en-US" sz="1200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29" name="AutoShape 288"/>
            <p:cNvCxnSpPr>
              <a:cxnSpLocks noChangeShapeType="1"/>
            </p:cNvCxnSpPr>
            <p:nvPr/>
          </p:nvCxnSpPr>
          <p:spPr bwMode="auto">
            <a:xfrm>
              <a:off x="3438525" y="1743075"/>
              <a:ext cx="104584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80"/>
            <p:cNvCxnSpPr>
              <a:cxnSpLocks noChangeShapeType="1"/>
            </p:cNvCxnSpPr>
            <p:nvPr/>
          </p:nvCxnSpPr>
          <p:spPr bwMode="auto">
            <a:xfrm>
              <a:off x="2857500" y="1181100"/>
              <a:ext cx="0" cy="4051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467339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152400"/>
            <a:ext cx="7988300" cy="1143000"/>
          </a:xfrm>
        </p:spPr>
        <p:txBody>
          <a:bodyPr/>
          <a:lstStyle/>
          <a:p>
            <a:r>
              <a:rPr lang="en-US" sz="4000" dirty="0"/>
              <a:t>Acquisition Core Pattern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601"/>
            <a:ext cx="7848600" cy="2197100"/>
          </a:xfrm>
        </p:spPr>
        <p:txBody>
          <a:bodyPr/>
          <a:lstStyle/>
          <a:p>
            <a:r>
              <a:rPr lang="en-US" dirty="0"/>
              <a:t>Robert Scott Woodwind Shop (RSWS)</a:t>
            </a:r>
          </a:p>
          <a:p>
            <a:pPr lvl="1"/>
            <a:r>
              <a:rPr lang="en-US" dirty="0"/>
              <a:t>Step 1:  Economic Exchange Events</a:t>
            </a:r>
          </a:p>
          <a:p>
            <a:pPr lvl="2"/>
            <a:r>
              <a:rPr lang="en-US" dirty="0"/>
              <a:t>Purchase</a:t>
            </a:r>
          </a:p>
          <a:p>
            <a:pPr lvl="2"/>
            <a:r>
              <a:rPr lang="en-US" dirty="0"/>
              <a:t>Cash Disbursement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12</a:t>
            </a:fld>
            <a:endParaRPr lang="en-US" dirty="0">
              <a:solidFill>
                <a:srgbClr val="19138D"/>
              </a:solidFill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083863" y="3244806"/>
            <a:ext cx="5132070" cy="1809794"/>
            <a:chOff x="2948" y="12252"/>
            <a:chExt cx="5964" cy="1832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2948" y="12252"/>
              <a:ext cx="2125" cy="1809"/>
              <a:chOff x="2948" y="12558"/>
              <a:chExt cx="2125" cy="1809"/>
            </a:xfrm>
          </p:grpSpPr>
          <p:sp>
            <p:nvSpPr>
              <p:cNvPr id="13" name="Text Box 4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effectLst/>
                    <a:latin typeface="Arial"/>
                    <a:ea typeface="Calibri"/>
                    <a:cs typeface="Times New Roman"/>
                  </a:rPr>
                  <a:t>&lt;&lt;</a:t>
                </a:r>
                <a:r>
                  <a:rPr lang="en-US" sz="1200" dirty="0" err="1">
                    <a:effectLst/>
                    <a:latin typeface="Arial"/>
                    <a:ea typeface="Calibri"/>
                    <a:cs typeface="Times New Roman"/>
                  </a:rPr>
                  <a:t>EconomicIncrement</a:t>
                </a:r>
                <a:r>
                  <a:rPr lang="en-US" sz="1200" dirty="0">
                    <a:effectLst/>
                    <a:latin typeface="Arial"/>
                    <a:ea typeface="Calibri"/>
                    <a:cs typeface="Times New Roman"/>
                  </a:rPr>
                  <a:t>&gt;&gt;</a:t>
                </a:r>
                <a:endParaRPr lang="en-US" sz="12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1" dirty="0">
                    <a:effectLst/>
                    <a:latin typeface="Arial"/>
                    <a:ea typeface="Calibri"/>
                    <a:cs typeface="Times New Roman"/>
                  </a:rPr>
                  <a:t>Purchase</a:t>
                </a:r>
                <a:endParaRPr lang="en-US" sz="12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2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2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14" name="AutoShape 5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AutoShape 6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6787" y="12275"/>
              <a:ext cx="2125" cy="1809"/>
              <a:chOff x="2948" y="12558"/>
              <a:chExt cx="2125" cy="1809"/>
            </a:xfrm>
          </p:grpSpPr>
          <p:sp>
            <p:nvSpPr>
              <p:cNvPr id="10" name="Text Box 8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>
                    <a:effectLst/>
                    <a:latin typeface="Arial"/>
                    <a:ea typeface="Calibri"/>
                    <a:cs typeface="Times New Roman"/>
                  </a:rPr>
                  <a:t>&lt;&lt;EconomicDecrement&gt;&gt;</a:t>
                </a:r>
                <a:endParaRPr lang="en-US" sz="12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1">
                    <a:effectLst/>
                    <a:latin typeface="Arial"/>
                    <a:ea typeface="Calibri"/>
                    <a:cs typeface="Times New Roman"/>
                  </a:rPr>
                  <a:t>Cash Disbursement</a:t>
                </a:r>
                <a:endParaRPr lang="en-US" sz="12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2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2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11" name="AutoShape 9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AutoShape 10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8" name="AutoShape 11"/>
            <p:cNvCxnSpPr>
              <a:cxnSpLocks noChangeShapeType="1"/>
            </p:cNvCxnSpPr>
            <p:nvPr/>
          </p:nvCxnSpPr>
          <p:spPr bwMode="auto">
            <a:xfrm>
              <a:off x="5073" y="12592"/>
              <a:ext cx="172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5515" y="12394"/>
              <a:ext cx="720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Times New Roman"/>
                </a:rPr>
                <a:t>Duality</a:t>
              </a:r>
              <a:endParaRPr lang="en-US" sz="12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3121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152400"/>
            <a:ext cx="7988300" cy="1143000"/>
          </a:xfrm>
        </p:spPr>
        <p:txBody>
          <a:bodyPr/>
          <a:lstStyle/>
          <a:p>
            <a:r>
              <a:rPr lang="en-US" sz="4000" dirty="0"/>
              <a:t>Acquisition Core Pattern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194324"/>
            <a:ext cx="3504565" cy="4749799"/>
          </a:xfrm>
        </p:spPr>
        <p:txBody>
          <a:bodyPr/>
          <a:lstStyle/>
          <a:p>
            <a:r>
              <a:rPr lang="en-US" dirty="0"/>
              <a:t>Robert Scott Woodwind Shop (RSWS)</a:t>
            </a:r>
          </a:p>
          <a:p>
            <a:pPr lvl="1"/>
            <a:r>
              <a:rPr lang="en-US" dirty="0"/>
              <a:t>Step 2:  Attach Resources to Events</a:t>
            </a:r>
          </a:p>
          <a:p>
            <a:pPr lvl="2"/>
            <a:r>
              <a:rPr lang="en-US" dirty="0"/>
              <a:t>Cash to Cash Disbursement</a:t>
            </a:r>
          </a:p>
          <a:p>
            <a:pPr lvl="2"/>
            <a:r>
              <a:rPr lang="en-US" dirty="0"/>
              <a:t>Inventory Type and Overhead to Purchase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13</a:t>
            </a:fld>
            <a:endParaRPr lang="en-US">
              <a:solidFill>
                <a:srgbClr val="19138D"/>
              </a:solidFill>
            </a:endParaRPr>
          </a:p>
        </p:txBody>
      </p: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4445000" y="1130301"/>
            <a:ext cx="4216400" cy="5130800"/>
            <a:chOff x="793" y="6233"/>
            <a:chExt cx="5062" cy="6369"/>
          </a:xfrm>
        </p:grpSpPr>
        <p:grpSp>
          <p:nvGrpSpPr>
            <p:cNvPr id="17" name="Group 16"/>
            <p:cNvGrpSpPr>
              <a:grpSpLocks/>
            </p:cNvGrpSpPr>
            <p:nvPr/>
          </p:nvGrpSpPr>
          <p:grpSpPr bwMode="auto">
            <a:xfrm>
              <a:off x="3662" y="7111"/>
              <a:ext cx="2125" cy="1809"/>
              <a:chOff x="2948" y="12558"/>
              <a:chExt cx="2125" cy="1809"/>
            </a:xfrm>
          </p:grpSpPr>
          <p:sp>
            <p:nvSpPr>
              <p:cNvPr id="42" name="Text Box 15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&lt;&lt;EconomicIncrement&gt;&gt;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Purchase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3" name="AutoShape 16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AutoShape 17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8" name="Group 17"/>
            <p:cNvGrpSpPr>
              <a:grpSpLocks/>
            </p:cNvGrpSpPr>
            <p:nvPr/>
          </p:nvGrpSpPr>
          <p:grpSpPr bwMode="auto">
            <a:xfrm>
              <a:off x="3730" y="10793"/>
              <a:ext cx="2125" cy="1809"/>
              <a:chOff x="2948" y="12558"/>
              <a:chExt cx="2125" cy="1809"/>
            </a:xfrm>
          </p:grpSpPr>
          <p:sp>
            <p:nvSpPr>
              <p:cNvPr id="39" name="Text Box 19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&lt;&lt;EconomicDecrement&gt;&gt;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Cash Disbursement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0" name="AutoShape 20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" name="AutoShape 21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9" name="AutoShape 22"/>
            <p:cNvCxnSpPr>
              <a:cxnSpLocks noChangeShapeType="1"/>
            </p:cNvCxnSpPr>
            <p:nvPr/>
          </p:nvCxnSpPr>
          <p:spPr bwMode="auto">
            <a:xfrm flipV="1">
              <a:off x="4784" y="8921"/>
              <a:ext cx="0" cy="18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 Box 23"/>
            <p:cNvSpPr txBox="1">
              <a:spLocks noChangeArrowheads="1"/>
            </p:cNvSpPr>
            <p:nvPr/>
          </p:nvSpPr>
          <p:spPr bwMode="auto">
            <a:xfrm>
              <a:off x="4645" y="9716"/>
              <a:ext cx="720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Duality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grpSp>
          <p:nvGrpSpPr>
            <p:cNvPr id="21" name="Group 20"/>
            <p:cNvGrpSpPr>
              <a:grpSpLocks/>
            </p:cNvGrpSpPr>
            <p:nvPr/>
          </p:nvGrpSpPr>
          <p:grpSpPr bwMode="auto">
            <a:xfrm>
              <a:off x="823" y="8356"/>
              <a:ext cx="2125" cy="1809"/>
              <a:chOff x="2948" y="12558"/>
              <a:chExt cx="2125" cy="1809"/>
            </a:xfrm>
          </p:grpSpPr>
          <p:sp>
            <p:nvSpPr>
              <p:cNvPr id="36" name="Text Box 25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&lt;&lt;ResourceType&gt;&gt;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Overhead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37" name="AutoShape 26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AutoShape 27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2" name="Group 21"/>
            <p:cNvGrpSpPr>
              <a:grpSpLocks/>
            </p:cNvGrpSpPr>
            <p:nvPr/>
          </p:nvGrpSpPr>
          <p:grpSpPr bwMode="auto">
            <a:xfrm>
              <a:off x="793" y="6233"/>
              <a:ext cx="2125" cy="1809"/>
              <a:chOff x="2948" y="12558"/>
              <a:chExt cx="2125" cy="1809"/>
            </a:xfrm>
          </p:grpSpPr>
          <p:sp>
            <p:nvSpPr>
              <p:cNvPr id="33" name="Text Box 29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&lt;&lt;ResourceType&gt;&gt;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Inventory Type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34" name="AutoShape 30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AutoShape 31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3" name="Group 22"/>
            <p:cNvGrpSpPr>
              <a:grpSpLocks/>
            </p:cNvGrpSpPr>
            <p:nvPr/>
          </p:nvGrpSpPr>
          <p:grpSpPr bwMode="auto">
            <a:xfrm>
              <a:off x="838" y="10783"/>
              <a:ext cx="2125" cy="1809"/>
              <a:chOff x="2948" y="12558"/>
              <a:chExt cx="2125" cy="1809"/>
            </a:xfrm>
          </p:grpSpPr>
          <p:sp>
            <p:nvSpPr>
              <p:cNvPr id="30" name="Text Box 33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&lt;&lt;ResourceType&gt;&gt;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Cash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31" name="AutoShape 34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AutoShape 35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4" name="AutoShape 36"/>
            <p:cNvCxnSpPr>
              <a:cxnSpLocks noChangeShapeType="1"/>
            </p:cNvCxnSpPr>
            <p:nvPr/>
          </p:nvCxnSpPr>
          <p:spPr bwMode="auto">
            <a:xfrm>
              <a:off x="2948" y="10955"/>
              <a:ext cx="78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AutoShape 37"/>
            <p:cNvCxnSpPr>
              <a:cxnSpLocks noChangeShapeType="1"/>
            </p:cNvCxnSpPr>
            <p:nvPr/>
          </p:nvCxnSpPr>
          <p:spPr bwMode="auto">
            <a:xfrm>
              <a:off x="2933" y="6547"/>
              <a:ext cx="712" cy="8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AutoShape 38"/>
            <p:cNvCxnSpPr>
              <a:cxnSpLocks noChangeShapeType="1"/>
            </p:cNvCxnSpPr>
            <p:nvPr/>
          </p:nvCxnSpPr>
          <p:spPr bwMode="auto">
            <a:xfrm flipH="1">
              <a:off x="2948" y="7452"/>
              <a:ext cx="714" cy="12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Text Box 39"/>
            <p:cNvSpPr txBox="1">
              <a:spLocks noChangeArrowheads="1"/>
            </p:cNvSpPr>
            <p:nvPr/>
          </p:nvSpPr>
          <p:spPr bwMode="auto">
            <a:xfrm>
              <a:off x="2837" y="10783"/>
              <a:ext cx="93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Stockflow3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8" name="Text Box 40"/>
            <p:cNvSpPr txBox="1">
              <a:spLocks noChangeArrowheads="1"/>
            </p:cNvSpPr>
            <p:nvPr/>
          </p:nvSpPr>
          <p:spPr bwMode="auto">
            <a:xfrm>
              <a:off x="2893" y="6882"/>
              <a:ext cx="93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Stockflow1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9" name="Text Box 41"/>
            <p:cNvSpPr txBox="1">
              <a:spLocks noChangeArrowheads="1"/>
            </p:cNvSpPr>
            <p:nvPr/>
          </p:nvSpPr>
          <p:spPr bwMode="auto">
            <a:xfrm>
              <a:off x="2820" y="8107"/>
              <a:ext cx="88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Stockflow2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85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152400"/>
            <a:ext cx="7988300" cy="1143000"/>
          </a:xfrm>
        </p:spPr>
        <p:txBody>
          <a:bodyPr/>
          <a:lstStyle/>
          <a:p>
            <a:r>
              <a:rPr lang="en-US" sz="4000" dirty="0"/>
              <a:t>Acquisition Core Pattern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601"/>
            <a:ext cx="7848600" cy="2197100"/>
          </a:xfrm>
        </p:spPr>
        <p:txBody>
          <a:bodyPr/>
          <a:lstStyle/>
          <a:p>
            <a:r>
              <a:rPr lang="en-US" dirty="0"/>
              <a:t>Robert Scott Woodwind Shop (RSWS)</a:t>
            </a:r>
          </a:p>
          <a:p>
            <a:pPr lvl="1"/>
            <a:r>
              <a:rPr lang="en-US" dirty="0"/>
              <a:t>Steps 3 and 4:  Agents</a:t>
            </a:r>
          </a:p>
          <a:p>
            <a:pPr lvl="2"/>
            <a:r>
              <a:rPr lang="en-US" dirty="0"/>
              <a:t>External = Supplier</a:t>
            </a:r>
          </a:p>
          <a:p>
            <a:pPr lvl="2"/>
            <a:r>
              <a:rPr lang="en-US" dirty="0"/>
              <a:t>Internal = Purchase Agent for Purchase, A/P Clerk and Manager for Cash Disbursement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14</a:t>
            </a:fld>
            <a:endParaRPr lang="en-US">
              <a:solidFill>
                <a:srgbClr val="191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299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74D29C-A5FB-4798-84C7-20B0925AA6DD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15</a:t>
            </a:fld>
            <a:endParaRPr lang="en-US">
              <a:solidFill>
                <a:srgbClr val="19138D"/>
              </a:solidFill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673100" y="685800"/>
            <a:ext cx="7785100" cy="5651499"/>
            <a:chOff x="1433" y="3613"/>
            <a:chExt cx="8629" cy="7681"/>
          </a:xfrm>
        </p:grpSpPr>
        <p:grpSp>
          <p:nvGrpSpPr>
            <p:cNvPr id="4" name="Group 3"/>
            <p:cNvGrpSpPr>
              <a:grpSpLocks/>
            </p:cNvGrpSpPr>
            <p:nvPr/>
          </p:nvGrpSpPr>
          <p:grpSpPr bwMode="auto">
            <a:xfrm>
              <a:off x="4302" y="5081"/>
              <a:ext cx="2125" cy="1809"/>
              <a:chOff x="2948" y="12558"/>
              <a:chExt cx="2125" cy="1809"/>
            </a:xfrm>
          </p:grpSpPr>
          <p:sp>
            <p:nvSpPr>
              <p:cNvPr id="55" name="Text Box 44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&lt;&lt;EconomicIncrement&gt;&gt;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Purchase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56" name="AutoShape 45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7" name="AutoShape 46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4370" y="8763"/>
              <a:ext cx="2125" cy="1809"/>
              <a:chOff x="2948" y="12558"/>
              <a:chExt cx="2125" cy="1809"/>
            </a:xfrm>
          </p:grpSpPr>
          <p:sp>
            <p:nvSpPr>
              <p:cNvPr id="52" name="Text Box 48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&lt;&lt;EconomicDecrement&gt;&gt;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Cash Disbursement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53" name="AutoShape 49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AutoShape 50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6" name="AutoShape 51"/>
            <p:cNvCxnSpPr>
              <a:cxnSpLocks noChangeShapeType="1"/>
            </p:cNvCxnSpPr>
            <p:nvPr/>
          </p:nvCxnSpPr>
          <p:spPr bwMode="auto">
            <a:xfrm flipV="1">
              <a:off x="5424" y="6891"/>
              <a:ext cx="0" cy="18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" name="Text Box 52"/>
            <p:cNvSpPr txBox="1">
              <a:spLocks noChangeArrowheads="1"/>
            </p:cNvSpPr>
            <p:nvPr/>
          </p:nvSpPr>
          <p:spPr bwMode="auto">
            <a:xfrm>
              <a:off x="5285" y="7686"/>
              <a:ext cx="720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Duality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grpSp>
          <p:nvGrpSpPr>
            <p:cNvPr id="8" name="Group 7"/>
            <p:cNvGrpSpPr>
              <a:grpSpLocks/>
            </p:cNvGrpSpPr>
            <p:nvPr/>
          </p:nvGrpSpPr>
          <p:grpSpPr bwMode="auto">
            <a:xfrm>
              <a:off x="1463" y="6326"/>
              <a:ext cx="2125" cy="1809"/>
              <a:chOff x="2948" y="12558"/>
              <a:chExt cx="2125" cy="1809"/>
            </a:xfrm>
          </p:grpSpPr>
          <p:sp>
            <p:nvSpPr>
              <p:cNvPr id="49" name="Text Box 54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&lt;&lt;ResourceType&gt;&gt;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Overhead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50" name="AutoShape 55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AutoShape 56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1433" y="4203"/>
              <a:ext cx="2125" cy="1809"/>
              <a:chOff x="2948" y="12558"/>
              <a:chExt cx="2125" cy="1809"/>
            </a:xfrm>
          </p:grpSpPr>
          <p:sp>
            <p:nvSpPr>
              <p:cNvPr id="46" name="Text Box 58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&lt;&lt;ResourceType&gt;&gt;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Inventory Type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7" name="AutoShape 59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" name="AutoShape 60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1478" y="8753"/>
              <a:ext cx="2125" cy="1809"/>
              <a:chOff x="2948" y="12558"/>
              <a:chExt cx="2125" cy="1809"/>
            </a:xfrm>
          </p:grpSpPr>
          <p:sp>
            <p:nvSpPr>
              <p:cNvPr id="43" name="Text Box 62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&lt;&lt;ResourceType&gt;&gt;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Cash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4" name="AutoShape 63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AutoShape 64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" name="AutoShape 65"/>
            <p:cNvCxnSpPr>
              <a:cxnSpLocks noChangeShapeType="1"/>
            </p:cNvCxnSpPr>
            <p:nvPr/>
          </p:nvCxnSpPr>
          <p:spPr bwMode="auto">
            <a:xfrm>
              <a:off x="3588" y="8925"/>
              <a:ext cx="78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66"/>
            <p:cNvCxnSpPr>
              <a:cxnSpLocks noChangeShapeType="1"/>
            </p:cNvCxnSpPr>
            <p:nvPr/>
          </p:nvCxnSpPr>
          <p:spPr bwMode="auto">
            <a:xfrm>
              <a:off x="3573" y="4517"/>
              <a:ext cx="712" cy="8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67"/>
            <p:cNvCxnSpPr>
              <a:cxnSpLocks noChangeShapeType="1"/>
            </p:cNvCxnSpPr>
            <p:nvPr/>
          </p:nvCxnSpPr>
          <p:spPr bwMode="auto">
            <a:xfrm flipH="1">
              <a:off x="3588" y="5422"/>
              <a:ext cx="714" cy="12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Text Box 68"/>
            <p:cNvSpPr txBox="1">
              <a:spLocks noChangeArrowheads="1"/>
            </p:cNvSpPr>
            <p:nvPr/>
          </p:nvSpPr>
          <p:spPr bwMode="auto">
            <a:xfrm>
              <a:off x="3477" y="8753"/>
              <a:ext cx="93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Stockflow3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15" name="Text Box 69"/>
            <p:cNvSpPr txBox="1">
              <a:spLocks noChangeArrowheads="1"/>
            </p:cNvSpPr>
            <p:nvPr/>
          </p:nvSpPr>
          <p:spPr bwMode="auto">
            <a:xfrm>
              <a:off x="3533" y="4852"/>
              <a:ext cx="93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Stockflow1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16" name="Text Box 70"/>
            <p:cNvSpPr txBox="1">
              <a:spLocks noChangeArrowheads="1"/>
            </p:cNvSpPr>
            <p:nvPr/>
          </p:nvSpPr>
          <p:spPr bwMode="auto">
            <a:xfrm>
              <a:off x="3460" y="6077"/>
              <a:ext cx="88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Stockflow2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grpSp>
          <p:nvGrpSpPr>
            <p:cNvPr id="17" name="Group 16"/>
            <p:cNvGrpSpPr>
              <a:grpSpLocks/>
            </p:cNvGrpSpPr>
            <p:nvPr/>
          </p:nvGrpSpPr>
          <p:grpSpPr bwMode="auto">
            <a:xfrm>
              <a:off x="7922" y="3613"/>
              <a:ext cx="2125" cy="1809"/>
              <a:chOff x="2948" y="12558"/>
              <a:chExt cx="2125" cy="1809"/>
            </a:xfrm>
          </p:grpSpPr>
          <p:sp>
            <p:nvSpPr>
              <p:cNvPr id="40" name="Text Box 72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&lt;&lt;InternalAgent&gt;&gt;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Purchase Agent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1" name="AutoShape 73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AutoShape 74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8" name="Group 17"/>
            <p:cNvGrpSpPr>
              <a:grpSpLocks/>
            </p:cNvGrpSpPr>
            <p:nvPr/>
          </p:nvGrpSpPr>
          <p:grpSpPr bwMode="auto">
            <a:xfrm>
              <a:off x="7937" y="5532"/>
              <a:ext cx="2125" cy="1809"/>
              <a:chOff x="2948" y="12558"/>
              <a:chExt cx="2125" cy="1809"/>
            </a:xfrm>
          </p:grpSpPr>
          <p:sp>
            <p:nvSpPr>
              <p:cNvPr id="37" name="Text Box 76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&lt;&lt;ExternalAgent&gt;&gt;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Supplier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38" name="AutoShape 77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AutoShape 78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9" name="Group 18"/>
            <p:cNvGrpSpPr>
              <a:grpSpLocks/>
            </p:cNvGrpSpPr>
            <p:nvPr/>
          </p:nvGrpSpPr>
          <p:grpSpPr bwMode="auto">
            <a:xfrm>
              <a:off x="7922" y="7552"/>
              <a:ext cx="2125" cy="1809"/>
              <a:chOff x="2948" y="12558"/>
              <a:chExt cx="2125" cy="1809"/>
            </a:xfrm>
          </p:grpSpPr>
          <p:sp>
            <p:nvSpPr>
              <p:cNvPr id="34" name="Text Box 80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&lt;&lt;InternalAgent&gt;&gt;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A/P Clerk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35" name="AutoShape 81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AutoShape 82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0" name="Group 19"/>
            <p:cNvGrpSpPr>
              <a:grpSpLocks/>
            </p:cNvGrpSpPr>
            <p:nvPr/>
          </p:nvGrpSpPr>
          <p:grpSpPr bwMode="auto">
            <a:xfrm>
              <a:off x="7922" y="9485"/>
              <a:ext cx="2125" cy="1809"/>
              <a:chOff x="2948" y="12558"/>
              <a:chExt cx="2125" cy="1809"/>
            </a:xfrm>
          </p:grpSpPr>
          <p:sp>
            <p:nvSpPr>
              <p:cNvPr id="31" name="Text Box 84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&lt;&lt;InternalAgent&gt;&gt;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>
                    <a:effectLst/>
                    <a:latin typeface="Arial"/>
                    <a:ea typeface="Calibri"/>
                    <a:cs typeface="Times New Roman"/>
                  </a:rPr>
                  <a:t>Manager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>
                    <a:effectLst/>
                    <a:latin typeface="Arial"/>
                    <a:ea typeface="Calibri"/>
                    <a:cs typeface="Times New Roman"/>
                  </a:rPr>
                  <a:t> </a:t>
                </a:r>
                <a:endParaRPr lang="en-US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32" name="AutoShape 85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" name="AutoShape 86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1" name="AutoShape 87"/>
            <p:cNvCxnSpPr>
              <a:cxnSpLocks noChangeShapeType="1"/>
            </p:cNvCxnSpPr>
            <p:nvPr/>
          </p:nvCxnSpPr>
          <p:spPr bwMode="auto">
            <a:xfrm flipV="1">
              <a:off x="6427" y="3871"/>
              <a:ext cx="1525" cy="1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88"/>
            <p:cNvCxnSpPr>
              <a:cxnSpLocks noChangeShapeType="1"/>
            </p:cNvCxnSpPr>
            <p:nvPr/>
          </p:nvCxnSpPr>
          <p:spPr bwMode="auto">
            <a:xfrm>
              <a:off x="6412" y="5422"/>
              <a:ext cx="1540" cy="3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89"/>
            <p:cNvCxnSpPr>
              <a:cxnSpLocks noChangeShapeType="1"/>
            </p:cNvCxnSpPr>
            <p:nvPr/>
          </p:nvCxnSpPr>
          <p:spPr bwMode="auto">
            <a:xfrm flipV="1">
              <a:off x="6495" y="5983"/>
              <a:ext cx="1457" cy="294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90"/>
            <p:cNvCxnSpPr>
              <a:cxnSpLocks noChangeShapeType="1"/>
            </p:cNvCxnSpPr>
            <p:nvPr/>
          </p:nvCxnSpPr>
          <p:spPr bwMode="auto">
            <a:xfrm flipV="1">
              <a:off x="6495" y="7686"/>
              <a:ext cx="1457" cy="13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AutoShape 91"/>
            <p:cNvCxnSpPr>
              <a:cxnSpLocks noChangeShapeType="1"/>
            </p:cNvCxnSpPr>
            <p:nvPr/>
          </p:nvCxnSpPr>
          <p:spPr bwMode="auto">
            <a:xfrm>
              <a:off x="6495" y="9070"/>
              <a:ext cx="1427" cy="6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 Box 92"/>
            <p:cNvSpPr txBox="1">
              <a:spLocks noChangeArrowheads="1"/>
            </p:cNvSpPr>
            <p:nvPr/>
          </p:nvSpPr>
          <p:spPr bwMode="auto">
            <a:xfrm>
              <a:off x="6605" y="4566"/>
              <a:ext cx="93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Participation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7" name="Text Box 93"/>
            <p:cNvSpPr txBox="1">
              <a:spLocks noChangeArrowheads="1"/>
            </p:cNvSpPr>
            <p:nvPr/>
          </p:nvSpPr>
          <p:spPr bwMode="auto">
            <a:xfrm>
              <a:off x="6598" y="5490"/>
              <a:ext cx="93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Participation2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8" name="Text Box 94"/>
            <p:cNvSpPr txBox="1">
              <a:spLocks noChangeArrowheads="1"/>
            </p:cNvSpPr>
            <p:nvPr/>
          </p:nvSpPr>
          <p:spPr bwMode="auto">
            <a:xfrm>
              <a:off x="6605" y="7024"/>
              <a:ext cx="93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Participation3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9" name="Text Box 95"/>
            <p:cNvSpPr txBox="1">
              <a:spLocks noChangeArrowheads="1"/>
            </p:cNvSpPr>
            <p:nvPr/>
          </p:nvSpPr>
          <p:spPr bwMode="auto">
            <a:xfrm>
              <a:off x="6845" y="8135"/>
              <a:ext cx="93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Participation4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30" name="Text Box 96"/>
            <p:cNvSpPr txBox="1">
              <a:spLocks noChangeArrowheads="1"/>
            </p:cNvSpPr>
            <p:nvPr/>
          </p:nvSpPr>
          <p:spPr bwMode="auto">
            <a:xfrm>
              <a:off x="6605" y="9485"/>
              <a:ext cx="93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Participation5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535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152400"/>
            <a:ext cx="7988300" cy="1143000"/>
          </a:xfrm>
        </p:spPr>
        <p:txBody>
          <a:bodyPr/>
          <a:lstStyle/>
          <a:p>
            <a:r>
              <a:rPr lang="en-US" sz="4000" dirty="0"/>
              <a:t>Acquisition Core Pattern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601"/>
            <a:ext cx="7848600" cy="5255952"/>
          </a:xfrm>
        </p:spPr>
        <p:txBody>
          <a:bodyPr/>
          <a:lstStyle/>
          <a:p>
            <a:r>
              <a:rPr lang="en-US" dirty="0"/>
              <a:t>Robert Scott Woodwind Shop (RSWS)</a:t>
            </a:r>
          </a:p>
          <a:p>
            <a:pPr lvl="1"/>
            <a:r>
              <a:rPr lang="en-US" dirty="0"/>
              <a:t>Step 5</a:t>
            </a:r>
          </a:p>
          <a:p>
            <a:pPr lvl="2"/>
            <a:r>
              <a:rPr lang="en-US" dirty="0"/>
              <a:t>Assign Attributes</a:t>
            </a:r>
          </a:p>
          <a:p>
            <a:endParaRPr lang="en-US" dirty="0"/>
          </a:p>
          <a:p>
            <a:r>
              <a:rPr lang="en-US" dirty="0"/>
              <a:t>Special cases: association attributes</a:t>
            </a:r>
          </a:p>
          <a:p>
            <a:r>
              <a:rPr lang="en-US" dirty="0">
                <a:solidFill>
                  <a:sysClr val="windowText" lastClr="000000"/>
                </a:solidFill>
                <a:ea typeface="Calibri"/>
                <a:cs typeface="Times New Roman"/>
              </a:rPr>
              <a:t>item-</a:t>
            </a:r>
            <a:r>
              <a:rPr lang="en-US" dirty="0" err="1">
                <a:solidFill>
                  <a:sysClr val="windowText" lastClr="000000"/>
                </a:solidFill>
                <a:ea typeface="Calibri"/>
                <a:cs typeface="Times New Roman"/>
              </a:rPr>
              <a:t>qty</a:t>
            </a:r>
            <a:r>
              <a:rPr lang="en-US" dirty="0">
                <a:solidFill>
                  <a:sysClr val="windowText" lastClr="000000"/>
                </a:solidFill>
                <a:ea typeface="Calibri"/>
                <a:cs typeface="Times New Roman"/>
              </a:rPr>
              <a:t>-</a:t>
            </a:r>
            <a:r>
              <a:rPr lang="en-US" dirty="0" err="1">
                <a:solidFill>
                  <a:sysClr val="windowText" lastClr="000000"/>
                </a:solidFill>
                <a:ea typeface="Calibri"/>
                <a:cs typeface="Times New Roman"/>
              </a:rPr>
              <a:t>purch</a:t>
            </a:r>
            <a:r>
              <a:rPr lang="en-US" dirty="0">
                <a:solidFill>
                  <a:sysClr val="windowText" lastClr="000000"/>
                </a:solidFill>
                <a:ea typeface="Calibri"/>
                <a:cs typeface="Times New Roman"/>
              </a:rPr>
              <a:t> (stockflow1)</a:t>
            </a:r>
          </a:p>
          <a:p>
            <a:r>
              <a:rPr lang="en-US" dirty="0">
                <a:solidFill>
                  <a:sysClr val="windowText" lastClr="000000"/>
                </a:solidFill>
                <a:ea typeface="Calibri"/>
                <a:cs typeface="Times New Roman"/>
              </a:rPr>
              <a:t>-item-unit-cost (stockflow1)</a:t>
            </a:r>
            <a:endParaRPr lang="en-US" dirty="0">
              <a:solidFill>
                <a:sysClr val="windowText" lastClr="000000"/>
              </a:solidFill>
              <a:latin typeface="Calibri"/>
              <a:ea typeface="Calibri"/>
              <a:cs typeface="Times New Roman"/>
            </a:endParaRPr>
          </a:p>
          <a:p>
            <a:r>
              <a:rPr lang="en-US" dirty="0">
                <a:solidFill>
                  <a:sysClr val="windowText" lastClr="000000"/>
                </a:solidFill>
                <a:ea typeface="Calibri"/>
                <a:cs typeface="Times New Roman"/>
              </a:rPr>
              <a:t>oh-</a:t>
            </a:r>
            <a:r>
              <a:rPr lang="en-US" dirty="0" err="1">
                <a:solidFill>
                  <a:sysClr val="windowText" lastClr="000000"/>
                </a:solidFill>
                <a:ea typeface="Calibri"/>
                <a:cs typeface="Times New Roman"/>
              </a:rPr>
              <a:t>qty</a:t>
            </a:r>
            <a:r>
              <a:rPr lang="en-US" dirty="0">
                <a:solidFill>
                  <a:sysClr val="windowText" lastClr="000000"/>
                </a:solidFill>
                <a:ea typeface="Calibri"/>
                <a:cs typeface="Times New Roman"/>
              </a:rPr>
              <a:t>-</a:t>
            </a:r>
            <a:r>
              <a:rPr lang="en-US" dirty="0" err="1">
                <a:solidFill>
                  <a:sysClr val="windowText" lastClr="000000"/>
                </a:solidFill>
                <a:ea typeface="Calibri"/>
                <a:cs typeface="Times New Roman"/>
              </a:rPr>
              <a:t>purch</a:t>
            </a:r>
            <a:r>
              <a:rPr lang="en-US" dirty="0">
                <a:solidFill>
                  <a:sysClr val="windowText" lastClr="000000"/>
                </a:solidFill>
                <a:ea typeface="Calibri"/>
                <a:cs typeface="Times New Roman"/>
              </a:rPr>
              <a:t> (stockflow2)</a:t>
            </a:r>
            <a:endParaRPr lang="en-US" dirty="0">
              <a:solidFill>
                <a:sysClr val="windowText" lastClr="000000"/>
              </a:solidFill>
              <a:latin typeface="Calibri"/>
              <a:ea typeface="Calibri"/>
              <a:cs typeface="Times New Roman"/>
            </a:endParaRPr>
          </a:p>
          <a:p>
            <a:r>
              <a:rPr lang="en-US" dirty="0">
                <a:solidFill>
                  <a:sysClr val="windowText" lastClr="000000"/>
                </a:solidFill>
                <a:ea typeface="Calibri"/>
                <a:cs typeface="Times New Roman"/>
              </a:rPr>
              <a:t>-cd-</a:t>
            </a:r>
            <a:r>
              <a:rPr lang="en-US" dirty="0" err="1">
                <a:solidFill>
                  <a:sysClr val="windowText" lastClr="000000"/>
                </a:solidFill>
                <a:ea typeface="Calibri"/>
                <a:cs typeface="Times New Roman"/>
              </a:rPr>
              <a:t>acq</a:t>
            </a:r>
            <a:r>
              <a:rPr lang="en-US" dirty="0">
                <a:solidFill>
                  <a:sysClr val="windowText" lastClr="000000"/>
                </a:solidFill>
                <a:ea typeface="Calibri"/>
                <a:cs typeface="Times New Roman"/>
              </a:rPr>
              <a:t>-applied (duality)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16</a:t>
            </a:fld>
            <a:endParaRPr lang="en-US">
              <a:solidFill>
                <a:srgbClr val="191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0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60400" y="581478"/>
            <a:ext cx="7632700" cy="5857422"/>
            <a:chOff x="0" y="0"/>
            <a:chExt cx="6121411" cy="4872959"/>
          </a:xfrm>
        </p:grpSpPr>
        <p:cxnSp>
          <p:nvCxnSpPr>
            <p:cNvPr id="6" name="Straight Arrow Connector 5"/>
            <p:cNvCxnSpPr>
              <a:cxnSpLocks noChangeShapeType="1"/>
            </p:cNvCxnSpPr>
            <p:nvPr/>
          </p:nvCxnSpPr>
          <p:spPr bwMode="auto">
            <a:xfrm>
              <a:off x="1381125" y="3467100"/>
              <a:ext cx="11480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4772025" y="3724275"/>
              <a:ext cx="1349386" cy="1148684"/>
              <a:chOff x="2948" y="12558"/>
              <a:chExt cx="2125" cy="1809"/>
            </a:xfrm>
          </p:grpSpPr>
          <p:sp>
            <p:nvSpPr>
              <p:cNvPr id="64" name="Text Box 137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&lt;&lt;InternalAgent&gt;&gt;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Manager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 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-Mgr-id (PK)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-Mgr-name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-Mgr-degree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65" name="AutoShape 138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AutoShape 139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8" name="AutoShape 98"/>
            <p:cNvCxnSpPr>
              <a:cxnSpLocks noChangeShapeType="1"/>
            </p:cNvCxnSpPr>
            <p:nvPr/>
          </p:nvCxnSpPr>
          <p:spPr bwMode="auto">
            <a:xfrm flipH="1" flipV="1">
              <a:off x="2905125" y="2076450"/>
              <a:ext cx="5080" cy="11893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2466975" y="933450"/>
              <a:ext cx="1349386" cy="1148684"/>
              <a:chOff x="2948" y="12558"/>
              <a:chExt cx="2125" cy="1809"/>
            </a:xfrm>
          </p:grpSpPr>
          <p:sp>
            <p:nvSpPr>
              <p:cNvPr id="61" name="Text Box 100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&lt;&lt;EconomicIncrement&gt;&gt;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Purchase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 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-Acq-ID (PK)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-Acq-date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-Acq-amt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62" name="AutoShape 101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" name="AutoShape 102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2514600" y="3276600"/>
              <a:ext cx="1349386" cy="1148684"/>
              <a:chOff x="2948" y="12558"/>
              <a:chExt cx="2125" cy="1809"/>
            </a:xfrm>
          </p:grpSpPr>
          <p:sp>
            <p:nvSpPr>
              <p:cNvPr id="58" name="Text Box 104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&lt;&lt;EconomicDecrement&gt;&gt;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Cash Disbursement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 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-CD-id (PK)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-CD-date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-CD-amt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59" name="AutoShape 105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" name="AutoShape 106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9525" y="1724025"/>
              <a:ext cx="1349386" cy="1148684"/>
              <a:chOff x="2948" y="12558"/>
              <a:chExt cx="2125" cy="1809"/>
            </a:xfrm>
          </p:grpSpPr>
          <p:sp>
            <p:nvSpPr>
              <p:cNvPr id="55" name="Text Box 108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&lt;&lt;ResourceType&gt;&gt;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Overhead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 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-OH-id (PK)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-OH-desc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56" name="AutoShape 109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7" name="AutoShape 110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2" name="Group 11"/>
            <p:cNvGrpSpPr/>
            <p:nvPr/>
          </p:nvGrpSpPr>
          <p:grpSpPr>
            <a:xfrm>
              <a:off x="0" y="371475"/>
              <a:ext cx="1349386" cy="1148684"/>
              <a:chOff x="0" y="0"/>
              <a:chExt cx="1349375" cy="1148715"/>
            </a:xfrm>
          </p:grpSpPr>
          <p:sp>
            <p:nvSpPr>
              <p:cNvPr id="52" name="Text Box 112"/>
              <p:cNvSpPr txBox="1">
                <a:spLocks noChangeArrowheads="1"/>
              </p:cNvSpPr>
              <p:nvPr/>
            </p:nvSpPr>
            <p:spPr bwMode="auto">
              <a:xfrm>
                <a:off x="9525" y="0"/>
                <a:ext cx="1339850" cy="114871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&lt;&lt;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ResourceType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&gt;&gt;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Inventory Type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-Item-id(PK)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-Item-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desc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-Item-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std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-cost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-Item-list-price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-Item-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qoh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53" name="AutoShape 113"/>
              <p:cNvCxnSpPr>
                <a:cxnSpLocks noChangeShapeType="1"/>
              </p:cNvCxnSpPr>
              <p:nvPr/>
            </p:nvCxnSpPr>
            <p:spPr bwMode="auto">
              <a:xfrm>
                <a:off x="9525" y="266700"/>
                <a:ext cx="133985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AutoShape 114"/>
              <p:cNvCxnSpPr>
                <a:cxnSpLocks noChangeShapeType="1"/>
              </p:cNvCxnSpPr>
              <p:nvPr/>
            </p:nvCxnSpPr>
            <p:spPr bwMode="auto">
              <a:xfrm>
                <a:off x="0" y="1009650"/>
                <a:ext cx="133985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19050" y="3267075"/>
              <a:ext cx="1349386" cy="1148684"/>
              <a:chOff x="2948" y="12558"/>
              <a:chExt cx="2125" cy="1809"/>
            </a:xfrm>
          </p:grpSpPr>
          <p:sp>
            <p:nvSpPr>
              <p:cNvPr id="49" name="Text Box 116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&lt;&lt;ResourceType&gt;&gt;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Cash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 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-AcctNum (PK)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-AcctType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-AcctLoc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-AcctBal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50" name="AutoShape 117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AutoShape 118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4" name="Text Box 120"/>
            <p:cNvSpPr txBox="1">
              <a:spLocks noChangeArrowheads="1"/>
            </p:cNvSpPr>
            <p:nvPr/>
          </p:nvSpPr>
          <p:spPr bwMode="auto">
            <a:xfrm>
              <a:off x="1647825" y="3352800"/>
              <a:ext cx="596270" cy="201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Stockflow3</a:t>
              </a: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grpSp>
          <p:nvGrpSpPr>
            <p:cNvPr id="15" name="Group 14"/>
            <p:cNvGrpSpPr>
              <a:grpSpLocks/>
            </p:cNvGrpSpPr>
            <p:nvPr/>
          </p:nvGrpSpPr>
          <p:grpSpPr bwMode="auto">
            <a:xfrm>
              <a:off x="4772025" y="0"/>
              <a:ext cx="1349386" cy="1148684"/>
              <a:chOff x="2948" y="12558"/>
              <a:chExt cx="2125" cy="1809"/>
            </a:xfrm>
          </p:grpSpPr>
          <p:sp>
            <p:nvSpPr>
              <p:cNvPr id="46" name="Text Box 125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&lt;&lt;InternalAgent&gt;&gt;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Purchase Agent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 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-PA-id (PK)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-PA-name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-PA-limit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7" name="AutoShape 126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" name="AutoShape 127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6" name="Group 15"/>
            <p:cNvGrpSpPr>
              <a:grpSpLocks/>
            </p:cNvGrpSpPr>
            <p:nvPr/>
          </p:nvGrpSpPr>
          <p:grpSpPr bwMode="auto">
            <a:xfrm>
              <a:off x="4772025" y="1219200"/>
              <a:ext cx="1349386" cy="1148684"/>
              <a:chOff x="2948" y="12558"/>
              <a:chExt cx="2125" cy="1809"/>
            </a:xfrm>
          </p:grpSpPr>
          <p:sp>
            <p:nvSpPr>
              <p:cNvPr id="43" name="Text Box 129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&lt;&lt;ExternalAgent&gt;&gt;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Supplier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 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-SupNum (PK)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-Sup-name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-Sup-add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-Sup-rating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4" name="AutoShape 130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AutoShape 131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" name="Group 16"/>
            <p:cNvGrpSpPr>
              <a:grpSpLocks/>
            </p:cNvGrpSpPr>
            <p:nvPr/>
          </p:nvGrpSpPr>
          <p:grpSpPr bwMode="auto">
            <a:xfrm>
              <a:off x="4772025" y="2505075"/>
              <a:ext cx="1349386" cy="1148684"/>
              <a:chOff x="2948" y="12558"/>
              <a:chExt cx="2125" cy="1809"/>
            </a:xfrm>
          </p:grpSpPr>
          <p:sp>
            <p:nvSpPr>
              <p:cNvPr id="40" name="Text Box 133"/>
              <p:cNvSpPr txBox="1">
                <a:spLocks noChangeArrowheads="1"/>
              </p:cNvSpPr>
              <p:nvPr/>
            </p:nvSpPr>
            <p:spPr bwMode="auto">
              <a:xfrm>
                <a:off x="2963" y="12558"/>
                <a:ext cx="2110" cy="18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18288" tIns="18288" rIns="18288" bIns="18288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&lt;&lt;InternalAgent&gt;&gt;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A/P Clerk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 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-AP-id (PK)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-AP-name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-AP-bond</a:t>
                </a: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1" name="AutoShape 134"/>
              <p:cNvCxnSpPr>
                <a:cxnSpLocks noChangeShapeType="1"/>
              </p:cNvCxnSpPr>
              <p:nvPr/>
            </p:nvCxnSpPr>
            <p:spPr bwMode="auto">
              <a:xfrm>
                <a:off x="2963" y="13009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AutoShape 135"/>
              <p:cNvCxnSpPr>
                <a:cxnSpLocks noChangeShapeType="1"/>
              </p:cNvCxnSpPr>
              <p:nvPr/>
            </p:nvCxnSpPr>
            <p:spPr bwMode="auto">
              <a:xfrm>
                <a:off x="2948" y="14150"/>
                <a:ext cx="21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8" name="AutoShape 140"/>
            <p:cNvCxnSpPr>
              <a:cxnSpLocks noChangeShapeType="1"/>
            </p:cNvCxnSpPr>
            <p:nvPr/>
          </p:nvCxnSpPr>
          <p:spPr bwMode="auto">
            <a:xfrm flipV="1">
              <a:off x="3819525" y="161925"/>
              <a:ext cx="968383" cy="9207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141"/>
            <p:cNvCxnSpPr>
              <a:cxnSpLocks noChangeShapeType="1"/>
            </p:cNvCxnSpPr>
            <p:nvPr/>
          </p:nvCxnSpPr>
          <p:spPr bwMode="auto">
            <a:xfrm>
              <a:off x="3810000" y="1152525"/>
              <a:ext cx="977908" cy="2368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142"/>
            <p:cNvCxnSpPr>
              <a:cxnSpLocks noChangeShapeType="1"/>
            </p:cNvCxnSpPr>
            <p:nvPr/>
          </p:nvCxnSpPr>
          <p:spPr bwMode="auto">
            <a:xfrm flipV="1">
              <a:off x="3857625" y="1504950"/>
              <a:ext cx="925203" cy="18681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43"/>
            <p:cNvCxnSpPr>
              <a:cxnSpLocks noChangeShapeType="1"/>
            </p:cNvCxnSpPr>
            <p:nvPr/>
          </p:nvCxnSpPr>
          <p:spPr bwMode="auto">
            <a:xfrm flipV="1">
              <a:off x="3857625" y="2590800"/>
              <a:ext cx="925203" cy="8788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44"/>
            <p:cNvCxnSpPr>
              <a:cxnSpLocks noChangeShapeType="1"/>
            </p:cNvCxnSpPr>
            <p:nvPr/>
          </p:nvCxnSpPr>
          <p:spPr bwMode="auto">
            <a:xfrm>
              <a:off x="3857625" y="3467100"/>
              <a:ext cx="906152" cy="4159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 Box 145"/>
            <p:cNvSpPr txBox="1">
              <a:spLocks noChangeArrowheads="1"/>
            </p:cNvSpPr>
            <p:nvPr/>
          </p:nvSpPr>
          <p:spPr bwMode="auto">
            <a:xfrm>
              <a:off x="3933825" y="609600"/>
              <a:ext cx="596270" cy="201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Participation</a:t>
              </a: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4" name="Text Box 146"/>
            <p:cNvSpPr txBox="1">
              <a:spLocks noChangeArrowheads="1"/>
            </p:cNvSpPr>
            <p:nvPr/>
          </p:nvSpPr>
          <p:spPr bwMode="auto">
            <a:xfrm>
              <a:off x="3933825" y="1200150"/>
              <a:ext cx="596270" cy="201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Participation2</a:t>
              </a: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5" name="Text Box 147"/>
            <p:cNvSpPr txBox="1">
              <a:spLocks noChangeArrowheads="1"/>
            </p:cNvSpPr>
            <p:nvPr/>
          </p:nvSpPr>
          <p:spPr bwMode="auto">
            <a:xfrm>
              <a:off x="3933825" y="2171700"/>
              <a:ext cx="596270" cy="201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Participation3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6" name="Text Box 148"/>
            <p:cNvSpPr txBox="1">
              <a:spLocks noChangeArrowheads="1"/>
            </p:cNvSpPr>
            <p:nvPr/>
          </p:nvSpPr>
          <p:spPr bwMode="auto">
            <a:xfrm>
              <a:off x="4086225" y="2876550"/>
              <a:ext cx="596270" cy="201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Participation4</a:t>
              </a: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7" name="Text Box 149"/>
            <p:cNvSpPr txBox="1">
              <a:spLocks noChangeArrowheads="1"/>
            </p:cNvSpPr>
            <p:nvPr/>
          </p:nvSpPr>
          <p:spPr bwMode="auto">
            <a:xfrm>
              <a:off x="3933825" y="3724275"/>
              <a:ext cx="596270" cy="201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Participation5</a:t>
              </a: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 </a:t>
              </a:r>
            </a:p>
          </p:txBody>
        </p:sp>
        <p:grpSp>
          <p:nvGrpSpPr>
            <p:cNvPr id="28" name="Group 27"/>
            <p:cNvGrpSpPr>
              <a:grpSpLocks/>
            </p:cNvGrpSpPr>
            <p:nvPr/>
          </p:nvGrpSpPr>
          <p:grpSpPr bwMode="auto">
            <a:xfrm>
              <a:off x="1541145" y="2090611"/>
              <a:ext cx="809632" cy="533526"/>
              <a:chOff x="3947" y="2144529"/>
              <a:chExt cx="1275" cy="533526"/>
            </a:xfrm>
          </p:grpSpPr>
          <p:cxnSp>
            <p:nvCxnSpPr>
              <p:cNvPr id="38" name="AutoShape 151"/>
              <p:cNvCxnSpPr>
                <a:cxnSpLocks noChangeShapeType="1"/>
              </p:cNvCxnSpPr>
              <p:nvPr/>
            </p:nvCxnSpPr>
            <p:spPr bwMode="auto">
              <a:xfrm>
                <a:off x="3947" y="2326263"/>
                <a:ext cx="127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152"/>
              <p:cNvSpPr txBox="1">
                <a:spLocks noChangeArrowheads="1"/>
              </p:cNvSpPr>
              <p:nvPr/>
            </p:nvSpPr>
            <p:spPr bwMode="auto">
              <a:xfrm>
                <a:off x="3947" y="2144529"/>
                <a:ext cx="1275" cy="5335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Stockflow2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 </a:t>
                </a:r>
                <a:endPara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-oh-</a:t>
                </a:r>
                <a:r>
                  <a:rPr kumimoji="0" lang="en-US" sz="900" b="0" i="0" u="none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qty</a:t>
                </a: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</a:t>
                </a:r>
                <a:r>
                  <a:rPr kumimoji="0" lang="en-US" sz="900" b="0" i="0" u="none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purch</a:t>
                </a:r>
                <a:endPara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</p:grpSp>
        <p:cxnSp>
          <p:nvCxnSpPr>
            <p:cNvPr id="29" name="AutoShape 156"/>
            <p:cNvCxnSpPr>
              <a:cxnSpLocks noChangeShapeType="1"/>
            </p:cNvCxnSpPr>
            <p:nvPr/>
          </p:nvCxnSpPr>
          <p:spPr bwMode="auto">
            <a:xfrm>
              <a:off x="1343025" y="1152525"/>
              <a:ext cx="112840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157"/>
            <p:cNvCxnSpPr>
              <a:cxnSpLocks noChangeShapeType="1"/>
            </p:cNvCxnSpPr>
            <p:nvPr/>
          </p:nvCxnSpPr>
          <p:spPr bwMode="auto">
            <a:xfrm>
              <a:off x="1352550" y="1800225"/>
              <a:ext cx="111443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158"/>
            <p:cNvCxnSpPr>
              <a:cxnSpLocks noChangeShapeType="1"/>
            </p:cNvCxnSpPr>
            <p:nvPr/>
          </p:nvCxnSpPr>
          <p:spPr bwMode="auto">
            <a:xfrm>
              <a:off x="1933575" y="809625"/>
              <a:ext cx="0" cy="3403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AutoShape 159"/>
            <p:cNvCxnSpPr>
              <a:cxnSpLocks noChangeShapeType="1"/>
            </p:cNvCxnSpPr>
            <p:nvPr/>
          </p:nvCxnSpPr>
          <p:spPr bwMode="auto">
            <a:xfrm>
              <a:off x="1933575" y="1800225"/>
              <a:ext cx="0" cy="2730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AutoShape 160"/>
            <p:cNvCxnSpPr>
              <a:cxnSpLocks noChangeShapeType="1"/>
            </p:cNvCxnSpPr>
            <p:nvPr/>
          </p:nvCxnSpPr>
          <p:spPr bwMode="auto">
            <a:xfrm>
              <a:off x="2905125" y="2590800"/>
              <a:ext cx="21717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Text Box 410"/>
            <p:cNvSpPr txBox="1"/>
            <p:nvPr/>
          </p:nvSpPr>
          <p:spPr>
            <a:xfrm>
              <a:off x="3124200" y="2371725"/>
              <a:ext cx="809625" cy="50482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Duality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 -cd-</a:t>
              </a:r>
              <a:r>
                <a:rPr kumimoji="0" 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acq</a:t>
              </a: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Calibri"/>
                  <a:cs typeface="Times New Roman"/>
                </a:rPr>
                <a:t>-applied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1590675" y="295275"/>
              <a:ext cx="809625" cy="504825"/>
              <a:chOff x="0" y="0"/>
              <a:chExt cx="809625" cy="504825"/>
            </a:xfrm>
          </p:grpSpPr>
          <p:sp>
            <p:nvSpPr>
              <p:cNvPr id="36" name="Text Box 412"/>
              <p:cNvSpPr txBox="1"/>
              <p:nvPr/>
            </p:nvSpPr>
            <p:spPr>
              <a:xfrm>
                <a:off x="0" y="0"/>
                <a:ext cx="809625" cy="50482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prstClr val="black"/>
                </a:solidFill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Stockflow1</a:t>
                </a:r>
                <a:br>
                  <a:rPr lang="en-US" sz="1050" kern="0" dirty="0">
                    <a:solidFill>
                      <a:sysClr val="windowText" lastClr="000000"/>
                    </a:solidFill>
                    <a:latin typeface="Calibri"/>
                    <a:ea typeface="Calibri"/>
                    <a:cs typeface="Times New Roman"/>
                  </a:rPr>
                </a:b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-item-</a:t>
                </a:r>
                <a:r>
                  <a:rPr kumimoji="0" lang="en-US" sz="900" b="0" i="0" u="none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qty</a:t>
                </a: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</a:t>
                </a:r>
                <a:r>
                  <a:rPr kumimoji="0" lang="en-US" sz="900" b="0" i="0" u="none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purch</a:t>
                </a:r>
                <a:endPara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Calibri"/>
                    <a:cs typeface="Times New Roman"/>
                  </a:rPr>
                  <a:t>-item-unit-cost</a:t>
                </a:r>
                <a:endPara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37" name="Straight Connector 36"/>
              <p:cNvCxnSpPr/>
              <p:nvPr/>
            </p:nvCxnSpPr>
            <p:spPr>
              <a:xfrm>
                <a:off x="0" y="171450"/>
                <a:ext cx="809625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</p:grpSp>
      </p:grpSp>
      <p:cxnSp>
        <p:nvCxnSpPr>
          <p:cNvPr id="67" name="Straight Connector 66"/>
          <p:cNvCxnSpPr/>
          <p:nvPr/>
        </p:nvCxnSpPr>
        <p:spPr>
          <a:xfrm>
            <a:off x="4558239" y="3656143"/>
            <a:ext cx="100951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281756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152400"/>
            <a:ext cx="7988300" cy="1143000"/>
          </a:xfrm>
        </p:spPr>
        <p:txBody>
          <a:bodyPr/>
          <a:lstStyle/>
          <a:p>
            <a:r>
              <a:rPr lang="en-US" sz="4000" dirty="0"/>
              <a:t>Acquisition Core Pattern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601"/>
            <a:ext cx="7848600" cy="2197100"/>
          </a:xfrm>
        </p:spPr>
        <p:txBody>
          <a:bodyPr/>
          <a:lstStyle/>
          <a:p>
            <a:r>
              <a:rPr lang="en-US" dirty="0"/>
              <a:t>Robert Scott Woodwind Shop (RSWS)</a:t>
            </a:r>
          </a:p>
          <a:p>
            <a:pPr lvl="1"/>
            <a:r>
              <a:rPr lang="en-US" dirty="0"/>
              <a:t>Step 6</a:t>
            </a:r>
          </a:p>
          <a:p>
            <a:pPr lvl="2"/>
            <a:r>
              <a:rPr lang="en-US" dirty="0"/>
              <a:t>Assign Multiplicities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18</a:t>
            </a:fld>
            <a:endParaRPr lang="en-US">
              <a:solidFill>
                <a:srgbClr val="191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721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582" y="152400"/>
            <a:ext cx="7980218" cy="1143000"/>
          </a:xfrm>
        </p:spPr>
        <p:txBody>
          <a:bodyPr/>
          <a:lstStyle/>
          <a:p>
            <a:r>
              <a:rPr lang="en-US" sz="4000" dirty="0"/>
              <a:t>Acquisition Core Pattern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24" y="1295400"/>
            <a:ext cx="8279476" cy="4830763"/>
          </a:xfrm>
        </p:spPr>
        <p:txBody>
          <a:bodyPr/>
          <a:lstStyle/>
          <a:p>
            <a:r>
              <a:rPr lang="en-US" sz="2400" dirty="0"/>
              <a:t>Narrative descriptions:</a:t>
            </a:r>
          </a:p>
          <a:p>
            <a:r>
              <a:rPr lang="en-US" sz="2400" dirty="0"/>
              <a:t>1. Information on company resources and agents can be stored in database prior to any transactions.</a:t>
            </a:r>
          </a:p>
          <a:p>
            <a:r>
              <a:rPr lang="en-US" sz="2400" dirty="0"/>
              <a:t>2. Cash disbursement can be linked to one and only one cash account.</a:t>
            </a:r>
          </a:p>
          <a:p>
            <a:r>
              <a:rPr lang="en-US" sz="2400" dirty="0"/>
              <a:t>3. Credit purchase is allowed; partial and combined payment is allowed; company needs cash to pay other utilities.</a:t>
            </a:r>
          </a:p>
          <a:p>
            <a:r>
              <a:rPr lang="en-US" sz="2400" dirty="0"/>
              <a:t>4. Both purchase and cash disbursement can be handled by one and only one internal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74D29C-A5FB-4798-84C7-20B0925AA6DD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20</a:t>
            </a:fld>
            <a:endParaRPr lang="en-US">
              <a:solidFill>
                <a:srgbClr val="19138D"/>
              </a:solidFill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647700" y="698501"/>
            <a:ext cx="7658099" cy="5803900"/>
            <a:chOff x="1125" y="1898"/>
            <a:chExt cx="9655" cy="7681"/>
          </a:xfrm>
        </p:grpSpPr>
        <p:sp>
          <p:nvSpPr>
            <p:cNvPr id="4" name="Text Box 162"/>
            <p:cNvSpPr txBox="1">
              <a:spLocks noChangeArrowheads="1"/>
            </p:cNvSpPr>
            <p:nvPr/>
          </p:nvSpPr>
          <p:spPr bwMode="auto">
            <a:xfrm>
              <a:off x="8246" y="2488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1..1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" name="Text Box 163"/>
            <p:cNvSpPr txBox="1">
              <a:spLocks noChangeArrowheads="1"/>
            </p:cNvSpPr>
            <p:nvPr/>
          </p:nvSpPr>
          <p:spPr bwMode="auto">
            <a:xfrm>
              <a:off x="8108" y="4002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1..1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6" name="Text Box 164"/>
            <p:cNvSpPr txBox="1">
              <a:spLocks noChangeArrowheads="1"/>
            </p:cNvSpPr>
            <p:nvPr/>
          </p:nvSpPr>
          <p:spPr bwMode="auto">
            <a:xfrm>
              <a:off x="8103" y="4611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0..1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7" name="Text Box 165"/>
            <p:cNvSpPr txBox="1">
              <a:spLocks noChangeArrowheads="1"/>
            </p:cNvSpPr>
            <p:nvPr/>
          </p:nvSpPr>
          <p:spPr bwMode="auto">
            <a:xfrm>
              <a:off x="8276" y="6203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1..1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8" name="Text Box 166"/>
            <p:cNvSpPr txBox="1">
              <a:spLocks noChangeArrowheads="1"/>
            </p:cNvSpPr>
            <p:nvPr/>
          </p:nvSpPr>
          <p:spPr bwMode="auto">
            <a:xfrm>
              <a:off x="7274" y="7518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9" name="Text Box 167"/>
            <p:cNvSpPr txBox="1">
              <a:spLocks noChangeArrowheads="1"/>
            </p:cNvSpPr>
            <p:nvPr/>
          </p:nvSpPr>
          <p:spPr bwMode="auto">
            <a:xfrm>
              <a:off x="7399" y="7142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0" name="Text Box 168"/>
            <p:cNvSpPr txBox="1">
              <a:spLocks noChangeArrowheads="1"/>
            </p:cNvSpPr>
            <p:nvPr/>
          </p:nvSpPr>
          <p:spPr bwMode="auto">
            <a:xfrm>
              <a:off x="7043" y="6699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1" name="Text Box 169"/>
            <p:cNvSpPr txBox="1">
              <a:spLocks noChangeArrowheads="1"/>
            </p:cNvSpPr>
            <p:nvPr/>
          </p:nvSpPr>
          <p:spPr bwMode="auto">
            <a:xfrm>
              <a:off x="7130" y="3034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2" name="Text Box 170"/>
            <p:cNvSpPr txBox="1">
              <a:spLocks noChangeArrowheads="1"/>
            </p:cNvSpPr>
            <p:nvPr/>
          </p:nvSpPr>
          <p:spPr bwMode="auto">
            <a:xfrm>
              <a:off x="5329" y="6696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3" name="Text Box 171"/>
            <p:cNvSpPr txBox="1">
              <a:spLocks noChangeArrowheads="1"/>
            </p:cNvSpPr>
            <p:nvPr/>
          </p:nvSpPr>
          <p:spPr bwMode="auto">
            <a:xfrm>
              <a:off x="4626" y="4508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4" name="Text Box 172"/>
            <p:cNvSpPr txBox="1">
              <a:spLocks noChangeArrowheads="1"/>
            </p:cNvSpPr>
            <p:nvPr/>
          </p:nvSpPr>
          <p:spPr bwMode="auto">
            <a:xfrm>
              <a:off x="3326" y="4508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5" name="Text Box 173"/>
            <p:cNvSpPr txBox="1">
              <a:spLocks noChangeArrowheads="1"/>
            </p:cNvSpPr>
            <p:nvPr/>
          </p:nvSpPr>
          <p:spPr bwMode="auto">
            <a:xfrm>
              <a:off x="4626" y="3465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6" name="Text Box 174"/>
            <p:cNvSpPr txBox="1">
              <a:spLocks noChangeArrowheads="1"/>
            </p:cNvSpPr>
            <p:nvPr/>
          </p:nvSpPr>
          <p:spPr bwMode="auto">
            <a:xfrm>
              <a:off x="3295" y="3423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7" name="Text Box 175"/>
            <p:cNvSpPr txBox="1">
              <a:spLocks noChangeArrowheads="1"/>
            </p:cNvSpPr>
            <p:nvPr/>
          </p:nvSpPr>
          <p:spPr bwMode="auto">
            <a:xfrm>
              <a:off x="4641" y="7418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8" name="Text Box 176"/>
            <p:cNvSpPr txBox="1">
              <a:spLocks noChangeArrowheads="1"/>
            </p:cNvSpPr>
            <p:nvPr/>
          </p:nvSpPr>
          <p:spPr bwMode="auto">
            <a:xfrm>
              <a:off x="3424" y="7429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1..1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9" name="Text Box 177"/>
            <p:cNvSpPr txBox="1">
              <a:spLocks noChangeArrowheads="1"/>
            </p:cNvSpPr>
            <p:nvPr/>
          </p:nvSpPr>
          <p:spPr bwMode="auto">
            <a:xfrm>
              <a:off x="5310" y="5190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0" name="Text Box 178"/>
            <p:cNvSpPr txBox="1">
              <a:spLocks noChangeArrowheads="1"/>
            </p:cNvSpPr>
            <p:nvPr/>
          </p:nvSpPr>
          <p:spPr bwMode="auto">
            <a:xfrm>
              <a:off x="7234" y="3916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0..*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1" name="Text Box 179"/>
            <p:cNvSpPr txBox="1">
              <a:spLocks noChangeArrowheads="1"/>
            </p:cNvSpPr>
            <p:nvPr/>
          </p:nvSpPr>
          <p:spPr bwMode="auto">
            <a:xfrm>
              <a:off x="8246" y="8021"/>
              <a:ext cx="394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1000"/>
                </a:spcAft>
              </a:pPr>
              <a:r>
                <a:rPr lang="en-US" sz="1050">
                  <a:effectLst/>
                  <a:latin typeface="Arial"/>
                  <a:ea typeface="Calibri"/>
                  <a:cs typeface="Times New Roman"/>
                </a:rPr>
                <a:t>1..1</a:t>
              </a:r>
              <a:endParaRPr lang="en-US" sz="1050">
                <a:effectLst/>
                <a:latin typeface="Calibri"/>
                <a:ea typeface="Calibri"/>
                <a:cs typeface="Times New Roman"/>
              </a:endParaRPr>
            </a:p>
          </p:txBody>
        </p:sp>
        <p:grpSp>
          <p:nvGrpSpPr>
            <p:cNvPr id="22" name="Group 21"/>
            <p:cNvGrpSpPr>
              <a:grpSpLocks/>
            </p:cNvGrpSpPr>
            <p:nvPr/>
          </p:nvGrpSpPr>
          <p:grpSpPr bwMode="auto">
            <a:xfrm>
              <a:off x="1125" y="1898"/>
              <a:ext cx="9655" cy="7681"/>
              <a:chOff x="1125" y="1898"/>
              <a:chExt cx="9655" cy="7681"/>
            </a:xfrm>
          </p:grpSpPr>
          <p:cxnSp>
            <p:nvCxnSpPr>
              <p:cNvPr id="23" name="AutoShape 181"/>
              <p:cNvCxnSpPr>
                <a:cxnSpLocks noChangeShapeType="1"/>
              </p:cNvCxnSpPr>
              <p:nvPr/>
            </p:nvCxnSpPr>
            <p:spPr bwMode="auto">
              <a:xfrm flipH="1" flipV="1">
                <a:off x="5704" y="5175"/>
                <a:ext cx="8" cy="187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4" name="Group 23"/>
              <p:cNvGrpSpPr>
                <a:grpSpLocks/>
              </p:cNvGrpSpPr>
              <p:nvPr/>
            </p:nvGrpSpPr>
            <p:grpSpPr bwMode="auto">
              <a:xfrm>
                <a:off x="5020" y="3366"/>
                <a:ext cx="2125" cy="1809"/>
                <a:chOff x="2948" y="12558"/>
                <a:chExt cx="2125" cy="1809"/>
              </a:xfrm>
            </p:grpSpPr>
            <p:sp>
              <p:nvSpPr>
                <p:cNvPr id="83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2963" y="12558"/>
                  <a:ext cx="2110" cy="18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18288" tIns="18288" rIns="18288" bIns="18288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EconomicIncrement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b="1" dirty="0">
                      <a:effectLst/>
                      <a:latin typeface="Arial"/>
                      <a:ea typeface="Calibri"/>
                      <a:cs typeface="Times New Roman"/>
                    </a:rPr>
                    <a:t>Purchase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Acq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-ID (PK)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Acq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-date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Acq-amt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84" name="AutoShape 184"/>
                <p:cNvCxnSpPr>
                  <a:cxnSpLocks noChangeShapeType="1"/>
                </p:cNvCxnSpPr>
                <p:nvPr/>
              </p:nvCxnSpPr>
              <p:spPr bwMode="auto">
                <a:xfrm>
                  <a:off x="2963" y="13009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5" name="AutoShape 185"/>
                <p:cNvCxnSpPr>
                  <a:cxnSpLocks noChangeShapeType="1"/>
                </p:cNvCxnSpPr>
                <p:nvPr/>
              </p:nvCxnSpPr>
              <p:spPr bwMode="auto">
                <a:xfrm>
                  <a:off x="2948" y="14150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5" name="Group 24"/>
              <p:cNvGrpSpPr>
                <a:grpSpLocks/>
              </p:cNvGrpSpPr>
              <p:nvPr/>
            </p:nvGrpSpPr>
            <p:grpSpPr bwMode="auto">
              <a:xfrm>
                <a:off x="5088" y="7048"/>
                <a:ext cx="2125" cy="1809"/>
                <a:chOff x="2948" y="12558"/>
                <a:chExt cx="2125" cy="1809"/>
              </a:xfrm>
            </p:grpSpPr>
            <p:sp>
              <p:nvSpPr>
                <p:cNvPr id="80" name="Text Box 187"/>
                <p:cNvSpPr txBox="1">
                  <a:spLocks noChangeArrowheads="1"/>
                </p:cNvSpPr>
                <p:nvPr/>
              </p:nvSpPr>
              <p:spPr bwMode="auto">
                <a:xfrm>
                  <a:off x="2963" y="12558"/>
                  <a:ext cx="2110" cy="18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18288" tIns="18288" rIns="18288" bIns="18288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EconomicDecrement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b="1" dirty="0">
                      <a:effectLst/>
                      <a:latin typeface="Arial"/>
                      <a:ea typeface="Calibri"/>
                      <a:cs typeface="Times New Roman"/>
                    </a:rPr>
                    <a:t>Cash Disbursement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-CD-id (PK)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-CD-date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-CD-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amt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81" name="AutoShape 188"/>
                <p:cNvCxnSpPr>
                  <a:cxnSpLocks noChangeShapeType="1"/>
                </p:cNvCxnSpPr>
                <p:nvPr/>
              </p:nvCxnSpPr>
              <p:spPr bwMode="auto">
                <a:xfrm>
                  <a:off x="2963" y="13009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2" name="AutoShape 189"/>
                <p:cNvCxnSpPr>
                  <a:cxnSpLocks noChangeShapeType="1"/>
                </p:cNvCxnSpPr>
                <p:nvPr/>
              </p:nvCxnSpPr>
              <p:spPr bwMode="auto">
                <a:xfrm>
                  <a:off x="2948" y="14150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6" name="Group 25"/>
              <p:cNvGrpSpPr>
                <a:grpSpLocks/>
              </p:cNvGrpSpPr>
              <p:nvPr/>
            </p:nvGrpSpPr>
            <p:grpSpPr bwMode="auto">
              <a:xfrm>
                <a:off x="1155" y="4611"/>
                <a:ext cx="2125" cy="1809"/>
                <a:chOff x="2948" y="12558"/>
                <a:chExt cx="2125" cy="1809"/>
              </a:xfrm>
            </p:grpSpPr>
            <p:sp>
              <p:nvSpPr>
                <p:cNvPr id="77" name="Text Box 191"/>
                <p:cNvSpPr txBox="1">
                  <a:spLocks noChangeArrowheads="1"/>
                </p:cNvSpPr>
                <p:nvPr/>
              </p:nvSpPr>
              <p:spPr bwMode="auto">
                <a:xfrm>
                  <a:off x="2963" y="12558"/>
                  <a:ext cx="2110" cy="18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18288" tIns="18288" rIns="18288" bIns="18288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ResourceType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b="1" dirty="0">
                      <a:effectLst/>
                      <a:latin typeface="Arial"/>
                      <a:ea typeface="Calibri"/>
                      <a:cs typeface="Times New Roman"/>
                    </a:rPr>
                    <a:t>Overhead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-OH-id (PK)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-OH-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desc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78" name="AutoShape 192"/>
                <p:cNvCxnSpPr>
                  <a:cxnSpLocks noChangeShapeType="1"/>
                </p:cNvCxnSpPr>
                <p:nvPr/>
              </p:nvCxnSpPr>
              <p:spPr bwMode="auto">
                <a:xfrm>
                  <a:off x="2963" y="13009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" name="AutoShape 193"/>
                <p:cNvCxnSpPr>
                  <a:cxnSpLocks noChangeShapeType="1"/>
                </p:cNvCxnSpPr>
                <p:nvPr/>
              </p:nvCxnSpPr>
              <p:spPr bwMode="auto">
                <a:xfrm>
                  <a:off x="2948" y="14150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7" name="Group 26"/>
              <p:cNvGrpSpPr>
                <a:grpSpLocks/>
              </p:cNvGrpSpPr>
              <p:nvPr/>
            </p:nvGrpSpPr>
            <p:grpSpPr bwMode="auto">
              <a:xfrm>
                <a:off x="1125" y="2488"/>
                <a:ext cx="2125" cy="1809"/>
                <a:chOff x="2948" y="12558"/>
                <a:chExt cx="2125" cy="1809"/>
              </a:xfrm>
            </p:grpSpPr>
            <p:sp>
              <p:nvSpPr>
                <p:cNvPr id="74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2963" y="12558"/>
                  <a:ext cx="2110" cy="18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18288" tIns="18288" rIns="18288" bIns="18288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ResourceType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b="1" dirty="0">
                      <a:effectLst/>
                      <a:latin typeface="Arial"/>
                      <a:ea typeface="Calibri"/>
                      <a:cs typeface="Times New Roman"/>
                    </a:rPr>
                    <a:t>Inventory Type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-Item-id (PK)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-Item-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desc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-Item-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std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-cost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-Item-list-price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-Item-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qoh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75" name="AutoShape 196"/>
                <p:cNvCxnSpPr>
                  <a:cxnSpLocks noChangeShapeType="1"/>
                </p:cNvCxnSpPr>
                <p:nvPr/>
              </p:nvCxnSpPr>
              <p:spPr bwMode="auto">
                <a:xfrm>
                  <a:off x="2963" y="13009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6" name="AutoShape 197"/>
                <p:cNvCxnSpPr>
                  <a:cxnSpLocks noChangeShapeType="1"/>
                </p:cNvCxnSpPr>
                <p:nvPr/>
              </p:nvCxnSpPr>
              <p:spPr bwMode="auto">
                <a:xfrm>
                  <a:off x="2948" y="14150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8" name="Group 27"/>
              <p:cNvGrpSpPr>
                <a:grpSpLocks/>
              </p:cNvGrpSpPr>
              <p:nvPr/>
            </p:nvGrpSpPr>
            <p:grpSpPr bwMode="auto">
              <a:xfrm>
                <a:off x="1170" y="7037"/>
                <a:ext cx="2125" cy="1809"/>
                <a:chOff x="2948" y="12558"/>
                <a:chExt cx="2125" cy="1809"/>
              </a:xfrm>
            </p:grpSpPr>
            <p:sp>
              <p:nvSpPr>
                <p:cNvPr id="71" name="Text Box 199"/>
                <p:cNvSpPr txBox="1">
                  <a:spLocks noChangeArrowheads="1"/>
                </p:cNvSpPr>
                <p:nvPr/>
              </p:nvSpPr>
              <p:spPr bwMode="auto">
                <a:xfrm>
                  <a:off x="2963" y="12558"/>
                  <a:ext cx="2110" cy="18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18288" tIns="18288" rIns="18288" bIns="18288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ResourceType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b="1" dirty="0">
                      <a:effectLst/>
                      <a:latin typeface="Arial"/>
                      <a:ea typeface="Calibri"/>
                      <a:cs typeface="Times New Roman"/>
                    </a:rPr>
                    <a:t>Cash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AcctNum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 (PK)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AcctType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AcctLoc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AcctBal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72" name="AutoShape 200"/>
                <p:cNvCxnSpPr>
                  <a:cxnSpLocks noChangeShapeType="1"/>
                </p:cNvCxnSpPr>
                <p:nvPr/>
              </p:nvCxnSpPr>
              <p:spPr bwMode="auto">
                <a:xfrm>
                  <a:off x="2963" y="13009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3" name="AutoShape 201"/>
                <p:cNvCxnSpPr>
                  <a:cxnSpLocks noChangeShapeType="1"/>
                </p:cNvCxnSpPr>
                <p:nvPr/>
              </p:nvCxnSpPr>
              <p:spPr bwMode="auto">
                <a:xfrm>
                  <a:off x="2948" y="14150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29" name="AutoShape 202"/>
              <p:cNvCxnSpPr>
                <a:cxnSpLocks noChangeShapeType="1"/>
              </p:cNvCxnSpPr>
              <p:nvPr/>
            </p:nvCxnSpPr>
            <p:spPr bwMode="auto">
              <a:xfrm>
                <a:off x="3295" y="7355"/>
                <a:ext cx="180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0" name="Text Box 203"/>
              <p:cNvSpPr txBox="1">
                <a:spLocks noChangeArrowheads="1"/>
              </p:cNvSpPr>
              <p:nvPr/>
            </p:nvSpPr>
            <p:spPr bwMode="auto">
              <a:xfrm>
                <a:off x="3720" y="7171"/>
                <a:ext cx="93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>
                    <a:effectLst/>
                    <a:latin typeface="Arial"/>
                    <a:ea typeface="Calibri"/>
                    <a:cs typeface="Times New Roman"/>
                  </a:rPr>
                  <a:t>Stockflow3</a:t>
                </a:r>
                <a:endParaRPr lang="en-US" sz="105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>
                    <a:effectLst/>
                    <a:latin typeface="Calibri"/>
                    <a:ea typeface="Calibri"/>
                    <a:cs typeface="Times New Roman"/>
                  </a:rPr>
                  <a:t> </a:t>
                </a:r>
              </a:p>
            </p:txBody>
          </p:sp>
          <p:grpSp>
            <p:nvGrpSpPr>
              <p:cNvPr id="31" name="Group 30"/>
              <p:cNvGrpSpPr>
                <a:grpSpLocks/>
              </p:cNvGrpSpPr>
              <p:nvPr/>
            </p:nvGrpSpPr>
            <p:grpSpPr bwMode="auto">
              <a:xfrm>
                <a:off x="3591" y="2156"/>
                <a:ext cx="1445" cy="878"/>
                <a:chOff x="3935" y="3355"/>
                <a:chExt cx="1288" cy="878"/>
              </a:xfrm>
            </p:grpSpPr>
            <p:cxnSp>
              <p:nvCxnSpPr>
                <p:cNvPr id="69" name="AutoShape 205"/>
                <p:cNvCxnSpPr>
                  <a:cxnSpLocks noChangeShapeType="1"/>
                </p:cNvCxnSpPr>
                <p:nvPr/>
              </p:nvCxnSpPr>
              <p:spPr bwMode="auto">
                <a:xfrm>
                  <a:off x="3935" y="3584"/>
                  <a:ext cx="1275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0" name="Text Box 206"/>
                <p:cNvSpPr txBox="1">
                  <a:spLocks noChangeArrowheads="1"/>
                </p:cNvSpPr>
                <p:nvPr/>
              </p:nvSpPr>
              <p:spPr bwMode="auto">
                <a:xfrm>
                  <a:off x="3935" y="3355"/>
                  <a:ext cx="1288" cy="87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Stockflow1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-Item-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qty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purch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-Item-unit-cost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Calibri"/>
                      <a:ea typeface="Calibri"/>
                      <a:cs typeface="Times New Roman"/>
                    </a:rPr>
                    <a:t> </a:t>
                  </a:r>
                </a:p>
              </p:txBody>
            </p:sp>
          </p:grpSp>
          <p:grpSp>
            <p:nvGrpSpPr>
              <p:cNvPr id="32" name="Group 31"/>
              <p:cNvGrpSpPr>
                <a:grpSpLocks/>
              </p:cNvGrpSpPr>
              <p:nvPr/>
            </p:nvGrpSpPr>
            <p:grpSpPr bwMode="auto">
              <a:xfrm>
                <a:off x="8640" y="1898"/>
                <a:ext cx="2125" cy="1809"/>
                <a:chOff x="2948" y="12558"/>
                <a:chExt cx="2125" cy="1809"/>
              </a:xfrm>
            </p:grpSpPr>
            <p:sp>
              <p:nvSpPr>
                <p:cNvPr id="66" name="Text Box 208"/>
                <p:cNvSpPr txBox="1">
                  <a:spLocks noChangeArrowheads="1"/>
                </p:cNvSpPr>
                <p:nvPr/>
              </p:nvSpPr>
              <p:spPr bwMode="auto">
                <a:xfrm>
                  <a:off x="2963" y="12558"/>
                  <a:ext cx="2110" cy="18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18288" tIns="18288" rIns="18288" bIns="18288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InternalAgent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b="1" dirty="0">
                      <a:effectLst/>
                      <a:latin typeface="Arial"/>
                      <a:ea typeface="Calibri"/>
                      <a:cs typeface="Times New Roman"/>
                    </a:rPr>
                    <a:t>Purchase Agent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-PA-id (PK)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-PA-name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-PA-limit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67" name="AutoShape 209"/>
                <p:cNvCxnSpPr>
                  <a:cxnSpLocks noChangeShapeType="1"/>
                </p:cNvCxnSpPr>
                <p:nvPr/>
              </p:nvCxnSpPr>
              <p:spPr bwMode="auto">
                <a:xfrm>
                  <a:off x="2963" y="13009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8" name="AutoShape 210"/>
                <p:cNvCxnSpPr>
                  <a:cxnSpLocks noChangeShapeType="1"/>
                </p:cNvCxnSpPr>
                <p:nvPr/>
              </p:nvCxnSpPr>
              <p:spPr bwMode="auto">
                <a:xfrm>
                  <a:off x="2948" y="14150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3" name="Group 32"/>
              <p:cNvGrpSpPr>
                <a:grpSpLocks/>
              </p:cNvGrpSpPr>
              <p:nvPr/>
            </p:nvGrpSpPr>
            <p:grpSpPr bwMode="auto">
              <a:xfrm>
                <a:off x="8655" y="3817"/>
                <a:ext cx="2125" cy="1809"/>
                <a:chOff x="2948" y="12558"/>
                <a:chExt cx="2125" cy="1809"/>
              </a:xfrm>
            </p:grpSpPr>
            <p:sp>
              <p:nvSpPr>
                <p:cNvPr id="63" name="Text Box 212"/>
                <p:cNvSpPr txBox="1">
                  <a:spLocks noChangeArrowheads="1"/>
                </p:cNvSpPr>
                <p:nvPr/>
              </p:nvSpPr>
              <p:spPr bwMode="auto">
                <a:xfrm>
                  <a:off x="2963" y="12558"/>
                  <a:ext cx="2110" cy="18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18288" tIns="18288" rIns="18288" bIns="18288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ExternalAgent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b="1" dirty="0">
                      <a:effectLst/>
                      <a:latin typeface="Arial"/>
                      <a:ea typeface="Calibri"/>
                      <a:cs typeface="Times New Roman"/>
                    </a:rPr>
                    <a:t>Supplier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SupNum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 (PK)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-Sup-name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-Sup-add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-Sup-rating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64" name="AutoShape 213"/>
                <p:cNvCxnSpPr>
                  <a:cxnSpLocks noChangeShapeType="1"/>
                </p:cNvCxnSpPr>
                <p:nvPr/>
              </p:nvCxnSpPr>
              <p:spPr bwMode="auto">
                <a:xfrm>
                  <a:off x="2963" y="13009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5" name="AutoShape 214"/>
                <p:cNvCxnSpPr>
                  <a:cxnSpLocks noChangeShapeType="1"/>
                </p:cNvCxnSpPr>
                <p:nvPr/>
              </p:nvCxnSpPr>
              <p:spPr bwMode="auto">
                <a:xfrm>
                  <a:off x="2948" y="14150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4" name="Group 33"/>
              <p:cNvGrpSpPr>
                <a:grpSpLocks/>
              </p:cNvGrpSpPr>
              <p:nvPr/>
            </p:nvGrpSpPr>
            <p:grpSpPr bwMode="auto">
              <a:xfrm>
                <a:off x="8640" y="5837"/>
                <a:ext cx="2125" cy="1809"/>
                <a:chOff x="2948" y="12558"/>
                <a:chExt cx="2125" cy="1809"/>
              </a:xfrm>
            </p:grpSpPr>
            <p:sp>
              <p:nvSpPr>
                <p:cNvPr id="60" name="Text Box 216"/>
                <p:cNvSpPr txBox="1">
                  <a:spLocks noChangeArrowheads="1"/>
                </p:cNvSpPr>
                <p:nvPr/>
              </p:nvSpPr>
              <p:spPr bwMode="auto">
                <a:xfrm>
                  <a:off x="2963" y="12558"/>
                  <a:ext cx="2110" cy="18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18288" tIns="18288" rIns="18288" bIns="18288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InternalAgent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b="1" dirty="0">
                      <a:effectLst/>
                      <a:latin typeface="Arial"/>
                      <a:ea typeface="Calibri"/>
                      <a:cs typeface="Times New Roman"/>
                    </a:rPr>
                    <a:t>A/P Clerk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-AP-id (PK)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-AP-name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-AP-bond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61" name="AutoShape 217"/>
                <p:cNvCxnSpPr>
                  <a:cxnSpLocks noChangeShapeType="1"/>
                </p:cNvCxnSpPr>
                <p:nvPr/>
              </p:nvCxnSpPr>
              <p:spPr bwMode="auto">
                <a:xfrm>
                  <a:off x="2963" y="13009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" name="AutoShape 218"/>
                <p:cNvCxnSpPr>
                  <a:cxnSpLocks noChangeShapeType="1"/>
                </p:cNvCxnSpPr>
                <p:nvPr/>
              </p:nvCxnSpPr>
              <p:spPr bwMode="auto">
                <a:xfrm>
                  <a:off x="2948" y="14150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5" name="Group 34"/>
              <p:cNvGrpSpPr>
                <a:grpSpLocks/>
              </p:cNvGrpSpPr>
              <p:nvPr/>
            </p:nvGrpSpPr>
            <p:grpSpPr bwMode="auto">
              <a:xfrm>
                <a:off x="8640" y="7770"/>
                <a:ext cx="2125" cy="1809"/>
                <a:chOff x="2948" y="12558"/>
                <a:chExt cx="2125" cy="1809"/>
              </a:xfrm>
            </p:grpSpPr>
            <p:sp>
              <p:nvSpPr>
                <p:cNvPr id="57" name="Text Box 220"/>
                <p:cNvSpPr txBox="1">
                  <a:spLocks noChangeArrowheads="1"/>
                </p:cNvSpPr>
                <p:nvPr/>
              </p:nvSpPr>
              <p:spPr bwMode="auto">
                <a:xfrm>
                  <a:off x="2963" y="12558"/>
                  <a:ext cx="2110" cy="18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18288" tIns="18288" rIns="18288" bIns="18288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InternalAgent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b="1" dirty="0">
                      <a:effectLst/>
                      <a:latin typeface="Arial"/>
                      <a:ea typeface="Calibri"/>
                      <a:cs typeface="Times New Roman"/>
                    </a:rPr>
                    <a:t>Manager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Mgr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-id (PK)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Mgr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-name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Mgr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-degree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58" name="AutoShape 221"/>
                <p:cNvCxnSpPr>
                  <a:cxnSpLocks noChangeShapeType="1"/>
                </p:cNvCxnSpPr>
                <p:nvPr/>
              </p:nvCxnSpPr>
              <p:spPr bwMode="auto">
                <a:xfrm>
                  <a:off x="2963" y="13009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AutoShape 222"/>
                <p:cNvCxnSpPr>
                  <a:cxnSpLocks noChangeShapeType="1"/>
                </p:cNvCxnSpPr>
                <p:nvPr/>
              </p:nvCxnSpPr>
              <p:spPr bwMode="auto">
                <a:xfrm>
                  <a:off x="2948" y="14150"/>
                  <a:ext cx="211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36" name="AutoShape 223"/>
              <p:cNvCxnSpPr>
                <a:cxnSpLocks noChangeShapeType="1"/>
              </p:cNvCxnSpPr>
              <p:nvPr/>
            </p:nvCxnSpPr>
            <p:spPr bwMode="auto">
              <a:xfrm flipV="1">
                <a:off x="7145" y="2156"/>
                <a:ext cx="1525" cy="14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AutoShape 224"/>
              <p:cNvCxnSpPr>
                <a:cxnSpLocks noChangeShapeType="1"/>
              </p:cNvCxnSpPr>
              <p:nvPr/>
            </p:nvCxnSpPr>
            <p:spPr bwMode="auto">
              <a:xfrm>
                <a:off x="7130" y="3707"/>
                <a:ext cx="1540" cy="37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AutoShape 225"/>
              <p:cNvCxnSpPr>
                <a:cxnSpLocks noChangeShapeType="1"/>
              </p:cNvCxnSpPr>
              <p:nvPr/>
            </p:nvCxnSpPr>
            <p:spPr bwMode="auto">
              <a:xfrm flipV="1">
                <a:off x="7213" y="4268"/>
                <a:ext cx="1457" cy="294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AutoShape 226"/>
              <p:cNvCxnSpPr>
                <a:cxnSpLocks noChangeShapeType="1"/>
              </p:cNvCxnSpPr>
              <p:nvPr/>
            </p:nvCxnSpPr>
            <p:spPr bwMode="auto">
              <a:xfrm flipV="1">
                <a:off x="7213" y="5971"/>
                <a:ext cx="1457" cy="138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" name="AutoShape 227"/>
              <p:cNvCxnSpPr>
                <a:cxnSpLocks noChangeShapeType="1"/>
              </p:cNvCxnSpPr>
              <p:nvPr/>
            </p:nvCxnSpPr>
            <p:spPr bwMode="auto">
              <a:xfrm>
                <a:off x="7213" y="7355"/>
                <a:ext cx="1427" cy="65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1" name="Text Box 228"/>
              <p:cNvSpPr txBox="1">
                <a:spLocks noChangeArrowheads="1"/>
              </p:cNvSpPr>
              <p:nvPr/>
            </p:nvSpPr>
            <p:spPr bwMode="auto">
              <a:xfrm>
                <a:off x="7323" y="2851"/>
                <a:ext cx="93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 dirty="0">
                    <a:effectLst/>
                    <a:latin typeface="Arial"/>
                    <a:ea typeface="Calibri"/>
                    <a:cs typeface="Times New Roman"/>
                  </a:rPr>
                  <a:t>Participation</a:t>
                </a:r>
                <a:endParaRPr lang="en-US" sz="105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 dirty="0">
                    <a:effectLst/>
                    <a:latin typeface="Calibri"/>
                    <a:ea typeface="Calibri"/>
                    <a:cs typeface="Times New Roman"/>
                  </a:rPr>
                  <a:t> </a:t>
                </a:r>
              </a:p>
            </p:txBody>
          </p:sp>
          <p:sp>
            <p:nvSpPr>
              <p:cNvPr id="42" name="Text Box 229"/>
              <p:cNvSpPr txBox="1">
                <a:spLocks noChangeArrowheads="1"/>
              </p:cNvSpPr>
              <p:nvPr/>
            </p:nvSpPr>
            <p:spPr bwMode="auto">
              <a:xfrm>
                <a:off x="7316" y="3775"/>
                <a:ext cx="112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 dirty="0">
                    <a:effectLst/>
                    <a:latin typeface="Arial"/>
                    <a:ea typeface="Calibri"/>
                    <a:cs typeface="Times New Roman"/>
                  </a:rPr>
                  <a:t>Participation2</a:t>
                </a:r>
                <a:endParaRPr lang="en-US" sz="105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 dirty="0">
                    <a:effectLst/>
                    <a:latin typeface="Calibri"/>
                    <a:ea typeface="Calibri"/>
                    <a:cs typeface="Times New Roman"/>
                  </a:rPr>
                  <a:t> </a:t>
                </a:r>
              </a:p>
            </p:txBody>
          </p:sp>
          <p:sp>
            <p:nvSpPr>
              <p:cNvPr id="43" name="Text Box 230"/>
              <p:cNvSpPr txBox="1">
                <a:spLocks noChangeArrowheads="1"/>
              </p:cNvSpPr>
              <p:nvPr/>
            </p:nvSpPr>
            <p:spPr bwMode="auto">
              <a:xfrm>
                <a:off x="7323" y="5309"/>
                <a:ext cx="1120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 dirty="0">
                    <a:effectLst/>
                    <a:latin typeface="Arial"/>
                    <a:ea typeface="Calibri"/>
                    <a:cs typeface="Times New Roman"/>
                  </a:rPr>
                  <a:t>Participation3</a:t>
                </a:r>
                <a:endParaRPr lang="en-US" sz="105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 dirty="0">
                    <a:effectLst/>
                    <a:latin typeface="Calibri"/>
                    <a:ea typeface="Calibri"/>
                    <a:cs typeface="Times New Roman"/>
                  </a:rPr>
                  <a:t> </a:t>
                </a:r>
              </a:p>
            </p:txBody>
          </p:sp>
          <p:sp>
            <p:nvSpPr>
              <p:cNvPr id="44" name="Text Box 231"/>
              <p:cNvSpPr txBox="1">
                <a:spLocks noChangeArrowheads="1"/>
              </p:cNvSpPr>
              <p:nvPr/>
            </p:nvSpPr>
            <p:spPr bwMode="auto">
              <a:xfrm>
                <a:off x="7563" y="6420"/>
                <a:ext cx="1120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>
                    <a:effectLst/>
                    <a:latin typeface="Arial"/>
                    <a:ea typeface="Calibri"/>
                    <a:cs typeface="Times New Roman"/>
                  </a:rPr>
                  <a:t>Participation4</a:t>
                </a:r>
                <a:endParaRPr lang="en-US" sz="105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>
                    <a:effectLst/>
                    <a:latin typeface="Calibri"/>
                    <a:ea typeface="Calibri"/>
                    <a:cs typeface="Times New Roman"/>
                  </a:rPr>
                  <a:t> </a:t>
                </a:r>
              </a:p>
            </p:txBody>
          </p:sp>
          <p:sp>
            <p:nvSpPr>
              <p:cNvPr id="45" name="Text Box 232"/>
              <p:cNvSpPr txBox="1">
                <a:spLocks noChangeArrowheads="1"/>
              </p:cNvSpPr>
              <p:nvPr/>
            </p:nvSpPr>
            <p:spPr bwMode="auto">
              <a:xfrm>
                <a:off x="7323" y="7770"/>
                <a:ext cx="1120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>
                    <a:effectLst/>
                    <a:latin typeface="Arial"/>
                    <a:ea typeface="Calibri"/>
                    <a:cs typeface="Times New Roman"/>
                  </a:rPr>
                  <a:t>Participation5</a:t>
                </a:r>
                <a:endParaRPr lang="en-US" sz="1050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>
                    <a:effectLst/>
                    <a:latin typeface="Calibri"/>
                    <a:ea typeface="Calibri"/>
                    <a:cs typeface="Times New Roman"/>
                  </a:rPr>
                  <a:t> </a:t>
                </a:r>
              </a:p>
            </p:txBody>
          </p:sp>
          <p:grpSp>
            <p:nvGrpSpPr>
              <p:cNvPr id="46" name="Group 45"/>
              <p:cNvGrpSpPr>
                <a:grpSpLocks/>
              </p:cNvGrpSpPr>
              <p:nvPr/>
            </p:nvGrpSpPr>
            <p:grpSpPr bwMode="auto">
              <a:xfrm>
                <a:off x="3523" y="5176"/>
                <a:ext cx="1300" cy="1027"/>
                <a:chOff x="3921" y="3355"/>
                <a:chExt cx="1300" cy="1027"/>
              </a:xfrm>
            </p:grpSpPr>
            <p:cxnSp>
              <p:nvCxnSpPr>
                <p:cNvPr id="55" name="AutoShape 234"/>
                <p:cNvCxnSpPr>
                  <a:cxnSpLocks noChangeShapeType="1"/>
                </p:cNvCxnSpPr>
                <p:nvPr/>
              </p:nvCxnSpPr>
              <p:spPr bwMode="auto">
                <a:xfrm>
                  <a:off x="3935" y="3584"/>
                  <a:ext cx="1275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6" name="Text Box 235"/>
                <p:cNvSpPr txBox="1">
                  <a:spLocks noChangeArrowheads="1"/>
                </p:cNvSpPr>
                <p:nvPr/>
              </p:nvSpPr>
              <p:spPr bwMode="auto">
                <a:xfrm>
                  <a:off x="3921" y="3355"/>
                  <a:ext cx="1300" cy="1027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Stockflow2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 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-oh-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qty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purch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p:grpSp>
          <p:grpSp>
            <p:nvGrpSpPr>
              <p:cNvPr id="47" name="Group 46"/>
              <p:cNvGrpSpPr>
                <a:grpSpLocks/>
              </p:cNvGrpSpPr>
              <p:nvPr/>
            </p:nvGrpSpPr>
            <p:grpSpPr bwMode="auto">
              <a:xfrm>
                <a:off x="6046" y="5542"/>
                <a:ext cx="1281" cy="1013"/>
                <a:chOff x="3935" y="3355"/>
                <a:chExt cx="1281" cy="1013"/>
              </a:xfrm>
            </p:grpSpPr>
            <p:cxnSp>
              <p:nvCxnSpPr>
                <p:cNvPr id="53" name="AutoShape 237"/>
                <p:cNvCxnSpPr>
                  <a:cxnSpLocks noChangeShapeType="1"/>
                </p:cNvCxnSpPr>
                <p:nvPr/>
              </p:nvCxnSpPr>
              <p:spPr bwMode="auto">
                <a:xfrm>
                  <a:off x="3935" y="3584"/>
                  <a:ext cx="1275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4" name="Text Box 238"/>
                <p:cNvSpPr txBox="1">
                  <a:spLocks noChangeArrowheads="1"/>
                </p:cNvSpPr>
                <p:nvPr/>
              </p:nvSpPr>
              <p:spPr bwMode="auto">
                <a:xfrm>
                  <a:off x="3935" y="3355"/>
                  <a:ext cx="1281" cy="1013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Duality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-cd-</a:t>
                  </a:r>
                  <a:r>
                    <a:rPr lang="en-US" sz="1050" dirty="0" err="1">
                      <a:effectLst/>
                      <a:latin typeface="Arial"/>
                      <a:ea typeface="Calibri"/>
                      <a:cs typeface="Times New Roman"/>
                    </a:rPr>
                    <a:t>acq</a:t>
                  </a:r>
                  <a:r>
                    <a:rPr lang="en-US" sz="1050" dirty="0">
                      <a:effectLst/>
                      <a:latin typeface="Arial"/>
                      <a:ea typeface="Calibri"/>
                      <a:cs typeface="Times New Roman"/>
                    </a:rPr>
                    <a:t>-applied</a:t>
                  </a:r>
                  <a:endParaRPr lang="en-US" sz="105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marL="0" marR="0"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050" dirty="0">
                      <a:effectLst/>
                      <a:latin typeface="Calibri"/>
                      <a:ea typeface="Calibri"/>
                      <a:cs typeface="Times New Roman"/>
                    </a:rPr>
                    <a:t> </a:t>
                  </a:r>
                </a:p>
              </p:txBody>
            </p:sp>
          </p:grpSp>
          <p:cxnSp>
            <p:nvCxnSpPr>
              <p:cNvPr id="48" name="AutoShape 239"/>
              <p:cNvCxnSpPr>
                <a:cxnSpLocks noChangeShapeType="1"/>
              </p:cNvCxnSpPr>
              <p:nvPr/>
            </p:nvCxnSpPr>
            <p:spPr bwMode="auto">
              <a:xfrm>
                <a:off x="3243" y="3707"/>
                <a:ext cx="1777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AutoShape 240"/>
              <p:cNvCxnSpPr>
                <a:cxnSpLocks noChangeShapeType="1"/>
              </p:cNvCxnSpPr>
              <p:nvPr/>
            </p:nvCxnSpPr>
            <p:spPr bwMode="auto">
              <a:xfrm>
                <a:off x="3265" y="4746"/>
                <a:ext cx="175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AutoShape 241"/>
              <p:cNvCxnSpPr>
                <a:cxnSpLocks noChangeShapeType="1"/>
              </p:cNvCxnSpPr>
              <p:nvPr/>
            </p:nvCxnSpPr>
            <p:spPr bwMode="auto">
              <a:xfrm>
                <a:off x="4184" y="3034"/>
                <a:ext cx="0" cy="67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AutoShape 242"/>
              <p:cNvCxnSpPr>
                <a:cxnSpLocks noChangeShapeType="1"/>
              </p:cNvCxnSpPr>
              <p:nvPr/>
            </p:nvCxnSpPr>
            <p:spPr bwMode="auto">
              <a:xfrm>
                <a:off x="4184" y="4746"/>
                <a:ext cx="0" cy="43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AutoShape 243"/>
              <p:cNvCxnSpPr>
                <a:cxnSpLocks noChangeShapeType="1"/>
              </p:cNvCxnSpPr>
              <p:nvPr/>
            </p:nvCxnSpPr>
            <p:spPr bwMode="auto">
              <a:xfrm>
                <a:off x="5704" y="5971"/>
                <a:ext cx="34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2526309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152400"/>
            <a:ext cx="7988300" cy="1143000"/>
          </a:xfrm>
        </p:spPr>
        <p:txBody>
          <a:bodyPr/>
          <a:lstStyle/>
          <a:p>
            <a:r>
              <a:rPr lang="en-US" sz="4000" dirty="0"/>
              <a:t>Revenue Core Pattern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2F339-EE28-49D8-8B99-0D353E2D97AC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21</a:t>
            </a:fld>
            <a:endParaRPr lang="en-US" dirty="0">
              <a:solidFill>
                <a:srgbClr val="19138D"/>
              </a:solidFill>
            </a:endParaRPr>
          </a:p>
        </p:txBody>
      </p: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831273" y="1623397"/>
            <a:ext cx="7564581" cy="3893127"/>
            <a:chOff x="1512" y="9124"/>
            <a:chExt cx="8799" cy="2983"/>
          </a:xfrm>
        </p:grpSpPr>
        <p:sp>
          <p:nvSpPr>
            <p:cNvPr id="18" name="Text Box 312"/>
            <p:cNvSpPr txBox="1">
              <a:spLocks noChangeArrowheads="1"/>
            </p:cNvSpPr>
            <p:nvPr/>
          </p:nvSpPr>
          <p:spPr bwMode="auto">
            <a:xfrm>
              <a:off x="6962" y="11472"/>
              <a:ext cx="1764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Participation4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9" name="Text Box 316"/>
            <p:cNvSpPr txBox="1">
              <a:spLocks noChangeArrowheads="1"/>
            </p:cNvSpPr>
            <p:nvPr/>
          </p:nvSpPr>
          <p:spPr bwMode="auto">
            <a:xfrm>
              <a:off x="5292" y="10206"/>
              <a:ext cx="973" cy="5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Duality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0" name="Text Box 317"/>
            <p:cNvSpPr txBox="1">
              <a:spLocks noChangeArrowheads="1"/>
            </p:cNvSpPr>
            <p:nvPr/>
          </p:nvSpPr>
          <p:spPr bwMode="auto">
            <a:xfrm>
              <a:off x="7046" y="10631"/>
              <a:ext cx="1764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Participation3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1" name="Text Box 318"/>
            <p:cNvSpPr txBox="1">
              <a:spLocks noChangeArrowheads="1"/>
            </p:cNvSpPr>
            <p:nvPr/>
          </p:nvSpPr>
          <p:spPr bwMode="auto">
            <a:xfrm>
              <a:off x="6962" y="10128"/>
              <a:ext cx="1763" cy="4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Participation2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2" name="Text Box 319"/>
            <p:cNvSpPr txBox="1">
              <a:spLocks noChangeArrowheads="1"/>
            </p:cNvSpPr>
            <p:nvPr/>
          </p:nvSpPr>
          <p:spPr bwMode="auto">
            <a:xfrm>
              <a:off x="7046" y="9559"/>
              <a:ext cx="1764" cy="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Participation1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3" name="Text Box 325"/>
            <p:cNvSpPr txBox="1">
              <a:spLocks noChangeArrowheads="1"/>
            </p:cNvSpPr>
            <p:nvPr/>
          </p:nvSpPr>
          <p:spPr bwMode="auto">
            <a:xfrm>
              <a:off x="3551" y="11235"/>
              <a:ext cx="1395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Stockflow2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4" name="Text Box 326"/>
            <p:cNvSpPr txBox="1">
              <a:spLocks noChangeArrowheads="1"/>
            </p:cNvSpPr>
            <p:nvPr/>
          </p:nvSpPr>
          <p:spPr bwMode="auto">
            <a:xfrm>
              <a:off x="3505" y="9661"/>
              <a:ext cx="1395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Stockflow1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5" name="Text Box 334"/>
            <p:cNvSpPr txBox="1">
              <a:spLocks noChangeArrowheads="1"/>
            </p:cNvSpPr>
            <p:nvPr/>
          </p:nvSpPr>
          <p:spPr bwMode="auto">
            <a:xfrm>
              <a:off x="1512" y="9358"/>
              <a:ext cx="1796" cy="9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&lt;&lt;Resource&gt;&gt; or &lt;&lt;ResourceType&gt;&gt;</a:t>
              </a:r>
              <a:br>
                <a:rPr lang="en-US" sz="11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Goods or Services 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6" name="Text Box 336"/>
            <p:cNvSpPr txBox="1">
              <a:spLocks noChangeArrowheads="1"/>
            </p:cNvSpPr>
            <p:nvPr/>
          </p:nvSpPr>
          <p:spPr bwMode="auto">
            <a:xfrm>
              <a:off x="1512" y="10799"/>
              <a:ext cx="1796" cy="8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&lt;&lt;Resource&gt;&gt;</a:t>
              </a:r>
              <a:br>
                <a:rPr lang="en-US" sz="11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Cash Account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7" name="Text Box 338"/>
            <p:cNvSpPr txBox="1">
              <a:spLocks noChangeArrowheads="1"/>
            </p:cNvSpPr>
            <p:nvPr/>
          </p:nvSpPr>
          <p:spPr bwMode="auto">
            <a:xfrm>
              <a:off x="8514" y="9124"/>
              <a:ext cx="1797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11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Salesperson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8" name="Text Box 339"/>
            <p:cNvSpPr txBox="1">
              <a:spLocks noChangeArrowheads="1"/>
            </p:cNvSpPr>
            <p:nvPr/>
          </p:nvSpPr>
          <p:spPr bwMode="auto">
            <a:xfrm>
              <a:off x="8503" y="11269"/>
              <a:ext cx="1797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11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Cashier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9" name="Text Box 340"/>
            <p:cNvSpPr txBox="1">
              <a:spLocks noChangeArrowheads="1"/>
            </p:cNvSpPr>
            <p:nvPr/>
          </p:nvSpPr>
          <p:spPr bwMode="auto">
            <a:xfrm>
              <a:off x="8514" y="10195"/>
              <a:ext cx="1797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&lt;&lt;ExternalAgent&gt;&gt;</a:t>
              </a:r>
              <a:br>
                <a:rPr lang="en-US" sz="11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Customer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30" name="AutoShape 343"/>
            <p:cNvCxnSpPr>
              <a:cxnSpLocks noChangeShapeType="1"/>
            </p:cNvCxnSpPr>
            <p:nvPr/>
          </p:nvCxnSpPr>
          <p:spPr bwMode="auto">
            <a:xfrm>
              <a:off x="3308" y="9659"/>
              <a:ext cx="1668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344"/>
            <p:cNvCxnSpPr>
              <a:cxnSpLocks noChangeShapeType="1"/>
            </p:cNvCxnSpPr>
            <p:nvPr/>
          </p:nvCxnSpPr>
          <p:spPr bwMode="auto">
            <a:xfrm>
              <a:off x="3308" y="11269"/>
              <a:ext cx="1668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AutoShape 350"/>
            <p:cNvCxnSpPr>
              <a:cxnSpLocks noChangeShapeType="1"/>
            </p:cNvCxnSpPr>
            <p:nvPr/>
          </p:nvCxnSpPr>
          <p:spPr bwMode="auto">
            <a:xfrm>
              <a:off x="6821" y="9961"/>
              <a:ext cx="1689" cy="2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AutoShape 351"/>
            <p:cNvCxnSpPr>
              <a:cxnSpLocks noChangeShapeType="1"/>
            </p:cNvCxnSpPr>
            <p:nvPr/>
          </p:nvCxnSpPr>
          <p:spPr bwMode="auto">
            <a:xfrm flipV="1">
              <a:off x="6814" y="10928"/>
              <a:ext cx="169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AutoShape 352"/>
            <p:cNvCxnSpPr>
              <a:cxnSpLocks noChangeShapeType="1"/>
            </p:cNvCxnSpPr>
            <p:nvPr/>
          </p:nvCxnSpPr>
          <p:spPr bwMode="auto">
            <a:xfrm>
              <a:off x="6784" y="11269"/>
              <a:ext cx="1719" cy="3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AutoShape 353"/>
            <p:cNvCxnSpPr>
              <a:cxnSpLocks noChangeShapeType="1"/>
            </p:cNvCxnSpPr>
            <p:nvPr/>
          </p:nvCxnSpPr>
          <p:spPr bwMode="auto">
            <a:xfrm>
              <a:off x="6762" y="9587"/>
              <a:ext cx="176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Text Box 354"/>
            <p:cNvSpPr txBox="1">
              <a:spLocks noChangeArrowheads="1"/>
            </p:cNvSpPr>
            <p:nvPr/>
          </p:nvSpPr>
          <p:spPr bwMode="auto">
            <a:xfrm>
              <a:off x="4900" y="10766"/>
              <a:ext cx="1974" cy="8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&lt;&lt;EconomicIncrement&gt;&gt;</a:t>
              </a:r>
              <a:br>
                <a:rPr lang="en-US" sz="11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Cash Receipt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37" name="Text Box 372"/>
            <p:cNvSpPr txBox="1">
              <a:spLocks noChangeArrowheads="1"/>
            </p:cNvSpPr>
            <p:nvPr/>
          </p:nvSpPr>
          <p:spPr bwMode="auto">
            <a:xfrm>
              <a:off x="4849" y="9292"/>
              <a:ext cx="2113" cy="8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&lt;&lt;EconomicDecrement&gt;&gt;</a:t>
              </a:r>
              <a:br>
                <a:rPr lang="en-US" sz="11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1100">
                  <a:effectLst/>
                  <a:latin typeface="Arial"/>
                  <a:ea typeface="Calibri"/>
                  <a:cs typeface="Times New Roman"/>
                </a:rPr>
                <a:t>Sale or Service Engagement or Rental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38" name="AutoShape 345"/>
            <p:cNvCxnSpPr>
              <a:cxnSpLocks noChangeShapeType="1"/>
            </p:cNvCxnSpPr>
            <p:nvPr/>
          </p:nvCxnSpPr>
          <p:spPr bwMode="auto">
            <a:xfrm>
              <a:off x="5970" y="10129"/>
              <a:ext cx="15" cy="6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544907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22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97180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25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743200"/>
            <a:ext cx="12700" cy="190500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849880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835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23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7696200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dirty="0"/>
              <a:t>Expansions to the Core REA Business Process level model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1638300"/>
            <a:ext cx="7962900" cy="4267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Additional Events</a:t>
            </a:r>
          </a:p>
          <a:p>
            <a:pPr lvl="1" eaLnBrk="1" hangingPunct="1"/>
            <a:r>
              <a:rPr lang="en-US" dirty="0"/>
              <a:t>Instigation Event</a:t>
            </a:r>
          </a:p>
          <a:p>
            <a:pPr lvl="2" eaLnBrk="1" hangingPunct="1"/>
            <a:r>
              <a:rPr lang="en-US" dirty="0"/>
              <a:t>An event that initiates activities in the business process; may be internally instigated (e.g. a marketing event) or externally instigated (call from supplier’s salesperson)</a:t>
            </a:r>
          </a:p>
          <a:p>
            <a:pPr lvl="1" eaLnBrk="1" hangingPunct="1"/>
            <a:r>
              <a:rPr lang="en-US" dirty="0"/>
              <a:t>Commitment Event</a:t>
            </a:r>
          </a:p>
          <a:p>
            <a:pPr lvl="2" eaLnBrk="1" hangingPunct="1"/>
            <a:r>
              <a:rPr lang="en-US" dirty="0"/>
              <a:t>An event in which commitments are made by the enterprise or by one of its external business partners for part of a future economic exchange</a:t>
            </a:r>
          </a:p>
          <a:p>
            <a:pPr lvl="2" eaLnBrk="1" hangingPunct="1"/>
            <a:r>
              <a:rPr lang="en-US" dirty="0"/>
              <a:t>Often the commitments by the enterprise and its partner are combined into a Mutual Commitment Event</a:t>
            </a:r>
          </a:p>
        </p:txBody>
      </p:sp>
    </p:spTree>
    <p:extLst>
      <p:ext uri="{BB962C8B-B14F-4D97-AF65-F5344CB8AC3E}">
        <p14:creationId xmlns:p14="http://schemas.microsoft.com/office/powerpoint/2010/main" val="1199632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24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95656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29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743200"/>
            <a:ext cx="12700" cy="190500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849880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6978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25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7696200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dirty="0"/>
              <a:t>Expansions to the Core REA Business Process level model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1638300"/>
            <a:ext cx="7962900" cy="4267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Additional Events</a:t>
            </a:r>
          </a:p>
          <a:p>
            <a:pPr lvl="1" eaLnBrk="1" hangingPunct="1"/>
            <a:r>
              <a:rPr lang="en-US" dirty="0"/>
              <a:t>Economic Reversal Events</a:t>
            </a:r>
          </a:p>
          <a:p>
            <a:pPr lvl="2" eaLnBrk="1" hangingPunct="1"/>
            <a:r>
              <a:rPr lang="en-US" dirty="0"/>
              <a:t>Economic increment reversal events reverse economic increment events (e.g. a purchase return reverses a purchase event)</a:t>
            </a:r>
          </a:p>
          <a:p>
            <a:pPr lvl="2" eaLnBrk="1" hangingPunct="1"/>
            <a:r>
              <a:rPr lang="en-US" dirty="0"/>
              <a:t>Economic decrement reversal events reverse economic decrement events (e.g. a sale return reverses a sale event)</a:t>
            </a:r>
          </a:p>
        </p:txBody>
      </p:sp>
    </p:spTree>
    <p:extLst>
      <p:ext uri="{BB962C8B-B14F-4D97-AF65-F5344CB8AC3E}">
        <p14:creationId xmlns:p14="http://schemas.microsoft.com/office/powerpoint/2010/main" val="1150135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26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89560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31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743200"/>
            <a:ext cx="12700" cy="190500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849880"/>
            <a:ext cx="828675" cy="257175"/>
          </a:xfrm>
          <a:prstGeom prst="rect">
            <a:avLst/>
          </a:prstGeom>
          <a:noFill/>
          <a:ln w="952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5743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181F919-4898-4DEF-8855-63698AEB8EEE}" type="slidenum">
              <a:rPr lang="en-US" smtClean="0">
                <a:solidFill>
                  <a:srgbClr val="19138D"/>
                </a:solidFill>
              </a:rPr>
              <a:pPr eaLnBrk="1" hangingPunct="1"/>
              <a:t>27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1487488"/>
            <a:ext cx="8010525" cy="47164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Additional Associations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Event-Event relationships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Fulfillment (link instigation events to commitment events and link commitment events to economic events)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Reversal (link economic events to the events that reverse them)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Reciprocal (link increment and decrement commitment events)</a:t>
            </a:r>
          </a:p>
          <a:p>
            <a:pPr lvl="3" eaLnBrk="1" hangingPunct="1">
              <a:lnSpc>
                <a:spcPct val="90000"/>
              </a:lnSpc>
            </a:pPr>
            <a:r>
              <a:rPr lang="en-US" dirty="0"/>
              <a:t>Is the commitment-level equivalent of duality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Event-Resource relationships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Proposition (link instigation events to resources or resource types)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Reservation (link commitment events to resources or resource types)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066800" y="1524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dirty="0"/>
              <a:t>Expansions to the Core REA Business Process level model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28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304800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74320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26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667000"/>
            <a:ext cx="12700" cy="1905000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773680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4789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29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89560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300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743200"/>
            <a:ext cx="12700" cy="190500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849880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8262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30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19011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18071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19011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2192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09511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06705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43865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7338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09511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18071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19011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2197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3721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2192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336222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971800" y="4674553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568575" y="3535997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3844608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296410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153410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294573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732914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2890203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1880553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2818448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1767840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738755"/>
            <a:ext cx="0" cy="4419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729355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493520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464435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333115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445635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464435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455034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455034"/>
            <a:ext cx="12700" cy="2038985"/>
          </a:xfrm>
          <a:prstGeom prst="bentConnector3">
            <a:avLst>
              <a:gd name="adj1" fmla="val 29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738755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493520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493520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464435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464435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341370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1767840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738755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455035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341370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369435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494020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341370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32588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176784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294573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276288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187700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53568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399288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32371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49650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31558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18735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28060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4" name="Elbow Connector 3"/>
          <p:cNvCxnSpPr>
            <a:stCxn id="16" idx="1"/>
            <a:endCxn id="14" idx="1"/>
          </p:cNvCxnSpPr>
          <p:nvPr/>
        </p:nvCxnSpPr>
        <p:spPr>
          <a:xfrm rot="10800000" flipV="1">
            <a:off x="3840480" y="2464435"/>
            <a:ext cx="12700" cy="1905000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Box 395"/>
          <p:cNvSpPr txBox="1">
            <a:spLocks noChangeArrowheads="1"/>
          </p:cNvSpPr>
          <p:nvPr/>
        </p:nvSpPr>
        <p:spPr bwMode="auto">
          <a:xfrm>
            <a:off x="2981325" y="2571115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4400" y="594360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Reciprocal not shown; instead, commitment event is a mutual commitment, fulfilled by both economic increment and decrement events</a:t>
            </a:r>
          </a:p>
        </p:txBody>
      </p:sp>
    </p:spTree>
    <p:extLst>
      <p:ext uri="{BB962C8B-B14F-4D97-AF65-F5344CB8AC3E}">
        <p14:creationId xmlns:p14="http://schemas.microsoft.com/office/powerpoint/2010/main" val="3410514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9BCC864-8F33-426A-B801-F0375AD39C1F}" type="slidenum">
              <a:rPr lang="en-US" smtClean="0">
                <a:solidFill>
                  <a:srgbClr val="19138D"/>
                </a:solidFill>
              </a:rPr>
              <a:pPr eaLnBrk="1" hangingPunct="1"/>
              <a:t>31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4588" y="1333500"/>
            <a:ext cx="7399337" cy="4714875"/>
          </a:xfrm>
        </p:spPr>
        <p:txBody>
          <a:bodyPr/>
          <a:lstStyle/>
          <a:p>
            <a:pPr eaLnBrk="1" hangingPunct="1"/>
            <a:r>
              <a:rPr lang="en-US" dirty="0"/>
              <a:t>Additional Associations</a:t>
            </a:r>
          </a:p>
          <a:p>
            <a:pPr lvl="1" eaLnBrk="1" hangingPunct="1"/>
            <a:r>
              <a:rPr lang="en-US" dirty="0"/>
              <a:t>Agent-Agent relationships</a:t>
            </a:r>
          </a:p>
          <a:p>
            <a:pPr lvl="2" eaLnBrk="1" hangingPunct="1"/>
            <a:r>
              <a:rPr lang="en-US" dirty="0"/>
              <a:t>Assignment (link internal agent to external agent)</a:t>
            </a:r>
          </a:p>
          <a:p>
            <a:pPr lvl="3" eaLnBrk="1" hangingPunct="1"/>
            <a:r>
              <a:rPr lang="en-US" dirty="0"/>
              <a:t>Use only when relationship between internal agent and external agent exists independently of their mutual participation in an event</a:t>
            </a:r>
          </a:p>
          <a:p>
            <a:pPr lvl="2" eaLnBrk="1" hangingPunct="1"/>
            <a:r>
              <a:rPr lang="en-US" dirty="0"/>
              <a:t>Responsibility (link internal agent to internal agent)</a:t>
            </a:r>
          </a:p>
          <a:p>
            <a:pPr lvl="3" eaLnBrk="1" hangingPunct="1"/>
            <a:r>
              <a:rPr lang="en-US" dirty="0"/>
              <a:t>Use when one internal agent is responsible for another, independent of their mutual participation in an event</a:t>
            </a:r>
          </a:p>
          <a:p>
            <a:pPr lvl="1" eaLnBrk="1" hangingPunct="1"/>
            <a:r>
              <a:rPr lang="en-US" dirty="0"/>
              <a:t>Resource-Agent relationships</a:t>
            </a:r>
          </a:p>
          <a:p>
            <a:pPr lvl="2" eaLnBrk="1" hangingPunct="1"/>
            <a:r>
              <a:rPr lang="en-US" dirty="0"/>
              <a:t>Custody (link resource and internal agent)</a:t>
            </a:r>
          </a:p>
          <a:p>
            <a:pPr lvl="3" eaLnBrk="1" hangingPunct="1"/>
            <a:r>
              <a:rPr lang="en-US" dirty="0"/>
              <a:t>Use when an internal agent’s responsibility for a resource needs to be tracked independently of any event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32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InternalAgent</a:t>
            </a: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97180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25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743200"/>
            <a:ext cx="12700" cy="190500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849880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7845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33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97180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25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743200"/>
            <a:ext cx="12700" cy="190500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849880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8716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34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97180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25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743200"/>
            <a:ext cx="12700" cy="190500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849880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3" name="Elbow Connector 2"/>
          <p:cNvCxnSpPr>
            <a:stCxn id="6" idx="0"/>
            <a:endCxn id="9" idx="0"/>
          </p:cNvCxnSpPr>
          <p:nvPr/>
        </p:nvCxnSpPr>
        <p:spPr>
          <a:xfrm rot="5400000" flipH="1" flipV="1">
            <a:off x="3903663" y="-698817"/>
            <a:ext cx="970915" cy="5303520"/>
          </a:xfrm>
          <a:prstGeom prst="bentConnector3">
            <a:avLst>
              <a:gd name="adj1" fmla="val 123545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392"/>
          <p:cNvSpPr txBox="1">
            <a:spLocks noChangeArrowheads="1"/>
          </p:cNvSpPr>
          <p:nvPr/>
        </p:nvSpPr>
        <p:spPr bwMode="auto">
          <a:xfrm>
            <a:off x="2629852" y="1318260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Custody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30507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16AE4F-75BB-47FE-AC8B-23B0E809FDD4}" type="slidenum">
              <a:rPr lang="en-US" smtClean="0">
                <a:solidFill>
                  <a:srgbClr val="19138D"/>
                </a:solidFill>
              </a:rPr>
              <a:pPr eaLnBrk="1" hangingPunct="1"/>
              <a:t>35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5050" y="1401763"/>
            <a:ext cx="7456488" cy="4914900"/>
          </a:xfrm>
        </p:spPr>
        <p:txBody>
          <a:bodyPr/>
          <a:lstStyle/>
          <a:p>
            <a:pPr eaLnBrk="1" hangingPunct="1"/>
            <a:r>
              <a:rPr lang="en-US" dirty="0"/>
              <a:t>Additional Associations</a:t>
            </a:r>
          </a:p>
          <a:p>
            <a:pPr lvl="1" eaLnBrk="1" hangingPunct="1"/>
            <a:r>
              <a:rPr lang="en-US" dirty="0"/>
              <a:t>Resource-Resource relationships</a:t>
            </a:r>
          </a:p>
          <a:p>
            <a:pPr lvl="2" eaLnBrk="1" hangingPunct="1"/>
            <a:r>
              <a:rPr lang="en-US" dirty="0"/>
              <a:t>Linkage (link two resources)</a:t>
            </a:r>
          </a:p>
          <a:p>
            <a:pPr lvl="3" eaLnBrk="1" hangingPunct="1"/>
            <a:r>
              <a:rPr lang="en-US" dirty="0"/>
              <a:t>Use to identify resource made up of another resource</a:t>
            </a:r>
          </a:p>
          <a:p>
            <a:pPr lvl="1" eaLnBrk="1" hangingPunct="1"/>
            <a:r>
              <a:rPr lang="en-US" dirty="0"/>
              <a:t>Typification</a:t>
            </a:r>
          </a:p>
          <a:p>
            <a:pPr lvl="2" eaLnBrk="1" hangingPunct="1"/>
            <a:r>
              <a:rPr lang="en-US" dirty="0"/>
              <a:t>Each resource, event, or agent can be related to a resource type, event type, or agent type</a:t>
            </a:r>
          </a:p>
          <a:p>
            <a:pPr lvl="1" eaLnBrk="1" hangingPunct="1"/>
            <a:r>
              <a:rPr lang="en-US" dirty="0"/>
              <a:t>Event-Agent relationships between the added events and internal and agents who participate in them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76300" y="1905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dirty="0"/>
              <a:t>Expansions to the Core REA Business Process level model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36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ResourceType</a:t>
            </a: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97180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25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743200"/>
            <a:ext cx="12700" cy="190500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849880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11430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Linkage </a:t>
            </a:r>
            <a:r>
              <a:rPr lang="en-US">
                <a:solidFill>
                  <a:srgbClr val="FF0000"/>
                </a:solidFill>
              </a:rPr>
              <a:t>not shown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945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13CD42-0585-4FFE-9183-BD19C9B24C39}" type="slidenum">
              <a:rPr lang="en-US" smtClean="0">
                <a:solidFill>
                  <a:srgbClr val="19138D"/>
                </a:solidFill>
              </a:rPr>
              <a:pPr eaLnBrk="1" hangingPunct="1"/>
              <a:t>37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Expansions to the Core REA Business Process level model (core = green)</a:t>
            </a:r>
          </a:p>
        </p:txBody>
      </p:sp>
      <p:sp>
        <p:nvSpPr>
          <p:cNvPr id="6" name="Text Box 397"/>
          <p:cNvSpPr txBox="1">
            <a:spLocks noChangeArrowheads="1"/>
          </p:cNvSpPr>
          <p:nvPr/>
        </p:nvSpPr>
        <p:spPr bwMode="auto">
          <a:xfrm>
            <a:off x="1097280" y="2438400"/>
            <a:ext cx="12801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effectLst/>
                <a:latin typeface="Arial"/>
                <a:ea typeface="Calibri"/>
                <a:cs typeface="Times New Roman"/>
              </a:rPr>
              <a:t>&lt;&lt;ResourceType&gt;&gt;</a:t>
            </a:r>
            <a:br>
              <a:rPr lang="en-US" sz="900"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98"/>
          <p:cNvSpPr txBox="1">
            <a:spLocks noChangeArrowheads="1"/>
          </p:cNvSpPr>
          <p:nvPr/>
        </p:nvSpPr>
        <p:spPr bwMode="auto">
          <a:xfrm>
            <a:off x="10972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 Box 399"/>
          <p:cNvSpPr txBox="1">
            <a:spLocks noChangeArrowheads="1"/>
          </p:cNvSpPr>
          <p:nvPr/>
        </p:nvSpPr>
        <p:spPr bwMode="auto">
          <a:xfrm>
            <a:off x="6400799" y="2438400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 Box 400"/>
          <p:cNvSpPr txBox="1">
            <a:spLocks noChangeArrowheads="1"/>
          </p:cNvSpPr>
          <p:nvPr/>
        </p:nvSpPr>
        <p:spPr bwMode="auto">
          <a:xfrm>
            <a:off x="6400800" y="14674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0" name="Text Box 401"/>
          <p:cNvSpPr txBox="1">
            <a:spLocks noChangeArrowheads="1"/>
          </p:cNvSpPr>
          <p:nvPr/>
        </p:nvSpPr>
        <p:spPr bwMode="auto">
          <a:xfrm>
            <a:off x="10972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36576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&lt;&lt;Resource&gt;&gt;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Text Box 403"/>
          <p:cNvSpPr txBox="1">
            <a:spLocks noChangeArrowheads="1"/>
          </p:cNvSpPr>
          <p:nvPr/>
        </p:nvSpPr>
        <p:spPr bwMode="auto">
          <a:xfrm>
            <a:off x="6400799" y="331533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&lt;&lt;ExternalAgent&gt;&gt;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404"/>
          <p:cNvSpPr txBox="1">
            <a:spLocks noChangeArrowheads="1"/>
          </p:cNvSpPr>
          <p:nvPr/>
        </p:nvSpPr>
        <p:spPr bwMode="auto">
          <a:xfrm>
            <a:off x="6400799" y="468693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ext Box 405"/>
          <p:cNvSpPr txBox="1">
            <a:spLocks noChangeArrowheads="1"/>
          </p:cNvSpPr>
          <p:nvPr/>
        </p:nvSpPr>
        <p:spPr bwMode="auto">
          <a:xfrm>
            <a:off x="6400799" y="3982085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4" name="Text Box 419"/>
          <p:cNvSpPr txBox="1">
            <a:spLocks noChangeArrowheads="1"/>
          </p:cNvSpPr>
          <p:nvPr/>
        </p:nvSpPr>
        <p:spPr bwMode="auto">
          <a:xfrm>
            <a:off x="3840480" y="43434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&lt;&lt;EconomicDecrement&gt;&gt;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5" name="Text Box 420"/>
          <p:cNvSpPr txBox="1">
            <a:spLocks noChangeArrowheads="1"/>
          </p:cNvSpPr>
          <p:nvPr/>
        </p:nvSpPr>
        <p:spPr bwMode="auto">
          <a:xfrm>
            <a:off x="3840480" y="3429000"/>
            <a:ext cx="128016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&lt;&lt;EconomicIncrement&gt;&gt;</a:t>
            </a:r>
            <a:br>
              <a:rPr lang="en-US" sz="90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Text Box 421"/>
          <p:cNvSpPr txBox="1">
            <a:spLocks noChangeArrowheads="1"/>
          </p:cNvSpPr>
          <p:nvPr/>
        </p:nvSpPr>
        <p:spPr bwMode="auto">
          <a:xfrm>
            <a:off x="3840480" y="2438400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&lt;&lt;CommitmentEvent&gt;&gt;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7" name="Text Box 423"/>
          <p:cNvSpPr txBox="1">
            <a:spLocks noChangeArrowheads="1"/>
          </p:cNvSpPr>
          <p:nvPr/>
        </p:nvSpPr>
        <p:spPr bwMode="auto">
          <a:xfrm>
            <a:off x="3840480" y="54679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27432" tIns="36576" rIns="27432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&lt;&lt;EconomicReversal&gt;&gt;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8" name="Text Box 432"/>
          <p:cNvSpPr txBox="1">
            <a:spLocks noChangeArrowheads="1"/>
          </p:cNvSpPr>
          <p:nvPr/>
        </p:nvSpPr>
        <p:spPr bwMode="auto">
          <a:xfrm>
            <a:off x="6400799" y="56203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&lt;&lt;InternalAgent&gt;&gt;</a:t>
            </a:r>
            <a:br>
              <a:rPr lang="en-US" sz="90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9" name="Text Box 402"/>
          <p:cNvSpPr txBox="1">
            <a:spLocks noChangeArrowheads="1"/>
          </p:cNvSpPr>
          <p:nvPr/>
        </p:nvSpPr>
        <p:spPr bwMode="auto">
          <a:xfrm>
            <a:off x="3840480" y="1467485"/>
            <a:ext cx="1280160" cy="5486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45720" tIns="27432" rIns="45720" bIns="27432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&lt;&lt;</a:t>
            </a:r>
            <a:r>
              <a:rPr lang="en-US" sz="800" dirty="0" err="1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InstigationEvent</a:t>
            </a:r>
            <a:r>
              <a:rPr lang="en-US" sz="8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&gt;&gt;</a:t>
            </a:r>
            <a:b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</a:b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8" name="Text Box 379"/>
          <p:cNvSpPr txBox="1">
            <a:spLocks noChangeArrowheads="1"/>
          </p:cNvSpPr>
          <p:nvPr/>
        </p:nvSpPr>
        <p:spPr bwMode="auto">
          <a:xfrm>
            <a:off x="1294447" y="5584507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Stockflow3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49" name="Text Box 380"/>
          <p:cNvSpPr txBox="1">
            <a:spLocks noChangeArrowheads="1"/>
          </p:cNvSpPr>
          <p:nvPr/>
        </p:nvSpPr>
        <p:spPr bwMode="auto">
          <a:xfrm>
            <a:off x="2971800" y="4922838"/>
            <a:ext cx="624840" cy="334962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Reversal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0" name="Text Box 381"/>
          <p:cNvSpPr txBox="1">
            <a:spLocks noChangeArrowheads="1"/>
          </p:cNvSpPr>
          <p:nvPr/>
        </p:nvSpPr>
        <p:spPr bwMode="auto">
          <a:xfrm>
            <a:off x="2667000" y="3124200"/>
            <a:ext cx="96710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Reservation2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1" name="Text Box 382"/>
          <p:cNvSpPr txBox="1">
            <a:spLocks noChangeArrowheads="1"/>
          </p:cNvSpPr>
          <p:nvPr/>
        </p:nvSpPr>
        <p:spPr bwMode="auto">
          <a:xfrm>
            <a:off x="4058285" y="4092893"/>
            <a:ext cx="61785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Duality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2" name="Text Box 389"/>
          <p:cNvSpPr txBox="1">
            <a:spLocks noChangeArrowheads="1"/>
          </p:cNvSpPr>
          <p:nvPr/>
        </p:nvSpPr>
        <p:spPr bwMode="auto">
          <a:xfrm>
            <a:off x="2568575" y="4544695"/>
            <a:ext cx="88582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Stockflow2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3" name="Text Box 390"/>
          <p:cNvSpPr txBox="1">
            <a:spLocks noChangeArrowheads="1"/>
          </p:cNvSpPr>
          <p:nvPr/>
        </p:nvSpPr>
        <p:spPr bwMode="auto">
          <a:xfrm>
            <a:off x="2409190" y="3401695"/>
            <a:ext cx="66294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Stockflow1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4" name="Text Box 391"/>
          <p:cNvSpPr txBox="1">
            <a:spLocks noChangeArrowheads="1"/>
          </p:cNvSpPr>
          <p:nvPr/>
        </p:nvSpPr>
        <p:spPr bwMode="auto">
          <a:xfrm>
            <a:off x="2910840" y="2542858"/>
            <a:ext cx="914400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Reservation1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Text Box 392"/>
          <p:cNvSpPr txBox="1">
            <a:spLocks noChangeArrowheads="1"/>
          </p:cNvSpPr>
          <p:nvPr/>
        </p:nvSpPr>
        <p:spPr bwMode="auto">
          <a:xfrm>
            <a:off x="2682874" y="1981199"/>
            <a:ext cx="884555" cy="25590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Proposition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6" name="Text Box 393"/>
          <p:cNvSpPr txBox="1">
            <a:spLocks noChangeArrowheads="1"/>
          </p:cNvSpPr>
          <p:nvPr/>
        </p:nvSpPr>
        <p:spPr bwMode="auto">
          <a:xfrm>
            <a:off x="1050290" y="3138488"/>
            <a:ext cx="885825" cy="34099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Typification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7" name="Text Box 394"/>
          <p:cNvSpPr txBox="1">
            <a:spLocks noChangeArrowheads="1"/>
          </p:cNvSpPr>
          <p:nvPr/>
        </p:nvSpPr>
        <p:spPr bwMode="auto">
          <a:xfrm>
            <a:off x="3825240" y="212883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Fulfillment1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8" name="Text Box 395"/>
          <p:cNvSpPr txBox="1">
            <a:spLocks noChangeArrowheads="1"/>
          </p:cNvSpPr>
          <p:nvPr/>
        </p:nvSpPr>
        <p:spPr bwMode="auto">
          <a:xfrm>
            <a:off x="3837940" y="3066733"/>
            <a:ext cx="828675" cy="25717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>
                <a:effectLst/>
                <a:latin typeface="Arial"/>
                <a:ea typeface="Calibri"/>
                <a:cs typeface="Times New Roman"/>
              </a:rPr>
              <a:t>Fulfillment2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59" name="Straight Connector 58"/>
          <p:cNvCxnSpPr>
            <a:stCxn id="19" idx="2"/>
            <a:endCxn id="16" idx="0"/>
          </p:cNvCxnSpPr>
          <p:nvPr/>
        </p:nvCxnSpPr>
        <p:spPr>
          <a:xfrm>
            <a:off x="4480560" y="2016125"/>
            <a:ext cx="0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" idx="2"/>
            <a:endCxn id="15" idx="0"/>
          </p:cNvCxnSpPr>
          <p:nvPr/>
        </p:nvCxnSpPr>
        <p:spPr>
          <a:xfrm>
            <a:off x="44805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5" idx="2"/>
          </p:cNvCxnSpPr>
          <p:nvPr/>
        </p:nvCxnSpPr>
        <p:spPr>
          <a:xfrm>
            <a:off x="4480560" y="3977640"/>
            <a:ext cx="0" cy="38480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7" name="Straight Connector 18436"/>
          <p:cNvCxnSpPr>
            <a:stCxn id="6" idx="3"/>
            <a:endCxn id="19" idx="1"/>
          </p:cNvCxnSpPr>
          <p:nvPr/>
        </p:nvCxnSpPr>
        <p:spPr>
          <a:xfrm flipV="1">
            <a:off x="2377440" y="1741805"/>
            <a:ext cx="1463040" cy="97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9" name="Straight Connector 18438"/>
          <p:cNvCxnSpPr>
            <a:stCxn id="6" idx="3"/>
            <a:endCxn id="16" idx="1"/>
          </p:cNvCxnSpPr>
          <p:nvPr/>
        </p:nvCxnSpPr>
        <p:spPr>
          <a:xfrm>
            <a:off x="2377440" y="2712720"/>
            <a:ext cx="1463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3" name="Straight Connector 18442"/>
          <p:cNvCxnSpPr/>
          <p:nvPr/>
        </p:nvCxnSpPr>
        <p:spPr>
          <a:xfrm>
            <a:off x="2377440" y="358140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8" name="Straight Connector 18447"/>
          <p:cNvCxnSpPr/>
          <p:nvPr/>
        </p:nvCxnSpPr>
        <p:spPr>
          <a:xfrm>
            <a:off x="2377440" y="4693920"/>
            <a:ext cx="1463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0" name="Straight Connector 18449"/>
          <p:cNvCxnSpPr>
            <a:stCxn id="16" idx="1"/>
            <a:endCxn id="10" idx="3"/>
          </p:cNvCxnSpPr>
          <p:nvPr/>
        </p:nvCxnSpPr>
        <p:spPr>
          <a:xfrm flipH="1">
            <a:off x="2377440" y="2712720"/>
            <a:ext cx="1463040" cy="190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2" name="Elbow Connector 18451"/>
          <p:cNvCxnSpPr>
            <a:stCxn id="7" idx="1"/>
            <a:endCxn id="17" idx="1"/>
          </p:cNvCxnSpPr>
          <p:nvPr/>
        </p:nvCxnSpPr>
        <p:spPr>
          <a:xfrm rot="10800000" flipH="1" flipV="1">
            <a:off x="1097280" y="3703319"/>
            <a:ext cx="2743200" cy="2038985"/>
          </a:xfrm>
          <a:prstGeom prst="bentConnector3">
            <a:avLst>
              <a:gd name="adj1" fmla="val -83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4" name="Elbow Connector 18453"/>
          <p:cNvCxnSpPr>
            <a:stCxn id="15" idx="1"/>
            <a:endCxn id="17" idx="1"/>
          </p:cNvCxnSpPr>
          <p:nvPr/>
        </p:nvCxnSpPr>
        <p:spPr>
          <a:xfrm rot="10800000" flipV="1">
            <a:off x="3840480" y="3703319"/>
            <a:ext cx="12700" cy="2038985"/>
          </a:xfrm>
          <a:prstGeom prst="bentConnector3">
            <a:avLst>
              <a:gd name="adj1" fmla="val 25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3" name="Straight Connector 18462"/>
          <p:cNvCxnSpPr>
            <a:stCxn id="6" idx="2"/>
            <a:endCxn id="7" idx="0"/>
          </p:cNvCxnSpPr>
          <p:nvPr/>
        </p:nvCxnSpPr>
        <p:spPr>
          <a:xfrm>
            <a:off x="1737360" y="2987040"/>
            <a:ext cx="0" cy="4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1" name="Straight Connector 5120"/>
          <p:cNvCxnSpPr>
            <a:stCxn id="19" idx="3"/>
            <a:endCxn id="9" idx="1"/>
          </p:cNvCxnSpPr>
          <p:nvPr/>
        </p:nvCxnSpPr>
        <p:spPr>
          <a:xfrm>
            <a:off x="5120640" y="1741805"/>
            <a:ext cx="12801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Straight Connector 5123"/>
          <p:cNvCxnSpPr>
            <a:stCxn id="19" idx="3"/>
            <a:endCxn id="8" idx="1"/>
          </p:cNvCxnSpPr>
          <p:nvPr/>
        </p:nvCxnSpPr>
        <p:spPr>
          <a:xfrm>
            <a:off x="5120640" y="1741805"/>
            <a:ext cx="1280159" cy="9709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Straight Connector 5125"/>
          <p:cNvCxnSpPr>
            <a:stCxn id="16" idx="3"/>
            <a:endCxn id="8" idx="1"/>
          </p:cNvCxnSpPr>
          <p:nvPr/>
        </p:nvCxnSpPr>
        <p:spPr>
          <a:xfrm>
            <a:off x="5120640" y="2712720"/>
            <a:ext cx="128015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/>
          <p:cNvCxnSpPr>
            <a:stCxn id="16" idx="3"/>
            <a:endCxn id="11" idx="1"/>
          </p:cNvCxnSpPr>
          <p:nvPr/>
        </p:nvCxnSpPr>
        <p:spPr>
          <a:xfrm>
            <a:off x="5120640" y="2712720"/>
            <a:ext cx="1280159" cy="87693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/>
          <p:cNvCxnSpPr>
            <a:stCxn id="15" idx="3"/>
            <a:endCxn id="11" idx="1"/>
          </p:cNvCxnSpPr>
          <p:nvPr/>
        </p:nvCxnSpPr>
        <p:spPr>
          <a:xfrm flipV="1">
            <a:off x="5120640" y="3589655"/>
            <a:ext cx="1280159" cy="1136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/>
          <p:cNvCxnSpPr>
            <a:stCxn id="9" idx="2"/>
            <a:endCxn id="8" idx="0"/>
          </p:cNvCxnSpPr>
          <p:nvPr/>
        </p:nvCxnSpPr>
        <p:spPr>
          <a:xfrm flipH="1">
            <a:off x="7040879" y="2016125"/>
            <a:ext cx="1" cy="42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/>
          <p:cNvCxnSpPr>
            <a:stCxn id="8" idx="2"/>
            <a:endCxn id="11" idx="0"/>
          </p:cNvCxnSpPr>
          <p:nvPr/>
        </p:nvCxnSpPr>
        <p:spPr>
          <a:xfrm>
            <a:off x="7040879" y="2987040"/>
            <a:ext cx="0" cy="328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/>
          <p:cNvCxnSpPr>
            <a:stCxn id="15" idx="3"/>
            <a:endCxn id="13" idx="1"/>
          </p:cNvCxnSpPr>
          <p:nvPr/>
        </p:nvCxnSpPr>
        <p:spPr>
          <a:xfrm>
            <a:off x="5120640" y="3703320"/>
            <a:ext cx="1280159" cy="5530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/>
          <p:cNvCxnSpPr>
            <a:stCxn id="14" idx="3"/>
            <a:endCxn id="11" idx="1"/>
          </p:cNvCxnSpPr>
          <p:nvPr/>
        </p:nvCxnSpPr>
        <p:spPr>
          <a:xfrm flipV="1">
            <a:off x="5120640" y="3589655"/>
            <a:ext cx="1280159" cy="10280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/>
          <p:cNvCxnSpPr>
            <a:stCxn id="14" idx="3"/>
            <a:endCxn id="12" idx="1"/>
          </p:cNvCxnSpPr>
          <p:nvPr/>
        </p:nvCxnSpPr>
        <p:spPr>
          <a:xfrm>
            <a:off x="5120640" y="4617720"/>
            <a:ext cx="1280159" cy="34353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3" name="Straight Connector 5142"/>
          <p:cNvCxnSpPr>
            <a:stCxn id="17" idx="3"/>
            <a:endCxn id="18" idx="1"/>
          </p:cNvCxnSpPr>
          <p:nvPr/>
        </p:nvCxnSpPr>
        <p:spPr>
          <a:xfrm>
            <a:off x="5120640" y="5742305"/>
            <a:ext cx="1280159" cy="152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5" name="Elbow Connector 5144"/>
          <p:cNvCxnSpPr>
            <a:endCxn id="11" idx="3"/>
          </p:cNvCxnSpPr>
          <p:nvPr/>
        </p:nvCxnSpPr>
        <p:spPr>
          <a:xfrm flipV="1">
            <a:off x="5120640" y="3589655"/>
            <a:ext cx="2560319" cy="1878330"/>
          </a:xfrm>
          <a:prstGeom prst="bentConnector3">
            <a:avLst>
              <a:gd name="adj1" fmla="val 10892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394"/>
          <p:cNvSpPr txBox="1">
            <a:spLocks noChangeArrowheads="1"/>
          </p:cNvSpPr>
          <p:nvPr/>
        </p:nvSpPr>
        <p:spPr bwMode="auto">
          <a:xfrm>
            <a:off x="5280024" y="1574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Participation1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9" name="Text Box 394"/>
          <p:cNvSpPr txBox="1">
            <a:spLocks noChangeArrowheads="1"/>
          </p:cNvSpPr>
          <p:nvPr/>
        </p:nvSpPr>
        <p:spPr bwMode="auto">
          <a:xfrm>
            <a:off x="5237161" y="201612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Participation2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0" name="Text Box 394"/>
          <p:cNvSpPr txBox="1">
            <a:spLocks noChangeArrowheads="1"/>
          </p:cNvSpPr>
          <p:nvPr/>
        </p:nvSpPr>
        <p:spPr bwMode="auto">
          <a:xfrm>
            <a:off x="5277485" y="2542858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Participation3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1" name="Text Box 394"/>
          <p:cNvSpPr txBox="1">
            <a:spLocks noChangeArrowheads="1"/>
          </p:cNvSpPr>
          <p:nvPr/>
        </p:nvSpPr>
        <p:spPr bwMode="auto">
          <a:xfrm>
            <a:off x="5277485" y="30111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Participation4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2" name="Text Box 394"/>
          <p:cNvSpPr txBox="1">
            <a:spLocks noChangeArrowheads="1"/>
          </p:cNvSpPr>
          <p:nvPr/>
        </p:nvSpPr>
        <p:spPr bwMode="auto">
          <a:xfrm>
            <a:off x="5277485" y="3435985"/>
            <a:ext cx="1047115" cy="254635"/>
          </a:xfrm>
          <a:prstGeom prst="rect">
            <a:avLst/>
          </a:prstGeom>
          <a:noFill/>
          <a:ln w="28575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Participation5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3" name="Text Box 394"/>
          <p:cNvSpPr txBox="1">
            <a:spLocks noChangeArrowheads="1"/>
          </p:cNvSpPr>
          <p:nvPr/>
        </p:nvSpPr>
        <p:spPr bwMode="auto">
          <a:xfrm>
            <a:off x="5201285" y="37839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Participation6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4" name="Text Box 394"/>
          <p:cNvSpPr txBox="1">
            <a:spLocks noChangeArrowheads="1"/>
          </p:cNvSpPr>
          <p:nvPr/>
        </p:nvSpPr>
        <p:spPr bwMode="auto">
          <a:xfrm>
            <a:off x="5201285" y="4241165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Participation7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5" name="Text Box 394"/>
          <p:cNvSpPr txBox="1">
            <a:spLocks noChangeArrowheads="1"/>
          </p:cNvSpPr>
          <p:nvPr/>
        </p:nvSpPr>
        <p:spPr bwMode="auto">
          <a:xfrm>
            <a:off x="5506085" y="457200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3FBD5D"/>
                </a:solidFill>
                <a:effectLst/>
                <a:latin typeface="Arial"/>
                <a:ea typeface="Calibri"/>
                <a:cs typeface="Times New Roman"/>
              </a:rPr>
              <a:t>Participation8</a:t>
            </a:r>
            <a:endParaRPr lang="en-US" sz="1100" dirty="0">
              <a:solidFill>
                <a:srgbClr val="3FBD5D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6" name="Text Box 394"/>
          <p:cNvSpPr txBox="1">
            <a:spLocks noChangeArrowheads="1"/>
          </p:cNvSpPr>
          <p:nvPr/>
        </p:nvSpPr>
        <p:spPr bwMode="auto">
          <a:xfrm>
            <a:off x="5201284" y="5213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Participation9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7" name="Text Box 394"/>
          <p:cNvSpPr txBox="1">
            <a:spLocks noChangeArrowheads="1"/>
          </p:cNvSpPr>
          <p:nvPr/>
        </p:nvSpPr>
        <p:spPr bwMode="auto">
          <a:xfrm>
            <a:off x="5201285" y="556387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Participation10</a:t>
            </a:r>
            <a:endParaRPr lang="en-US" sz="1100" dirty="0">
              <a:solidFill>
                <a:srgbClr val="FF0000"/>
              </a:solidFill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8" name="Text Box 394"/>
          <p:cNvSpPr txBox="1">
            <a:spLocks noChangeArrowheads="1"/>
          </p:cNvSpPr>
          <p:nvPr/>
        </p:nvSpPr>
        <p:spPr bwMode="auto">
          <a:xfrm>
            <a:off x="6268085" y="21218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Responsibility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9" name="Text Box 394"/>
          <p:cNvSpPr txBox="1">
            <a:spLocks noChangeArrowheads="1"/>
          </p:cNvSpPr>
          <p:nvPr/>
        </p:nvSpPr>
        <p:spPr bwMode="auto">
          <a:xfrm>
            <a:off x="6344285" y="3054350"/>
            <a:ext cx="1047115" cy="254635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Assignment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cxnSp>
        <p:nvCxnSpPr>
          <p:cNvPr id="64" name="Elbow Connector 63"/>
          <p:cNvCxnSpPr/>
          <p:nvPr/>
        </p:nvCxnSpPr>
        <p:spPr>
          <a:xfrm rot="10800000" flipV="1">
            <a:off x="3840480" y="2743200"/>
            <a:ext cx="12700" cy="190500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95"/>
          <p:cNvSpPr txBox="1">
            <a:spLocks noChangeArrowheads="1"/>
          </p:cNvSpPr>
          <p:nvPr/>
        </p:nvSpPr>
        <p:spPr bwMode="auto">
          <a:xfrm>
            <a:off x="2981325" y="2849880"/>
            <a:ext cx="828675" cy="257175"/>
          </a:xfrm>
          <a:prstGeom prst="rect">
            <a:avLst/>
          </a:prstGeom>
          <a:noFill/>
          <a:ln w="38100">
            <a:noFill/>
          </a:ln>
          <a:extLst/>
        </p:spPr>
        <p:txBody>
          <a:bodyPr rot="0" vert="horz" wrap="square" lIns="27432" tIns="27432" rIns="27432" bIns="27432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latin typeface="Arial"/>
                <a:ea typeface="Calibri"/>
                <a:cs typeface="Times New Roman"/>
              </a:rPr>
              <a:t>Fulfillment3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4170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914400"/>
          </a:xfrm>
        </p:spPr>
        <p:txBody>
          <a:bodyPr/>
          <a:lstStyle/>
          <a:p>
            <a:r>
              <a:rPr lang="en-US" sz="3600" dirty="0"/>
              <a:t>Expanded Acquisition Cycle REA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80CA5B-A248-4F7A-9B92-A7598D983E28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38</a:t>
            </a:fld>
            <a:endParaRPr lang="en-US">
              <a:solidFill>
                <a:srgbClr val="19138D"/>
              </a:solidFill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298575" y="1084002"/>
            <a:ext cx="6626225" cy="5297747"/>
            <a:chOff x="1613" y="1899"/>
            <a:chExt cx="9350" cy="7369"/>
          </a:xfrm>
        </p:grpSpPr>
        <p:sp>
          <p:nvSpPr>
            <p:cNvPr id="6" name="Text Box 245"/>
            <p:cNvSpPr txBox="1">
              <a:spLocks noChangeArrowheads="1"/>
            </p:cNvSpPr>
            <p:nvPr/>
          </p:nvSpPr>
          <p:spPr bwMode="auto">
            <a:xfrm>
              <a:off x="7382" y="8700"/>
              <a:ext cx="1764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Participation10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7" name="Text Box 246"/>
            <p:cNvSpPr txBox="1">
              <a:spLocks noChangeArrowheads="1"/>
            </p:cNvSpPr>
            <p:nvPr/>
          </p:nvSpPr>
          <p:spPr bwMode="auto">
            <a:xfrm>
              <a:off x="7382" y="8035"/>
              <a:ext cx="1764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Participation9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8" name="Text Box 247"/>
            <p:cNvSpPr txBox="1">
              <a:spLocks noChangeArrowheads="1"/>
            </p:cNvSpPr>
            <p:nvPr/>
          </p:nvSpPr>
          <p:spPr bwMode="auto">
            <a:xfrm>
              <a:off x="1666" y="8323"/>
              <a:ext cx="1395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Stockflow3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9" name="Text Box 248"/>
            <p:cNvSpPr txBox="1">
              <a:spLocks noChangeArrowheads="1"/>
            </p:cNvSpPr>
            <p:nvPr/>
          </p:nvSpPr>
          <p:spPr bwMode="auto">
            <a:xfrm>
              <a:off x="4193" y="7601"/>
              <a:ext cx="1395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Reversal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0" name="Text Box 249"/>
            <p:cNvSpPr txBox="1">
              <a:spLocks noChangeArrowheads="1"/>
            </p:cNvSpPr>
            <p:nvPr/>
          </p:nvSpPr>
          <p:spPr bwMode="auto">
            <a:xfrm>
              <a:off x="3962" y="4670"/>
              <a:ext cx="1523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Reservation2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1" name="Text Box 250"/>
            <p:cNvSpPr txBox="1">
              <a:spLocks noChangeArrowheads="1"/>
            </p:cNvSpPr>
            <p:nvPr/>
          </p:nvSpPr>
          <p:spPr bwMode="auto">
            <a:xfrm>
              <a:off x="5637" y="5857"/>
              <a:ext cx="973" cy="5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Duality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2" name="Text Box 251"/>
            <p:cNvSpPr txBox="1">
              <a:spLocks noChangeArrowheads="1"/>
            </p:cNvSpPr>
            <p:nvPr/>
          </p:nvSpPr>
          <p:spPr bwMode="auto">
            <a:xfrm>
              <a:off x="7370" y="7149"/>
              <a:ext cx="1764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Participation8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3" name="Text Box 252"/>
            <p:cNvSpPr txBox="1">
              <a:spLocks noChangeArrowheads="1"/>
            </p:cNvSpPr>
            <p:nvPr/>
          </p:nvSpPr>
          <p:spPr bwMode="auto">
            <a:xfrm>
              <a:off x="7385" y="6358"/>
              <a:ext cx="1763" cy="4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Participation7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4" name="Text Box 253"/>
            <p:cNvSpPr txBox="1">
              <a:spLocks noChangeArrowheads="1"/>
            </p:cNvSpPr>
            <p:nvPr/>
          </p:nvSpPr>
          <p:spPr bwMode="auto">
            <a:xfrm>
              <a:off x="7391" y="5511"/>
              <a:ext cx="1764" cy="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Participation6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5" name="Text Box 254"/>
            <p:cNvSpPr txBox="1">
              <a:spLocks noChangeArrowheads="1"/>
            </p:cNvSpPr>
            <p:nvPr/>
          </p:nvSpPr>
          <p:spPr bwMode="auto">
            <a:xfrm>
              <a:off x="7388" y="4949"/>
              <a:ext cx="1762" cy="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Participation5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6" name="Text Box 255"/>
            <p:cNvSpPr txBox="1">
              <a:spLocks noChangeArrowheads="1"/>
            </p:cNvSpPr>
            <p:nvPr/>
          </p:nvSpPr>
          <p:spPr bwMode="auto">
            <a:xfrm>
              <a:off x="7393" y="4138"/>
              <a:ext cx="1763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Participation4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7" name="Text Box 256"/>
            <p:cNvSpPr txBox="1">
              <a:spLocks noChangeArrowheads="1"/>
            </p:cNvSpPr>
            <p:nvPr/>
          </p:nvSpPr>
          <p:spPr bwMode="auto">
            <a:xfrm>
              <a:off x="7370" y="3595"/>
              <a:ext cx="1764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Participation3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8" name="Text Box 257"/>
            <p:cNvSpPr txBox="1">
              <a:spLocks noChangeArrowheads="1"/>
            </p:cNvSpPr>
            <p:nvPr/>
          </p:nvSpPr>
          <p:spPr bwMode="auto">
            <a:xfrm>
              <a:off x="7358" y="2729"/>
              <a:ext cx="1763" cy="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Participation2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19" name="Text Box 258"/>
            <p:cNvSpPr txBox="1">
              <a:spLocks noChangeArrowheads="1"/>
            </p:cNvSpPr>
            <p:nvPr/>
          </p:nvSpPr>
          <p:spPr bwMode="auto">
            <a:xfrm>
              <a:off x="7219" y="2025"/>
              <a:ext cx="1764" cy="4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Participation1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0" name="Text Box 259"/>
            <p:cNvSpPr txBox="1">
              <a:spLocks noChangeArrowheads="1"/>
            </p:cNvSpPr>
            <p:nvPr/>
          </p:nvSpPr>
          <p:spPr bwMode="auto">
            <a:xfrm>
              <a:off x="3896" y="6886"/>
              <a:ext cx="1395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Stockflow2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1" name="Text Box 260"/>
            <p:cNvSpPr txBox="1">
              <a:spLocks noChangeArrowheads="1"/>
            </p:cNvSpPr>
            <p:nvPr/>
          </p:nvSpPr>
          <p:spPr bwMode="auto">
            <a:xfrm>
              <a:off x="3850" y="5312"/>
              <a:ext cx="1395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Stockflow1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2" name="Text Box 261"/>
            <p:cNvSpPr txBox="1">
              <a:spLocks noChangeArrowheads="1"/>
            </p:cNvSpPr>
            <p:nvPr/>
          </p:nvSpPr>
          <p:spPr bwMode="auto">
            <a:xfrm>
              <a:off x="3722" y="3575"/>
              <a:ext cx="1523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Reservation1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3" name="Text Box 262"/>
            <p:cNvSpPr txBox="1">
              <a:spLocks noChangeArrowheads="1"/>
            </p:cNvSpPr>
            <p:nvPr/>
          </p:nvSpPr>
          <p:spPr bwMode="auto">
            <a:xfrm>
              <a:off x="3470" y="2730"/>
              <a:ext cx="1393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Proposition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4" name="Text Box 263"/>
            <p:cNvSpPr txBox="1">
              <a:spLocks noChangeArrowheads="1"/>
            </p:cNvSpPr>
            <p:nvPr/>
          </p:nvSpPr>
          <p:spPr bwMode="auto">
            <a:xfrm>
              <a:off x="1845" y="4471"/>
              <a:ext cx="1395" cy="5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Typification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5" name="Text Box 264"/>
            <p:cNvSpPr txBox="1">
              <a:spLocks noChangeArrowheads="1"/>
            </p:cNvSpPr>
            <p:nvPr/>
          </p:nvSpPr>
          <p:spPr bwMode="auto">
            <a:xfrm>
              <a:off x="5214" y="2897"/>
              <a:ext cx="1649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Fulfillment1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6" name="Text Box 265"/>
            <p:cNvSpPr txBox="1">
              <a:spLocks noChangeArrowheads="1"/>
            </p:cNvSpPr>
            <p:nvPr/>
          </p:nvSpPr>
          <p:spPr bwMode="auto">
            <a:xfrm>
              <a:off x="5200" y="4372"/>
              <a:ext cx="1650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Fulfillment2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27" name="AutoShape 266"/>
            <p:cNvCxnSpPr>
              <a:cxnSpLocks noChangeShapeType="1"/>
            </p:cNvCxnSpPr>
            <p:nvPr/>
          </p:nvCxnSpPr>
          <p:spPr bwMode="auto">
            <a:xfrm>
              <a:off x="6204" y="2762"/>
              <a:ext cx="0" cy="36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Text Box 267"/>
            <p:cNvSpPr txBox="1">
              <a:spLocks noChangeArrowheads="1"/>
            </p:cNvSpPr>
            <p:nvPr/>
          </p:nvSpPr>
          <p:spPr bwMode="auto">
            <a:xfrm>
              <a:off x="1845" y="3432"/>
              <a:ext cx="1773" cy="8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&lt;&lt;ResourceType&gt;&gt;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Inventory Type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29" name="Text Box 268"/>
            <p:cNvSpPr txBox="1">
              <a:spLocks noChangeArrowheads="1"/>
            </p:cNvSpPr>
            <p:nvPr/>
          </p:nvSpPr>
          <p:spPr bwMode="auto">
            <a:xfrm>
              <a:off x="1857" y="5008"/>
              <a:ext cx="1796" cy="8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36576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&lt;&lt;Resource&gt;&gt;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Inventory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30" name="Text Box 269"/>
            <p:cNvSpPr txBox="1">
              <a:spLocks noChangeArrowheads="1"/>
            </p:cNvSpPr>
            <p:nvPr/>
          </p:nvSpPr>
          <p:spPr bwMode="auto">
            <a:xfrm>
              <a:off x="8859" y="3333"/>
              <a:ext cx="1797" cy="8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Purchase Agent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31" name="Text Box 270"/>
            <p:cNvSpPr txBox="1">
              <a:spLocks noChangeArrowheads="1"/>
            </p:cNvSpPr>
            <p:nvPr/>
          </p:nvSpPr>
          <p:spPr bwMode="auto">
            <a:xfrm>
              <a:off x="8825" y="2125"/>
              <a:ext cx="1796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Department Supervisor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32" name="Text Box 271"/>
            <p:cNvSpPr txBox="1">
              <a:spLocks noChangeArrowheads="1"/>
            </p:cNvSpPr>
            <p:nvPr/>
          </p:nvSpPr>
          <p:spPr bwMode="auto">
            <a:xfrm>
              <a:off x="1857" y="6450"/>
              <a:ext cx="1796" cy="8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36576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&lt;&lt;Resource&gt;&gt;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Cash Account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33" name="Text Box 272"/>
            <p:cNvSpPr txBox="1">
              <a:spLocks noChangeArrowheads="1"/>
            </p:cNvSpPr>
            <p:nvPr/>
          </p:nvSpPr>
          <p:spPr bwMode="auto">
            <a:xfrm>
              <a:off x="5361" y="1899"/>
              <a:ext cx="1796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&lt;&lt;InstigationEvent&gt;&gt;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Purchase Requisition 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34" name="Text Box 273"/>
            <p:cNvSpPr txBox="1">
              <a:spLocks noChangeArrowheads="1"/>
            </p:cNvSpPr>
            <p:nvPr/>
          </p:nvSpPr>
          <p:spPr bwMode="auto">
            <a:xfrm>
              <a:off x="8859" y="4774"/>
              <a:ext cx="1797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&lt;&lt;ExternalAgent&gt;&gt;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Supplier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35" name="Text Box 274"/>
            <p:cNvSpPr txBox="1">
              <a:spLocks noChangeArrowheads="1"/>
            </p:cNvSpPr>
            <p:nvPr/>
          </p:nvSpPr>
          <p:spPr bwMode="auto">
            <a:xfrm>
              <a:off x="8848" y="6920"/>
              <a:ext cx="1797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Payables Clerk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36" name="Text Box 275"/>
            <p:cNvSpPr txBox="1">
              <a:spLocks noChangeArrowheads="1"/>
            </p:cNvSpPr>
            <p:nvPr/>
          </p:nvSpPr>
          <p:spPr bwMode="auto">
            <a:xfrm>
              <a:off x="8859" y="5846"/>
              <a:ext cx="1797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Receiving Clerk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37" name="AutoShape 276"/>
            <p:cNvCxnSpPr>
              <a:cxnSpLocks noChangeShapeType="1"/>
            </p:cNvCxnSpPr>
            <p:nvPr/>
          </p:nvCxnSpPr>
          <p:spPr bwMode="auto">
            <a:xfrm flipV="1">
              <a:off x="3653" y="2662"/>
              <a:ext cx="1708" cy="8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AutoShape 277"/>
            <p:cNvCxnSpPr>
              <a:cxnSpLocks noChangeShapeType="1"/>
            </p:cNvCxnSpPr>
            <p:nvPr/>
          </p:nvCxnSpPr>
          <p:spPr bwMode="auto">
            <a:xfrm>
              <a:off x="3653" y="3868"/>
              <a:ext cx="1729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AutoShape 278"/>
            <p:cNvCxnSpPr>
              <a:cxnSpLocks noChangeShapeType="1"/>
            </p:cNvCxnSpPr>
            <p:nvPr/>
          </p:nvCxnSpPr>
          <p:spPr bwMode="auto">
            <a:xfrm>
              <a:off x="3653" y="5310"/>
              <a:ext cx="1668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279"/>
            <p:cNvCxnSpPr>
              <a:cxnSpLocks noChangeShapeType="1"/>
            </p:cNvCxnSpPr>
            <p:nvPr/>
          </p:nvCxnSpPr>
          <p:spPr bwMode="auto">
            <a:xfrm>
              <a:off x="3653" y="6920"/>
              <a:ext cx="1668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280"/>
            <p:cNvCxnSpPr>
              <a:cxnSpLocks noChangeShapeType="1"/>
            </p:cNvCxnSpPr>
            <p:nvPr/>
          </p:nvCxnSpPr>
          <p:spPr bwMode="auto">
            <a:xfrm>
              <a:off x="2851" y="4271"/>
              <a:ext cx="0" cy="7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281"/>
            <p:cNvCxnSpPr>
              <a:cxnSpLocks noChangeShapeType="1"/>
            </p:cNvCxnSpPr>
            <p:nvPr/>
          </p:nvCxnSpPr>
          <p:spPr bwMode="auto">
            <a:xfrm>
              <a:off x="7157" y="2393"/>
              <a:ext cx="163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282"/>
            <p:cNvCxnSpPr>
              <a:cxnSpLocks noChangeShapeType="1"/>
            </p:cNvCxnSpPr>
            <p:nvPr/>
          </p:nvCxnSpPr>
          <p:spPr bwMode="auto">
            <a:xfrm>
              <a:off x="7129" y="2393"/>
              <a:ext cx="1719" cy="10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283"/>
            <p:cNvCxnSpPr>
              <a:cxnSpLocks noChangeShapeType="1"/>
            </p:cNvCxnSpPr>
            <p:nvPr/>
          </p:nvCxnSpPr>
          <p:spPr bwMode="auto">
            <a:xfrm>
              <a:off x="7129" y="3868"/>
              <a:ext cx="1719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284"/>
            <p:cNvCxnSpPr>
              <a:cxnSpLocks noChangeShapeType="1"/>
            </p:cNvCxnSpPr>
            <p:nvPr/>
          </p:nvCxnSpPr>
          <p:spPr bwMode="auto">
            <a:xfrm>
              <a:off x="7114" y="3936"/>
              <a:ext cx="1734" cy="10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AutoShape 285"/>
            <p:cNvCxnSpPr>
              <a:cxnSpLocks noChangeShapeType="1"/>
            </p:cNvCxnSpPr>
            <p:nvPr/>
          </p:nvCxnSpPr>
          <p:spPr bwMode="auto">
            <a:xfrm>
              <a:off x="7136" y="5612"/>
              <a:ext cx="1708" cy="6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AutoShape 286"/>
            <p:cNvCxnSpPr>
              <a:cxnSpLocks noChangeShapeType="1"/>
            </p:cNvCxnSpPr>
            <p:nvPr/>
          </p:nvCxnSpPr>
          <p:spPr bwMode="auto">
            <a:xfrm flipV="1">
              <a:off x="7129" y="5612"/>
              <a:ext cx="1758" cy="10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AutoShape 287"/>
            <p:cNvCxnSpPr>
              <a:cxnSpLocks noChangeShapeType="1"/>
            </p:cNvCxnSpPr>
            <p:nvPr/>
          </p:nvCxnSpPr>
          <p:spPr bwMode="auto">
            <a:xfrm>
              <a:off x="7129" y="6920"/>
              <a:ext cx="1719" cy="3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AutoShape 288"/>
            <p:cNvCxnSpPr>
              <a:cxnSpLocks noChangeShapeType="1"/>
            </p:cNvCxnSpPr>
            <p:nvPr/>
          </p:nvCxnSpPr>
          <p:spPr bwMode="auto">
            <a:xfrm>
              <a:off x="7107" y="5238"/>
              <a:ext cx="176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" name="Text Box 289"/>
            <p:cNvSpPr txBox="1">
              <a:spLocks noChangeArrowheads="1"/>
            </p:cNvSpPr>
            <p:nvPr/>
          </p:nvSpPr>
          <p:spPr bwMode="auto">
            <a:xfrm>
              <a:off x="5245" y="6417"/>
              <a:ext cx="1974" cy="8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&lt;&lt;EconomicDecrement&gt;&gt;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Cash Disbursement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1" name="Text Box 290"/>
            <p:cNvSpPr txBox="1">
              <a:spLocks noChangeArrowheads="1"/>
            </p:cNvSpPr>
            <p:nvPr/>
          </p:nvSpPr>
          <p:spPr bwMode="auto">
            <a:xfrm>
              <a:off x="5245" y="4942"/>
              <a:ext cx="1974" cy="8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&lt;&lt;EconomicIncrement&gt;&gt;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Purchase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2" name="Text Box 291"/>
            <p:cNvSpPr txBox="1">
              <a:spLocks noChangeArrowheads="1"/>
            </p:cNvSpPr>
            <p:nvPr/>
          </p:nvSpPr>
          <p:spPr bwMode="auto">
            <a:xfrm>
              <a:off x="5321" y="3333"/>
              <a:ext cx="1808" cy="8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&lt;&lt;CommitmentEvent&gt;&gt;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Purchase Order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53" name="AutoShape 292"/>
            <p:cNvCxnSpPr>
              <a:cxnSpLocks noChangeShapeType="1"/>
            </p:cNvCxnSpPr>
            <p:nvPr/>
          </p:nvCxnSpPr>
          <p:spPr bwMode="auto">
            <a:xfrm flipV="1">
              <a:off x="3653" y="3998"/>
              <a:ext cx="1668" cy="2687"/>
            </a:xfrm>
            <a:prstGeom prst="straightConnector1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4" name="Text Box 293"/>
            <p:cNvSpPr txBox="1">
              <a:spLocks noChangeArrowheads="1"/>
            </p:cNvSpPr>
            <p:nvPr/>
          </p:nvSpPr>
          <p:spPr bwMode="auto">
            <a:xfrm>
              <a:off x="5272" y="8170"/>
              <a:ext cx="1974" cy="8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27432" tIns="36576" rIns="27432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&lt;&lt;EconomicReversal&gt;&gt;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Purchase Return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grpSp>
          <p:nvGrpSpPr>
            <p:cNvPr id="55" name="Group 54"/>
            <p:cNvGrpSpPr>
              <a:grpSpLocks/>
            </p:cNvGrpSpPr>
            <p:nvPr/>
          </p:nvGrpSpPr>
          <p:grpSpPr bwMode="auto">
            <a:xfrm>
              <a:off x="4992" y="5688"/>
              <a:ext cx="265" cy="2566"/>
              <a:chOff x="4992" y="8545"/>
              <a:chExt cx="265" cy="2566"/>
            </a:xfrm>
          </p:grpSpPr>
          <p:cxnSp>
            <p:nvCxnSpPr>
              <p:cNvPr id="66" name="AutoShape 295"/>
              <p:cNvCxnSpPr>
                <a:cxnSpLocks noChangeShapeType="1"/>
              </p:cNvCxnSpPr>
              <p:nvPr/>
            </p:nvCxnSpPr>
            <p:spPr bwMode="auto">
              <a:xfrm flipV="1">
                <a:off x="4992" y="8545"/>
                <a:ext cx="0" cy="255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" name="AutoShape 296"/>
              <p:cNvCxnSpPr>
                <a:cxnSpLocks noChangeShapeType="1"/>
              </p:cNvCxnSpPr>
              <p:nvPr/>
            </p:nvCxnSpPr>
            <p:spPr bwMode="auto">
              <a:xfrm>
                <a:off x="4992" y="8553"/>
                <a:ext cx="253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" name="AutoShape 297"/>
              <p:cNvCxnSpPr>
                <a:cxnSpLocks noChangeShapeType="1"/>
              </p:cNvCxnSpPr>
              <p:nvPr/>
            </p:nvCxnSpPr>
            <p:spPr bwMode="auto">
              <a:xfrm>
                <a:off x="5004" y="11111"/>
                <a:ext cx="253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6" name="Group 55"/>
            <p:cNvGrpSpPr>
              <a:grpSpLocks/>
            </p:cNvGrpSpPr>
            <p:nvPr/>
          </p:nvGrpSpPr>
          <p:grpSpPr bwMode="auto">
            <a:xfrm>
              <a:off x="1613" y="5688"/>
              <a:ext cx="3644" cy="2994"/>
              <a:chOff x="1613" y="8545"/>
              <a:chExt cx="3644" cy="2994"/>
            </a:xfrm>
          </p:grpSpPr>
          <p:cxnSp>
            <p:nvCxnSpPr>
              <p:cNvPr id="63" name="AutoShape 299"/>
              <p:cNvCxnSpPr>
                <a:cxnSpLocks noChangeShapeType="1"/>
              </p:cNvCxnSpPr>
              <p:nvPr/>
            </p:nvCxnSpPr>
            <p:spPr bwMode="auto">
              <a:xfrm flipH="1">
                <a:off x="1613" y="11539"/>
                <a:ext cx="364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4" name="AutoShape 300"/>
              <p:cNvCxnSpPr>
                <a:cxnSpLocks noChangeShapeType="1"/>
              </p:cNvCxnSpPr>
              <p:nvPr/>
            </p:nvCxnSpPr>
            <p:spPr bwMode="auto">
              <a:xfrm flipV="1">
                <a:off x="1613" y="8545"/>
                <a:ext cx="0" cy="29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5" name="AutoShape 301"/>
              <p:cNvCxnSpPr>
                <a:cxnSpLocks noChangeShapeType="1"/>
              </p:cNvCxnSpPr>
              <p:nvPr/>
            </p:nvCxnSpPr>
            <p:spPr bwMode="auto">
              <a:xfrm>
                <a:off x="1613" y="8553"/>
                <a:ext cx="24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7" name="Text Box 302"/>
            <p:cNvSpPr txBox="1">
              <a:spLocks noChangeArrowheads="1"/>
            </p:cNvSpPr>
            <p:nvPr/>
          </p:nvSpPr>
          <p:spPr bwMode="auto">
            <a:xfrm>
              <a:off x="8788" y="8430"/>
              <a:ext cx="1797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45720" tIns="27432" rIns="45720" bIns="27432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800">
                  <a:effectLst/>
                  <a:latin typeface="Arial"/>
                  <a:ea typeface="Calibri"/>
                  <a:cs typeface="Times New Roman"/>
                </a:rPr>
                <a:t>&lt;&lt;InternalAgent&gt;&gt;</a:t>
              </a:r>
              <a:br>
                <a:rPr lang="en-US" sz="900">
                  <a:effectLst/>
                  <a:latin typeface="Arial"/>
                  <a:ea typeface="Calibri"/>
                  <a:cs typeface="Times New Roman"/>
                </a:rPr>
              </a:b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Shipping Clerk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grpSp>
          <p:nvGrpSpPr>
            <p:cNvPr id="58" name="Group 57"/>
            <p:cNvGrpSpPr>
              <a:grpSpLocks/>
            </p:cNvGrpSpPr>
            <p:nvPr/>
          </p:nvGrpSpPr>
          <p:grpSpPr bwMode="auto">
            <a:xfrm>
              <a:off x="7246" y="5511"/>
              <a:ext cx="3717" cy="2812"/>
              <a:chOff x="7246" y="8368"/>
              <a:chExt cx="3717" cy="2812"/>
            </a:xfrm>
          </p:grpSpPr>
          <p:cxnSp>
            <p:nvCxnSpPr>
              <p:cNvPr id="60" name="AutoShape 304"/>
              <p:cNvCxnSpPr>
                <a:cxnSpLocks noChangeShapeType="1"/>
              </p:cNvCxnSpPr>
              <p:nvPr/>
            </p:nvCxnSpPr>
            <p:spPr bwMode="auto">
              <a:xfrm>
                <a:off x="7246" y="11180"/>
                <a:ext cx="3717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" name="AutoShape 305"/>
              <p:cNvCxnSpPr>
                <a:cxnSpLocks noChangeShapeType="1"/>
              </p:cNvCxnSpPr>
              <p:nvPr/>
            </p:nvCxnSpPr>
            <p:spPr bwMode="auto">
              <a:xfrm>
                <a:off x="10963" y="8368"/>
                <a:ext cx="0" cy="281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" name="AutoShape 306"/>
              <p:cNvCxnSpPr>
                <a:cxnSpLocks noChangeShapeType="1"/>
              </p:cNvCxnSpPr>
              <p:nvPr/>
            </p:nvCxnSpPr>
            <p:spPr bwMode="auto">
              <a:xfrm>
                <a:off x="10656" y="8368"/>
                <a:ext cx="307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59" name="AutoShape 307"/>
            <p:cNvCxnSpPr>
              <a:cxnSpLocks noChangeShapeType="1"/>
            </p:cNvCxnSpPr>
            <p:nvPr/>
          </p:nvCxnSpPr>
          <p:spPr bwMode="auto">
            <a:xfrm>
              <a:off x="7246" y="8726"/>
              <a:ext cx="15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597139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1BC9FCE-584F-4036-95B1-0570F768B1AF}" type="slidenum">
              <a:rPr lang="en-US" smtClean="0">
                <a:solidFill>
                  <a:srgbClr val="19138D"/>
                </a:solidFill>
              </a:rPr>
              <a:pPr eaLnBrk="1" hangingPunct="1"/>
              <a:t>39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1143000" y="461963"/>
            <a:ext cx="7396163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accent2"/>
                </a:solidFill>
              </a:rPr>
              <a:t>Acquisition Cycle Instigation Events</a:t>
            </a: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1066800" y="1295400"/>
            <a:ext cx="7481888" cy="438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 charset="0"/>
              <a:buChar char="–"/>
            </a:pPr>
            <a:r>
              <a:rPr lang="en-US" sz="2400" dirty="0"/>
              <a:t>Are usually internally instigated; triggered by an identified need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 charset="0"/>
              <a:buChar char="–"/>
            </a:pPr>
            <a:endParaRPr lang="en-US" sz="2400" dirty="0"/>
          </a:p>
          <a:p>
            <a:pPr marL="68580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 charset="0"/>
              <a:buChar char="–"/>
            </a:pPr>
            <a:r>
              <a:rPr lang="en-US" sz="2000" dirty="0"/>
              <a:t>External instigation is possible, e.g. need may be identified as result of supplier visit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7AAFE83-8C82-4DC1-A202-4E3CCFBA1078}" type="slidenum">
              <a:rPr lang="en-US" smtClean="0">
                <a:solidFill>
                  <a:srgbClr val="19138D"/>
                </a:solidFill>
              </a:rPr>
              <a:pPr eaLnBrk="1" hangingPunct="1"/>
              <a:t>40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57200"/>
            <a:ext cx="7658100" cy="762000"/>
          </a:xfrm>
        </p:spPr>
        <p:txBody>
          <a:bodyPr/>
          <a:lstStyle/>
          <a:p>
            <a:r>
              <a:rPr lang="en-US" sz="3200" dirty="0"/>
              <a:t>Purchase Requisition Event</a:t>
            </a:r>
            <a:endParaRPr lang="en-US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5850" y="1295400"/>
            <a:ext cx="7067550" cy="4114800"/>
          </a:xfrm>
        </p:spPr>
        <p:txBody>
          <a:bodyPr/>
          <a:lstStyle/>
          <a:p>
            <a:r>
              <a:rPr lang="en-CA" sz="2400" dirty="0"/>
              <a:t>Purchase Requisition Event</a:t>
            </a:r>
          </a:p>
          <a:p>
            <a:pPr lvl="1"/>
            <a:r>
              <a:rPr lang="en-CA" sz="2000" dirty="0"/>
              <a:t>An instigation event that is entirely internal; typically involves a department supervisor identifying a need for a type of good or service and communicating that need to the purchasing department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DD3BC3-16E5-45DF-BD3D-C16F3B999597}" type="slidenum">
              <a:rPr lang="en-US" smtClean="0">
                <a:solidFill>
                  <a:srgbClr val="19138D"/>
                </a:solidFill>
              </a:rPr>
              <a:pPr eaLnBrk="1" hangingPunct="1"/>
              <a:t>41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Acquisition/Payment Process Events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90688"/>
            <a:ext cx="7391400" cy="425291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Mutual Commitment Events in the Acquisition/ Payment Process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Involve the enterprise and an external business partner agreeing to exchange resources at a defined future time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B088B60-5DC3-4797-9EEA-74826F472A07}" type="slidenum">
              <a:rPr lang="en-US" smtClean="0">
                <a:solidFill>
                  <a:srgbClr val="19138D"/>
                </a:solidFill>
              </a:rPr>
              <a:pPr eaLnBrk="1" hangingPunct="1"/>
              <a:t>42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541" y="717549"/>
            <a:ext cx="8266113" cy="822325"/>
          </a:xfrm>
        </p:spPr>
        <p:txBody>
          <a:bodyPr/>
          <a:lstStyle/>
          <a:p>
            <a:r>
              <a:rPr lang="en-US" sz="3600" dirty="0"/>
              <a:t>Purchase Order Event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828800"/>
            <a:ext cx="7391400" cy="3900488"/>
          </a:xfrm>
        </p:spPr>
        <p:txBody>
          <a:bodyPr/>
          <a:lstStyle/>
          <a:p>
            <a:r>
              <a:rPr lang="en-US" sz="2400" dirty="0"/>
              <a:t>A mutual commitment event whereby a supplier agrees to provide goods to the enterprise and the enterprise agrees to pay an ascertained price for those goods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7478421-14E6-47CE-8C3E-2DD904046F3A}" type="slidenum">
              <a:rPr lang="en-US" smtClean="0">
                <a:solidFill>
                  <a:srgbClr val="19138D"/>
                </a:solidFill>
              </a:rPr>
              <a:pPr eaLnBrk="1" hangingPunct="1"/>
              <a:t>43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467600" cy="838200"/>
          </a:xfrm>
        </p:spPr>
        <p:txBody>
          <a:bodyPr/>
          <a:lstStyle/>
          <a:p>
            <a:r>
              <a:rPr lang="en-US" sz="3200"/>
              <a:t>Acquisition/Payment Process Events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43000" y="1828800"/>
            <a:ext cx="7543800" cy="3992563"/>
          </a:xfrm>
        </p:spPr>
        <p:txBody>
          <a:bodyPr/>
          <a:lstStyle/>
          <a:p>
            <a:r>
              <a:rPr lang="en-US" sz="2400" dirty="0"/>
              <a:t>Economic Increment Events in the Acquisition Cycle</a:t>
            </a:r>
          </a:p>
          <a:p>
            <a:pPr lvl="1"/>
            <a:r>
              <a:rPr lang="en-US" sz="2000" dirty="0"/>
              <a:t>Represent the receipt of goods or services for which the enterprise will give up some other resource (usually cash)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E4685B-DB81-4A37-A48C-810F66F5FEBF}" type="slidenum">
              <a:rPr lang="en-US" smtClean="0">
                <a:solidFill>
                  <a:srgbClr val="19138D"/>
                </a:solidFill>
              </a:rPr>
              <a:pPr eaLnBrk="1" hangingPunct="1"/>
              <a:t>44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27037"/>
            <a:ext cx="7886700" cy="1325563"/>
          </a:xfrm>
        </p:spPr>
        <p:txBody>
          <a:bodyPr/>
          <a:lstStyle/>
          <a:p>
            <a:r>
              <a:rPr lang="en-US" sz="3600" dirty="0"/>
              <a:t>Purchase (aka Acquisition) Event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848600" cy="4068763"/>
          </a:xfrm>
        </p:spPr>
        <p:txBody>
          <a:bodyPr/>
          <a:lstStyle/>
          <a:p>
            <a:r>
              <a:rPr lang="en-US" sz="2000" dirty="0"/>
              <a:t>Economic increment event in which title (ownership) of one or more products is transferred from a supplier to the enterprise. The transfer may take place in person (e.g., purchase agent goes to Office Depot to buy paper, or supplier hand-delivers goods to enterprise) or via transit (supplier shipped goods to enterprise) 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63793A-DA2E-426C-9B73-15BF5402BCFB}" type="slidenum">
              <a:rPr lang="en-US" smtClean="0">
                <a:solidFill>
                  <a:srgbClr val="19138D"/>
                </a:solidFill>
              </a:rPr>
              <a:pPr eaLnBrk="1" hangingPunct="1"/>
              <a:t>45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391400" cy="838200"/>
          </a:xfrm>
        </p:spPr>
        <p:txBody>
          <a:bodyPr/>
          <a:lstStyle/>
          <a:p>
            <a:r>
              <a:rPr lang="en-US" sz="3200"/>
              <a:t>Acquisition/Payment Process Events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848600" cy="4267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Economic Decrement Events in the Acquisition Cycle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Almost always is a </a:t>
            </a:r>
            <a:r>
              <a:rPr lang="en-US" sz="2000" b="1" dirty="0"/>
              <a:t>Cash Disbursement event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An economic decrement event whereby the enterprise </a:t>
            </a:r>
            <a:br>
              <a:rPr lang="en-US" sz="1800" dirty="0"/>
            </a:br>
            <a:r>
              <a:rPr lang="en-US" sz="1800" dirty="0"/>
              <a:t>transfers ownership of cash (or equivalent) to a supplier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82D70BA-E5F8-4029-B1BA-29311BAA196F}" type="slidenum">
              <a:rPr lang="en-US" smtClean="0">
                <a:solidFill>
                  <a:srgbClr val="19138D"/>
                </a:solidFill>
              </a:rPr>
              <a:pPr eaLnBrk="1" hangingPunct="1"/>
              <a:t>46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990600" y="1524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>
                <a:solidFill>
                  <a:schemeClr val="accent2"/>
                </a:solidFill>
              </a:rPr>
              <a:t>Acquisition/Payment Process Events</a:t>
            </a:r>
          </a:p>
        </p:txBody>
      </p:sp>
      <p:sp>
        <p:nvSpPr>
          <p:cNvPr id="43012" name="Rectangle 3"/>
          <p:cNvSpPr>
            <a:spLocks noChangeArrowheads="1"/>
          </p:cNvSpPr>
          <p:nvPr/>
        </p:nvSpPr>
        <p:spPr bwMode="auto">
          <a:xfrm>
            <a:off x="1143000" y="1341438"/>
            <a:ext cx="73914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D98E29"/>
              </a:buClr>
              <a:buFontTx/>
              <a:buChar char="•"/>
            </a:pPr>
            <a:r>
              <a:rPr lang="en-US" sz="2400" dirty="0"/>
              <a:t>Economic Increment Reversal Events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Font typeface="Arial" charset="0"/>
              <a:buChar char="–"/>
            </a:pPr>
            <a:r>
              <a:rPr lang="en-US" sz="2000" dirty="0"/>
              <a:t>Events in which previous economic increment events are reversed or negated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DA00A20-0891-4AA2-B146-251A2D35EE9E}" type="slidenum">
              <a:rPr lang="en-US" smtClean="0">
                <a:solidFill>
                  <a:srgbClr val="19138D"/>
                </a:solidFill>
              </a:rPr>
              <a:pPr eaLnBrk="1" hangingPunct="1"/>
              <a:t>47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800099"/>
            <a:ext cx="6096000" cy="765175"/>
          </a:xfrm>
        </p:spPr>
        <p:txBody>
          <a:bodyPr/>
          <a:lstStyle/>
          <a:p>
            <a:r>
              <a:rPr lang="en-US" sz="3600" dirty="0"/>
              <a:t>Purchase Return Event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057400"/>
            <a:ext cx="7589838" cy="3805238"/>
          </a:xfrm>
        </p:spPr>
        <p:txBody>
          <a:bodyPr/>
          <a:lstStyle/>
          <a:p>
            <a:r>
              <a:rPr lang="en-US" sz="2000" dirty="0"/>
              <a:t>Economic event in which title (ownership) for goods previously transferred from a supplier to the enterprise are transferred back from the enterprise to the supplier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153400" cy="990600"/>
          </a:xfrm>
        </p:spPr>
        <p:txBody>
          <a:bodyPr/>
          <a:lstStyle/>
          <a:p>
            <a:r>
              <a:rPr lang="en-US" sz="3600" dirty="0"/>
              <a:t>Expanded Revenue Cycle REA model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92B917F-FE92-46EA-901B-69BBEC8B7E7E}" type="slidenum">
              <a:rPr lang="en-US" smtClean="0">
                <a:solidFill>
                  <a:srgbClr val="19138D"/>
                </a:solidFill>
              </a:rPr>
              <a:pPr>
                <a:defRPr/>
              </a:pPr>
              <a:t>48</a:t>
            </a:fld>
            <a:endParaRPr lang="en-US" dirty="0">
              <a:solidFill>
                <a:srgbClr val="19138D"/>
              </a:solidFill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374775" y="1089343"/>
            <a:ext cx="6473825" cy="5082857"/>
            <a:chOff x="1267" y="1954"/>
            <a:chExt cx="9350" cy="7369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1267" y="1954"/>
              <a:ext cx="9350" cy="7369"/>
              <a:chOff x="1267" y="4231"/>
              <a:chExt cx="9350" cy="7369"/>
            </a:xfrm>
          </p:grpSpPr>
          <p:grpSp>
            <p:nvGrpSpPr>
              <p:cNvPr id="7" name="Group 6"/>
              <p:cNvGrpSpPr>
                <a:grpSpLocks/>
              </p:cNvGrpSpPr>
              <p:nvPr/>
            </p:nvGrpSpPr>
            <p:grpSpPr bwMode="auto">
              <a:xfrm>
                <a:off x="1267" y="4231"/>
                <a:ext cx="9350" cy="7369"/>
                <a:chOff x="1267" y="4231"/>
                <a:chExt cx="9350" cy="7369"/>
              </a:xfrm>
            </p:grpSpPr>
            <p:sp>
              <p:nvSpPr>
                <p:cNvPr id="9" name="Text Box 311"/>
                <p:cNvSpPr txBox="1">
                  <a:spLocks noChangeArrowheads="1"/>
                </p:cNvSpPr>
                <p:nvPr/>
              </p:nvSpPr>
              <p:spPr bwMode="auto">
                <a:xfrm>
                  <a:off x="6961" y="10359"/>
                  <a:ext cx="1764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Participation10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0" name="Text Box 312"/>
                <p:cNvSpPr txBox="1">
                  <a:spLocks noChangeArrowheads="1"/>
                </p:cNvSpPr>
                <p:nvPr/>
              </p:nvSpPr>
              <p:spPr bwMode="auto">
                <a:xfrm>
                  <a:off x="6961" y="9455"/>
                  <a:ext cx="1764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Participation9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1" name="Text Box 313"/>
                <p:cNvSpPr txBox="1">
                  <a:spLocks noChangeArrowheads="1"/>
                </p:cNvSpPr>
                <p:nvPr/>
              </p:nvSpPr>
              <p:spPr bwMode="auto">
                <a:xfrm>
                  <a:off x="1320" y="10655"/>
                  <a:ext cx="1395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Stockflow3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2" name="Text Box 314"/>
                <p:cNvSpPr txBox="1">
                  <a:spLocks noChangeArrowheads="1"/>
                </p:cNvSpPr>
                <p:nvPr/>
              </p:nvSpPr>
              <p:spPr bwMode="auto">
                <a:xfrm>
                  <a:off x="3847" y="9933"/>
                  <a:ext cx="1395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Reversal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3" name="Text Box 315"/>
                <p:cNvSpPr txBox="1">
                  <a:spLocks noChangeArrowheads="1"/>
                </p:cNvSpPr>
                <p:nvPr/>
              </p:nvSpPr>
              <p:spPr bwMode="auto">
                <a:xfrm>
                  <a:off x="3616" y="7002"/>
                  <a:ext cx="1523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Reservation2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4" name="Text Box 316"/>
                <p:cNvSpPr txBox="1">
                  <a:spLocks noChangeArrowheads="1"/>
                </p:cNvSpPr>
                <p:nvPr/>
              </p:nvSpPr>
              <p:spPr bwMode="auto">
                <a:xfrm>
                  <a:off x="5291" y="8189"/>
                  <a:ext cx="973" cy="53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Duality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5" name="Text Box 317"/>
                <p:cNvSpPr txBox="1">
                  <a:spLocks noChangeArrowheads="1"/>
                </p:cNvSpPr>
                <p:nvPr/>
              </p:nvSpPr>
              <p:spPr bwMode="auto">
                <a:xfrm>
                  <a:off x="7045" y="8614"/>
                  <a:ext cx="1764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Participation8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6" name="Text Box 318"/>
                <p:cNvSpPr txBox="1">
                  <a:spLocks noChangeArrowheads="1"/>
                </p:cNvSpPr>
                <p:nvPr/>
              </p:nvSpPr>
              <p:spPr bwMode="auto">
                <a:xfrm>
                  <a:off x="6961" y="8111"/>
                  <a:ext cx="1763" cy="40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Participation7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7" name="Text Box 319"/>
                <p:cNvSpPr txBox="1">
                  <a:spLocks noChangeArrowheads="1"/>
                </p:cNvSpPr>
                <p:nvPr/>
              </p:nvSpPr>
              <p:spPr bwMode="auto">
                <a:xfrm>
                  <a:off x="7045" y="7542"/>
                  <a:ext cx="1764" cy="4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Participation6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8" name="Text Box 320"/>
                <p:cNvSpPr txBox="1">
                  <a:spLocks noChangeArrowheads="1"/>
                </p:cNvSpPr>
                <p:nvPr/>
              </p:nvSpPr>
              <p:spPr bwMode="auto">
                <a:xfrm>
                  <a:off x="6680" y="6938"/>
                  <a:ext cx="1762" cy="4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Participation5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9" name="Text Box 321"/>
                <p:cNvSpPr txBox="1">
                  <a:spLocks noChangeArrowheads="1"/>
                </p:cNvSpPr>
                <p:nvPr/>
              </p:nvSpPr>
              <p:spPr bwMode="auto">
                <a:xfrm>
                  <a:off x="6738" y="6434"/>
                  <a:ext cx="1763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Participation4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0" name="Text Box 322"/>
                <p:cNvSpPr txBox="1">
                  <a:spLocks noChangeArrowheads="1"/>
                </p:cNvSpPr>
                <p:nvPr/>
              </p:nvSpPr>
              <p:spPr bwMode="auto">
                <a:xfrm>
                  <a:off x="6815" y="5799"/>
                  <a:ext cx="1764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Participation3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1" name="Text Box 323"/>
                <p:cNvSpPr txBox="1">
                  <a:spLocks noChangeArrowheads="1"/>
                </p:cNvSpPr>
                <p:nvPr/>
              </p:nvSpPr>
              <p:spPr bwMode="auto">
                <a:xfrm>
                  <a:off x="6873" y="5094"/>
                  <a:ext cx="1763" cy="4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Participation2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2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6873" y="4357"/>
                  <a:ext cx="1764" cy="40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Participation1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3" name="Text Box 325"/>
                <p:cNvSpPr txBox="1">
                  <a:spLocks noChangeArrowheads="1"/>
                </p:cNvSpPr>
                <p:nvPr/>
              </p:nvSpPr>
              <p:spPr bwMode="auto">
                <a:xfrm>
                  <a:off x="3550" y="9218"/>
                  <a:ext cx="1395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Stockflow2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4" name="Text Box 326"/>
                <p:cNvSpPr txBox="1">
                  <a:spLocks noChangeArrowheads="1"/>
                </p:cNvSpPr>
                <p:nvPr/>
              </p:nvSpPr>
              <p:spPr bwMode="auto">
                <a:xfrm>
                  <a:off x="3504" y="7644"/>
                  <a:ext cx="1395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Stockflow1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5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376" y="5907"/>
                  <a:ext cx="1523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Reservation1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6" name="Text Box 328"/>
                <p:cNvSpPr txBox="1">
                  <a:spLocks noChangeArrowheads="1"/>
                </p:cNvSpPr>
                <p:nvPr/>
              </p:nvSpPr>
              <p:spPr bwMode="auto">
                <a:xfrm>
                  <a:off x="3124" y="5062"/>
                  <a:ext cx="1393" cy="40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Proposition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7" name="Text Box 329"/>
                <p:cNvSpPr txBox="1">
                  <a:spLocks noChangeArrowheads="1"/>
                </p:cNvSpPr>
                <p:nvPr/>
              </p:nvSpPr>
              <p:spPr bwMode="auto">
                <a:xfrm>
                  <a:off x="1499" y="6803"/>
                  <a:ext cx="1395" cy="53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Typification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8" name="Text Box 330"/>
                <p:cNvSpPr txBox="1">
                  <a:spLocks noChangeArrowheads="1"/>
                </p:cNvSpPr>
                <p:nvPr/>
              </p:nvSpPr>
              <p:spPr bwMode="auto">
                <a:xfrm>
                  <a:off x="4868" y="5229"/>
                  <a:ext cx="1649" cy="57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Fulfillment1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29" name="Text Box 331"/>
                <p:cNvSpPr txBox="1">
                  <a:spLocks noChangeArrowheads="1"/>
                </p:cNvSpPr>
                <p:nvPr/>
              </p:nvSpPr>
              <p:spPr bwMode="auto">
                <a:xfrm>
                  <a:off x="4854" y="6704"/>
                  <a:ext cx="1650" cy="57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Fulfillment2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30" name="AutoShape 332"/>
                <p:cNvCxnSpPr>
                  <a:cxnSpLocks noChangeShapeType="1"/>
                </p:cNvCxnSpPr>
                <p:nvPr/>
              </p:nvCxnSpPr>
              <p:spPr bwMode="auto">
                <a:xfrm>
                  <a:off x="5858" y="5094"/>
                  <a:ext cx="0" cy="368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1" name="Text Box 333"/>
                <p:cNvSpPr txBox="1">
                  <a:spLocks noChangeArrowheads="1"/>
                </p:cNvSpPr>
                <p:nvPr/>
              </p:nvSpPr>
              <p:spPr bwMode="auto">
                <a:xfrm>
                  <a:off x="1499" y="5764"/>
                  <a:ext cx="1773" cy="83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&lt;&lt;ResourceType&gt;&gt;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Goods or Services Inventory Type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32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1511" y="7341"/>
                  <a:ext cx="1796" cy="83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&lt;&lt;Resource&gt;&gt;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Goods or Services Inventory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33" name="Text Box 335"/>
                <p:cNvSpPr txBox="1">
                  <a:spLocks noChangeArrowheads="1"/>
                </p:cNvSpPr>
                <p:nvPr/>
              </p:nvSpPr>
              <p:spPr bwMode="auto">
                <a:xfrm>
                  <a:off x="8479" y="4457"/>
                  <a:ext cx="1796" cy="83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&lt;&lt;InternalAgent&gt;&gt;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Salesperson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34" name="Text Box 336"/>
                <p:cNvSpPr txBox="1">
                  <a:spLocks noChangeArrowheads="1"/>
                </p:cNvSpPr>
                <p:nvPr/>
              </p:nvSpPr>
              <p:spPr bwMode="auto">
                <a:xfrm>
                  <a:off x="1511" y="8782"/>
                  <a:ext cx="1796" cy="83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&lt;&lt;Resource&gt;&gt;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Cash Account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35" name="Text Box 337"/>
                <p:cNvSpPr txBox="1">
                  <a:spLocks noChangeArrowheads="1"/>
                </p:cNvSpPr>
                <p:nvPr/>
              </p:nvSpPr>
              <p:spPr bwMode="auto">
                <a:xfrm>
                  <a:off x="5015" y="4231"/>
                  <a:ext cx="1796" cy="83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&lt;&lt;InstigationEvent&gt;&gt;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Sales Call 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36" name="Text Box 338"/>
                <p:cNvSpPr txBox="1">
                  <a:spLocks noChangeArrowheads="1"/>
                </p:cNvSpPr>
                <p:nvPr/>
              </p:nvSpPr>
              <p:spPr bwMode="auto">
                <a:xfrm>
                  <a:off x="8513" y="7107"/>
                  <a:ext cx="1797" cy="83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&lt;&lt;ExternalAgent&gt;&gt;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Customer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37" name="Text Box 339"/>
                <p:cNvSpPr txBox="1">
                  <a:spLocks noChangeArrowheads="1"/>
                </p:cNvSpPr>
                <p:nvPr/>
              </p:nvSpPr>
              <p:spPr bwMode="auto">
                <a:xfrm>
                  <a:off x="8502" y="9252"/>
                  <a:ext cx="1797" cy="83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&lt;&lt;InternalAgent&gt;&gt;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Cashier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38" name="Text Box 340"/>
                <p:cNvSpPr txBox="1">
                  <a:spLocks noChangeArrowheads="1"/>
                </p:cNvSpPr>
                <p:nvPr/>
              </p:nvSpPr>
              <p:spPr bwMode="auto">
                <a:xfrm>
                  <a:off x="8513" y="8178"/>
                  <a:ext cx="1797" cy="83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&lt;&lt;InternalAgent&gt;&gt;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Shipping Clerk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39" name="AutoShape 341"/>
                <p:cNvCxnSpPr>
                  <a:cxnSpLocks noChangeShapeType="1"/>
                </p:cNvCxnSpPr>
                <p:nvPr/>
              </p:nvCxnSpPr>
              <p:spPr bwMode="auto">
                <a:xfrm flipV="1">
                  <a:off x="3307" y="4994"/>
                  <a:ext cx="1708" cy="8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0" name="AutoShape 342"/>
                <p:cNvCxnSpPr>
                  <a:cxnSpLocks noChangeShapeType="1"/>
                </p:cNvCxnSpPr>
                <p:nvPr/>
              </p:nvCxnSpPr>
              <p:spPr bwMode="auto">
                <a:xfrm>
                  <a:off x="3307" y="6200"/>
                  <a:ext cx="1729" cy="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1" name="AutoShape 343"/>
                <p:cNvCxnSpPr>
                  <a:cxnSpLocks noChangeShapeType="1"/>
                </p:cNvCxnSpPr>
                <p:nvPr/>
              </p:nvCxnSpPr>
              <p:spPr bwMode="auto">
                <a:xfrm>
                  <a:off x="3307" y="7642"/>
                  <a:ext cx="1668" cy="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2" name="AutoShape 344"/>
                <p:cNvCxnSpPr>
                  <a:cxnSpLocks noChangeShapeType="1"/>
                </p:cNvCxnSpPr>
                <p:nvPr/>
              </p:nvCxnSpPr>
              <p:spPr bwMode="auto">
                <a:xfrm>
                  <a:off x="3307" y="9252"/>
                  <a:ext cx="1668" cy="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3" name="AutoShape 345"/>
                <p:cNvCxnSpPr>
                  <a:cxnSpLocks noChangeShapeType="1"/>
                </p:cNvCxnSpPr>
                <p:nvPr/>
              </p:nvCxnSpPr>
              <p:spPr bwMode="auto">
                <a:xfrm>
                  <a:off x="2505" y="6603"/>
                  <a:ext cx="0" cy="73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4" name="AutoShape 346"/>
                <p:cNvCxnSpPr>
                  <a:cxnSpLocks noChangeShapeType="1"/>
                </p:cNvCxnSpPr>
                <p:nvPr/>
              </p:nvCxnSpPr>
              <p:spPr bwMode="auto">
                <a:xfrm>
                  <a:off x="6811" y="4725"/>
                  <a:ext cx="1631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5" name="AutoShape 347"/>
                <p:cNvCxnSpPr>
                  <a:cxnSpLocks noChangeShapeType="1"/>
                </p:cNvCxnSpPr>
                <p:nvPr/>
              </p:nvCxnSpPr>
              <p:spPr bwMode="auto">
                <a:xfrm>
                  <a:off x="6783" y="4725"/>
                  <a:ext cx="2577" cy="238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6" name="AutoShape 348"/>
                <p:cNvCxnSpPr>
                  <a:cxnSpLocks noChangeShapeType="1"/>
                </p:cNvCxnSpPr>
                <p:nvPr/>
              </p:nvCxnSpPr>
              <p:spPr bwMode="auto">
                <a:xfrm flipV="1">
                  <a:off x="6783" y="5295"/>
                  <a:ext cx="1696" cy="9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7" name="AutoShape 349"/>
                <p:cNvCxnSpPr>
                  <a:cxnSpLocks noChangeShapeType="1"/>
                </p:cNvCxnSpPr>
                <p:nvPr/>
              </p:nvCxnSpPr>
              <p:spPr bwMode="auto">
                <a:xfrm>
                  <a:off x="6768" y="6268"/>
                  <a:ext cx="1734" cy="107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8" name="AutoShape 350"/>
                <p:cNvCxnSpPr>
                  <a:cxnSpLocks noChangeShapeType="1"/>
                </p:cNvCxnSpPr>
                <p:nvPr/>
              </p:nvCxnSpPr>
              <p:spPr bwMode="auto">
                <a:xfrm>
                  <a:off x="6790" y="7944"/>
                  <a:ext cx="1708" cy="63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9" name="AutoShape 351"/>
                <p:cNvCxnSpPr>
                  <a:cxnSpLocks noChangeShapeType="1"/>
                </p:cNvCxnSpPr>
                <p:nvPr/>
              </p:nvCxnSpPr>
              <p:spPr bwMode="auto">
                <a:xfrm flipV="1">
                  <a:off x="6783" y="7944"/>
                  <a:ext cx="1758" cy="107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0" name="AutoShape 352"/>
                <p:cNvCxnSpPr>
                  <a:cxnSpLocks noChangeShapeType="1"/>
                </p:cNvCxnSpPr>
                <p:nvPr/>
              </p:nvCxnSpPr>
              <p:spPr bwMode="auto">
                <a:xfrm>
                  <a:off x="6783" y="9252"/>
                  <a:ext cx="1719" cy="36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" name="AutoShape 353"/>
                <p:cNvCxnSpPr>
                  <a:cxnSpLocks noChangeShapeType="1"/>
                </p:cNvCxnSpPr>
                <p:nvPr/>
              </p:nvCxnSpPr>
              <p:spPr bwMode="auto">
                <a:xfrm>
                  <a:off x="6761" y="7570"/>
                  <a:ext cx="1767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2" name="Text Box 354"/>
                <p:cNvSpPr txBox="1">
                  <a:spLocks noChangeArrowheads="1"/>
                </p:cNvSpPr>
                <p:nvPr/>
              </p:nvSpPr>
              <p:spPr bwMode="auto">
                <a:xfrm>
                  <a:off x="4899" y="8749"/>
                  <a:ext cx="1974" cy="83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&lt;&lt;EconomicIncrement&gt;&gt;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Cash Receipt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53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4975" y="5665"/>
                  <a:ext cx="1808" cy="83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 dirty="0">
                      <a:effectLst/>
                      <a:latin typeface="Arial"/>
                      <a:ea typeface="Calibri"/>
                      <a:cs typeface="Times New Roman"/>
                    </a:rPr>
                    <a:t>&lt;&lt;</a:t>
                  </a:r>
                  <a:r>
                    <a:rPr lang="en-US" sz="800" dirty="0" err="1">
                      <a:effectLst/>
                      <a:latin typeface="Arial"/>
                      <a:ea typeface="Calibri"/>
                      <a:cs typeface="Times New Roman"/>
                    </a:rPr>
                    <a:t>CommitmentEvent</a:t>
                  </a:r>
                  <a:r>
                    <a:rPr lang="en-US" sz="800" dirty="0">
                      <a:effectLst/>
                      <a:latin typeface="Arial"/>
                      <a:ea typeface="Calibri"/>
                      <a:cs typeface="Times New Roman"/>
                    </a:rPr>
                    <a:t>&gt;&gt;</a:t>
                  </a:r>
                  <a:br>
                    <a:rPr lang="en-US" sz="900" dirty="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 dirty="0">
                      <a:effectLst/>
                      <a:latin typeface="Arial"/>
                      <a:ea typeface="Calibri"/>
                      <a:cs typeface="Times New Roman"/>
                    </a:rPr>
                    <a:t>Sale Order</a:t>
                  </a:r>
                  <a:endParaRPr lang="en-US" sz="110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54" name="AutoShape 356"/>
                <p:cNvCxnSpPr>
                  <a:cxnSpLocks noChangeShapeType="1"/>
                </p:cNvCxnSpPr>
                <p:nvPr/>
              </p:nvCxnSpPr>
              <p:spPr bwMode="auto">
                <a:xfrm flipV="1">
                  <a:off x="3307" y="6330"/>
                  <a:ext cx="1668" cy="2687"/>
                </a:xfrm>
                <a:prstGeom prst="straightConnector1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5" name="Text Box 357"/>
                <p:cNvSpPr txBox="1">
                  <a:spLocks noChangeArrowheads="1"/>
                </p:cNvSpPr>
                <p:nvPr/>
              </p:nvSpPr>
              <p:spPr bwMode="auto">
                <a:xfrm>
                  <a:off x="4926" y="10502"/>
                  <a:ext cx="1974" cy="83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27432" tIns="27432" rIns="27432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&lt;&lt;EconomicReversal&gt;&gt;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Sale Return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grpSp>
              <p:nvGrpSpPr>
                <p:cNvPr id="56" name="Group 55"/>
                <p:cNvGrpSpPr>
                  <a:grpSpLocks/>
                </p:cNvGrpSpPr>
                <p:nvPr/>
              </p:nvGrpSpPr>
              <p:grpSpPr bwMode="auto">
                <a:xfrm>
                  <a:off x="4646" y="8020"/>
                  <a:ext cx="265" cy="2566"/>
                  <a:chOff x="4992" y="8545"/>
                  <a:chExt cx="265" cy="2566"/>
                </a:xfrm>
              </p:grpSpPr>
              <p:cxnSp>
                <p:nvCxnSpPr>
                  <p:cNvPr id="68" name="AutoShape 359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992" y="8545"/>
                    <a:ext cx="0" cy="2558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9" name="AutoShape 36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992" y="8553"/>
                    <a:ext cx="253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AutoShape 36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004" y="11111"/>
                    <a:ext cx="253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57" name="Group 56"/>
                <p:cNvGrpSpPr>
                  <a:grpSpLocks/>
                </p:cNvGrpSpPr>
                <p:nvPr/>
              </p:nvGrpSpPr>
              <p:grpSpPr bwMode="auto">
                <a:xfrm>
                  <a:off x="1267" y="8020"/>
                  <a:ext cx="3644" cy="2994"/>
                  <a:chOff x="1613" y="8545"/>
                  <a:chExt cx="3644" cy="2994"/>
                </a:xfrm>
              </p:grpSpPr>
              <p:cxnSp>
                <p:nvCxnSpPr>
                  <p:cNvPr id="65" name="AutoShape 363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613" y="11539"/>
                    <a:ext cx="36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6" name="AutoShape 364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1613" y="8545"/>
                    <a:ext cx="0" cy="2994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7" name="AutoShape 36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613" y="8553"/>
                    <a:ext cx="2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8" name="Text Box 366"/>
                <p:cNvSpPr txBox="1">
                  <a:spLocks noChangeArrowheads="1"/>
                </p:cNvSpPr>
                <p:nvPr/>
              </p:nvSpPr>
              <p:spPr bwMode="auto">
                <a:xfrm>
                  <a:off x="8442" y="10762"/>
                  <a:ext cx="1797" cy="83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&lt;&lt;InternalAgent&gt;&gt;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Receiving Clerk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grpSp>
              <p:nvGrpSpPr>
                <p:cNvPr id="59" name="Group 58"/>
                <p:cNvGrpSpPr>
                  <a:grpSpLocks/>
                </p:cNvGrpSpPr>
                <p:nvPr/>
              </p:nvGrpSpPr>
              <p:grpSpPr bwMode="auto">
                <a:xfrm>
                  <a:off x="6900" y="7843"/>
                  <a:ext cx="3717" cy="2812"/>
                  <a:chOff x="7246" y="8368"/>
                  <a:chExt cx="3717" cy="2812"/>
                </a:xfrm>
              </p:grpSpPr>
              <p:cxnSp>
                <p:nvCxnSpPr>
                  <p:cNvPr id="62" name="AutoShape 36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246" y="11180"/>
                    <a:ext cx="3717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3" name="AutoShape 36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0963" y="8368"/>
                    <a:ext cx="0" cy="2812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AutoShape 37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0656" y="8368"/>
                    <a:ext cx="307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60" name="AutoShape 371"/>
                <p:cNvCxnSpPr>
                  <a:cxnSpLocks noChangeShapeType="1"/>
                </p:cNvCxnSpPr>
                <p:nvPr/>
              </p:nvCxnSpPr>
              <p:spPr bwMode="auto">
                <a:xfrm>
                  <a:off x="6900" y="11058"/>
                  <a:ext cx="154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1" name="Text Box 372"/>
                <p:cNvSpPr txBox="1">
                  <a:spLocks noChangeArrowheads="1"/>
                </p:cNvSpPr>
                <p:nvPr/>
              </p:nvSpPr>
              <p:spPr bwMode="auto">
                <a:xfrm>
                  <a:off x="4848" y="7275"/>
                  <a:ext cx="2113" cy="83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45720" tIns="27432" rIns="45720" bIns="27432" anchor="t" anchorCtr="0" upright="1">
                  <a:noAutofit/>
                </a:bodyPr>
                <a:lstStyle/>
                <a:p>
                  <a:pPr marL="0" marR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en-US" sz="800">
                      <a:effectLst/>
                      <a:latin typeface="Arial"/>
                      <a:ea typeface="Calibri"/>
                      <a:cs typeface="Times New Roman"/>
                    </a:rPr>
                    <a:t>&lt;&lt;EconomicDecrement&gt;&gt;</a:t>
                  </a:r>
                  <a:b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</a:br>
                  <a:r>
                    <a:rPr lang="en-US" sz="900">
                      <a:effectLst/>
                      <a:latin typeface="Arial"/>
                      <a:ea typeface="Calibri"/>
                      <a:cs typeface="Times New Roman"/>
                    </a:rPr>
                    <a:t>Sale</a:t>
                  </a: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p:grpSp>
          <p:cxnSp>
            <p:nvCxnSpPr>
              <p:cNvPr id="8" name="AutoShape 373"/>
              <p:cNvCxnSpPr>
                <a:cxnSpLocks noChangeShapeType="1"/>
              </p:cNvCxnSpPr>
              <p:nvPr/>
            </p:nvCxnSpPr>
            <p:spPr bwMode="auto">
              <a:xfrm flipV="1">
                <a:off x="6961" y="5295"/>
                <a:ext cx="2868" cy="211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" name="Text Box 374"/>
            <p:cNvSpPr txBox="1">
              <a:spLocks noChangeArrowheads="1"/>
            </p:cNvSpPr>
            <p:nvPr/>
          </p:nvSpPr>
          <p:spPr bwMode="auto">
            <a:xfrm>
              <a:off x="6984" y="8840"/>
              <a:ext cx="1392" cy="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27432" tIns="27432" rIns="27432" bIns="27432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900">
                  <a:effectLst/>
                  <a:latin typeface="Arial"/>
                  <a:ea typeface="Calibri"/>
                  <a:cs typeface="Times New Roman"/>
                </a:rPr>
                <a:t>Participation11</a:t>
              </a:r>
              <a:endParaRPr lang="en-US" sz="1100">
                <a:effectLst/>
                <a:latin typeface="Calibri"/>
                <a:ea typeface="Calibri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72932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1BD3780-F31C-4130-ABD9-D875814FECFA}" type="slidenum">
              <a:rPr lang="en-US" smtClean="0">
                <a:solidFill>
                  <a:srgbClr val="19138D"/>
                </a:solidFill>
              </a:rPr>
              <a:pPr eaLnBrk="1" hangingPunct="1"/>
              <a:t>49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61963"/>
            <a:ext cx="7396163" cy="604837"/>
          </a:xfrm>
        </p:spPr>
        <p:txBody>
          <a:bodyPr/>
          <a:lstStyle/>
          <a:p>
            <a:r>
              <a:rPr lang="en-US" sz="3600"/>
              <a:t>Sales/Collection Process Events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481888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Instigation Events in the Revenue Cycle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May be internally instigated (marketing events such as sales calls, advertising campaigns, or promotions)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May be externally instigated (customer inquiries)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D79F3D-42CD-49C2-8D60-F82B39C43AF5}" type="slidenum">
              <a:rPr lang="en-US" smtClean="0">
                <a:solidFill>
                  <a:srgbClr val="19138D"/>
                </a:solidFill>
              </a:rPr>
              <a:pPr eaLnBrk="1" hangingPunct="1"/>
              <a:t>50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Sales Call Event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90689"/>
            <a:ext cx="72390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An instigation event that is internally initiated; typically involves a sales representative calling on a customer, either via telephone or in person, to describe the features of one or more products or services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8A66991-ACD3-4E58-BBCF-FB98247E5877}" type="slidenum">
              <a:rPr lang="en-US" smtClean="0">
                <a:solidFill>
                  <a:srgbClr val="19138D"/>
                </a:solidFill>
              </a:rPr>
              <a:pPr eaLnBrk="1" hangingPunct="1"/>
              <a:t>51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Sales/Collection Process Events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690689"/>
            <a:ext cx="7391400" cy="40544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Mutual Commitment Events in the Revenue Cycle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Involve the enterprise and an external business partner agreeing to exchange resources at a defined future time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BFC8D46-BB45-4690-8AC9-91C19D969131}" type="slidenum">
              <a:rPr lang="en-US" smtClean="0">
                <a:solidFill>
                  <a:srgbClr val="19138D"/>
                </a:solidFill>
              </a:rPr>
              <a:pPr eaLnBrk="1" hangingPunct="1"/>
              <a:t>52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57200"/>
            <a:ext cx="7010400" cy="666750"/>
          </a:xfrm>
        </p:spPr>
        <p:txBody>
          <a:bodyPr/>
          <a:lstStyle/>
          <a:p>
            <a:r>
              <a:rPr lang="en-US" sz="3600"/>
              <a:t>Sale Order Event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1371600"/>
            <a:ext cx="7086600" cy="4651375"/>
          </a:xfrm>
        </p:spPr>
        <p:txBody>
          <a:bodyPr/>
          <a:lstStyle/>
          <a:p>
            <a:r>
              <a:rPr lang="en-US" sz="2400" dirty="0"/>
              <a:t>A mutual commitment event whereby the enterprise agrees to deliver goods to a customer and that customer agrees to pay an ascertained price for those goods</a:t>
            </a:r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AF26EBE-5CA4-416E-9826-8FC7769DA046}" type="slidenum">
              <a:rPr lang="en-US" smtClean="0">
                <a:solidFill>
                  <a:srgbClr val="19138D"/>
                </a:solidFill>
              </a:rPr>
              <a:pPr eaLnBrk="1" hangingPunct="1"/>
              <a:t>53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809625"/>
          </a:xfrm>
        </p:spPr>
        <p:txBody>
          <a:bodyPr/>
          <a:lstStyle/>
          <a:p>
            <a:r>
              <a:rPr lang="en-US" sz="3600"/>
              <a:t>Sales/Collection Process Events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405688" cy="4270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Economic Decrement Events in the Revenue Cycle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Represent the revenue generating activities; the giving </a:t>
            </a:r>
            <a:br>
              <a:rPr lang="en-US" sz="2000" dirty="0"/>
            </a:br>
            <a:r>
              <a:rPr lang="en-US" sz="2000" dirty="0"/>
              <a:t>up of one or more resources in order to get some other resource (usually cash)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73CFEEE-A3EA-49C4-B112-58789F558254}" type="slidenum">
              <a:rPr lang="en-US" smtClean="0">
                <a:solidFill>
                  <a:srgbClr val="19138D"/>
                </a:solidFill>
              </a:rPr>
              <a:pPr eaLnBrk="1" hangingPunct="1"/>
              <a:t>54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1234691" y="159187"/>
            <a:ext cx="7886700" cy="1325563"/>
          </a:xfrm>
        </p:spPr>
        <p:txBody>
          <a:bodyPr/>
          <a:lstStyle/>
          <a:p>
            <a:r>
              <a:rPr lang="en-US" sz="3600" dirty="0"/>
              <a:t>Sale Event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90689"/>
            <a:ext cx="7467600" cy="405447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An economic decrement event in which title (ownership) of one or more products is transferred from the enterprise to a customer. The transfer may take place in person (e.g. a sale of a t-shirt at a campus bookstore) or in transit (e.g. a shipment of a video game from an enterprise with a web-based storefront)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C4AF85-AE69-4605-B974-0ED530FD8989}" type="slidenum">
              <a:rPr lang="en-US" smtClean="0">
                <a:solidFill>
                  <a:srgbClr val="19138D"/>
                </a:solidFill>
              </a:rPr>
              <a:pPr eaLnBrk="1" hangingPunct="1"/>
              <a:t>55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013209" y="573732"/>
            <a:ext cx="7696200" cy="649288"/>
          </a:xfrm>
        </p:spPr>
        <p:txBody>
          <a:bodyPr/>
          <a:lstStyle/>
          <a:p>
            <a:r>
              <a:rPr lang="en-US" sz="3600"/>
              <a:t>Sales/Collection Process Events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620000" cy="45037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Economic Increment Events in the Revenue Cycle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Almost always is a </a:t>
            </a:r>
            <a:r>
              <a:rPr lang="en-US" sz="2000" b="1" dirty="0"/>
              <a:t>Cash Receipt </a:t>
            </a:r>
            <a:r>
              <a:rPr lang="en-US" sz="2000" dirty="0"/>
              <a:t>event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An economic increment event in which an external agent transfers ownership of cash (or a cash equivalent) to the enterprise</a:t>
            </a:r>
          </a:p>
          <a:p>
            <a:pPr lvl="2">
              <a:lnSpc>
                <a:spcPct val="90000"/>
              </a:lnSpc>
            </a:pP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E1035B0-8247-4C3D-89E8-EC1E6052E5F8}" type="slidenum">
              <a:rPr lang="en-US" smtClean="0">
                <a:solidFill>
                  <a:srgbClr val="19138D"/>
                </a:solidFill>
              </a:rPr>
              <a:pPr eaLnBrk="1" hangingPunct="1"/>
              <a:t>56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Sales/Collection Process Events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690688"/>
            <a:ext cx="7391400" cy="4176711"/>
          </a:xfrm>
        </p:spPr>
        <p:txBody>
          <a:bodyPr/>
          <a:lstStyle/>
          <a:p>
            <a:r>
              <a:rPr lang="en-US" sz="2400" dirty="0"/>
              <a:t>Economic Decrement Reversal Events</a:t>
            </a:r>
          </a:p>
          <a:p>
            <a:pPr lvl="1"/>
            <a:r>
              <a:rPr lang="en-US" sz="2000" dirty="0"/>
              <a:t>Events in which previous economic decrement events are reversed or negated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696200" y="6381750"/>
            <a:ext cx="1219200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D9B5CB-B91E-45B8-AC2C-70F7F0652860}" type="slidenum">
              <a:rPr lang="en-US" smtClean="0">
                <a:solidFill>
                  <a:srgbClr val="19138D"/>
                </a:solidFill>
              </a:rPr>
              <a:pPr eaLnBrk="1" hangingPunct="1"/>
              <a:t>57</a:t>
            </a:fld>
            <a:endParaRPr lang="en-US" dirty="0">
              <a:solidFill>
                <a:srgbClr val="19138D"/>
              </a:solidFill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90538"/>
            <a:ext cx="6934200" cy="576262"/>
          </a:xfrm>
        </p:spPr>
        <p:txBody>
          <a:bodyPr>
            <a:normAutofit fontScale="90000"/>
          </a:bodyPr>
          <a:lstStyle/>
          <a:p>
            <a:r>
              <a:rPr lang="en-US" sz="3600"/>
              <a:t>Sale Return Event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315200" cy="434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An economic event in which title (ownership) for products that were previously transferred from seller to buyer is transferred back from buyer to seller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3904</Words>
  <Application>Microsoft Office PowerPoint</Application>
  <PresentationFormat>On-screen Show (4:3)</PresentationFormat>
  <Paragraphs>1093</Paragraphs>
  <Slides>57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MS PGothic</vt:lpstr>
      <vt:lpstr>MS PGothic</vt:lpstr>
      <vt:lpstr>Arial</vt:lpstr>
      <vt:lpstr>Calibri</vt:lpstr>
      <vt:lpstr>Calibri Light</vt:lpstr>
      <vt:lpstr>Palatino Linotype</vt:lpstr>
      <vt:lpstr>Times New Roman</vt:lpstr>
      <vt:lpstr>Wingdings</vt:lpstr>
      <vt:lpstr>Office Theme</vt:lpstr>
      <vt:lpstr>AC6761 Artificial Intelligence Accounting</vt:lpstr>
      <vt:lpstr>Core REA Classes</vt:lpstr>
      <vt:lpstr>Core REA Primary Associations</vt:lpstr>
      <vt:lpstr>Core REA Secondary Associations </vt:lpstr>
      <vt:lpstr>Assigning Attributes</vt:lpstr>
      <vt:lpstr>Multiplicity Assignment</vt:lpstr>
      <vt:lpstr>Steps to Create a REA Business Process Level *Core* Model</vt:lpstr>
      <vt:lpstr>Steps to Create a REA Business Process Level *Core* Model</vt:lpstr>
      <vt:lpstr>Core REA Modeling of Acquisition</vt:lpstr>
      <vt:lpstr>Core REA Modeling of Acquisition</vt:lpstr>
      <vt:lpstr>PowerPoint Presentation</vt:lpstr>
      <vt:lpstr>Acquisition Core Pattern Example</vt:lpstr>
      <vt:lpstr>Acquisition Core Pattern Example</vt:lpstr>
      <vt:lpstr>Acquisition Core Pattern Example</vt:lpstr>
      <vt:lpstr>PowerPoint Presentation</vt:lpstr>
      <vt:lpstr>Acquisition Core Pattern Example</vt:lpstr>
      <vt:lpstr>PowerPoint Presentation</vt:lpstr>
      <vt:lpstr>Acquisition Core Pattern Example</vt:lpstr>
      <vt:lpstr>Acquisition Core Pattern Example</vt:lpstr>
      <vt:lpstr>PowerPoint Presentation</vt:lpstr>
      <vt:lpstr>Revenue Core Pattern </vt:lpstr>
      <vt:lpstr>Expansions to the Core REA Business Process level model (core = green)</vt:lpstr>
      <vt:lpstr>Expansions to the Core REA Business Process level model</vt:lpstr>
      <vt:lpstr>Expansions to the Core REA Business Process level model (core = green)</vt:lpstr>
      <vt:lpstr>Expansions to the Core REA Business Process level model</vt:lpstr>
      <vt:lpstr>Expansions to the Core REA Business Process level model (core = green)</vt:lpstr>
      <vt:lpstr>PowerPoint Presentation</vt:lpstr>
      <vt:lpstr>Expansions to the Core REA Business Process level model (core = green)</vt:lpstr>
      <vt:lpstr>Expansions to the Core REA Business Process level model (core = green)</vt:lpstr>
      <vt:lpstr>Expansions to the Core REA Business Process level model (core = green)</vt:lpstr>
      <vt:lpstr>Expansions to the Core REA Business Process level model</vt:lpstr>
      <vt:lpstr>Expansions to the Core REA Business Process level model (core = green)</vt:lpstr>
      <vt:lpstr>Expansions to the Core REA Business Process level model (core = green)</vt:lpstr>
      <vt:lpstr>Expansions to the Core REA Business Process level model (core = green)</vt:lpstr>
      <vt:lpstr>PowerPoint Presentation</vt:lpstr>
      <vt:lpstr>Expansions to the Core REA Business Process level model (core = green)</vt:lpstr>
      <vt:lpstr>Expansions to the Core REA Business Process level model (core = green)</vt:lpstr>
      <vt:lpstr>Expanded Acquisition Cycle REA model</vt:lpstr>
      <vt:lpstr>PowerPoint Presentation</vt:lpstr>
      <vt:lpstr>Purchase Requisition Event</vt:lpstr>
      <vt:lpstr>Acquisition/Payment Process Events</vt:lpstr>
      <vt:lpstr>Purchase Order Event</vt:lpstr>
      <vt:lpstr>Acquisition/Payment Process Events</vt:lpstr>
      <vt:lpstr>Purchase (aka Acquisition) Event</vt:lpstr>
      <vt:lpstr>Acquisition/Payment Process Events</vt:lpstr>
      <vt:lpstr>PowerPoint Presentation</vt:lpstr>
      <vt:lpstr>Purchase Return Event</vt:lpstr>
      <vt:lpstr>Expanded Revenue Cycle REA model</vt:lpstr>
      <vt:lpstr>Sales/Collection Process Events</vt:lpstr>
      <vt:lpstr>Sales Call Event</vt:lpstr>
      <vt:lpstr>Sales/Collection Process Events</vt:lpstr>
      <vt:lpstr>Sale Order Event</vt:lpstr>
      <vt:lpstr>Sales/Collection Process Events</vt:lpstr>
      <vt:lpstr>Sale Event</vt:lpstr>
      <vt:lpstr>Sales/Collection Process Events</vt:lpstr>
      <vt:lpstr>Sales/Collection Process Events</vt:lpstr>
      <vt:lpstr>Sale Return Event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2020-08-27T08:06:10Z</dcterms:created>
  <dcterms:modified xsi:type="dcterms:W3CDTF">2025-10-11T02:45:39Z</dcterms:modified>
</cp:coreProperties>
</file>