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notesSlides/notesSlide14.xml" ContentType="application/vnd.openxmlformats-officedocument.presentationml.notesSlide+xml"/>
  <Override PartName="/ppt/tags/tag4.xml" ContentType="application/vnd.openxmlformats-officedocument.presentationml.tags+xml"/>
  <Override PartName="/ppt/notesSlides/notesSlide15.xml" ContentType="application/vnd.openxmlformats-officedocument.presentationml.notesSlide+xml"/>
  <Override PartName="/ppt/tags/tag5.xml" ContentType="application/vnd.openxmlformats-officedocument.presentationml.tags+xml"/>
  <Override PartName="/ppt/notesSlides/notesSlide16.xml" ContentType="application/vnd.openxmlformats-officedocument.presentationml.notesSlide+xml"/>
  <Override PartName="/ppt/tags/tag6.xml" ContentType="application/vnd.openxmlformats-officedocument.presentationml.tags+xml"/>
  <Override PartName="/ppt/notesSlides/notesSlide17.xml" ContentType="application/vnd.openxmlformats-officedocument.presentationml.notesSlide+xml"/>
  <Override PartName="/ppt/tags/tag7.xml" ContentType="application/vnd.openxmlformats-officedocument.presentationml.tags+xml"/>
  <Override PartName="/ppt/notesSlides/notesSlide18.xml" ContentType="application/vnd.openxmlformats-officedocument.presentationml.notesSlide+xml"/>
  <Override PartName="/ppt/tags/tag8.xml" ContentType="application/vnd.openxmlformats-officedocument.presentationml.tags+xml"/>
  <Override PartName="/ppt/notesSlides/notesSlide19.xml" ContentType="application/vnd.openxmlformats-officedocument.presentationml.notesSlide+xml"/>
  <Override PartName="/ppt/tags/tag9.xml" ContentType="application/vnd.openxmlformats-officedocument.presentationml.tags+xml"/>
  <Override PartName="/ppt/notesSlides/notesSlide20.xml" ContentType="application/vnd.openxmlformats-officedocument.presentationml.notesSlide+xml"/>
  <Override PartName="/ppt/tags/tag10.xml" ContentType="application/vnd.openxmlformats-officedocument.presentationml.tags+xml"/>
  <Override PartName="/ppt/notesSlides/notesSlide21.xml" ContentType="application/vnd.openxmlformats-officedocument.presentationml.notesSlide+xml"/>
  <Override PartName="/ppt/tags/tag11.xml" ContentType="application/vnd.openxmlformats-officedocument.presentationml.tags+xml"/>
  <Override PartName="/ppt/notesSlides/notesSlide22.xml" ContentType="application/vnd.openxmlformats-officedocument.presentationml.notesSlide+xml"/>
  <Override PartName="/ppt/tags/tag12.xml" ContentType="application/vnd.openxmlformats-officedocument.presentationml.tags+xml"/>
  <Override PartName="/ppt/notesSlides/notesSlide23.xml" ContentType="application/vnd.openxmlformats-officedocument.presentationml.notesSlide+xml"/>
  <Override PartName="/ppt/tags/tag13.xml" ContentType="application/vnd.openxmlformats-officedocument.presentationml.tags+xml"/>
  <Override PartName="/ppt/notesSlides/notesSlide24.xml" ContentType="application/vnd.openxmlformats-officedocument.presentationml.notesSlide+xml"/>
  <Override PartName="/ppt/tags/tag14.xml" ContentType="application/vnd.openxmlformats-officedocument.presentationml.tags+xml"/>
  <Override PartName="/ppt/notesSlides/notesSlide25.xml" ContentType="application/vnd.openxmlformats-officedocument.presentationml.notesSlide+xml"/>
  <Override PartName="/ppt/tags/tag15.xml" ContentType="application/vnd.openxmlformats-officedocument.presentationml.tags+xml"/>
  <Override PartName="/ppt/notesSlides/notesSlide26.xml" ContentType="application/vnd.openxmlformats-officedocument.presentationml.notesSlide+xml"/>
  <Override PartName="/ppt/tags/tag16.xml" ContentType="application/vnd.openxmlformats-officedocument.presentationml.tags+xml"/>
  <Override PartName="/ppt/notesSlides/notesSlide27.xml" ContentType="application/vnd.openxmlformats-officedocument.presentationml.notesSlide+xml"/>
  <Override PartName="/ppt/tags/tag17.xml" ContentType="application/vnd.openxmlformats-officedocument.presentationml.tags+xml"/>
  <Override PartName="/ppt/notesSlides/notesSlide28.xml" ContentType="application/vnd.openxmlformats-officedocument.presentationml.notesSlide+xml"/>
  <Override PartName="/ppt/tags/tag18.xml" ContentType="application/vnd.openxmlformats-officedocument.presentationml.tags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5721" r:id="rId1"/>
  </p:sldMasterIdLst>
  <p:notesMasterIdLst>
    <p:notesMasterId r:id="rId55"/>
  </p:notesMasterIdLst>
  <p:handoutMasterIdLst>
    <p:handoutMasterId r:id="rId56"/>
  </p:handoutMasterIdLst>
  <p:sldIdLst>
    <p:sldId id="397" r:id="rId2"/>
    <p:sldId id="398" r:id="rId3"/>
    <p:sldId id="399" r:id="rId4"/>
    <p:sldId id="400" r:id="rId5"/>
    <p:sldId id="401" r:id="rId6"/>
    <p:sldId id="348" r:id="rId7"/>
    <p:sldId id="349" r:id="rId8"/>
    <p:sldId id="350" r:id="rId9"/>
    <p:sldId id="357" r:id="rId10"/>
    <p:sldId id="358" r:id="rId11"/>
    <p:sldId id="361" r:id="rId12"/>
    <p:sldId id="362" r:id="rId13"/>
    <p:sldId id="364" r:id="rId14"/>
    <p:sldId id="365" r:id="rId15"/>
    <p:sldId id="372" r:id="rId16"/>
    <p:sldId id="373" r:id="rId17"/>
    <p:sldId id="366" r:id="rId18"/>
    <p:sldId id="383" r:id="rId19"/>
    <p:sldId id="385" r:id="rId20"/>
    <p:sldId id="390" r:id="rId21"/>
    <p:sldId id="392" r:id="rId22"/>
    <p:sldId id="393" r:id="rId23"/>
    <p:sldId id="394" r:id="rId24"/>
    <p:sldId id="395" r:id="rId25"/>
    <p:sldId id="439" r:id="rId26"/>
    <p:sldId id="440" r:id="rId27"/>
    <p:sldId id="441" r:id="rId28"/>
    <p:sldId id="442" r:id="rId29"/>
    <p:sldId id="443" r:id="rId30"/>
    <p:sldId id="403" r:id="rId31"/>
    <p:sldId id="406" r:id="rId32"/>
    <p:sldId id="407" r:id="rId33"/>
    <p:sldId id="408" r:id="rId34"/>
    <p:sldId id="409" r:id="rId35"/>
    <p:sldId id="410" r:id="rId36"/>
    <p:sldId id="412" r:id="rId37"/>
    <p:sldId id="413" r:id="rId38"/>
    <p:sldId id="414" r:id="rId39"/>
    <p:sldId id="415" r:id="rId40"/>
    <p:sldId id="416" r:id="rId41"/>
    <p:sldId id="417" r:id="rId42"/>
    <p:sldId id="418" r:id="rId43"/>
    <p:sldId id="419" r:id="rId44"/>
    <p:sldId id="420" r:id="rId45"/>
    <p:sldId id="421" r:id="rId46"/>
    <p:sldId id="422" r:id="rId47"/>
    <p:sldId id="423" r:id="rId48"/>
    <p:sldId id="424" r:id="rId49"/>
    <p:sldId id="425" r:id="rId50"/>
    <p:sldId id="426" r:id="rId51"/>
    <p:sldId id="427" r:id="rId52"/>
    <p:sldId id="428" r:id="rId53"/>
    <p:sldId id="429" r:id="rId54"/>
  </p:sldIdLst>
  <p:sldSz cx="9144000" cy="6858000" type="screen4x3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8" name="Author" initials="A" lastIdx="0" clrIdx="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2D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61" autoAdjust="0"/>
    <p:restoredTop sz="92494" autoAdjust="0"/>
  </p:normalViewPr>
  <p:slideViewPr>
    <p:cSldViewPr>
      <p:cViewPr varScale="1">
        <p:scale>
          <a:sx n="76" d="100"/>
          <a:sy n="76" d="100"/>
        </p:scale>
        <p:origin x="196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3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2885" y="67"/>
      </p:cViewPr>
      <p:guideLst>
        <p:guide orient="horz" pos="3128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966849" y="0"/>
            <a:ext cx="829254" cy="298240"/>
          </a:xfrm>
          <a:prstGeom prst="rect">
            <a:avLst/>
          </a:prstGeom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dirty="0"/>
              <a:t>1-</a:t>
            </a:r>
            <a:fld id="{4FC70F1E-A9CF-4725-BA99-5BD9E946C6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2212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3164" tIns="46582" rIns="93164" bIns="46582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6662"/>
            <a:ext cx="5438140" cy="4468416"/>
          </a:xfrm>
          <a:prstGeom prst="rect">
            <a:avLst/>
          </a:prstGeom>
          <a:ln>
            <a:noFill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Slide Number Placeholder 4"/>
          <p:cNvSpPr txBox="1">
            <a:spLocks/>
          </p:cNvSpPr>
          <p:nvPr/>
        </p:nvSpPr>
        <p:spPr>
          <a:xfrm>
            <a:off x="5287083" y="0"/>
            <a:ext cx="1510595" cy="330995"/>
          </a:xfrm>
          <a:prstGeom prst="rect">
            <a:avLst/>
          </a:prstGeom>
        </p:spPr>
        <p:txBody>
          <a:bodyPr lIns="93164" tIns="46582" rIns="93164" bIns="46582"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>
                <a:latin typeface="Calibri" pitchFamily="-107" charset="0"/>
              </a:rPr>
              <a:t>1 - </a:t>
            </a:r>
            <a:fld id="{E8754586-748E-423B-B46D-321A01942A47}" type="slidenum">
              <a:rPr lang="en-US" sz="1200" smtClean="0">
                <a:latin typeface="Calibri" pitchFamily="-107" charset="0"/>
              </a:rPr>
              <a:pPr algn="r" eaLnBrk="1" hangingPunct="1">
                <a:defRPr/>
              </a:pPr>
              <a:t>‹#›</a:t>
            </a:fld>
            <a:endParaRPr lang="en-US" sz="1200" dirty="0">
              <a:latin typeface="Calibri" pitchFamily="-107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0260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8462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235915-29BE-4891-BBA0-EEE99D323DC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6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D0E3D29-3CBF-4600-94F3-9BBE1CD8596F}" type="slidenum">
              <a:rPr lang="en-US" smtClean="0"/>
              <a:pPr eaLnBrk="1" hangingPunct="1"/>
              <a:t>25</a:t>
            </a:fld>
            <a:endParaRPr 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93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E88461C-153C-441B-9688-78D362DAD65D}" type="slidenum">
              <a:rPr lang="en-US" smtClean="0"/>
              <a:pPr eaLnBrk="1" hangingPunct="1"/>
              <a:t>27</a:t>
            </a:fld>
            <a:endParaRPr 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62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D0F425E-AD81-48EA-9B15-8D300EFD60B0}" type="slidenum">
              <a:rPr lang="en-US" smtClean="0"/>
              <a:pPr eaLnBrk="1" hangingPunct="1"/>
              <a:t>28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51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E97A0F6-2EA7-4205-A83B-028650A89110}" type="slidenum">
              <a:rPr lang="en-US" smtClean="0"/>
              <a:pPr eaLnBrk="1" hangingPunct="1"/>
              <a:t>29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63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A5D5019-069A-4A0F-8DC4-57C7954CA10E}" type="slidenum">
              <a:rPr lang="en-US" smtClean="0"/>
              <a:pPr eaLnBrk="1" hangingPunct="1"/>
              <a:t>31</a:t>
            </a:fld>
            <a:endParaRPr lang="en-US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67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5F1B0F9-E334-4AF1-B716-86778BFA0355}" type="slidenum">
              <a:rPr lang="en-US" smtClean="0"/>
              <a:pPr eaLnBrk="1" hangingPunct="1"/>
              <a:t>32</a:t>
            </a:fld>
            <a:endParaRPr lang="en-US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22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7FC3F7A-BD25-41ED-9149-8BC6DF71841C}" type="slidenum">
              <a:rPr lang="en-US" smtClean="0"/>
              <a:pPr eaLnBrk="1" hangingPunct="1"/>
              <a:t>33</a:t>
            </a:fld>
            <a:endParaRPr 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07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AAE15F0-3EC3-40B2-9C17-419F6A498327}" type="slidenum">
              <a:rPr lang="en-US" smtClean="0"/>
              <a:pPr eaLnBrk="1" hangingPunct="1"/>
              <a:t>34</a:t>
            </a:fld>
            <a:endParaRPr 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99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4080953-3C13-41D4-BE5B-A76EDEFF1719}" type="slidenum">
              <a:rPr lang="en-US" smtClean="0"/>
              <a:pPr eaLnBrk="1" hangingPunct="1"/>
              <a:t>35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46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3F5D42A-E64E-418E-B664-A3A427F3C728}" type="slidenum">
              <a:rPr lang="en-US" smtClean="0"/>
              <a:pPr eaLnBrk="1" hangingPunct="1"/>
              <a:t>36</a:t>
            </a:fld>
            <a:endParaRPr lang="en-US"/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682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82AF98E-DCB8-42ED-8F31-164F71396949}" type="slidenum">
              <a:rPr lang="en-US" smtClean="0"/>
              <a:pPr eaLnBrk="1" hangingPunct="1"/>
              <a:t>37</a:t>
            </a:fld>
            <a:endParaRPr lang="en-US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26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77A886-C343-4887-8A48-293F09ACFC31}" type="slidenum">
              <a:rPr lang="en-US" smtClean="0"/>
              <a:pPr eaLnBrk="1" hangingPunct="1"/>
              <a:t>38</a:t>
            </a:fld>
            <a:endParaRPr lang="en-US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917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5F256F2-D385-455A-886A-D0BCCFE5B7CE}" type="slidenum">
              <a:rPr lang="en-US" smtClean="0"/>
              <a:pPr eaLnBrk="1" hangingPunct="1"/>
              <a:t>39</a:t>
            </a:fld>
            <a:endParaRPr lang="en-US"/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299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E5F4924-3AB3-43BC-93BF-C9FA3C2444E8}" type="slidenum">
              <a:rPr lang="en-US" smtClean="0"/>
              <a:pPr eaLnBrk="1" hangingPunct="1"/>
              <a:t>40</a:t>
            </a:fld>
            <a:endParaRPr lang="en-US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415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6E449A8-84DB-4A02-8F3F-B12673AC67E4}" type="slidenum">
              <a:rPr lang="en-US" smtClean="0"/>
              <a:pPr eaLnBrk="1" hangingPunct="1"/>
              <a:t>41</a:t>
            </a:fld>
            <a:endParaRPr lang="en-US"/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017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46C9A8F-43C3-416C-A222-D67A2B57442B}" type="slidenum">
              <a:rPr lang="en-US" smtClean="0"/>
              <a:pPr eaLnBrk="1" hangingPunct="1"/>
              <a:t>42</a:t>
            </a:fld>
            <a:endParaRPr lang="en-US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93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D41EE68-95AB-423F-BC7E-1189690D5BDC}" type="slidenum">
              <a:rPr lang="en-US" smtClean="0"/>
              <a:pPr eaLnBrk="1" hangingPunct="1"/>
              <a:t>43</a:t>
            </a:fld>
            <a:endParaRPr lang="en-US"/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454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780640D-2B28-46EF-806B-5FE218768C22}" type="slidenum">
              <a:rPr lang="en-US" smtClean="0"/>
              <a:pPr eaLnBrk="1" hangingPunct="1"/>
              <a:t>44</a:t>
            </a:fld>
            <a:endParaRPr lang="en-US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681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3F1A5D4-C35C-4190-B954-D181222F8DAA}" type="slidenum">
              <a:rPr lang="en-US" smtClean="0"/>
              <a:pPr eaLnBrk="1" hangingPunct="1"/>
              <a:t>45</a:t>
            </a:fld>
            <a:endParaRPr lang="en-US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59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7B65923-002B-463B-AFF9-99FAD385EC0B}" type="slidenum">
              <a:rPr lang="en-US" smtClean="0"/>
              <a:pPr eaLnBrk="1" hangingPunct="1"/>
              <a:t>46</a:t>
            </a:fld>
            <a:endParaRPr lang="en-US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9831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194F503-EA13-4EAF-8500-FF5B023339C9}" type="slidenum">
              <a:rPr lang="en-US" smtClean="0"/>
              <a:pPr eaLnBrk="1" hangingPunct="1"/>
              <a:t>47</a:t>
            </a:fld>
            <a:endParaRPr lang="en-US"/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605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79E5160-D81B-44E0-BEF3-62AB8250D5B6}" type="slidenum">
              <a:rPr lang="en-US" smtClean="0"/>
              <a:pPr eaLnBrk="1" hangingPunct="1"/>
              <a:t>48</a:t>
            </a:fld>
            <a:endParaRPr lang="en-US"/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88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F043707-1F2F-4AC1-806A-E17B3A836AE2}" type="slidenum">
              <a:rPr lang="en-US" smtClean="0"/>
              <a:pPr eaLnBrk="1" hangingPunct="1"/>
              <a:t>49</a:t>
            </a:fld>
            <a:endParaRPr lang="en-US"/>
          </a:p>
        </p:txBody>
      </p:sp>
      <p:sp>
        <p:nvSpPr>
          <p:cNvPr id="192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659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6D3B7C5-D5DD-4FA8-BFC7-07E00054710D}" type="slidenum">
              <a:rPr lang="en-US" smtClean="0"/>
              <a:pPr eaLnBrk="1" hangingPunct="1"/>
              <a:t>50</a:t>
            </a:fld>
            <a:endParaRPr lang="en-US"/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509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045E762-1D18-4E69-8B86-24D8E5AC5E9A}" type="slidenum">
              <a:rPr lang="en-US" smtClean="0"/>
              <a:pPr eaLnBrk="1" hangingPunct="1"/>
              <a:t>51</a:t>
            </a:fld>
            <a:endParaRPr lang="en-US"/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137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D36B4AF-D076-4B66-B728-B695BDA1C9CB}" type="slidenum">
              <a:rPr lang="en-US" smtClean="0"/>
              <a:pPr eaLnBrk="1" hangingPunct="1"/>
              <a:t>52</a:t>
            </a:fld>
            <a:endParaRPr lang="en-US"/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2647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70D1FE6-6D80-4174-BC43-DFB85B2B66CF}" type="slidenum">
              <a:rPr lang="en-US" smtClean="0"/>
              <a:pPr eaLnBrk="1" hangingPunct="1"/>
              <a:t>53</a:t>
            </a:fld>
            <a:endParaRPr lang="en-US"/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18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FB42-E70C-4FA6-B141-9BD8E6020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4AD63-5068-4E4E-A3E7-F90521A24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06812-10C8-433B-B6CA-EEC7F433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29925E-EED2-44FE-A088-00640B77843B}" type="datetime1">
              <a:rPr lang="en-US" smtClean="0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28831-A964-419A-8F9B-E13A6AC9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D5A45-30F2-4BA8-A795-B19884B2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DA46-A0C8-43DB-B9C0-C1581C69E3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4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9A0F-11F4-468A-92A1-C983B748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BAD7F-CA6D-45BF-B764-72E47621B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37278-C858-4DC0-AFCD-3C6A68D3C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32F547-B0D0-4CB8-8543-44DCD76FB919}" type="datetime1">
              <a:rPr lang="en-US" smtClean="0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C488E-4D8B-43F6-9EB5-45796484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8EFFA-FE3F-4B63-A363-A60D6A34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55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6687-01E3-4EFA-AAF4-3B4BB497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F4309-F76B-4BB7-B6F9-72503B851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824F7-8986-499F-A6D6-173E38F0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180D1F-64D5-4D03-86A8-B0C78FB9D084}" type="datetime1">
              <a:rPr lang="en-US" smtClean="0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8C674-1E77-404C-A67C-7EEBBF9A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BAFC3-E5CC-4C2D-9F40-7AC36D99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116888-0E84-4000-8C9A-DF22FF32135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66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6322-B5D5-4209-90AD-C2E430751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F3636-E557-4BF5-BDB8-7608D671E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1DEDD-0FE5-4DE5-8D0C-0BF6BF334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DEA4-5D2C-45AC-A09E-EA1426FF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A3584-A3FD-4926-AF2B-BA4A2209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F32EB-F0E7-4396-94E9-D3172F1D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2752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68068-C533-471D-B504-99206ADA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A985D-5BF7-4CB5-A92B-4A6FDFBB4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B07C4-7F34-446A-9E2E-1B83A53EA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32C3C-0143-494D-9F52-9E04ECF3F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6F971-95B4-46A0-91C2-A0AFD49D1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71DDC-BE93-430E-B7EA-CDF6C2BE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57A58-19C6-42DB-9019-46F96D1C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BDDE3-F8EA-46B4-9C1F-FFEAFED2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9375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699D1-45FB-49A6-A72B-39DFBA79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AEA5B-B844-499C-BA2B-C67C65D2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12F0C6-B5C0-45E6-85FD-C21AB31A1A95}" type="datetime1">
              <a:rPr lang="en-US" smtClean="0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586E5-DF4D-41FD-939D-D5906457C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8673F-6F56-412B-8D53-B5B5D1D6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8B8CC1-C7B3-4BC4-BEEE-A4A95954513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705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17015-38ED-4E49-B354-BF1208BF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224EFF-F9F8-496A-8AFF-0F456197E8B5}" type="datetime1">
              <a:rPr lang="en-US" smtClean="0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ED087-1CA0-4D1D-A5B0-CA6A3706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9A89-0D3C-4EB6-BC78-A5673BA3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019379-17AD-4E0D-9610-E34AD365F0A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35F3-02F6-4359-A8DD-7118AD1E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C6DA7-C41C-4B1D-821B-A34DDED7D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F4FC8-0644-4504-8FD0-62DFC733C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DD565-4EB8-457E-B8A9-509B3DCE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88E37B-CCA0-4BF7-B7AF-2BF4EC7610D2}" type="datetime1">
              <a:rPr lang="en-US" smtClean="0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9D874-3E53-419D-8C82-3E772F73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B5090-F9E3-4FA5-B32F-54204C78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9EE4FC-2A91-409C-B8D2-F3728F9891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5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437F-279B-4932-9EF7-FFD910F0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7D60-0F4E-4BE9-B09F-E7246F969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00D92-3484-4528-A351-19165E1E6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D33E0-CCF8-4FEC-A987-DCEDD319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906EF-43E0-4C73-8925-C4A8189F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2ED9E-B863-4067-A92B-B18B6217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5032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C477-2B1A-4487-9A1A-D9D3C01F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A2816-85E2-44D9-878A-B0F1465BB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A877E-BE39-43C8-9EE8-D621A9D0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03DD5F-3ADD-4550-807E-1C58669018A4}" type="datetime1">
              <a:rPr lang="en-US" smtClean="0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29F1C-DBE1-4824-91C7-103FAFC4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7950F-2711-4E12-8356-E605F748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AD7A4F-0B31-4615-9C11-A8677BAFCAE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3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CA952-B5B7-4257-8694-84F3A9F90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B2DB1-6CAB-4906-8B39-FB4DED0A8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8120D-AC6D-4553-9834-55272B2A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81D123-9B63-43A4-93F3-FBB2E34B51D6}" type="datetime1">
              <a:rPr lang="en-US" smtClean="0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6FC3-224D-4426-B73C-2AA0B48F5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EE764-C080-4BE3-AFC3-EA929A6E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1C260-B825-4CE8-9DDA-33D812275B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281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220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E64F96-0661-4ECF-9982-9B197F1F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15EEC-6249-47C2-8057-6D2EEB8EA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A0C48-B9DE-4CE6-A788-912657533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3B9AB-B01B-4609-977B-94A63EF8D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44386-A281-4CF3-A02F-A34096AE1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34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22" r:id="rId1"/>
    <p:sldLayoutId id="2147485723" r:id="rId2"/>
    <p:sldLayoutId id="2147485724" r:id="rId3"/>
    <p:sldLayoutId id="2147485725" r:id="rId4"/>
    <p:sldLayoutId id="2147485726" r:id="rId5"/>
    <p:sldLayoutId id="2147485727" r:id="rId6"/>
    <p:sldLayoutId id="2147485728" r:id="rId7"/>
    <p:sldLayoutId id="2147485729" r:id="rId8"/>
    <p:sldLayoutId id="2147485730" r:id="rId9"/>
    <p:sldLayoutId id="2147485731" r:id="rId10"/>
    <p:sldLayoutId id="2147485732" r:id="rId11"/>
    <p:sldLayoutId id="2147484929" r:id="rId12"/>
    <p:sldLayoutId id="2147484917" r:id="rId13"/>
    <p:sldLayoutId id="2147485054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3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10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4" Type="http://schemas.openxmlformats.org/officeDocument/2006/relationships/image" Target="../media/image1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12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3"/>
          <p:cNvSpPr>
            <a:spLocks noGrp="1"/>
          </p:cNvSpPr>
          <p:nvPr>
            <p:ph type="ctrTitle"/>
          </p:nvPr>
        </p:nvSpPr>
        <p:spPr>
          <a:xfrm>
            <a:off x="609600" y="1088237"/>
            <a:ext cx="6858000" cy="1718936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en-US" b="1" dirty="0"/>
              <a:t>AC6761 Artificial Intelligence Accounting</a:t>
            </a:r>
          </a:p>
        </p:txBody>
      </p:sp>
      <p:sp>
        <p:nvSpPr>
          <p:cNvPr id="129027" name="Subtitle 2"/>
          <p:cNvSpPr>
            <a:spLocks noGrp="1"/>
          </p:cNvSpPr>
          <p:nvPr>
            <p:ph type="subTitle" idx="1"/>
          </p:nvPr>
        </p:nvSpPr>
        <p:spPr>
          <a:xfrm>
            <a:off x="762000" y="3429000"/>
            <a:ext cx="7162800" cy="1543012"/>
          </a:xfrm>
        </p:spPr>
        <p:txBody>
          <a:bodyPr>
            <a:normAutofit/>
          </a:bodyPr>
          <a:lstStyle/>
          <a:p>
            <a:pPr algn="l" eaLnBrk="1" hangingPunct="1">
              <a:buFont typeface="Wingdings" pitchFamily="-107" charset="2"/>
              <a:buNone/>
            </a:pPr>
            <a:r>
              <a:rPr lang="en-US" altLang="en-US" sz="3600" b="1" dirty="0">
                <a:solidFill>
                  <a:srgbClr val="898989"/>
                </a:solidFill>
              </a:rPr>
              <a:t>Chapter 4 REA Accounting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68277-D719-411C-87A7-73E4F10DF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b="1" dirty="0"/>
              <a:t>Traditional Double-Entry Bookkeeping​</a:t>
            </a:r>
            <a:br>
              <a:rPr lang="en-HK" b="1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4941D-DE1E-4FB9-BC33-87AE61C35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HK" b="1" dirty="0"/>
              <a:t>Core Principle​</a:t>
            </a:r>
            <a:r>
              <a:rPr lang="en-HK" dirty="0"/>
              <a:t>​:</a:t>
            </a:r>
          </a:p>
          <a:p>
            <a:pPr fontAlgn="base"/>
            <a:endParaRPr lang="en-HK" dirty="0"/>
          </a:p>
          <a:p>
            <a:pPr fontAlgn="base"/>
            <a:r>
              <a:rPr lang="en-HK" dirty="0"/>
              <a:t>Records every transaction with dual entries (debit/credit) to maintain the accounting equation: ​</a:t>
            </a:r>
            <a:r>
              <a:rPr lang="en-HK" b="1" dirty="0"/>
              <a:t>​Assets = Liabilities + Equity​</a:t>
            </a:r>
            <a:r>
              <a:rPr lang="en-HK" dirty="0"/>
              <a:t>​. It focuses on financial outcomes (e.g., profits, cash flows) and uses standardized financial statements (income statement, balance sheet) 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EA7A5-051F-4E67-AEF3-B9C082353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702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B593-DFF3-4653-A423-B9F824776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Strengths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465D6-B3DD-4BED-8A52-990C90064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576763"/>
          </a:xfrm>
        </p:spPr>
        <p:txBody>
          <a:bodyPr/>
          <a:lstStyle/>
          <a:p>
            <a:pPr fontAlgn="base"/>
            <a:r>
              <a:rPr lang="en-HK" dirty="0"/>
              <a:t>​</a:t>
            </a:r>
            <a:r>
              <a:rPr lang="en-HK" b="1" dirty="0"/>
              <a:t>Strengths​</a:t>
            </a:r>
            <a:r>
              <a:rPr lang="en-HK" dirty="0"/>
              <a:t>​:</a:t>
            </a:r>
          </a:p>
          <a:p>
            <a:pPr fontAlgn="base"/>
            <a:r>
              <a:rPr lang="en-HK" dirty="0"/>
              <a:t>Ensures mathematical accuracy through trial balances.</a:t>
            </a:r>
          </a:p>
          <a:p>
            <a:pPr fontAlgn="base"/>
            <a:r>
              <a:rPr lang="en-HK" dirty="0"/>
              <a:t>Simplifies compliance with regulatory standards (e.g., GAAP, IFRS).</a:t>
            </a:r>
          </a:p>
          <a:p>
            <a:pPr fontAlgn="base"/>
            <a:r>
              <a:rPr lang="en-HK" dirty="0"/>
              <a:t>Widely supported by software (e.g., QuickBooks) and integrates with tax reporting </a:t>
            </a:r>
          </a:p>
          <a:p>
            <a:pPr fontAlgn="base"/>
            <a:endParaRPr lang="en-HK" dirty="0"/>
          </a:p>
          <a:p>
            <a:pPr marL="0" indent="0" fontAlgn="base">
              <a:buNone/>
            </a:pPr>
            <a:r>
              <a:rPr lang="en-HK" b="1" dirty="0"/>
              <a:t>Limitations​</a:t>
            </a:r>
            <a:r>
              <a:rPr lang="en-HK" dirty="0"/>
              <a:t>​:</a:t>
            </a:r>
          </a:p>
          <a:p>
            <a:pPr fontAlgn="base"/>
            <a:r>
              <a:rPr lang="en-HK" dirty="0"/>
              <a:t>​</a:t>
            </a:r>
            <a:r>
              <a:rPr lang="en-HK" b="1" dirty="0"/>
              <a:t>​Limited scope​</a:t>
            </a:r>
            <a:r>
              <a:rPr lang="en-HK" dirty="0"/>
              <a:t>​: Captures only monetary transactions, ignoring non-financial data (e.g., customer satisfaction, production efficiency).</a:t>
            </a:r>
          </a:p>
          <a:p>
            <a:pPr fontAlgn="base"/>
            <a:r>
              <a:rPr lang="en-HK" b="1" dirty="0"/>
              <a:t>Historical focus​</a:t>
            </a:r>
            <a:r>
              <a:rPr lang="en-HK" dirty="0"/>
              <a:t>​: Emphasizes past performance rather than real-time operational insights 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DDEB7-8C3F-474C-ABCD-83C92F5E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337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1A9C7-5BF6-4D79-89DC-257D05221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b="1" dirty="0"/>
              <a:t>​​REA Accounting Model: A Paradigm Shift</a:t>
            </a:r>
            <a:br>
              <a:rPr lang="en-HK" b="1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5118E-C8A9-437B-A8B4-CDB7C74B4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HK" b="1" dirty="0"/>
              <a:t>Core Principle​</a:t>
            </a:r>
            <a:r>
              <a:rPr lang="en-HK" dirty="0"/>
              <a:t>​:</a:t>
            </a:r>
          </a:p>
          <a:p>
            <a:pPr fontAlgn="base"/>
            <a:endParaRPr lang="en-HK" dirty="0"/>
          </a:p>
          <a:p>
            <a:pPr marL="0" indent="0" fontAlgn="base">
              <a:buNone/>
            </a:pPr>
            <a:r>
              <a:rPr lang="en-HK" dirty="0"/>
              <a:t>Models business activities around three core elements:</a:t>
            </a:r>
          </a:p>
          <a:p>
            <a:pPr fontAlgn="base"/>
            <a:r>
              <a:rPr lang="en-HK" dirty="0"/>
              <a:t>​</a:t>
            </a:r>
            <a:r>
              <a:rPr lang="en-HK" b="1" dirty="0"/>
              <a:t>​Resources​</a:t>
            </a:r>
            <a:r>
              <a:rPr lang="en-HK" dirty="0"/>
              <a:t>​ (e.g., inventory, cash, equipment),</a:t>
            </a:r>
          </a:p>
          <a:p>
            <a:pPr fontAlgn="base"/>
            <a:r>
              <a:rPr lang="en-HK" dirty="0"/>
              <a:t>​</a:t>
            </a:r>
            <a:r>
              <a:rPr lang="en-HK" b="1" dirty="0"/>
              <a:t>​Events​</a:t>
            </a:r>
            <a:r>
              <a:rPr lang="en-HK" dirty="0"/>
              <a:t>​ (e.g., sales, purchases, production),</a:t>
            </a:r>
          </a:p>
          <a:p>
            <a:pPr fontAlgn="base"/>
            <a:r>
              <a:rPr lang="en-HK" dirty="0"/>
              <a:t>​</a:t>
            </a:r>
            <a:r>
              <a:rPr lang="en-HK" b="1" dirty="0"/>
              <a:t>​Agents​</a:t>
            </a:r>
            <a:r>
              <a:rPr lang="en-HK" dirty="0"/>
              <a:t>​ (e.g., customers, employees, suppliers).</a:t>
            </a:r>
          </a:p>
          <a:p>
            <a:pPr fontAlgn="base"/>
            <a:endParaRPr lang="en-HK" dirty="0"/>
          </a:p>
          <a:p>
            <a:pPr fontAlgn="base"/>
            <a:r>
              <a:rPr lang="en-HK" dirty="0"/>
              <a:t>Unlike double-entry, REA records economic events in their semantic context rather than as debits/credits. For example, a sales event links to the sold resource (product), involved agents (salesperson, customer), and related events (payment, delivery).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1E96B-BF99-4B13-9AFE-0D20007D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494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BE3DA-D0FB-4363-BD7D-0E83BA736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3657"/>
            <a:ext cx="7886700" cy="1325563"/>
          </a:xfrm>
        </p:spPr>
        <p:txBody>
          <a:bodyPr/>
          <a:lstStyle/>
          <a:p>
            <a:r>
              <a:rPr lang="en-HK" dirty="0"/>
              <a:t>Strengths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29A51-EB32-48E7-B856-B36682E4D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3000"/>
            <a:ext cx="7886700" cy="5033963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HK" b="1" dirty="0"/>
              <a:t>Strengths​</a:t>
            </a:r>
            <a:r>
              <a:rPr lang="en-HK" dirty="0"/>
              <a:t>​:</a:t>
            </a:r>
          </a:p>
          <a:p>
            <a:pPr fontAlgn="base"/>
            <a:r>
              <a:rPr lang="en-HK" dirty="0"/>
              <a:t>​</a:t>
            </a:r>
            <a:r>
              <a:rPr lang="en-HK" b="1" dirty="0"/>
              <a:t>​Holistic view​</a:t>
            </a:r>
            <a:r>
              <a:rPr lang="en-HK" dirty="0"/>
              <a:t>​: Integrates financial and non-financial data (e.g., order </a:t>
            </a:r>
            <a:r>
              <a:rPr lang="en-HK" dirty="0" err="1"/>
              <a:t>fulfillment</a:t>
            </a:r>
            <a:r>
              <a:rPr lang="en-HK" dirty="0"/>
              <a:t> time, resource utilization), enabling multidimensional decision-making.</a:t>
            </a:r>
          </a:p>
          <a:p>
            <a:pPr fontAlgn="base"/>
            <a:r>
              <a:rPr lang="en-HK" dirty="0"/>
              <a:t>​</a:t>
            </a:r>
            <a:r>
              <a:rPr lang="en-HK" b="1" dirty="0"/>
              <a:t>​Process optimization​</a:t>
            </a:r>
            <a:r>
              <a:rPr lang="en-HK" dirty="0"/>
              <a:t>​: Identifies inefficiencies by mapping event sequences (e.g., bottlenecks in production) </a:t>
            </a:r>
          </a:p>
          <a:p>
            <a:pPr fontAlgn="base"/>
            <a:r>
              <a:rPr lang="en-HK" i="1" dirty="0"/>
              <a:t>Example</a:t>
            </a:r>
            <a:r>
              <a:rPr lang="en-HK" dirty="0"/>
              <a:t>: A manufacturing firm using REA reduced costs by 15% by </a:t>
            </a:r>
            <a:r>
              <a:rPr lang="en-HK" dirty="0" err="1"/>
              <a:t>analyzing</a:t>
            </a:r>
            <a:r>
              <a:rPr lang="en-HK" dirty="0"/>
              <a:t> "resource-event" linkages to eliminate waste </a:t>
            </a:r>
          </a:p>
          <a:p>
            <a:pPr fontAlgn="base"/>
            <a:r>
              <a:rPr lang="en-HK" dirty="0"/>
              <a:t>​</a:t>
            </a:r>
            <a:r>
              <a:rPr lang="en-HK" b="1" dirty="0"/>
              <a:t>​Adaptability​</a:t>
            </a:r>
            <a:r>
              <a:rPr lang="en-HK" dirty="0"/>
              <a:t>​: Supports real-time data analytics and AI-driven forecasting </a:t>
            </a:r>
          </a:p>
          <a:p>
            <a:pPr marL="0" indent="0" fontAlgn="base">
              <a:buNone/>
            </a:pPr>
            <a:endParaRPr lang="en-HK" dirty="0"/>
          </a:p>
          <a:p>
            <a:pPr marL="0" indent="0" fontAlgn="base">
              <a:buNone/>
            </a:pPr>
            <a:r>
              <a:rPr lang="en-HK" dirty="0"/>
              <a:t>​</a:t>
            </a:r>
            <a:r>
              <a:rPr lang="en-HK" b="1" dirty="0"/>
              <a:t>​Limitations​</a:t>
            </a:r>
            <a:r>
              <a:rPr lang="en-HK" dirty="0"/>
              <a:t>​:</a:t>
            </a:r>
          </a:p>
          <a:p>
            <a:pPr fontAlgn="base"/>
            <a:r>
              <a:rPr lang="en-HK" dirty="0"/>
              <a:t>​</a:t>
            </a:r>
            <a:r>
              <a:rPr lang="en-HK" b="1" dirty="0"/>
              <a:t>​Complex implementation​</a:t>
            </a:r>
            <a:r>
              <a:rPr lang="en-HK" dirty="0"/>
              <a:t>​: Requires redesigning databases and training personnel to capture granular event/agent data.</a:t>
            </a:r>
          </a:p>
          <a:p>
            <a:pPr fontAlgn="base"/>
            <a:r>
              <a:rPr lang="en-HK" dirty="0"/>
              <a:t>​</a:t>
            </a:r>
            <a:r>
              <a:rPr lang="en-HK" b="1" dirty="0"/>
              <a:t>​Lack of standardization​</a:t>
            </a:r>
            <a:r>
              <a:rPr lang="en-HK" dirty="0"/>
              <a:t>​: No universal guidelines for REA-based reporting, complicating audits and cross-company comparisons 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A0BF7-7248-4640-BFED-FDAB8409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Accounting Systems for Economic Storytelling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7848600" cy="1066800"/>
          </a:xfrm>
        </p:spPr>
        <p:txBody>
          <a:bodyPr/>
          <a:lstStyle/>
          <a:p>
            <a:r>
              <a:rPr lang="en-US" dirty="0"/>
              <a:t>Throughout history, accountants recorded and reported the economic stories of enterprises.</a:t>
            </a: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6D91C407-8F65-4B92-BD8C-63B28546511C}" type="slidenum">
              <a:rPr lang="en-US">
                <a:solidFill>
                  <a:schemeClr val="accent2"/>
                </a:solidFill>
              </a:rPr>
              <a:pPr eaLnBrk="1" hangingPunct="1"/>
              <a:t>6</a:t>
            </a:fld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15365" name="Picture 4" descr="ancient Egyptian bookkeeper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2895600"/>
            <a:ext cx="2252662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5" descr="300px-Pacioli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895600"/>
            <a:ext cx="2286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6" descr="accountant-calculator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895600"/>
            <a:ext cx="18351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8" name="Picture 7" descr="Accountingcomputer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895600"/>
            <a:ext cx="2522538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3982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696200" cy="914400"/>
          </a:xfrm>
        </p:spPr>
        <p:txBody>
          <a:bodyPr/>
          <a:lstStyle/>
          <a:p>
            <a:r>
              <a:rPr lang="en-US" dirty="0"/>
              <a:t>Histories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62550"/>
          </a:xfrm>
        </p:spPr>
        <p:txBody>
          <a:bodyPr/>
          <a:lstStyle/>
          <a:p>
            <a:r>
              <a:rPr lang="en-US" dirty="0"/>
              <a:t>7000 years ago, people of Babylonia touched the concepts of economic value and profit. Record information – making notches in sticks.</a:t>
            </a:r>
          </a:p>
          <a:p>
            <a:r>
              <a:rPr lang="en-US" dirty="0"/>
              <a:t>1494, the double-entry bookkeeping system was introduced by </a:t>
            </a:r>
            <a:r>
              <a:rPr lang="en-US" dirty="0" err="1"/>
              <a:t>Pacioli</a:t>
            </a:r>
            <a:r>
              <a:rPr lang="en-US" dirty="0"/>
              <a:t>. </a:t>
            </a:r>
          </a:p>
          <a:p>
            <a:r>
              <a:rPr lang="en-US" dirty="0"/>
              <a:t>After industrial revolution, corporation emerges as financial needs were beyond the ability of most sole traders or partnerships. </a:t>
            </a:r>
          </a:p>
          <a:p>
            <a:r>
              <a:rPr lang="en-US" dirty="0">
                <a:solidFill>
                  <a:srgbClr val="FF0000"/>
                </a:solidFill>
              </a:rPr>
              <a:t>The separation between ownership and control in corporation</a:t>
            </a:r>
            <a:r>
              <a:rPr lang="en-US" dirty="0"/>
              <a:t> triggered the importance of financial statements.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532613-411E-4DB5-8CDB-94995857F8D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52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Question: is the information completely and accurately disclosed to </a:t>
            </a:r>
            <a:r>
              <a:rPr lang="en-US"/>
              <a:t>information users</a:t>
            </a:r>
            <a:r>
              <a:rPr lang="en-US" dirty="0"/>
              <a:t>?</a:t>
            </a:r>
          </a:p>
          <a:p>
            <a:r>
              <a:rPr lang="en-US" dirty="0"/>
              <a:t>Information users: </a:t>
            </a:r>
            <a:r>
              <a:rPr lang="en-US" dirty="0">
                <a:solidFill>
                  <a:srgbClr val="FF0000"/>
                </a:solidFill>
              </a:rPr>
              <a:t>insiders and outsiders</a:t>
            </a:r>
          </a:p>
          <a:p>
            <a:r>
              <a:rPr lang="en-US" dirty="0"/>
              <a:t>Double-entry bookkeeping system – mainstream</a:t>
            </a:r>
          </a:p>
          <a:p>
            <a:r>
              <a:rPr lang="en-US" dirty="0"/>
              <a:t>Accounting information system – different perspective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532613-411E-4DB5-8CDB-94995857F8D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63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0CEB7D5-954C-4072-8C49-24D9C31AC462}" type="slidenum">
              <a:rPr lang="en-US">
                <a:solidFill>
                  <a:schemeClr val="accent2"/>
                </a:solidFill>
              </a:rPr>
              <a:pPr eaLnBrk="1" hangingPunct="1"/>
              <a:t>9</a:t>
            </a:fld>
            <a:endParaRPr lang="en-US">
              <a:solidFill>
                <a:schemeClr val="accent2"/>
              </a:solidFill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3500" y="1371600"/>
            <a:ext cx="7353300" cy="43481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In 1982, Bill McCarthy published a research article explaining his ideas for re-engineering accounting systems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-128"/>
              </a:rPr>
              <a:t>He didn’t call it re-engineering, but it was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-128"/>
              </a:rPr>
              <a:t>He focused on natural phenomena common to most enterprises for various types of transactions.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-128"/>
              </a:rPr>
              <a:t>He recommended eliminating artifacts such as debits, credits, and accounts 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>
                <a:ea typeface="ＭＳ Ｐゴシック" charset="-128"/>
              </a:rPr>
              <a:t>Artifacts are manufactured, not naturally occurring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>
                <a:ea typeface="ＭＳ Ｐゴシック" charset="-128"/>
              </a:rPr>
              <a:t>Accounting artifacts obscure details of business transactions needed for non-accounting purposes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ea typeface="ＭＳ Ｐゴシック" charset="-128"/>
              </a:rPr>
              <a:t>This course explains </a:t>
            </a:r>
            <a:r>
              <a:rPr lang="en-US" sz="2000" dirty="0">
                <a:ea typeface="ＭＳ Ｐゴシック" charset="-128"/>
              </a:rPr>
              <a:t>and discusses McCarthy’s ideas for developing integrated enterprise systems that can satisfy accounting needs while also satisfying needs of other business areas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title"/>
          </p:nvPr>
        </p:nvSpPr>
        <p:spPr>
          <a:xfrm>
            <a:off x="1066800" y="461963"/>
            <a:ext cx="7848600" cy="757237"/>
          </a:xfrm>
          <a:noFill/>
        </p:spPr>
        <p:txBody>
          <a:bodyPr/>
          <a:lstStyle/>
          <a:p>
            <a:pPr eaLnBrk="1" hangingPunct="1"/>
            <a:r>
              <a:rPr lang="en-US" sz="3200" dirty="0"/>
              <a:t>Re-Inventing Accounting Systems</a:t>
            </a:r>
          </a:p>
        </p:txBody>
      </p:sp>
    </p:spTree>
    <p:extLst>
      <p:ext uri="{BB962C8B-B14F-4D97-AF65-F5344CB8AC3E}">
        <p14:creationId xmlns:p14="http://schemas.microsoft.com/office/powerpoint/2010/main" val="1816321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Bill McCarthy’s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Double entry bookkeeping system: “cost of goods sold” and “sales revenue” are two distinct accounts. </a:t>
            </a:r>
          </a:p>
          <a:p>
            <a:r>
              <a:rPr lang="en-US" dirty="0"/>
              <a:t>REA model: the two accounts represent attributes of the same class “sale events”.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532613-411E-4DB5-8CDB-94995857F8D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29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</a:t>
            </a:r>
            <a:br>
              <a:rPr lang="en-US" dirty="0"/>
            </a:br>
            <a:r>
              <a:rPr lang="en-US" dirty="0"/>
              <a:t>Economic Story 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Company A sells products to Company B.</a:t>
            </a:r>
          </a:p>
          <a:p>
            <a:pPr lvl="1"/>
            <a:r>
              <a:rPr lang="en-US" dirty="0"/>
              <a:t>Company A gives products to Company B.</a:t>
            </a:r>
          </a:p>
          <a:p>
            <a:pPr lvl="1"/>
            <a:r>
              <a:rPr lang="en-US" dirty="0"/>
              <a:t>Company A gets cash from Company B.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532613-411E-4DB5-8CDB-94995857F8D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29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800" dirty="0">
                <a:ea typeface="ＭＳ Ｐゴシック" charset="-128"/>
                <a:cs typeface="ＭＳ Ｐゴシック" charset="-128"/>
              </a:rPr>
              <a:t>On Jan 1, 2013, Paul of 7-11 in Festival Walk sold one cookie to customer Joe. </a:t>
            </a:r>
          </a:p>
          <a:p>
            <a:pPr lvl="1"/>
            <a:r>
              <a:rPr lang="en-US" dirty="0"/>
              <a:t>Paul give a cookie to Joe.</a:t>
            </a:r>
          </a:p>
          <a:p>
            <a:pPr lvl="1"/>
            <a:r>
              <a:rPr lang="en-US" dirty="0"/>
              <a:t>Paul gets cash from Joe.</a:t>
            </a:r>
          </a:p>
          <a:p>
            <a:r>
              <a:rPr lang="en-US" dirty="0"/>
              <a:t>Specifics:</a:t>
            </a:r>
          </a:p>
          <a:p>
            <a:pPr lvl="1"/>
            <a:r>
              <a:rPr lang="en-US" dirty="0"/>
              <a:t>Price was $10</a:t>
            </a:r>
          </a:p>
          <a:p>
            <a:pPr lvl="1"/>
            <a:r>
              <a:rPr lang="en-US" dirty="0"/>
              <a:t>Cost was $8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532613-411E-4DB5-8CDB-94995857F8D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27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Double-Entry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Paul gives a cookie to Joe.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532613-411E-4DB5-8CDB-94995857F8D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914400" y="2667000"/>
          <a:ext cx="75438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33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Double-Entry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Paul gives a cookie to Joe.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532613-411E-4DB5-8CDB-94995857F8D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914400" y="2667000"/>
          <a:ext cx="75438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Cost of Goods Sold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r>
                        <a:rPr lang="en-US" dirty="0"/>
                        <a:t>    Inventory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r>
                        <a:rPr lang="en-US" dirty="0"/>
                        <a:t>A/R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r>
                        <a:rPr lang="en-US" dirty="0"/>
                        <a:t>     Sale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649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Double-Entry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Paul gets cash from Joe.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532613-411E-4DB5-8CDB-94995857F8D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914400" y="2667000"/>
          <a:ext cx="7543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238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Double-Entry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Paul gets cash from Joe.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532613-411E-4DB5-8CDB-94995857F8D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914400" y="2667000"/>
          <a:ext cx="7543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r>
                        <a:rPr lang="en-US" dirty="0"/>
                        <a:t>    A/R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1874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F2C46A4-D628-4528-8C83-342794253F5F}" type="slidenum">
              <a:rPr lang="en-US" altLang="zh-TW" smtClean="0"/>
              <a:pPr/>
              <a:t>17</a:t>
            </a:fld>
            <a:endParaRPr lang="en-US" altLang="zh-TW" dirty="0"/>
          </a:p>
        </p:txBody>
      </p:sp>
      <p:sp>
        <p:nvSpPr>
          <p:cNvPr id="44036" name="Rectangle 3"/>
          <p:cNvSpPr>
            <a:spLocks noChangeArrowheads="1"/>
          </p:cNvSpPr>
          <p:nvPr/>
        </p:nvSpPr>
        <p:spPr bwMode="auto">
          <a:xfrm>
            <a:off x="3962400" y="2438400"/>
            <a:ext cx="1295400" cy="9144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1" i="1" dirty="0">
                <a:latin typeface="Times" charset="0"/>
              </a:rPr>
              <a:t>Economic</a:t>
            </a:r>
          </a:p>
          <a:p>
            <a:pPr algn="ctr" eaLnBrk="0" hangingPunct="0"/>
            <a:r>
              <a:rPr lang="en-US" sz="1600" b="1" i="1" dirty="0">
                <a:latin typeface="Times" charset="0"/>
              </a:rPr>
              <a:t>Event</a:t>
            </a:r>
          </a:p>
        </p:txBody>
      </p:sp>
      <p:sp>
        <p:nvSpPr>
          <p:cNvPr id="44037" name="Rectangle 4"/>
          <p:cNvSpPr>
            <a:spLocks noChangeArrowheads="1"/>
          </p:cNvSpPr>
          <p:nvPr/>
        </p:nvSpPr>
        <p:spPr bwMode="auto">
          <a:xfrm>
            <a:off x="7010400" y="2438400"/>
            <a:ext cx="1295400" cy="9144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1" i="1">
                <a:latin typeface="Times" charset="0"/>
              </a:rPr>
              <a:t>Economic</a:t>
            </a:r>
          </a:p>
          <a:p>
            <a:pPr algn="ctr" eaLnBrk="0" hangingPunct="0"/>
            <a:r>
              <a:rPr lang="en-US" sz="1600" b="1" i="1">
                <a:latin typeface="Times" charset="0"/>
              </a:rPr>
              <a:t>Agent</a:t>
            </a:r>
          </a:p>
        </p:txBody>
      </p:sp>
      <p:sp>
        <p:nvSpPr>
          <p:cNvPr id="44038" name="Rectangle 5"/>
          <p:cNvSpPr>
            <a:spLocks noChangeArrowheads="1"/>
          </p:cNvSpPr>
          <p:nvPr/>
        </p:nvSpPr>
        <p:spPr bwMode="auto">
          <a:xfrm>
            <a:off x="838200" y="2438400"/>
            <a:ext cx="1295400" cy="9144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1" i="1" dirty="0">
                <a:latin typeface="Times" charset="0"/>
              </a:rPr>
              <a:t>Economic</a:t>
            </a:r>
          </a:p>
          <a:p>
            <a:pPr algn="ctr" eaLnBrk="0" hangingPunct="0"/>
            <a:r>
              <a:rPr lang="en-US" sz="1600" b="1" i="1" dirty="0">
                <a:latin typeface="Times" charset="0"/>
              </a:rPr>
              <a:t>Resource</a:t>
            </a:r>
            <a:endParaRPr lang="en-US" sz="1600" b="1" dirty="0">
              <a:latin typeface="Times" charset="0"/>
            </a:endParaRPr>
          </a:p>
        </p:txBody>
      </p:sp>
      <p:sp>
        <p:nvSpPr>
          <p:cNvPr id="44044" name="Line 11"/>
          <p:cNvSpPr>
            <a:spLocks noChangeShapeType="1"/>
          </p:cNvSpPr>
          <p:nvPr/>
        </p:nvSpPr>
        <p:spPr bwMode="auto">
          <a:xfrm flipH="1">
            <a:off x="2133600" y="28956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5" name="Line 12"/>
          <p:cNvSpPr>
            <a:spLocks noChangeShapeType="1"/>
          </p:cNvSpPr>
          <p:nvPr/>
        </p:nvSpPr>
        <p:spPr bwMode="auto">
          <a:xfrm>
            <a:off x="2133600" y="2895600"/>
            <a:ext cx="182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6" name="Line 13"/>
          <p:cNvSpPr>
            <a:spLocks noChangeShapeType="1"/>
          </p:cNvSpPr>
          <p:nvPr/>
        </p:nvSpPr>
        <p:spPr bwMode="auto">
          <a:xfrm flipH="1">
            <a:off x="5257800" y="2895600"/>
            <a:ext cx="1600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7" name="Line 14"/>
          <p:cNvSpPr>
            <a:spLocks noChangeShapeType="1"/>
          </p:cNvSpPr>
          <p:nvPr/>
        </p:nvSpPr>
        <p:spPr bwMode="auto">
          <a:xfrm>
            <a:off x="6477000" y="28956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762000" y="838200"/>
            <a:ext cx="76962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charset="0"/>
              </a:defRPr>
            </a:lvl9pPr>
          </a:lstStyle>
          <a:p>
            <a:r>
              <a:rPr lang="en-US" dirty="0"/>
              <a:t>REA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838200" y="4038600"/>
            <a:ext cx="7848600" cy="20875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–"/>
              <a:defRPr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838200" y="3810000"/>
            <a:ext cx="7848600" cy="274319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–"/>
              <a:defRPr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  <a:ea typeface="ＭＳ Ｐゴシック" pitchFamily="-112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457200" lvl="1" indent="0">
              <a:buNone/>
            </a:pPr>
            <a:r>
              <a:rPr lang="en-US" dirty="0"/>
              <a:t>When? Where? What? Who? </a:t>
            </a:r>
          </a:p>
          <a:p>
            <a:r>
              <a:rPr lang="en-US" dirty="0"/>
              <a:t>Resources: what</a:t>
            </a:r>
          </a:p>
          <a:p>
            <a:r>
              <a:rPr lang="en-US" dirty="0"/>
              <a:t>Event: what, when, where</a:t>
            </a:r>
          </a:p>
          <a:p>
            <a:r>
              <a:rPr lang="en-US" dirty="0"/>
              <a:t>Agent: who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471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532613-411E-4DB5-8CDB-94995857F8D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20" name="Content Placeholder 4"/>
          <p:cNvSpPr>
            <a:spLocks noGrp="1"/>
          </p:cNvSpPr>
          <p:nvPr>
            <p:ph idx="1"/>
          </p:nvPr>
        </p:nvSpPr>
        <p:spPr>
          <a:xfrm>
            <a:off x="838200" y="1600200"/>
            <a:ext cx="7848600" cy="4525963"/>
          </a:xfrm>
        </p:spPr>
        <p:txBody>
          <a:bodyPr>
            <a:normAutofit/>
          </a:bodyPr>
          <a:lstStyle/>
          <a:p>
            <a:r>
              <a:rPr lang="en-US" dirty="0"/>
              <a:t>There is usually a pair of events at the heart of REA. One represents a resource being given away or lost, while another represents a resource being received or gained. </a:t>
            </a:r>
          </a:p>
          <a:p>
            <a:r>
              <a:rPr lang="en-US" dirty="0"/>
              <a:t>Two events are linked – a cash receipt occurs in exchange for a sale, and vice versa.</a:t>
            </a:r>
          </a:p>
          <a:p>
            <a:r>
              <a:rPr lang="en-US" dirty="0"/>
              <a:t>Could be more complicated – a product conversion occurs in exchange for a usage of raw material, labor cost and overhead. </a:t>
            </a:r>
          </a:p>
        </p:txBody>
      </p:sp>
    </p:spTree>
    <p:extLst>
      <p:ext uri="{BB962C8B-B14F-4D97-AF65-F5344CB8AC3E}">
        <p14:creationId xmlns:p14="http://schemas.microsoft.com/office/powerpoint/2010/main" val="1513859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D29F36-28F0-4D3A-A1E0-58DA64F84085}" type="slidenum">
              <a:rPr lang="en-US" altLang="zh-TW" smtClean="0">
                <a:solidFill>
                  <a:srgbClr val="FFCC66"/>
                </a:solidFill>
              </a:rPr>
              <a:pPr eaLnBrk="1" hangingPunct="1"/>
              <a:t>19</a:t>
            </a:fld>
            <a:endParaRPr lang="en-US" altLang="zh-TW" dirty="0">
              <a:solidFill>
                <a:srgbClr val="FFCC66"/>
              </a:solidFill>
            </a:endParaRPr>
          </a:p>
        </p:txBody>
      </p:sp>
      <p:sp>
        <p:nvSpPr>
          <p:cNvPr id="45059" name="WordArt 2"/>
          <p:cNvSpPr>
            <a:spLocks noChangeArrowheads="1" noChangeShapeType="1" noTextEdit="1"/>
          </p:cNvSpPr>
          <p:nvPr/>
        </p:nvSpPr>
        <p:spPr bwMode="auto">
          <a:xfrm>
            <a:off x="3816350" y="3143250"/>
            <a:ext cx="167005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2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/>
              </a:rPr>
              <a:t>duality</a:t>
            </a:r>
          </a:p>
        </p:txBody>
      </p:sp>
      <p:sp>
        <p:nvSpPr>
          <p:cNvPr id="45060" name="Line 3"/>
          <p:cNvSpPr>
            <a:spLocks noChangeShapeType="1"/>
          </p:cNvSpPr>
          <p:nvPr/>
        </p:nvSpPr>
        <p:spPr bwMode="auto">
          <a:xfrm>
            <a:off x="990600" y="3429000"/>
            <a:ext cx="71628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1" name="Line 4"/>
          <p:cNvSpPr>
            <a:spLocks noChangeShapeType="1"/>
          </p:cNvSpPr>
          <p:nvPr/>
        </p:nvSpPr>
        <p:spPr bwMode="auto">
          <a:xfrm>
            <a:off x="4572000" y="26670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2" name="Rectangle 5"/>
          <p:cNvSpPr>
            <a:spLocks noChangeArrowheads="1"/>
          </p:cNvSpPr>
          <p:nvPr/>
        </p:nvSpPr>
        <p:spPr bwMode="auto">
          <a:xfrm>
            <a:off x="3924300" y="2133600"/>
            <a:ext cx="1295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3" name="Rectangle 6"/>
          <p:cNvSpPr>
            <a:spLocks noChangeArrowheads="1"/>
          </p:cNvSpPr>
          <p:nvPr/>
        </p:nvSpPr>
        <p:spPr bwMode="auto">
          <a:xfrm>
            <a:off x="3924300" y="44196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100" b="1">
                <a:latin typeface="Times" charset="0"/>
              </a:rPr>
              <a:t>Economic Event</a:t>
            </a:r>
            <a:endParaRPr lang="en-US" sz="1000" b="1">
              <a:latin typeface="Times" charset="0"/>
            </a:endParaRPr>
          </a:p>
        </p:txBody>
      </p:sp>
      <p:sp>
        <p:nvSpPr>
          <p:cNvPr id="45064" name="Rectangle 7"/>
          <p:cNvSpPr>
            <a:spLocks noChangeArrowheads="1"/>
          </p:cNvSpPr>
          <p:nvPr/>
        </p:nvSpPr>
        <p:spPr bwMode="auto">
          <a:xfrm>
            <a:off x="3924300" y="4724400"/>
            <a:ext cx="1295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3924300" y="18288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100" b="1">
                <a:latin typeface="Times" charset="0"/>
              </a:rPr>
              <a:t>Economic Event</a:t>
            </a:r>
            <a:endParaRPr lang="en-US" sz="1000" b="1">
              <a:latin typeface="Times" charset="0"/>
            </a:endParaRPr>
          </a:p>
        </p:txBody>
      </p:sp>
      <p:sp>
        <p:nvSpPr>
          <p:cNvPr id="45066" name="Rectangle 9"/>
          <p:cNvSpPr>
            <a:spLocks noChangeArrowheads="1"/>
          </p:cNvSpPr>
          <p:nvPr/>
        </p:nvSpPr>
        <p:spPr bwMode="auto">
          <a:xfrm>
            <a:off x="1371600" y="5562600"/>
            <a:ext cx="1295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7" name="Rectangle 10"/>
          <p:cNvSpPr>
            <a:spLocks noChangeArrowheads="1"/>
          </p:cNvSpPr>
          <p:nvPr/>
        </p:nvSpPr>
        <p:spPr bwMode="auto">
          <a:xfrm>
            <a:off x="1371600" y="914400"/>
            <a:ext cx="1295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8" name="Rectangle 11"/>
          <p:cNvSpPr>
            <a:spLocks noChangeArrowheads="1"/>
          </p:cNvSpPr>
          <p:nvPr/>
        </p:nvSpPr>
        <p:spPr bwMode="auto">
          <a:xfrm>
            <a:off x="6781800" y="1143000"/>
            <a:ext cx="1295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9" name="Rectangle 12"/>
          <p:cNvSpPr>
            <a:spLocks noChangeArrowheads="1"/>
          </p:cNvSpPr>
          <p:nvPr/>
        </p:nvSpPr>
        <p:spPr bwMode="auto">
          <a:xfrm>
            <a:off x="6781800" y="2590800"/>
            <a:ext cx="1295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0" name="Rectangle 13"/>
          <p:cNvSpPr>
            <a:spLocks noChangeArrowheads="1"/>
          </p:cNvSpPr>
          <p:nvPr/>
        </p:nvSpPr>
        <p:spPr bwMode="auto">
          <a:xfrm>
            <a:off x="6781800" y="4114800"/>
            <a:ext cx="1295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1" name="Rectangle 14"/>
          <p:cNvSpPr>
            <a:spLocks noChangeArrowheads="1"/>
          </p:cNvSpPr>
          <p:nvPr/>
        </p:nvSpPr>
        <p:spPr bwMode="auto">
          <a:xfrm>
            <a:off x="6781800" y="5715000"/>
            <a:ext cx="1295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2" name="Rectangle 15"/>
          <p:cNvSpPr>
            <a:spLocks noChangeArrowheads="1"/>
          </p:cNvSpPr>
          <p:nvPr/>
        </p:nvSpPr>
        <p:spPr bwMode="auto">
          <a:xfrm>
            <a:off x="1371600" y="52578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100" b="1">
                <a:latin typeface="Times" charset="0"/>
              </a:rPr>
              <a:t>Economic Resource</a:t>
            </a:r>
          </a:p>
        </p:txBody>
      </p:sp>
      <p:sp>
        <p:nvSpPr>
          <p:cNvPr id="45073" name="Rectangle 16"/>
          <p:cNvSpPr>
            <a:spLocks noChangeArrowheads="1"/>
          </p:cNvSpPr>
          <p:nvPr/>
        </p:nvSpPr>
        <p:spPr bwMode="auto">
          <a:xfrm>
            <a:off x="1371600" y="6096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100" b="1">
                <a:latin typeface="Times" charset="0"/>
              </a:rPr>
              <a:t>Economic Resource</a:t>
            </a:r>
            <a:endParaRPr lang="en-US" sz="1000" b="1">
              <a:latin typeface="Times" charset="0"/>
            </a:endParaRPr>
          </a:p>
        </p:txBody>
      </p:sp>
      <p:sp>
        <p:nvSpPr>
          <p:cNvPr id="45074" name="Rectangle 17"/>
          <p:cNvSpPr>
            <a:spLocks noChangeArrowheads="1"/>
          </p:cNvSpPr>
          <p:nvPr/>
        </p:nvSpPr>
        <p:spPr bwMode="auto">
          <a:xfrm>
            <a:off x="6781800" y="8382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100" b="1" dirty="0">
                <a:latin typeface="Times" charset="0"/>
              </a:rPr>
              <a:t>Inside Agent</a:t>
            </a:r>
            <a:endParaRPr lang="en-US" sz="1000" b="1" dirty="0">
              <a:latin typeface="Times" charset="0"/>
            </a:endParaRPr>
          </a:p>
        </p:txBody>
      </p:sp>
      <p:sp>
        <p:nvSpPr>
          <p:cNvPr id="45075" name="Rectangle 18"/>
          <p:cNvSpPr>
            <a:spLocks noChangeArrowheads="1"/>
          </p:cNvSpPr>
          <p:nvPr/>
        </p:nvSpPr>
        <p:spPr bwMode="auto">
          <a:xfrm>
            <a:off x="6781800" y="22860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100" b="1" dirty="0">
                <a:latin typeface="Times" charset="0"/>
              </a:rPr>
              <a:t>Outside Agent</a:t>
            </a:r>
          </a:p>
        </p:txBody>
      </p:sp>
      <p:sp>
        <p:nvSpPr>
          <p:cNvPr id="45076" name="Rectangle 19"/>
          <p:cNvSpPr>
            <a:spLocks noChangeArrowheads="1"/>
          </p:cNvSpPr>
          <p:nvPr/>
        </p:nvSpPr>
        <p:spPr bwMode="auto">
          <a:xfrm>
            <a:off x="6781800" y="38100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100" b="1" dirty="0">
                <a:latin typeface="Times" charset="0"/>
              </a:rPr>
              <a:t>Outside Agent</a:t>
            </a:r>
            <a:endParaRPr lang="en-US" sz="1000" b="1" dirty="0">
              <a:latin typeface="Times" charset="0"/>
            </a:endParaRPr>
          </a:p>
        </p:txBody>
      </p:sp>
      <p:sp>
        <p:nvSpPr>
          <p:cNvPr id="45077" name="Rectangle 20"/>
          <p:cNvSpPr>
            <a:spLocks noChangeArrowheads="1"/>
          </p:cNvSpPr>
          <p:nvPr/>
        </p:nvSpPr>
        <p:spPr bwMode="auto">
          <a:xfrm>
            <a:off x="6781800" y="54102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100" b="1" dirty="0">
                <a:latin typeface="Times" charset="0"/>
              </a:rPr>
              <a:t>Inside Agent</a:t>
            </a:r>
            <a:endParaRPr lang="en-US" sz="1000" b="1" dirty="0">
              <a:latin typeface="Times" charset="0"/>
            </a:endParaRPr>
          </a:p>
        </p:txBody>
      </p:sp>
      <p:sp>
        <p:nvSpPr>
          <p:cNvPr id="45079" name="WordArt 22"/>
          <p:cNvSpPr>
            <a:spLocks noChangeArrowheads="1" noChangeShapeType="1" noTextEdit="1"/>
          </p:cNvSpPr>
          <p:nvPr/>
        </p:nvSpPr>
        <p:spPr bwMode="auto">
          <a:xfrm>
            <a:off x="1447800" y="5638800"/>
            <a:ext cx="1143000" cy="4318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800" kern="10" dirty="0"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CASH</a:t>
            </a:r>
          </a:p>
        </p:txBody>
      </p:sp>
      <p:sp>
        <p:nvSpPr>
          <p:cNvPr id="45080" name="WordArt 23"/>
          <p:cNvSpPr>
            <a:spLocks noChangeArrowheads="1" noChangeShapeType="1" noTextEdit="1"/>
          </p:cNvSpPr>
          <p:nvPr/>
        </p:nvSpPr>
        <p:spPr bwMode="auto">
          <a:xfrm>
            <a:off x="1371600" y="914400"/>
            <a:ext cx="1295400" cy="4953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200" kern="10" dirty="0">
                <a:solidFill>
                  <a:srgbClr val="00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Inventory</a:t>
            </a:r>
          </a:p>
        </p:txBody>
      </p:sp>
      <p:sp>
        <p:nvSpPr>
          <p:cNvPr id="45081" name="WordArt 24"/>
          <p:cNvSpPr>
            <a:spLocks noChangeArrowheads="1" noChangeShapeType="1" noTextEdit="1"/>
          </p:cNvSpPr>
          <p:nvPr/>
        </p:nvSpPr>
        <p:spPr bwMode="auto">
          <a:xfrm>
            <a:off x="3968750" y="2209800"/>
            <a:ext cx="1206500" cy="3683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400" kern="10" dirty="0">
                <a:solidFill>
                  <a:srgbClr val="00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Sale</a:t>
            </a:r>
          </a:p>
        </p:txBody>
      </p:sp>
      <p:sp>
        <p:nvSpPr>
          <p:cNvPr id="45082" name="WordArt 25"/>
          <p:cNvSpPr>
            <a:spLocks noChangeArrowheads="1" noChangeShapeType="1" noTextEdit="1"/>
          </p:cNvSpPr>
          <p:nvPr/>
        </p:nvSpPr>
        <p:spPr bwMode="auto">
          <a:xfrm>
            <a:off x="6858000" y="1219200"/>
            <a:ext cx="1143000" cy="3810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solidFill>
                  <a:srgbClr val="00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Employee</a:t>
            </a:r>
          </a:p>
        </p:txBody>
      </p:sp>
      <p:sp>
        <p:nvSpPr>
          <p:cNvPr id="45083" name="WordArt 26"/>
          <p:cNvSpPr>
            <a:spLocks noChangeArrowheads="1" noChangeShapeType="1" noTextEdit="1"/>
          </p:cNvSpPr>
          <p:nvPr/>
        </p:nvSpPr>
        <p:spPr bwMode="auto">
          <a:xfrm>
            <a:off x="6852383" y="5791200"/>
            <a:ext cx="1143000" cy="3810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solidFill>
                  <a:srgbClr val="00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Employee</a:t>
            </a:r>
          </a:p>
        </p:txBody>
      </p:sp>
      <p:sp>
        <p:nvSpPr>
          <p:cNvPr id="45084" name="WordArt 27"/>
          <p:cNvSpPr>
            <a:spLocks noChangeArrowheads="1" noChangeShapeType="1" noTextEdit="1"/>
          </p:cNvSpPr>
          <p:nvPr/>
        </p:nvSpPr>
        <p:spPr bwMode="auto">
          <a:xfrm>
            <a:off x="6819900" y="4152900"/>
            <a:ext cx="12192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000" kern="10" dirty="0">
                <a:solidFill>
                  <a:srgbClr val="00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Customer</a:t>
            </a:r>
          </a:p>
        </p:txBody>
      </p:sp>
      <p:sp>
        <p:nvSpPr>
          <p:cNvPr id="45085" name="WordArt 28"/>
          <p:cNvSpPr>
            <a:spLocks noChangeArrowheads="1" noChangeShapeType="1" noTextEdit="1"/>
          </p:cNvSpPr>
          <p:nvPr/>
        </p:nvSpPr>
        <p:spPr bwMode="auto">
          <a:xfrm>
            <a:off x="6858000" y="2590800"/>
            <a:ext cx="12192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000" kern="10" dirty="0">
                <a:solidFill>
                  <a:srgbClr val="00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Customer</a:t>
            </a:r>
          </a:p>
        </p:txBody>
      </p:sp>
      <p:sp>
        <p:nvSpPr>
          <p:cNvPr id="45086" name="Line 29"/>
          <p:cNvSpPr>
            <a:spLocks noChangeShapeType="1"/>
          </p:cNvSpPr>
          <p:nvPr/>
        </p:nvSpPr>
        <p:spPr bwMode="auto">
          <a:xfrm flipV="1">
            <a:off x="5257800" y="1447800"/>
            <a:ext cx="1524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7" name="Line 30"/>
          <p:cNvSpPr>
            <a:spLocks noChangeShapeType="1"/>
          </p:cNvSpPr>
          <p:nvPr/>
        </p:nvSpPr>
        <p:spPr bwMode="auto">
          <a:xfrm>
            <a:off x="5257800" y="2438400"/>
            <a:ext cx="1524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8" name="Line 31"/>
          <p:cNvSpPr>
            <a:spLocks noChangeShapeType="1"/>
          </p:cNvSpPr>
          <p:nvPr/>
        </p:nvSpPr>
        <p:spPr bwMode="auto">
          <a:xfrm flipV="1">
            <a:off x="5257800" y="4267200"/>
            <a:ext cx="1524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9" name="Line 32"/>
          <p:cNvSpPr>
            <a:spLocks noChangeShapeType="1"/>
          </p:cNvSpPr>
          <p:nvPr/>
        </p:nvSpPr>
        <p:spPr bwMode="auto">
          <a:xfrm>
            <a:off x="5257800" y="4876800"/>
            <a:ext cx="1524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5090" name="AutoShape 33"/>
          <p:cNvCxnSpPr>
            <a:cxnSpLocks noChangeShapeType="1"/>
            <a:stCxn id="45080" idx="2"/>
            <a:endCxn id="45062" idx="1"/>
          </p:cNvCxnSpPr>
          <p:nvPr/>
        </p:nvCxnSpPr>
        <p:spPr bwMode="auto">
          <a:xfrm rot="16200000" flipH="1">
            <a:off x="2476500" y="952500"/>
            <a:ext cx="990600" cy="19050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91" name="AutoShape 34"/>
          <p:cNvCxnSpPr>
            <a:cxnSpLocks noChangeShapeType="1"/>
            <a:stCxn id="45072" idx="0"/>
            <a:endCxn id="45064" idx="1"/>
          </p:cNvCxnSpPr>
          <p:nvPr/>
        </p:nvCxnSpPr>
        <p:spPr bwMode="auto">
          <a:xfrm rot="-5400000">
            <a:off x="2838450" y="4171950"/>
            <a:ext cx="266700" cy="19050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92" name="Text Box 35"/>
          <p:cNvSpPr txBox="1">
            <a:spLocks noChangeArrowheads="1"/>
          </p:cNvSpPr>
          <p:nvPr/>
        </p:nvSpPr>
        <p:spPr bwMode="auto">
          <a:xfrm>
            <a:off x="898525" y="3046413"/>
            <a:ext cx="5966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600" b="1" dirty="0">
                <a:latin typeface="Times" charset="0"/>
              </a:rPr>
              <a:t>Give</a:t>
            </a:r>
          </a:p>
        </p:txBody>
      </p:sp>
      <p:sp>
        <p:nvSpPr>
          <p:cNvPr id="45093" name="Text Box 36"/>
          <p:cNvSpPr txBox="1">
            <a:spLocks noChangeArrowheads="1"/>
          </p:cNvSpPr>
          <p:nvPr/>
        </p:nvSpPr>
        <p:spPr bwMode="auto">
          <a:xfrm>
            <a:off x="898525" y="3427413"/>
            <a:ext cx="5052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600" b="1" dirty="0">
                <a:latin typeface="Times" charset="0"/>
              </a:rPr>
              <a:t>Get</a:t>
            </a:r>
          </a:p>
        </p:txBody>
      </p:sp>
      <p:sp>
        <p:nvSpPr>
          <p:cNvPr id="38" name="WordArt 21"/>
          <p:cNvSpPr>
            <a:spLocks noChangeArrowheads="1" noChangeShapeType="1" noTextEdit="1"/>
          </p:cNvSpPr>
          <p:nvPr/>
        </p:nvSpPr>
        <p:spPr bwMode="auto">
          <a:xfrm>
            <a:off x="3968750" y="4800600"/>
            <a:ext cx="1216025" cy="3810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000" kern="10" dirty="0"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Cash Receipt</a:t>
            </a:r>
          </a:p>
        </p:txBody>
      </p:sp>
    </p:spTree>
    <p:extLst>
      <p:ext uri="{BB962C8B-B14F-4D97-AF65-F5344CB8AC3E}">
        <p14:creationId xmlns:p14="http://schemas.microsoft.com/office/powerpoint/2010/main" val="4121152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Conceptual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413" y="1319514"/>
            <a:ext cx="8235387" cy="5289630"/>
          </a:xfrm>
        </p:spPr>
        <p:txBody>
          <a:bodyPr/>
          <a:lstStyle/>
          <a:p>
            <a:r>
              <a:rPr lang="en-US" sz="2400"/>
              <a:t>Conceptual model is a representation that depicts the important objects and relationships between the objects that must be captured in a database. </a:t>
            </a:r>
          </a:p>
          <a:p>
            <a:r>
              <a:rPr lang="en-US" sz="2400"/>
              <a:t>Different conceptual modeling languages: narrative descriptions, diagrams of various types with different notations, XML (Extensible Markup Language), XBRL (Extensible Business Reporting Language)</a:t>
            </a:r>
          </a:p>
          <a:p>
            <a:r>
              <a:rPr lang="en-US" sz="2400"/>
              <a:t>Universal Modeling Language is a widely accepted notation for system analysis and design.</a:t>
            </a:r>
          </a:p>
          <a:p>
            <a:r>
              <a:rPr lang="en-US" sz="2400"/>
              <a:t>The class diagrams of UML are appropriate for conceptual modeling of REA concepts. 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A82854-D32A-46F7-B2C6-94227CD0B29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05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conceptual model is converted into a logical model once the type of database to be used has been determined. </a:t>
            </a:r>
          </a:p>
          <a:p>
            <a:r>
              <a:rPr lang="en-US"/>
              <a:t>Examples of logical model include relational, object-oriented, hierarchical, network, and others.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A82854-D32A-46F7-B2C6-94227CD0B29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34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Physical database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Physical database model is created based on the specific database software package in which the database is implemented.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A82854-D32A-46F7-B2C6-94227CD0B29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8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399"/>
            <a:ext cx="7696200" cy="1699549"/>
          </a:xfrm>
        </p:spPr>
        <p:txBody>
          <a:bodyPr/>
          <a:lstStyle/>
          <a:p>
            <a:r>
              <a:rPr lang="en-US" sz="3600"/>
              <a:t>Conceptual modeling with UML class diagrams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18167"/>
            <a:ext cx="7848600" cy="4007996"/>
          </a:xfrm>
        </p:spPr>
        <p:txBody>
          <a:bodyPr/>
          <a:lstStyle/>
          <a:p>
            <a:r>
              <a:rPr lang="en-US"/>
              <a:t>The four constructs: classes, associations, attributes, and multiplicities.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A82854-D32A-46F7-B2C6-94227CD0B29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892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Conceptual Modeling Constructs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Classes: sets of entities (a real world object that has a separate existence, either physical or conceptual) that share the same characteristics.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A82854-D32A-46F7-B2C6-94227CD0B29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41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CE3669F-B652-41F9-B5CB-3D294C10D4FF}" type="slidenum">
              <a:rPr lang="en-US" smtClean="0">
                <a:solidFill>
                  <a:srgbClr val="19138D"/>
                </a:solidFill>
              </a:rPr>
              <a:pPr eaLnBrk="1" hangingPunct="1"/>
              <a:t>25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503238"/>
            <a:ext cx="7696200" cy="639762"/>
          </a:xfrm>
        </p:spPr>
        <p:txBody>
          <a:bodyPr/>
          <a:lstStyle/>
          <a:p>
            <a:pPr eaLnBrk="1" hangingPunct="1"/>
            <a:r>
              <a:rPr lang="en-US" sz="3200"/>
              <a:t>UML Class Diagrams: Classes</a:t>
            </a:r>
            <a:r>
              <a:rPr lang="en-US" sz="3200" b="1"/>
              <a:t> 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564438" cy="4419600"/>
          </a:xfrm>
        </p:spPr>
        <p:txBody>
          <a:bodyPr/>
          <a:lstStyle/>
          <a:p>
            <a:pPr eaLnBrk="1" hangingPunct="1"/>
            <a:r>
              <a:rPr lang="en-US" sz="2400" dirty="0"/>
              <a:t>Each class is drawn with a three compartment box.  </a:t>
            </a:r>
          </a:p>
          <a:p>
            <a:pPr eaLnBrk="1" hangingPunct="1"/>
            <a:r>
              <a:rPr lang="en-US" sz="2400" dirty="0"/>
              <a:t>The first compartment contains the stereotype (if any) and the class name</a:t>
            </a:r>
          </a:p>
          <a:p>
            <a:pPr lvl="1" eaLnBrk="1" hangingPunct="1"/>
            <a:r>
              <a:rPr lang="en-US" sz="2000" dirty="0"/>
              <a:t>A stereotype is a generalized type of class to which other classes may belong</a:t>
            </a:r>
          </a:p>
          <a:p>
            <a:pPr eaLnBrk="1" hangingPunct="1"/>
            <a:r>
              <a:rPr lang="en-US" sz="2400" dirty="0"/>
              <a:t>The second compartment contains the attributes of the class </a:t>
            </a:r>
          </a:p>
          <a:p>
            <a:pPr eaLnBrk="1" hangingPunct="1"/>
            <a:r>
              <a:rPr lang="en-US" sz="2400" dirty="0"/>
              <a:t>The third compartment contains the operations the class may perform (we will leave these blank)</a:t>
            </a:r>
          </a:p>
          <a:p>
            <a:pPr lvl="1"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94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Conceptual Modeling Constructs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Associations</a:t>
            </a:r>
          </a:p>
          <a:p>
            <a:pPr lvl="1" eaLnBrk="1" hangingPunct="1">
              <a:defRPr/>
            </a:pPr>
            <a:r>
              <a:rPr lang="en-US"/>
              <a:t>Relationships between classes</a:t>
            </a:r>
          </a:p>
          <a:p>
            <a:r>
              <a:rPr lang="en-US"/>
              <a:t>Association class: there can be only one link between the related entities. </a:t>
            </a:r>
          </a:p>
          <a:p>
            <a:r>
              <a:rPr lang="en-US"/>
              <a:t>Reified association: there can be multiple links between the related entities.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A82854-D32A-46F7-B2C6-94227CD0B29A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49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D8DDF5-7D36-4262-A9D1-33568E685004}" type="slidenum">
              <a:rPr lang="en-US" smtClean="0">
                <a:solidFill>
                  <a:srgbClr val="19138D"/>
                </a:solidFill>
              </a:rPr>
              <a:pPr eaLnBrk="1" hangingPunct="1"/>
              <a:t>27</a:t>
            </a:fld>
            <a:endParaRPr lang="en-US" dirty="0">
              <a:solidFill>
                <a:srgbClr val="19138D"/>
              </a:solidFill>
            </a:endParaRPr>
          </a:p>
        </p:txBody>
      </p:sp>
      <p:sp>
        <p:nvSpPr>
          <p:cNvPr id="1536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96963" y="469900"/>
            <a:ext cx="7696200" cy="692150"/>
          </a:xfrm>
        </p:spPr>
        <p:txBody>
          <a:bodyPr/>
          <a:lstStyle/>
          <a:p>
            <a:pPr eaLnBrk="1" hangingPunct="1"/>
            <a:r>
              <a:rPr lang="en-US" sz="3600"/>
              <a:t>Example Classes and Association</a:t>
            </a:r>
          </a:p>
        </p:txBody>
      </p:sp>
      <p:pic>
        <p:nvPicPr>
          <p:cNvPr id="15364" name="Picture 1027" descr="dun04299_ex04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0" r="-12946"/>
          <a:stretch>
            <a:fillRect/>
          </a:stretch>
        </p:blipFill>
        <p:spPr bwMode="auto">
          <a:xfrm>
            <a:off x="1508125" y="1924050"/>
            <a:ext cx="7843838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3737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EAB78-9F22-422C-AF9B-B4361895B879}" type="slidenum">
              <a:rPr lang="en-US" smtClean="0">
                <a:solidFill>
                  <a:srgbClr val="19138D"/>
                </a:solidFill>
              </a:rPr>
              <a:pPr eaLnBrk="1" hangingPunct="1"/>
              <a:t>28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696200" cy="838200"/>
          </a:xfrm>
        </p:spPr>
        <p:txBody>
          <a:bodyPr/>
          <a:lstStyle/>
          <a:p>
            <a:pPr eaLnBrk="1" hangingPunct="1"/>
            <a:r>
              <a:rPr lang="en-US" sz="3600"/>
              <a:t>Conceptual Modeling Constructs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7241" y="1371600"/>
            <a:ext cx="8314159" cy="4657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Attributes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Characteristics or elementary properties of classes and/or associations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Primary key attribute uniquely and universally identifies each instance of a class or association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Simple (cannot be further decomposed) versus composite attributes (may be decomposed into other attributes)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Derivable attributes (can be derived / computed from the values of other attributes in the database.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Static – will not change if new data is entered into system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Volatile – will change if new data is entered into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53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E96085B-3DFE-4725-8AE1-116E41D8608F}" type="slidenum">
              <a:rPr lang="en-US" smtClean="0">
                <a:solidFill>
                  <a:srgbClr val="19138D"/>
                </a:solidFill>
              </a:rPr>
              <a:pPr eaLnBrk="1" hangingPunct="1"/>
              <a:t>29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696200" cy="591273"/>
          </a:xfrm>
        </p:spPr>
        <p:txBody>
          <a:bodyPr/>
          <a:lstStyle/>
          <a:p>
            <a:pPr eaLnBrk="1" hangingPunct="1"/>
            <a:r>
              <a:rPr lang="en-US" sz="3600"/>
              <a:t>Conceptual Modeling Constructs</a:t>
            </a:r>
            <a:endParaRPr lang="en-US" sz="3600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815" y="1053296"/>
            <a:ext cx="8565266" cy="557899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000"/>
              <a:t>Multiplicities: how many times an instance of a class is allowed to participate in an association.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600"/>
              <a:t>Minimum:  expresses the minimum number of times one instance of a class must participate in an association with the related class.  </a:t>
            </a:r>
            <a:br>
              <a:rPr lang="en-US" sz="2600"/>
            </a:br>
            <a:r>
              <a:rPr lang="en-US" sz="2600"/>
              <a:t>	0 = optional participation </a:t>
            </a:r>
            <a:r>
              <a:rPr lang="en-US"/>
              <a:t>(</a:t>
            </a:r>
            <a:r>
              <a:rPr lang="en-US" i="1"/>
              <a:t>any specific instance of the class can exist in the database without a corresponding instance of the associated class</a:t>
            </a:r>
            <a:r>
              <a:rPr lang="en-US"/>
              <a:t>)</a:t>
            </a:r>
            <a:br>
              <a:rPr lang="en-US" sz="2600"/>
            </a:br>
            <a:r>
              <a:rPr lang="en-US" sz="2600"/>
              <a:t>	1 = mandatory participation </a:t>
            </a:r>
            <a:r>
              <a:rPr lang="en-US"/>
              <a:t>(</a:t>
            </a:r>
            <a:r>
              <a:rPr lang="en-US" i="1"/>
              <a:t>must be related to at least one instance</a:t>
            </a:r>
            <a:r>
              <a:rPr lang="en-US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600"/>
              <a:t>Maximum:  expresses the maximum number of times one instance of a class may participate in an association with the related class</a:t>
            </a:r>
            <a:br>
              <a:rPr lang="en-US" sz="2600"/>
            </a:br>
            <a:r>
              <a:rPr lang="en-US" sz="2600"/>
              <a:t>	1 = one-time only participation</a:t>
            </a:r>
            <a:br>
              <a:rPr lang="en-US" sz="2600"/>
            </a:br>
            <a:r>
              <a:rPr lang="en-US" sz="2600"/>
              <a:t>	* = as many times as needed, no restrictions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88557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Examples:  Customer, Sale</a:t>
            </a: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854FE57-232B-416E-90F5-00226BF63EED}" type="slidenum">
              <a:rPr lang="en-US" smtClean="0">
                <a:solidFill>
                  <a:srgbClr val="19138D"/>
                </a:solidFill>
              </a:rPr>
              <a:pPr eaLnBrk="1" hangingPunct="1"/>
              <a:t>30</a:t>
            </a:fld>
            <a:endParaRPr lang="en-US">
              <a:solidFill>
                <a:srgbClr val="19138D"/>
              </a:solidFill>
            </a:endParaRPr>
          </a:p>
        </p:txBody>
      </p:sp>
      <p:grpSp>
        <p:nvGrpSpPr>
          <p:cNvPr id="20484" name="Group 9"/>
          <p:cNvGrpSpPr>
            <a:grpSpLocks/>
          </p:cNvGrpSpPr>
          <p:nvPr/>
        </p:nvGrpSpPr>
        <p:grpSpPr bwMode="auto">
          <a:xfrm>
            <a:off x="1274763" y="1579563"/>
            <a:ext cx="2286000" cy="2030412"/>
            <a:chOff x="1537837" y="1579399"/>
            <a:chExt cx="2286000" cy="2031325"/>
          </a:xfrm>
        </p:grpSpPr>
        <p:sp>
          <p:nvSpPr>
            <p:cNvPr id="20493" name="TextBox 4"/>
            <p:cNvSpPr txBox="1">
              <a:spLocks noChangeArrowheads="1"/>
            </p:cNvSpPr>
            <p:nvPr/>
          </p:nvSpPr>
          <p:spPr bwMode="auto">
            <a:xfrm>
              <a:off x="1537837" y="1579399"/>
              <a:ext cx="2286000" cy="203132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1600"/>
                <a:t>&lt;&lt;Agent&gt;&gt;</a:t>
              </a:r>
            </a:p>
            <a:p>
              <a:pPr algn="ctr" eaLnBrk="1" hangingPunct="1"/>
              <a:r>
                <a:rPr lang="en-US" b="1"/>
                <a:t>Customer</a:t>
              </a:r>
            </a:p>
            <a:p>
              <a:pPr eaLnBrk="1" hangingPunct="1"/>
              <a:r>
                <a:rPr lang="en-US"/>
                <a:t>-customer ID</a:t>
              </a:r>
            </a:p>
            <a:p>
              <a:pPr eaLnBrk="1" hangingPunct="1"/>
              <a:r>
                <a:rPr lang="en-US"/>
                <a:t>-name</a:t>
              </a:r>
            </a:p>
            <a:p>
              <a:pPr eaLnBrk="1" hangingPunct="1"/>
              <a:r>
                <a:rPr lang="en-US"/>
                <a:t>-address</a:t>
              </a:r>
            </a:p>
            <a:p>
              <a:pPr eaLnBrk="1" hangingPunct="1"/>
              <a:endParaRPr lang="en-US"/>
            </a:p>
            <a:p>
              <a:pPr eaLnBrk="1" hangingPunct="1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537837" y="2160685"/>
              <a:ext cx="228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537837" y="3269259"/>
              <a:ext cx="228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85" name="Group 10"/>
          <p:cNvGrpSpPr>
            <a:grpSpLocks/>
          </p:cNvGrpSpPr>
          <p:nvPr/>
        </p:nvGrpSpPr>
        <p:grpSpPr bwMode="auto">
          <a:xfrm>
            <a:off x="5445125" y="1579563"/>
            <a:ext cx="2605088" cy="2000250"/>
            <a:chOff x="1537837" y="1579399"/>
            <a:chExt cx="2286000" cy="2000548"/>
          </a:xfrm>
        </p:grpSpPr>
        <p:sp>
          <p:nvSpPr>
            <p:cNvPr id="20490" name="TextBox 11"/>
            <p:cNvSpPr txBox="1">
              <a:spLocks noChangeArrowheads="1"/>
            </p:cNvSpPr>
            <p:nvPr/>
          </p:nvSpPr>
          <p:spPr bwMode="auto">
            <a:xfrm>
              <a:off x="1537837" y="1579399"/>
              <a:ext cx="2286000" cy="200054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&lt;&lt;economicDecrement&gt;&gt;</a:t>
              </a:r>
            </a:p>
            <a:p>
              <a:pPr algn="ctr" eaLnBrk="1" hangingPunct="1"/>
              <a:r>
                <a:rPr lang="en-US" b="1"/>
                <a:t>Sale</a:t>
              </a:r>
            </a:p>
            <a:p>
              <a:pPr eaLnBrk="1" hangingPunct="1"/>
              <a:r>
                <a:rPr lang="en-US"/>
                <a:t>-sale ID</a:t>
              </a:r>
            </a:p>
            <a:p>
              <a:pPr eaLnBrk="1" hangingPunct="1"/>
              <a:r>
                <a:rPr lang="en-US"/>
                <a:t>-date</a:t>
              </a:r>
            </a:p>
            <a:p>
              <a:pPr eaLnBrk="1" hangingPunct="1"/>
              <a:r>
                <a:rPr lang="en-US"/>
                <a:t>-dollar value</a:t>
              </a:r>
            </a:p>
            <a:p>
              <a:pPr eaLnBrk="1" hangingPunct="1"/>
              <a:endParaRPr lang="en-US"/>
            </a:p>
            <a:p>
              <a:pPr eaLnBrk="1" hangingPunct="1"/>
              <a:endParaRPr lang="en-US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1537837" y="2162098"/>
              <a:ext cx="228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537837" y="3270338"/>
              <a:ext cx="228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/>
          <p:cNvCxnSpPr/>
          <p:nvPr/>
        </p:nvCxnSpPr>
        <p:spPr>
          <a:xfrm>
            <a:off x="3560763" y="1995488"/>
            <a:ext cx="188436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7" name="TextBox 17"/>
          <p:cNvSpPr txBox="1">
            <a:spLocks noChangeArrowheads="1"/>
          </p:cNvSpPr>
          <p:nvPr/>
        </p:nvSpPr>
        <p:spPr bwMode="auto">
          <a:xfrm>
            <a:off x="3490913" y="1690688"/>
            <a:ext cx="5826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1..1</a:t>
            </a:r>
          </a:p>
        </p:txBody>
      </p:sp>
      <p:sp>
        <p:nvSpPr>
          <p:cNvPr id="20488" name="TextBox 18"/>
          <p:cNvSpPr txBox="1">
            <a:spLocks noChangeArrowheads="1"/>
          </p:cNvSpPr>
          <p:nvPr/>
        </p:nvSpPr>
        <p:spPr bwMode="auto">
          <a:xfrm>
            <a:off x="4903788" y="1690688"/>
            <a:ext cx="5826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0..*</a:t>
            </a:r>
          </a:p>
        </p:txBody>
      </p:sp>
      <p:sp>
        <p:nvSpPr>
          <p:cNvPr id="20489" name="TextBox 19"/>
          <p:cNvSpPr txBox="1">
            <a:spLocks noChangeArrowheads="1"/>
          </p:cNvSpPr>
          <p:nvPr/>
        </p:nvSpPr>
        <p:spPr bwMode="auto">
          <a:xfrm>
            <a:off x="3892550" y="2036763"/>
            <a:ext cx="1219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400"/>
              <a:t>participation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740780" y="3738623"/>
            <a:ext cx="7890458" cy="2835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D98E29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lvl="1" eaLnBrk="1" hangingPunct="1"/>
            <a:r>
              <a:rPr lang="en-US" kern="0" dirty="0"/>
              <a:t>Customer can participate in the association 0 time. </a:t>
            </a:r>
          </a:p>
          <a:p>
            <a:pPr lvl="1" eaLnBrk="1" hangingPunct="1"/>
            <a:r>
              <a:rPr lang="en-US" kern="0" dirty="0"/>
              <a:t>Customer can participate in the association multiple times.</a:t>
            </a:r>
          </a:p>
          <a:p>
            <a:pPr lvl="1" eaLnBrk="1" hangingPunct="1"/>
            <a:r>
              <a:rPr lang="en-US" kern="0" dirty="0"/>
              <a:t>Sale can participate in the association at least once. </a:t>
            </a:r>
          </a:p>
          <a:p>
            <a:pPr lvl="1" eaLnBrk="1" hangingPunct="1"/>
            <a:r>
              <a:rPr lang="en-US" kern="0" dirty="0"/>
              <a:t>Sale can participate in the association at most once.</a:t>
            </a:r>
          </a:p>
        </p:txBody>
      </p:sp>
    </p:spTree>
    <p:extLst>
      <p:ext uri="{BB962C8B-B14F-4D97-AF65-F5344CB8AC3E}">
        <p14:creationId xmlns:p14="http://schemas.microsoft.com/office/powerpoint/2010/main" val="20744734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5B9D49-6301-4B1D-93C8-53E5953E69A3}" type="slidenum">
              <a:rPr lang="en-US" smtClean="0">
                <a:solidFill>
                  <a:srgbClr val="19138D"/>
                </a:solidFill>
              </a:rPr>
              <a:pPr eaLnBrk="1" hangingPunct="1"/>
              <a:t>31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404813"/>
            <a:ext cx="8077200" cy="8143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/>
              <a:t>Example: </a:t>
            </a:r>
            <a:br>
              <a:rPr lang="en-US" sz="3600"/>
            </a:br>
            <a:r>
              <a:rPr lang="en-US" sz="3200"/>
              <a:t>Employee/Department multiplicities</a:t>
            </a:r>
            <a:endParaRPr lang="en-US" sz="3200" dirty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1714500"/>
            <a:ext cx="7634287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Employees are not necessarily assigned to departments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Minimum participation of employee = 0 (put next to dept)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Every department has at least one employee assigned to it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Minimum participation of department = 1 (put next to emp)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An employee can work for no more than one department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Maximum participation of employee = 1 (put next to dept)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A department may have many employees assigned to 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Maximum participation of department = * (put next to emp)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455016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7735351-3621-47B4-98AE-79DC2C5AE294}" type="slidenum">
              <a:rPr lang="en-US" smtClean="0">
                <a:solidFill>
                  <a:srgbClr val="19138D"/>
                </a:solidFill>
              </a:rPr>
              <a:pPr eaLnBrk="1" hangingPunct="1"/>
              <a:t>32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255713" y="574675"/>
            <a:ext cx="7337425" cy="557213"/>
          </a:xfrm>
        </p:spPr>
        <p:txBody>
          <a:bodyPr/>
          <a:lstStyle/>
          <a:p>
            <a:pPr eaLnBrk="1" hangingPunct="1"/>
            <a:r>
              <a:rPr lang="en-US" sz="3200" b="1"/>
              <a:t>Interpret Multiplicities: Exercise 1</a:t>
            </a:r>
          </a:p>
        </p:txBody>
      </p:sp>
      <p:graphicFrame>
        <p:nvGraphicFramePr>
          <p:cNvPr id="23556" name="Object 3"/>
          <p:cNvGraphicFramePr>
            <a:graphicFrameLocks noChangeAspect="1"/>
          </p:cNvGraphicFramePr>
          <p:nvPr/>
        </p:nvGraphicFramePr>
        <p:xfrm>
          <a:off x="965200" y="1143000"/>
          <a:ext cx="802640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Picture" r:id="rId4" imgW="5198364" imgH="1030224" progId="Word.Picture.8">
                  <p:embed/>
                </p:oleObj>
              </mc:Choice>
              <mc:Fallback>
                <p:oleObj name="Picture" r:id="rId4" imgW="5198364" imgH="1030224" progId="Word.Picture.8">
                  <p:embed/>
                  <p:pic>
                    <p:nvPicPr>
                      <p:cNvPr id="2355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1143000"/>
                        <a:ext cx="8026400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1100138" y="2590800"/>
            <a:ext cx="74342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/>
              <a:t>Q1: Can at least one sale exist in the database without a related instance of cash receipt?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1100138" y="3352800"/>
            <a:ext cx="7391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/>
              <a:t>Q2: Can at least one sale in the database relate to multiple instances of cash receipt? </a:t>
            </a:r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1171575" y="5578475"/>
            <a:ext cx="7319963" cy="711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i="1" dirty="0"/>
              <a:t>In other words, all sales are paid for immediately with cash, and sales are the company’s only source of cash</a:t>
            </a:r>
            <a:endParaRPr lang="en-US" sz="2000" dirty="0"/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4325938" y="2908300"/>
            <a:ext cx="266700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19138D"/>
                </a:solidFill>
              </a:rPr>
              <a:t>No – 1 min next to CR</a:t>
            </a:r>
          </a:p>
        </p:txBody>
      </p: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4325938" y="3670300"/>
            <a:ext cx="2620962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19138D"/>
                </a:solidFill>
              </a:rPr>
              <a:t>No – 1 max next to CR</a:t>
            </a:r>
          </a:p>
        </p:txBody>
      </p:sp>
      <p:sp>
        <p:nvSpPr>
          <p:cNvPr id="32781" name="Text Box 13"/>
          <p:cNvSpPr txBox="1">
            <a:spLocks noChangeArrowheads="1"/>
          </p:cNvSpPr>
          <p:nvPr/>
        </p:nvSpPr>
        <p:spPr bwMode="auto">
          <a:xfrm>
            <a:off x="1100138" y="4038600"/>
            <a:ext cx="74342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/>
              <a:t>Q3: Can at least one cash receipt exist in the database without a related instance of sale?</a:t>
            </a:r>
          </a:p>
        </p:txBody>
      </p: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4325938" y="4368800"/>
            <a:ext cx="2928937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19138D"/>
                </a:solidFill>
              </a:rPr>
              <a:t>No – 1 min next to Sale</a:t>
            </a:r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1100138" y="4724400"/>
            <a:ext cx="7391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/>
              <a:t>Q4: Can at least one cash receipt in the database relate to multiple instances of sale? </a:t>
            </a:r>
          </a:p>
        </p:txBody>
      </p:sp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4325938" y="5054600"/>
            <a:ext cx="297815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19138D"/>
                </a:solidFill>
              </a:rPr>
              <a:t>No – 1 max next to Sale</a:t>
            </a:r>
          </a:p>
        </p:txBody>
      </p:sp>
    </p:spTree>
    <p:extLst>
      <p:ext uri="{BB962C8B-B14F-4D97-AF65-F5344CB8AC3E}">
        <p14:creationId xmlns:p14="http://schemas.microsoft.com/office/powerpoint/2010/main" val="360591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7" grpId="0" animBg="1" autoUpdateAnimBg="0"/>
      <p:bldP spid="32779" grpId="0" animBg="1" autoUpdateAnimBg="0"/>
      <p:bldP spid="32782" grpId="0" animBg="1" autoUpdateAnimBg="0"/>
      <p:bldP spid="32784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D2D6073-C66C-4B04-85A2-9F136F56CFE2}" type="slidenum">
              <a:rPr lang="en-US" smtClean="0">
                <a:solidFill>
                  <a:srgbClr val="19138D"/>
                </a:solidFill>
              </a:rPr>
              <a:pPr eaLnBrk="1" hangingPunct="1"/>
              <a:t>33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130300" y="512763"/>
            <a:ext cx="7351713" cy="638175"/>
          </a:xfrm>
        </p:spPr>
        <p:txBody>
          <a:bodyPr/>
          <a:lstStyle/>
          <a:p>
            <a:pPr eaLnBrk="1" hangingPunct="1"/>
            <a:r>
              <a:rPr lang="en-US" sz="3200" b="1"/>
              <a:t>Interpret Multiplicities: Exercise 2</a:t>
            </a:r>
          </a:p>
        </p:txBody>
      </p:sp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1211263" y="5383213"/>
            <a:ext cx="7137400" cy="1016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i="1"/>
              <a:t>In other words, sales may be made on credit with no partial payments or combined payments accepted, and sales are the company’s only source of cash</a:t>
            </a:r>
            <a:endParaRPr lang="en-US" sz="2000"/>
          </a:p>
        </p:txBody>
      </p:sp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1100138" y="2400300"/>
            <a:ext cx="74342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/>
              <a:t>Q1: Can at least one sale exist in the database without a related instance of cash receipt?</a:t>
            </a:r>
          </a:p>
        </p:txBody>
      </p: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1100138" y="3162300"/>
            <a:ext cx="7391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Q2: Can at least one sale in the database relate to multiple instances of cash receipt? </a:t>
            </a:r>
          </a:p>
        </p:txBody>
      </p:sp>
      <p:sp>
        <p:nvSpPr>
          <p:cNvPr id="33807" name="Text Box 15"/>
          <p:cNvSpPr txBox="1">
            <a:spLocks noChangeArrowheads="1"/>
          </p:cNvSpPr>
          <p:nvPr/>
        </p:nvSpPr>
        <p:spPr bwMode="auto">
          <a:xfrm>
            <a:off x="4325938" y="2717800"/>
            <a:ext cx="266700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19138D"/>
                </a:solidFill>
              </a:rPr>
              <a:t>Yes – 0 min next to CR</a:t>
            </a:r>
          </a:p>
        </p:txBody>
      </p:sp>
      <p:sp>
        <p:nvSpPr>
          <p:cNvPr id="33808" name="Text Box 16"/>
          <p:cNvSpPr txBox="1">
            <a:spLocks noChangeArrowheads="1"/>
          </p:cNvSpPr>
          <p:nvPr/>
        </p:nvSpPr>
        <p:spPr bwMode="auto">
          <a:xfrm>
            <a:off x="4325938" y="3479800"/>
            <a:ext cx="2620962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19138D"/>
                </a:solidFill>
              </a:rPr>
              <a:t>No – 1 max next to CR</a:t>
            </a:r>
          </a:p>
        </p:txBody>
      </p:sp>
      <p:sp>
        <p:nvSpPr>
          <p:cNvPr id="33809" name="Text Box 17"/>
          <p:cNvSpPr txBox="1">
            <a:spLocks noChangeArrowheads="1"/>
          </p:cNvSpPr>
          <p:nvPr/>
        </p:nvSpPr>
        <p:spPr bwMode="auto">
          <a:xfrm>
            <a:off x="1100138" y="3848100"/>
            <a:ext cx="74342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Q3: Can at least one cash receipt exist in the database without a related instance of sale?</a:t>
            </a:r>
          </a:p>
        </p:txBody>
      </p:sp>
      <p:sp>
        <p:nvSpPr>
          <p:cNvPr id="33810" name="Text Box 18"/>
          <p:cNvSpPr txBox="1">
            <a:spLocks noChangeArrowheads="1"/>
          </p:cNvSpPr>
          <p:nvPr/>
        </p:nvSpPr>
        <p:spPr bwMode="auto">
          <a:xfrm>
            <a:off x="4325938" y="4178300"/>
            <a:ext cx="2928937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19138D"/>
                </a:solidFill>
              </a:rPr>
              <a:t>No – 1 min next to Sale</a:t>
            </a:r>
          </a:p>
        </p:txBody>
      </p:sp>
      <p:sp>
        <p:nvSpPr>
          <p:cNvPr id="33811" name="Text Box 19"/>
          <p:cNvSpPr txBox="1">
            <a:spLocks noChangeArrowheads="1"/>
          </p:cNvSpPr>
          <p:nvPr/>
        </p:nvSpPr>
        <p:spPr bwMode="auto">
          <a:xfrm>
            <a:off x="1100138" y="4533900"/>
            <a:ext cx="7391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Q4: Can at least one cash receipt in the database relate to multiple instances of sale? </a:t>
            </a:r>
          </a:p>
        </p:txBody>
      </p:sp>
      <p:sp>
        <p:nvSpPr>
          <p:cNvPr id="33812" name="Text Box 20"/>
          <p:cNvSpPr txBox="1">
            <a:spLocks noChangeArrowheads="1"/>
          </p:cNvSpPr>
          <p:nvPr/>
        </p:nvSpPr>
        <p:spPr bwMode="auto">
          <a:xfrm>
            <a:off x="4325938" y="4864100"/>
            <a:ext cx="297815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19138D"/>
                </a:solidFill>
              </a:rPr>
              <a:t>No – 1 max next to Sale</a:t>
            </a:r>
          </a:p>
        </p:txBody>
      </p:sp>
      <p:graphicFrame>
        <p:nvGraphicFramePr>
          <p:cNvPr id="24589" name="Object 1"/>
          <p:cNvGraphicFramePr>
            <a:graphicFrameLocks noChangeAspect="1"/>
          </p:cNvGraphicFramePr>
          <p:nvPr/>
        </p:nvGraphicFramePr>
        <p:xfrm>
          <a:off x="1035050" y="1046163"/>
          <a:ext cx="802640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Picture" r:id="rId4" imgW="5198364" imgH="1030224" progId="Word.Picture.8">
                  <p:embed/>
                </p:oleObj>
              </mc:Choice>
              <mc:Fallback>
                <p:oleObj name="Picture" r:id="rId4" imgW="5198364" imgH="1030224" progId="Word.Picture.8">
                  <p:embed/>
                  <p:pic>
                    <p:nvPicPr>
                      <p:cNvPr id="2458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050" y="1046163"/>
                        <a:ext cx="8026400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303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7" grpId="0" animBg="1" autoUpdateAnimBg="0"/>
      <p:bldP spid="33808" grpId="0" animBg="1" autoUpdateAnimBg="0"/>
      <p:bldP spid="33810" grpId="0" animBg="1" autoUpdateAnimBg="0"/>
      <p:bldP spid="33812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DC79A03-CDDE-4638-A6CD-6F4C19EA65C9}" type="slidenum">
              <a:rPr lang="en-US" smtClean="0">
                <a:solidFill>
                  <a:srgbClr val="19138D"/>
                </a:solidFill>
              </a:rPr>
              <a:pPr eaLnBrk="1" hangingPunct="1"/>
              <a:t>34</a:t>
            </a:fld>
            <a:endParaRPr lang="en-US" dirty="0">
              <a:solidFill>
                <a:srgbClr val="19138D"/>
              </a:solidFill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003300" y="546100"/>
            <a:ext cx="7696200" cy="635000"/>
          </a:xfrm>
        </p:spPr>
        <p:txBody>
          <a:bodyPr/>
          <a:lstStyle/>
          <a:p>
            <a:pPr eaLnBrk="1" hangingPunct="1"/>
            <a:r>
              <a:rPr lang="en-US" sz="3200" b="1"/>
              <a:t>Interpret Multiplicities: Exercise 3</a:t>
            </a:r>
          </a:p>
        </p:txBody>
      </p:sp>
      <p:sp>
        <p:nvSpPr>
          <p:cNvPr id="34827" name="Text Box 11"/>
          <p:cNvSpPr txBox="1">
            <a:spLocks noChangeArrowheads="1"/>
          </p:cNvSpPr>
          <p:nvPr/>
        </p:nvSpPr>
        <p:spPr bwMode="auto">
          <a:xfrm>
            <a:off x="1258888" y="5399088"/>
            <a:ext cx="7215187" cy="1016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i="1"/>
              <a:t>In other words, sales may be made on credit with partial payments but no combined payments accepted, and sales are the company’s only source of cash</a:t>
            </a:r>
            <a:endParaRPr lang="en-US" sz="2000"/>
          </a:p>
        </p:txBody>
      </p:sp>
      <p:sp>
        <p:nvSpPr>
          <p:cNvPr id="34829" name="Text Box 13"/>
          <p:cNvSpPr txBox="1">
            <a:spLocks noChangeArrowheads="1"/>
          </p:cNvSpPr>
          <p:nvPr/>
        </p:nvSpPr>
        <p:spPr bwMode="auto">
          <a:xfrm>
            <a:off x="1227138" y="2438400"/>
            <a:ext cx="74342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Q1: Can at least one sale exist in the database without a related instance of cash receipt?</a:t>
            </a:r>
          </a:p>
        </p:txBody>
      </p:sp>
      <p:sp>
        <p:nvSpPr>
          <p:cNvPr id="34830" name="Text Box 14"/>
          <p:cNvSpPr txBox="1">
            <a:spLocks noChangeArrowheads="1"/>
          </p:cNvSpPr>
          <p:nvPr/>
        </p:nvSpPr>
        <p:spPr bwMode="auto">
          <a:xfrm>
            <a:off x="1227138" y="3200400"/>
            <a:ext cx="7391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/>
              <a:t>Q2: Can at least one sale in the database relate to multiple instances of cash receipt? </a:t>
            </a:r>
          </a:p>
        </p:txBody>
      </p:sp>
      <p:sp>
        <p:nvSpPr>
          <p:cNvPr id="34833" name="Text Box 17"/>
          <p:cNvSpPr txBox="1">
            <a:spLocks noChangeArrowheads="1"/>
          </p:cNvSpPr>
          <p:nvPr/>
        </p:nvSpPr>
        <p:spPr bwMode="auto">
          <a:xfrm>
            <a:off x="1258888" y="3902075"/>
            <a:ext cx="74342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/>
              <a:t>Q3: Can at least one cash receipt exist in the database without a related instance of sale?</a:t>
            </a:r>
          </a:p>
        </p:txBody>
      </p:sp>
      <p:sp>
        <p:nvSpPr>
          <p:cNvPr id="34835" name="Text Box 19"/>
          <p:cNvSpPr txBox="1">
            <a:spLocks noChangeArrowheads="1"/>
          </p:cNvSpPr>
          <p:nvPr/>
        </p:nvSpPr>
        <p:spPr bwMode="auto">
          <a:xfrm>
            <a:off x="1227138" y="4572000"/>
            <a:ext cx="7391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Q4: Can at least one cash receipt in the database relate to multiple instances of sale? </a:t>
            </a:r>
          </a:p>
        </p:txBody>
      </p:sp>
      <p:graphicFrame>
        <p:nvGraphicFramePr>
          <p:cNvPr id="25613" name="Object 1"/>
          <p:cNvGraphicFramePr>
            <a:graphicFrameLocks noChangeAspect="1"/>
          </p:cNvGraphicFramePr>
          <p:nvPr>
            <p:extLst/>
          </p:nvPr>
        </p:nvGraphicFramePr>
        <p:xfrm>
          <a:off x="963613" y="1144588"/>
          <a:ext cx="8029575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Picture" r:id="rId4" imgW="5200560" imgH="1028880" progId="Word.Picture.8">
                  <p:embed/>
                </p:oleObj>
              </mc:Choice>
              <mc:Fallback>
                <p:oleObj name="Picture" r:id="rId4" imgW="5200560" imgH="1028880" progId="Word.Picture.8">
                  <p:embed/>
                  <p:pic>
                    <p:nvPicPr>
                      <p:cNvPr id="2561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613" y="1144588"/>
                        <a:ext cx="8029575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7846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AEFE75-E22D-43EE-86F6-40A46678F4E7}" type="slidenum">
              <a:rPr lang="en-US" smtClean="0">
                <a:solidFill>
                  <a:srgbClr val="19138D"/>
                </a:solidFill>
              </a:rPr>
              <a:pPr eaLnBrk="1" hangingPunct="1"/>
              <a:t>35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1003300" y="581025"/>
            <a:ext cx="7696200" cy="574675"/>
          </a:xfrm>
        </p:spPr>
        <p:txBody>
          <a:bodyPr/>
          <a:lstStyle/>
          <a:p>
            <a:pPr eaLnBrk="1" hangingPunct="1"/>
            <a:r>
              <a:rPr lang="en-US" sz="3200" b="1"/>
              <a:t>Interpret  Multiplicities: Exercise 4</a:t>
            </a:r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1525588" y="5383213"/>
            <a:ext cx="6532562" cy="1016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i="1"/>
              <a:t>In other words, sales may be made on credit with partial payments and combined payments accepted, and cash comes from sources other than sales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35853" name="Text Box 13"/>
          <p:cNvSpPr txBox="1">
            <a:spLocks noChangeArrowheads="1"/>
          </p:cNvSpPr>
          <p:nvPr/>
        </p:nvSpPr>
        <p:spPr bwMode="auto">
          <a:xfrm>
            <a:off x="1290638" y="2413000"/>
            <a:ext cx="74342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/>
              <a:t>Q1: Can at least one sale exist in the database without a related instance of cash receipt?</a:t>
            </a:r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1290638" y="3175000"/>
            <a:ext cx="7391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Q2: Can at least one sale in the database relate to multiple instances of cash receipt? </a:t>
            </a:r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1290638" y="3860800"/>
            <a:ext cx="74342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Q3: Can at least one cash receipt exist in the database without a related instance of sale?</a:t>
            </a:r>
          </a:p>
        </p:txBody>
      </p:sp>
      <p:sp>
        <p:nvSpPr>
          <p:cNvPr id="35859" name="Text Box 19"/>
          <p:cNvSpPr txBox="1">
            <a:spLocks noChangeArrowheads="1"/>
          </p:cNvSpPr>
          <p:nvPr/>
        </p:nvSpPr>
        <p:spPr bwMode="auto">
          <a:xfrm>
            <a:off x="1290638" y="4546600"/>
            <a:ext cx="7391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Q4: Can at least one cash receipt in the database relate to multiple instances of sale? </a:t>
            </a:r>
          </a:p>
        </p:txBody>
      </p:sp>
      <p:graphicFrame>
        <p:nvGraphicFramePr>
          <p:cNvPr id="26637" name="Object 1"/>
          <p:cNvGraphicFramePr>
            <a:graphicFrameLocks noChangeAspect="1"/>
          </p:cNvGraphicFramePr>
          <p:nvPr>
            <p:extLst/>
          </p:nvPr>
        </p:nvGraphicFramePr>
        <p:xfrm>
          <a:off x="963613" y="1144588"/>
          <a:ext cx="8029575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Picture" r:id="rId4" imgW="5200560" imgH="1028880" progId="Word.Picture.8">
                  <p:embed/>
                </p:oleObj>
              </mc:Choice>
              <mc:Fallback>
                <p:oleObj name="Picture" r:id="rId4" imgW="5200560" imgH="1028880" progId="Word.Picture.8">
                  <p:embed/>
                  <p:pic>
                    <p:nvPicPr>
                      <p:cNvPr id="2663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613" y="1144588"/>
                        <a:ext cx="8029575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90333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FC965C3-C818-42D1-971B-0E51D050558B}" type="slidenum">
              <a:rPr lang="en-US" smtClean="0">
                <a:solidFill>
                  <a:srgbClr val="19138D"/>
                </a:solidFill>
              </a:rPr>
              <a:pPr eaLnBrk="1" hangingPunct="1"/>
              <a:t>36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7696200" cy="742950"/>
          </a:xfrm>
        </p:spPr>
        <p:txBody>
          <a:bodyPr/>
          <a:lstStyle/>
          <a:p>
            <a:pPr eaLnBrk="1" hangingPunct="1"/>
            <a:r>
              <a:rPr lang="en-US" sz="4000"/>
              <a:t>Relational Database Model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219200"/>
            <a:ext cx="7315200" cy="4757738"/>
          </a:xfrm>
        </p:spPr>
        <p:txBody>
          <a:bodyPr/>
          <a:lstStyle/>
          <a:p>
            <a:pPr eaLnBrk="1" hangingPunct="1"/>
            <a:r>
              <a:rPr lang="en-US" sz="2400" dirty="0"/>
              <a:t>A relational database consists of tables (relations) that are linked together via the use of primary and foreign key (attribute)</a:t>
            </a:r>
          </a:p>
          <a:p>
            <a:pPr lvl="1" eaLnBrk="1" hangingPunct="1"/>
            <a:r>
              <a:rPr lang="en-US" sz="2000" dirty="0"/>
              <a:t>A FOREIGN KEY in a table is a primary key from a different table that has been posted into the table to create a link between the two tables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26378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BEF92AD-6021-4B81-AECC-A84D26B5067B}" type="slidenum">
              <a:rPr lang="en-US" smtClean="0">
                <a:solidFill>
                  <a:srgbClr val="19138D"/>
                </a:solidFill>
              </a:rPr>
              <a:pPr eaLnBrk="1" hangingPunct="1"/>
              <a:t>37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457200"/>
            <a:ext cx="7010400" cy="762000"/>
          </a:xfrm>
        </p:spPr>
        <p:txBody>
          <a:bodyPr/>
          <a:lstStyle/>
          <a:p>
            <a:pPr eaLnBrk="1" hangingPunct="1"/>
            <a:r>
              <a:rPr lang="en-US" sz="4000"/>
              <a:t>Relational Database Model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696200" cy="5181600"/>
          </a:xfrm>
        </p:spPr>
        <p:txBody>
          <a:bodyPr/>
          <a:lstStyle/>
          <a:p>
            <a:pPr eaLnBrk="1" hangingPunct="1"/>
            <a:r>
              <a:rPr lang="en-US" sz="2600" dirty="0"/>
              <a:t>Relational database tables are made up of rows and columns</a:t>
            </a:r>
          </a:p>
          <a:p>
            <a:pPr lvl="1" eaLnBrk="1" hangingPunct="1"/>
            <a:r>
              <a:rPr lang="en-US" sz="2200" dirty="0"/>
              <a:t>Rows are called the table extension or tuples</a:t>
            </a:r>
          </a:p>
          <a:p>
            <a:pPr lvl="2" eaLnBrk="1" hangingPunct="1"/>
            <a:r>
              <a:rPr lang="en-US" dirty="0"/>
              <a:t>Order does not matter</a:t>
            </a:r>
          </a:p>
          <a:p>
            <a:pPr lvl="1" eaLnBrk="1" hangingPunct="1"/>
            <a:r>
              <a:rPr lang="en-US" sz="2200" dirty="0"/>
              <a:t>Columns are called the table intension or schema</a:t>
            </a:r>
          </a:p>
          <a:p>
            <a:pPr lvl="2" eaLnBrk="1" hangingPunct="1"/>
            <a:r>
              <a:rPr lang="en-US" dirty="0"/>
              <a:t>Order does not matter</a:t>
            </a:r>
          </a:p>
          <a:p>
            <a:pPr lvl="2" eaLnBrk="1" hangingPunct="1"/>
            <a:r>
              <a:rPr lang="en-US" dirty="0"/>
              <a:t>Data format does matter (e.g. date, text, currency, etc.)</a:t>
            </a:r>
          </a:p>
          <a:p>
            <a:pPr lvl="1" eaLnBrk="1" hangingPunct="1"/>
            <a:r>
              <a:rPr lang="en-US" sz="2200" dirty="0"/>
              <a:t>Each cell in a database table (a row-column intersection) can contain only one value </a:t>
            </a:r>
          </a:p>
          <a:p>
            <a:pPr lvl="2" eaLnBrk="1" hangingPunct="1"/>
            <a:r>
              <a:rPr lang="en-US" dirty="0"/>
              <a:t>no repeating groups are allowed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83466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28FC83D-FC17-45F4-A763-92BFE02E514A}" type="slidenum">
              <a:rPr lang="en-US" smtClean="0">
                <a:solidFill>
                  <a:srgbClr val="19138D"/>
                </a:solidFill>
              </a:rPr>
              <a:pPr eaLnBrk="1" hangingPunct="1"/>
              <a:t>38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Foreign Key Example</a:t>
            </a:r>
          </a:p>
        </p:txBody>
      </p:sp>
      <p:graphicFrame>
        <p:nvGraphicFramePr>
          <p:cNvPr id="21507" name="Group 3"/>
          <p:cNvGraphicFramePr>
            <a:graphicFrameLocks noGrp="1"/>
          </p:cNvGraphicFramePr>
          <p:nvPr/>
        </p:nvGraphicFramePr>
        <p:xfrm>
          <a:off x="3124200" y="4267200"/>
          <a:ext cx="3444875" cy="1004889"/>
        </p:xfrm>
        <a:graphic>
          <a:graphicData uri="http://schemas.openxmlformats.org/drawingml/2006/table">
            <a:tbl>
              <a:tblPr/>
              <a:tblGrid>
                <a:gridCol w="160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SalespersonID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EB4945"/>
                          </a:solidFill>
                          <a:effectLst/>
                          <a:latin typeface="Arial" charset="0"/>
                        </a:rPr>
                        <a:t>123456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EB4945"/>
                          </a:solidFill>
                          <a:effectLst/>
                          <a:latin typeface="Arial" charset="0"/>
                        </a:rPr>
                        <a:t>654321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Francis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521" name="Group 17"/>
          <p:cNvGraphicFramePr>
            <a:graphicFrameLocks noGrp="1"/>
          </p:cNvGraphicFramePr>
          <p:nvPr/>
        </p:nvGraphicFramePr>
        <p:xfrm>
          <a:off x="2484438" y="1719263"/>
          <a:ext cx="3962400" cy="1617661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48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SaleID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Amount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Salesperson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061401A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$4,218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EB4945"/>
                          </a:solidFill>
                          <a:effectLst/>
                          <a:latin typeface="Arial" charset="0"/>
                        </a:rPr>
                        <a:t>123456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061401B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$6,437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EB4945"/>
                          </a:solidFill>
                          <a:effectLst/>
                          <a:latin typeface="Arial" charset="0"/>
                        </a:rPr>
                        <a:t>654321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061501A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$1,112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EB4945"/>
                          </a:solidFill>
                          <a:effectLst/>
                          <a:latin typeface="Arial" charset="0"/>
                        </a:rPr>
                        <a:t>654321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548" name="Line 44"/>
          <p:cNvSpPr>
            <a:spLocks noChangeShapeType="1"/>
          </p:cNvSpPr>
          <p:nvPr/>
        </p:nvSpPr>
        <p:spPr bwMode="auto">
          <a:xfrm flipV="1">
            <a:off x="4356100" y="3325813"/>
            <a:ext cx="1287463" cy="895350"/>
          </a:xfrm>
          <a:prstGeom prst="line">
            <a:avLst/>
          </a:prstGeom>
          <a:noFill/>
          <a:ln w="25400">
            <a:solidFill>
              <a:srgbClr val="EB4945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072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4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164D9E6-B424-48C2-8414-A82BCD253974}" type="slidenum">
              <a:rPr lang="en-US" smtClean="0">
                <a:solidFill>
                  <a:srgbClr val="19138D"/>
                </a:solidFill>
              </a:rPr>
              <a:pPr eaLnBrk="1" hangingPunct="1"/>
              <a:t>39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6629400" cy="838200"/>
          </a:xfrm>
        </p:spPr>
        <p:txBody>
          <a:bodyPr/>
          <a:lstStyle/>
          <a:p>
            <a:pPr eaLnBrk="1" hangingPunct="1"/>
            <a:r>
              <a:rPr lang="en-US" sz="4000"/>
              <a:t>Relational Database Model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0300" y="1422400"/>
            <a:ext cx="7391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Some principles of the relational model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Entity Integrity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A primary key in a table must not contain a null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Referential Integrity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A value for a foreign key in a table must either</a:t>
            </a:r>
          </a:p>
          <a:p>
            <a:pPr lvl="3" eaLnBrk="1" hangingPunct="1">
              <a:lnSpc>
                <a:spcPct val="90000"/>
              </a:lnSpc>
            </a:pPr>
            <a:r>
              <a:rPr lang="en-US" dirty="0"/>
              <a:t>Be null (blank)</a:t>
            </a:r>
          </a:p>
          <a:p>
            <a:pPr lvl="3" eaLnBrk="1" hangingPunct="1">
              <a:lnSpc>
                <a:spcPct val="90000"/>
              </a:lnSpc>
            </a:pPr>
            <a:r>
              <a:rPr lang="en-US" dirty="0"/>
              <a:t>Match exactly a value for the primary key in the table from which it was posted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One Fact, One Place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Fact = a pairing of a candidate key attribute value with another attribute value (candidate key attributes are </a:t>
            </a:r>
            <a:r>
              <a:rPr lang="en-US"/>
              <a:t>those attributes </a:t>
            </a:r>
            <a:r>
              <a:rPr lang="en-US" dirty="0"/>
              <a:t>which can be used as primary key attributes)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65913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DC69582-9A6B-4881-9877-3A5F34FCC2B7}" type="slidenum">
              <a:rPr lang="en-US" smtClean="0">
                <a:solidFill>
                  <a:srgbClr val="19138D"/>
                </a:solidFill>
              </a:rPr>
              <a:pPr eaLnBrk="1" hangingPunct="1"/>
              <a:t>40</a:t>
            </a:fld>
            <a:endParaRPr lang="en-US" dirty="0">
              <a:solidFill>
                <a:srgbClr val="19138D"/>
              </a:solidFill>
            </a:endParaRP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Referential Integrity Example</a:t>
            </a:r>
          </a:p>
        </p:txBody>
      </p:sp>
      <p:pic>
        <p:nvPicPr>
          <p:cNvPr id="88068" name="Picture 3" descr="dun04299_ex060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9" b="-4849"/>
          <a:stretch>
            <a:fillRect/>
          </a:stretch>
        </p:blipFill>
        <p:spPr bwMode="auto">
          <a:xfrm>
            <a:off x="304800" y="1646238"/>
            <a:ext cx="85725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383516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B365B2A-B507-4764-881A-D47777C41033}" type="slidenum">
              <a:rPr lang="en-US" smtClean="0">
                <a:solidFill>
                  <a:srgbClr val="19138D"/>
                </a:solidFill>
              </a:rPr>
              <a:pPr eaLnBrk="1" hangingPunct="1"/>
              <a:t>41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One Fact-One Place Violations</a:t>
            </a:r>
          </a:p>
        </p:txBody>
      </p:sp>
      <p:pic>
        <p:nvPicPr>
          <p:cNvPr id="89092" name="Picture 3" descr="dun04299_un060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711" y="2421359"/>
            <a:ext cx="6962775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3" name="Text Box 4"/>
          <p:cNvSpPr txBox="1">
            <a:spLocks noChangeArrowheads="1"/>
          </p:cNvSpPr>
          <p:nvPr/>
        </p:nvSpPr>
        <p:spPr bwMode="auto">
          <a:xfrm>
            <a:off x="1076325" y="1508125"/>
            <a:ext cx="7321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rgbClr val="D98E29"/>
                </a:solidFill>
              </a:rPr>
              <a:t>One fact in multiple places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08924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A7BD9C7-5185-4004-957F-87CE9775339E}" type="slidenum">
              <a:rPr lang="en-US" smtClean="0">
                <a:solidFill>
                  <a:srgbClr val="19138D"/>
                </a:solidFill>
              </a:rPr>
              <a:pPr eaLnBrk="1" hangingPunct="1"/>
              <a:t>42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90115" name="Rectangle 2"/>
          <p:cNvSpPr>
            <a:spLocks noChangeArrowheads="1"/>
          </p:cNvSpPr>
          <p:nvPr/>
        </p:nvSpPr>
        <p:spPr bwMode="auto">
          <a:xfrm>
            <a:off x="990600" y="152400"/>
            <a:ext cx="7696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000">
                <a:solidFill>
                  <a:schemeClr val="accent2"/>
                </a:solidFill>
              </a:rPr>
              <a:t>One Fact-One Place Violations</a:t>
            </a:r>
          </a:p>
        </p:txBody>
      </p:sp>
      <p:sp>
        <p:nvSpPr>
          <p:cNvPr id="90116" name="Text Box 3"/>
          <p:cNvSpPr txBox="1">
            <a:spLocks noChangeArrowheads="1"/>
          </p:cNvSpPr>
          <p:nvPr/>
        </p:nvSpPr>
        <p:spPr bwMode="auto">
          <a:xfrm>
            <a:off x="1698625" y="1508125"/>
            <a:ext cx="4075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rgbClr val="D98E29"/>
                </a:solidFill>
              </a:rPr>
              <a:t>Multiple facts in one place</a:t>
            </a:r>
          </a:p>
        </p:txBody>
      </p:sp>
      <p:pic>
        <p:nvPicPr>
          <p:cNvPr id="90117" name="Picture 4" descr="dun04299_un060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2173288"/>
            <a:ext cx="61595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8" name="AutoShape 5"/>
          <p:cNvSpPr>
            <a:spLocks/>
          </p:cNvSpPr>
          <p:nvPr/>
        </p:nvSpPr>
        <p:spPr bwMode="auto">
          <a:xfrm rot="5400000">
            <a:off x="3479006" y="1026319"/>
            <a:ext cx="741363" cy="3876675"/>
          </a:xfrm>
          <a:prstGeom prst="leftBrace">
            <a:avLst>
              <a:gd name="adj1" fmla="val 4357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19" name="AutoShape 6"/>
          <p:cNvSpPr>
            <a:spLocks/>
          </p:cNvSpPr>
          <p:nvPr/>
        </p:nvSpPr>
        <p:spPr bwMode="auto">
          <a:xfrm rot="5400000">
            <a:off x="3678238" y="787400"/>
            <a:ext cx="741362" cy="4287838"/>
          </a:xfrm>
          <a:prstGeom prst="leftBrace">
            <a:avLst>
              <a:gd name="adj1" fmla="val 48198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20" name="AutoShape 7"/>
          <p:cNvSpPr>
            <a:spLocks/>
          </p:cNvSpPr>
          <p:nvPr/>
        </p:nvSpPr>
        <p:spPr bwMode="auto">
          <a:xfrm rot="16200000" flipV="1">
            <a:off x="3461545" y="2199481"/>
            <a:ext cx="741362" cy="3876675"/>
          </a:xfrm>
          <a:prstGeom prst="leftBrace">
            <a:avLst>
              <a:gd name="adj1" fmla="val 43576"/>
              <a:gd name="adj2" fmla="val 50000"/>
            </a:avLst>
          </a:prstGeom>
          <a:noFill/>
          <a:ln w="9525">
            <a:solidFill>
              <a:srgbClr val="7A44A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21" name="AutoShape 8"/>
          <p:cNvSpPr>
            <a:spLocks/>
          </p:cNvSpPr>
          <p:nvPr/>
        </p:nvSpPr>
        <p:spPr bwMode="auto">
          <a:xfrm rot="16200000" flipV="1">
            <a:off x="3711576" y="2012950"/>
            <a:ext cx="741362" cy="4287837"/>
          </a:xfrm>
          <a:prstGeom prst="leftBrace">
            <a:avLst>
              <a:gd name="adj1" fmla="val 48198"/>
              <a:gd name="adj2" fmla="val 50000"/>
            </a:avLst>
          </a:prstGeom>
          <a:noFill/>
          <a:ln w="9525">
            <a:solidFill>
              <a:srgbClr val="27CED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22" name="AutoShape 9"/>
          <p:cNvSpPr>
            <a:spLocks/>
          </p:cNvSpPr>
          <p:nvPr/>
        </p:nvSpPr>
        <p:spPr bwMode="auto">
          <a:xfrm rot="16200000" flipV="1">
            <a:off x="3956845" y="1767681"/>
            <a:ext cx="741362" cy="4778375"/>
          </a:xfrm>
          <a:prstGeom prst="leftBrace">
            <a:avLst>
              <a:gd name="adj1" fmla="val 53712"/>
              <a:gd name="adj2" fmla="val 50000"/>
            </a:avLst>
          </a:prstGeom>
          <a:noFill/>
          <a:ln w="9525">
            <a:solidFill>
              <a:srgbClr val="19138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23" name="Text Box 10"/>
          <p:cNvSpPr txBox="1">
            <a:spLocks noChangeArrowheads="1"/>
          </p:cNvSpPr>
          <p:nvPr/>
        </p:nvSpPr>
        <p:spPr bwMode="auto">
          <a:xfrm>
            <a:off x="3787775" y="2386013"/>
            <a:ext cx="2508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/>
              <a:t>1</a:t>
            </a:r>
          </a:p>
        </p:txBody>
      </p:sp>
      <p:sp>
        <p:nvSpPr>
          <p:cNvPr id="90124" name="Text Box 11"/>
          <p:cNvSpPr txBox="1">
            <a:spLocks noChangeArrowheads="1"/>
          </p:cNvSpPr>
          <p:nvPr/>
        </p:nvSpPr>
        <p:spPr bwMode="auto">
          <a:xfrm>
            <a:off x="4046538" y="2339975"/>
            <a:ext cx="2508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0125" name="Text Box 12"/>
          <p:cNvSpPr txBox="1">
            <a:spLocks noChangeArrowheads="1"/>
          </p:cNvSpPr>
          <p:nvPr/>
        </p:nvSpPr>
        <p:spPr bwMode="auto">
          <a:xfrm>
            <a:off x="3767138" y="4525963"/>
            <a:ext cx="2508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7A44AC"/>
                </a:solidFill>
              </a:rPr>
              <a:t>3</a:t>
            </a:r>
          </a:p>
        </p:txBody>
      </p:sp>
      <p:sp>
        <p:nvSpPr>
          <p:cNvPr id="90126" name="Text Box 13"/>
          <p:cNvSpPr txBox="1">
            <a:spLocks noChangeArrowheads="1"/>
          </p:cNvSpPr>
          <p:nvPr/>
        </p:nvSpPr>
        <p:spPr bwMode="auto">
          <a:xfrm>
            <a:off x="4044950" y="4540250"/>
            <a:ext cx="2508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27CEDB"/>
                </a:solidFill>
              </a:rPr>
              <a:t>4</a:t>
            </a:r>
          </a:p>
        </p:txBody>
      </p:sp>
      <p:sp>
        <p:nvSpPr>
          <p:cNvPr id="90127" name="Text Box 14"/>
          <p:cNvSpPr txBox="1">
            <a:spLocks noChangeArrowheads="1"/>
          </p:cNvSpPr>
          <p:nvPr/>
        </p:nvSpPr>
        <p:spPr bwMode="auto">
          <a:xfrm>
            <a:off x="4297363" y="4540250"/>
            <a:ext cx="2508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19138D"/>
                </a:solidFill>
              </a:rPr>
              <a:t>5</a:t>
            </a:r>
          </a:p>
        </p:txBody>
      </p:sp>
      <p:sp>
        <p:nvSpPr>
          <p:cNvPr id="90128" name="Text Box 15"/>
          <p:cNvSpPr txBox="1">
            <a:spLocks noChangeArrowheads="1"/>
          </p:cNvSpPr>
          <p:nvPr/>
        </p:nvSpPr>
        <p:spPr bwMode="auto">
          <a:xfrm>
            <a:off x="1538288" y="4783138"/>
            <a:ext cx="65595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Each value of each attribute in a row is paired with the primary key, so if any cell has two or more attribute values, by definition there are multiple facts in one place (also known as a </a:t>
            </a:r>
            <a:r>
              <a:rPr lang="en-US" i="1"/>
              <a:t>repeating group</a:t>
            </a:r>
            <a:r>
              <a:rPr lang="en-US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02244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058AB26-297B-4EAC-950A-CBEB72125620}" type="slidenum">
              <a:rPr lang="en-US" smtClean="0">
                <a:solidFill>
                  <a:srgbClr val="19138D"/>
                </a:solidFill>
              </a:rPr>
              <a:pPr eaLnBrk="1" hangingPunct="1"/>
              <a:t>43</a:t>
            </a:fld>
            <a:endParaRPr lang="en-US" dirty="0">
              <a:solidFill>
                <a:srgbClr val="19138D"/>
              </a:solidFill>
            </a:endParaRPr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0" y="457200"/>
            <a:ext cx="7772400" cy="762000"/>
          </a:xfrm>
        </p:spPr>
        <p:txBody>
          <a:bodyPr/>
          <a:lstStyle/>
          <a:p>
            <a:pPr eaLnBrk="1" hangingPunct="1"/>
            <a:r>
              <a:rPr lang="en-US" sz="3600"/>
              <a:t>Converting Conceptual to Relational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84300"/>
            <a:ext cx="8026400" cy="497681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GOAL:  Make as few tables as necessary, and avoid redundancy (repeating groups or one fact multiple places), and minimize null values </a:t>
            </a:r>
            <a:br>
              <a:rPr lang="en-US" sz="2400" dirty="0"/>
            </a:b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Step 1: Create a separate table to represent each class in the conceptual model</a:t>
            </a:r>
            <a:endParaRPr lang="en-US" sz="2200" dirty="0"/>
          </a:p>
          <a:p>
            <a:pPr lvl="1" eaLnBrk="1" hangingPunct="1">
              <a:lnSpc>
                <a:spcPct val="90000"/>
              </a:lnSpc>
            </a:pPr>
            <a:r>
              <a:rPr lang="en-US" sz="1600" dirty="0"/>
              <a:t>1A: Each attribute of the class becomes a column in the relational table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dirty="0"/>
              <a:t>2A: Each instance (member) of the class becomes a row in the relational table</a:t>
            </a:r>
            <a:br>
              <a:rPr lang="en-US" sz="1600" dirty="0"/>
            </a:br>
            <a:endParaRPr lang="en-US" sz="16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Steps 2-5 (detailed in the next few slides) involve determining whether each association in the conceptual model should be represented as a separate table or as a posted foreign key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Redundancy and Load are important determinants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dirty="0"/>
              <a:t>Redundancy = one fact in multiple places or multiple facts in one place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dirty="0"/>
              <a:t>Load = the percentage of non-null values in a column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Multiplicities communicate some of the information regarding redundancy and load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45356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E56CF5E-1C49-488F-8187-568C340B8072}" type="slidenum">
              <a:rPr lang="en-US" smtClean="0">
                <a:solidFill>
                  <a:srgbClr val="19138D"/>
                </a:solidFill>
              </a:rPr>
              <a:pPr eaLnBrk="1" hangingPunct="1"/>
              <a:t>44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Association Conversion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1295400"/>
            <a:ext cx="7004050" cy="4191000"/>
          </a:xfrm>
        </p:spPr>
        <p:txBody>
          <a:bodyPr/>
          <a:lstStyle/>
          <a:p>
            <a:pPr eaLnBrk="1" hangingPunct="1"/>
            <a:r>
              <a:rPr lang="en-US" sz="2400" dirty="0"/>
              <a:t>Maximum Multiplicities</a:t>
            </a:r>
          </a:p>
          <a:p>
            <a:pPr lvl="1" eaLnBrk="1" hangingPunct="1"/>
            <a:r>
              <a:rPr lang="en-US" sz="2000" dirty="0"/>
              <a:t>The general rule is to post from a “1” class table</a:t>
            </a:r>
          </a:p>
          <a:p>
            <a:pPr lvl="2" eaLnBrk="1" hangingPunct="1"/>
            <a:r>
              <a:rPr lang="en-US" sz="1800" dirty="0"/>
              <a:t>This avoids “repeating groups” redundancy</a:t>
            </a:r>
          </a:p>
          <a:p>
            <a:pPr lvl="1" eaLnBrk="1" hangingPunct="1"/>
            <a:r>
              <a:rPr lang="en-US" sz="2000" dirty="0"/>
              <a:t>You can NEVER post from a * class table</a:t>
            </a:r>
          </a:p>
          <a:p>
            <a:pPr lvl="2" eaLnBrk="1" hangingPunct="1"/>
            <a:r>
              <a:rPr lang="en-US" sz="1800" dirty="0"/>
              <a:t>This causes “repeating groups” redundancy</a:t>
            </a:r>
          </a:p>
          <a:p>
            <a:pPr eaLnBrk="1" hangingPunct="1"/>
            <a:r>
              <a:rPr lang="en-US" sz="2400" dirty="0"/>
              <a:t>Minimum Multiplicities</a:t>
            </a:r>
          </a:p>
          <a:p>
            <a:pPr lvl="1" eaLnBrk="1" hangingPunct="1"/>
            <a:r>
              <a:rPr lang="en-US" sz="2000" dirty="0"/>
              <a:t>The general rule is to post from a “1” (mandatory) class table</a:t>
            </a:r>
          </a:p>
          <a:p>
            <a:pPr lvl="2" eaLnBrk="1" hangingPunct="1"/>
            <a:r>
              <a:rPr lang="en-US" sz="1800" dirty="0"/>
              <a:t>This avoids null values in the foreign key column</a:t>
            </a:r>
          </a:p>
          <a:p>
            <a:pPr lvl="1" eaLnBrk="1" hangingPunct="1"/>
            <a:r>
              <a:rPr lang="en-US" sz="2000" dirty="0"/>
              <a:t>This rule should be violated in some circumstances (to be discussed soon)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31734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4660EA4-1458-418C-813B-24CECC82DC77}" type="slidenum">
              <a:rPr lang="en-US" smtClean="0">
                <a:solidFill>
                  <a:srgbClr val="19138D"/>
                </a:solidFill>
              </a:rPr>
              <a:pPr eaLnBrk="1" hangingPunct="1"/>
              <a:t>45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58800" y="1219200"/>
            <a:ext cx="80518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Step 2:</a:t>
            </a:r>
            <a:r>
              <a:rPr lang="en-US" sz="2200" dirty="0"/>
              <a:t> Create a separate table to represent each many-to-many association in the conceptual model, I.e., for the following multiplicity patterns </a:t>
            </a:r>
            <a:br>
              <a:rPr lang="en-US" sz="2200" dirty="0"/>
            </a:br>
            <a:r>
              <a:rPr lang="en-US" sz="2200" dirty="0"/>
              <a:t>0..*-0..*,   0..*-1..*,    1..*-0..*,    1..*-1..*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You </a:t>
            </a:r>
            <a:r>
              <a:rPr lang="en-US" sz="2000" u="sng" dirty="0"/>
              <a:t>must</a:t>
            </a:r>
            <a:r>
              <a:rPr lang="en-US" sz="2000" dirty="0"/>
              <a:t> create a separate table to represent the association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/>
              <a:t>The primary keys of the related class tables are posted into the association table to form its primary key.  This kind of primary key is called a composite or concatenated primary key 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/>
              <a:t>This avoids redundancy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If you post a foreign key in either direction, redundancy </a:t>
            </a:r>
            <a:r>
              <a:rPr lang="en-US" sz="2000" u="sng" dirty="0"/>
              <a:t>will</a:t>
            </a:r>
            <a:r>
              <a:rPr lang="en-US" sz="2000" dirty="0"/>
              <a:t> be a problem for many-to-many associations</a:t>
            </a:r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title"/>
          </p:nvPr>
        </p:nvSpPr>
        <p:spPr>
          <a:xfrm>
            <a:off x="1600200" y="381000"/>
            <a:ext cx="6400800" cy="762000"/>
          </a:xfrm>
        </p:spPr>
        <p:txBody>
          <a:bodyPr/>
          <a:lstStyle/>
          <a:p>
            <a:pPr eaLnBrk="1" hangingPunct="1"/>
            <a:r>
              <a:rPr lang="en-US" sz="4000"/>
              <a:t>Association Conversion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80699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AEF8DFF-5F41-4943-B957-C9B46A832426}" type="slidenum">
              <a:rPr lang="en-US" smtClean="0">
                <a:solidFill>
                  <a:srgbClr val="19138D"/>
                </a:solidFill>
              </a:rPr>
              <a:pPr eaLnBrk="1" hangingPunct="1"/>
              <a:t>46</a:t>
            </a:fld>
            <a:endParaRPr lang="en-US" dirty="0">
              <a:solidFill>
                <a:srgbClr val="19138D"/>
              </a:solidFill>
            </a:endParaRPr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543800" cy="838200"/>
          </a:xfrm>
        </p:spPr>
        <p:txBody>
          <a:bodyPr/>
          <a:lstStyle/>
          <a:p>
            <a:pPr eaLnBrk="1" hangingPunct="1"/>
            <a:r>
              <a:rPr lang="en-US" sz="3600"/>
              <a:t>Example: Many-Many Associations</a:t>
            </a:r>
          </a:p>
        </p:txBody>
      </p:sp>
      <p:graphicFrame>
        <p:nvGraphicFramePr>
          <p:cNvPr id="26628" name="Group 4"/>
          <p:cNvGraphicFramePr>
            <a:graphicFrameLocks noGrp="1"/>
          </p:cNvGraphicFramePr>
          <p:nvPr/>
        </p:nvGraphicFramePr>
        <p:xfrm>
          <a:off x="1427163" y="3414713"/>
          <a:ext cx="3810000" cy="1339852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Student#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Cleveland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Emily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New York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Birmingham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650" name="Group 26"/>
          <p:cNvGraphicFramePr>
            <a:graphicFrameLocks noGrp="1"/>
          </p:cNvGraphicFramePr>
          <p:nvPr/>
        </p:nvGraphicFramePr>
        <p:xfrm>
          <a:off x="1350963" y="5014913"/>
          <a:ext cx="2582862" cy="100488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Course#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Acg4401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Acg3101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FAR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664" name="Group 40"/>
          <p:cNvGraphicFramePr>
            <a:graphicFrameLocks noGrp="1"/>
          </p:cNvGraphicFramePr>
          <p:nvPr/>
        </p:nvGraphicFramePr>
        <p:xfrm>
          <a:off x="5237163" y="3414713"/>
          <a:ext cx="2260600" cy="1339852"/>
        </p:xfrm>
        <a:graphic>
          <a:graphicData uri="http://schemas.openxmlformats.org/drawingml/2006/table">
            <a:tbl>
              <a:tblPr/>
              <a:tblGrid>
                <a:gridCol w="226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Course# 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Acg4401, Acg3101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Acg4401, Acg3101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Acg4401, Acg3101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676" name="Group 52"/>
          <p:cNvGraphicFramePr>
            <a:graphicFrameLocks noGrp="1"/>
          </p:cNvGraphicFramePr>
          <p:nvPr/>
        </p:nvGraphicFramePr>
        <p:xfrm>
          <a:off x="3943350" y="5014913"/>
          <a:ext cx="1136650" cy="1004886"/>
        </p:xfrm>
        <a:graphic>
          <a:graphicData uri="http://schemas.openxmlformats.org/drawingml/2006/table">
            <a:tbl>
              <a:tblPr/>
              <a:tblGrid>
                <a:gridCol w="113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Student#*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1, 2, 3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1, 2, 3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686" name="AutoShape 62"/>
          <p:cNvSpPr>
            <a:spLocks noChangeArrowheads="1"/>
          </p:cNvSpPr>
          <p:nvPr/>
        </p:nvSpPr>
        <p:spPr bwMode="auto">
          <a:xfrm>
            <a:off x="5541963" y="3414713"/>
            <a:ext cx="1447800" cy="1371600"/>
          </a:xfrm>
          <a:custGeom>
            <a:avLst/>
            <a:gdLst>
              <a:gd name="T0" fmla="*/ 48521408 w 21600"/>
              <a:gd name="T1" fmla="*/ 0 h 21600"/>
              <a:gd name="T2" fmla="*/ 14210492 w 21600"/>
              <a:gd name="T3" fmla="*/ 12754039 h 21600"/>
              <a:gd name="T4" fmla="*/ 0 w 21600"/>
              <a:gd name="T5" fmla="*/ 43548300 h 21600"/>
              <a:gd name="T6" fmla="*/ 14210492 w 21600"/>
              <a:gd name="T7" fmla="*/ 74342625 h 21600"/>
              <a:gd name="T8" fmla="*/ 48521408 w 21600"/>
              <a:gd name="T9" fmla="*/ 87096600 h 21600"/>
              <a:gd name="T10" fmla="*/ 82832325 w 21600"/>
              <a:gd name="T11" fmla="*/ 74342625 h 21600"/>
              <a:gd name="T12" fmla="*/ 97042817 w 21600"/>
              <a:gd name="T13" fmla="*/ 43548300 h 21600"/>
              <a:gd name="T14" fmla="*/ 82832325 w 21600"/>
              <a:gd name="T15" fmla="*/ 12754039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87" name="AutoShape 63"/>
          <p:cNvSpPr>
            <a:spLocks noChangeArrowheads="1"/>
          </p:cNvSpPr>
          <p:nvPr/>
        </p:nvSpPr>
        <p:spPr bwMode="auto">
          <a:xfrm>
            <a:off x="3943350" y="5014913"/>
            <a:ext cx="1066800" cy="990600"/>
          </a:xfrm>
          <a:custGeom>
            <a:avLst/>
            <a:gdLst>
              <a:gd name="T0" fmla="*/ 26344033 w 21600"/>
              <a:gd name="T1" fmla="*/ 0 h 21600"/>
              <a:gd name="T2" fmla="*/ 7715384 w 21600"/>
              <a:gd name="T3" fmla="*/ 6652567 h 21600"/>
              <a:gd name="T4" fmla="*/ 0 w 21600"/>
              <a:gd name="T5" fmla="*/ 22715008 h 21600"/>
              <a:gd name="T6" fmla="*/ 7715384 w 21600"/>
              <a:gd name="T7" fmla="*/ 38777450 h 21600"/>
              <a:gd name="T8" fmla="*/ 26344033 w 21600"/>
              <a:gd name="T9" fmla="*/ 45430017 h 21600"/>
              <a:gd name="T10" fmla="*/ 44972683 w 21600"/>
              <a:gd name="T11" fmla="*/ 38777450 h 21600"/>
              <a:gd name="T12" fmla="*/ 52688067 w 21600"/>
              <a:gd name="T13" fmla="*/ 22715008 h 21600"/>
              <a:gd name="T14" fmla="*/ 44972683 w 21600"/>
              <a:gd name="T15" fmla="*/ 665256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4272" name="Group 9"/>
          <p:cNvGrpSpPr>
            <a:grpSpLocks/>
          </p:cNvGrpSpPr>
          <p:nvPr/>
        </p:nvGrpSpPr>
        <p:grpSpPr bwMode="auto">
          <a:xfrm>
            <a:off x="1344613" y="1376363"/>
            <a:ext cx="6330950" cy="1665287"/>
            <a:chOff x="1343886" y="1376339"/>
            <a:chExt cx="6331533" cy="1664972"/>
          </a:xfrm>
        </p:grpSpPr>
        <p:grpSp>
          <p:nvGrpSpPr>
            <p:cNvPr id="94273" name="Group 4"/>
            <p:cNvGrpSpPr>
              <a:grpSpLocks/>
            </p:cNvGrpSpPr>
            <p:nvPr/>
          </p:nvGrpSpPr>
          <p:grpSpPr bwMode="auto">
            <a:xfrm>
              <a:off x="1343886" y="1440873"/>
              <a:ext cx="2286005" cy="1600438"/>
              <a:chOff x="1343886" y="1440873"/>
              <a:chExt cx="2286005" cy="1600438"/>
            </a:xfrm>
          </p:grpSpPr>
          <p:sp>
            <p:nvSpPr>
              <p:cNvPr id="94282" name="TextBox 1"/>
              <p:cNvSpPr txBox="1">
                <a:spLocks noChangeArrowheads="1"/>
              </p:cNvSpPr>
              <p:nvPr/>
            </p:nvSpPr>
            <p:spPr bwMode="auto">
              <a:xfrm>
                <a:off x="1343891" y="1440873"/>
                <a:ext cx="2286000" cy="16004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b="1"/>
                  <a:t>Student</a:t>
                </a:r>
                <a:br>
                  <a:rPr lang="en-US"/>
                </a:br>
                <a:endParaRPr lang="en-US" sz="800"/>
              </a:p>
              <a:p>
                <a:pPr eaLnBrk="1" hangingPunct="1"/>
                <a:r>
                  <a:rPr lang="en-US"/>
                  <a:t>-student# (PK)</a:t>
                </a:r>
              </a:p>
              <a:p>
                <a:pPr eaLnBrk="1" hangingPunct="1"/>
                <a:r>
                  <a:rPr lang="en-US"/>
                  <a:t>-name</a:t>
                </a:r>
              </a:p>
              <a:p>
                <a:pPr eaLnBrk="1" hangingPunct="1"/>
                <a:r>
                  <a:rPr lang="en-US"/>
                  <a:t>-address</a:t>
                </a:r>
              </a:p>
              <a:p>
                <a:pPr eaLnBrk="1" hangingPunct="1"/>
                <a:endParaRPr lang="en-US"/>
              </a:p>
            </p:txBody>
          </p:sp>
          <p:cxnSp>
            <p:nvCxnSpPr>
              <p:cNvPr id="4" name="Straight Connector 3"/>
              <p:cNvCxnSpPr/>
              <p:nvPr/>
            </p:nvCxnSpPr>
            <p:spPr>
              <a:xfrm>
                <a:off x="1343886" y="1801709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1343886" y="2730220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274" name="Group 5"/>
            <p:cNvGrpSpPr>
              <a:grpSpLocks/>
            </p:cNvGrpSpPr>
            <p:nvPr/>
          </p:nvGrpSpPr>
          <p:grpSpPr bwMode="auto">
            <a:xfrm>
              <a:off x="5389414" y="1440873"/>
              <a:ext cx="2286005" cy="1323439"/>
              <a:chOff x="5389414" y="1593278"/>
              <a:chExt cx="2286005" cy="1323439"/>
            </a:xfrm>
          </p:grpSpPr>
          <p:sp>
            <p:nvSpPr>
              <p:cNvPr id="94279" name="TextBox 71"/>
              <p:cNvSpPr txBox="1">
                <a:spLocks noChangeArrowheads="1"/>
              </p:cNvSpPr>
              <p:nvPr/>
            </p:nvSpPr>
            <p:spPr bwMode="auto">
              <a:xfrm>
                <a:off x="5389419" y="1593278"/>
                <a:ext cx="2286000" cy="132343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b="1"/>
                  <a:t>Course</a:t>
                </a:r>
                <a:br>
                  <a:rPr lang="en-US"/>
                </a:br>
                <a:endParaRPr lang="en-US" sz="800"/>
              </a:p>
              <a:p>
                <a:pPr eaLnBrk="1" hangingPunct="1"/>
                <a:r>
                  <a:rPr lang="en-US"/>
                  <a:t>-course# (PK)</a:t>
                </a:r>
              </a:p>
              <a:p>
                <a:pPr eaLnBrk="1" hangingPunct="1"/>
                <a:r>
                  <a:rPr lang="en-US"/>
                  <a:t>-description</a:t>
                </a:r>
              </a:p>
              <a:p>
                <a:pPr eaLnBrk="1" hangingPunct="1"/>
                <a:endParaRPr lang="en-US"/>
              </a:p>
            </p:txBody>
          </p:sp>
          <p:cxnSp>
            <p:nvCxnSpPr>
              <p:cNvPr id="73" name="Straight Connector 72"/>
              <p:cNvCxnSpPr/>
              <p:nvPr/>
            </p:nvCxnSpPr>
            <p:spPr>
              <a:xfrm>
                <a:off x="5389209" y="1939829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5389209" y="2646133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/>
            <p:cNvCxnSpPr/>
            <p:nvPr/>
          </p:nvCxnSpPr>
          <p:spPr>
            <a:xfrm>
              <a:off x="3630097" y="1649337"/>
              <a:ext cx="17591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276" name="TextBox 8"/>
            <p:cNvSpPr txBox="1">
              <a:spLocks noChangeArrowheads="1"/>
            </p:cNvSpPr>
            <p:nvPr/>
          </p:nvSpPr>
          <p:spPr bwMode="auto">
            <a:xfrm>
              <a:off x="3588326" y="1620976"/>
              <a:ext cx="7065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1..*</a:t>
              </a:r>
            </a:p>
          </p:txBody>
        </p:sp>
        <p:sp>
          <p:nvSpPr>
            <p:cNvPr id="94277" name="TextBox 78"/>
            <p:cNvSpPr txBox="1">
              <a:spLocks noChangeArrowheads="1"/>
            </p:cNvSpPr>
            <p:nvPr/>
          </p:nvSpPr>
          <p:spPr bwMode="auto">
            <a:xfrm>
              <a:off x="4904546" y="1634826"/>
              <a:ext cx="7065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1..*</a:t>
              </a:r>
            </a:p>
          </p:txBody>
        </p:sp>
        <p:sp>
          <p:nvSpPr>
            <p:cNvPr id="94278" name="TextBox 79"/>
            <p:cNvSpPr txBox="1">
              <a:spLocks noChangeArrowheads="1"/>
            </p:cNvSpPr>
            <p:nvPr/>
          </p:nvSpPr>
          <p:spPr bwMode="auto">
            <a:xfrm>
              <a:off x="4100944" y="1376339"/>
              <a:ext cx="8035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Takes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024822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EF90E39-4B4D-4B89-9083-2F1CDCE595BA}" type="slidenum">
              <a:rPr lang="en-US" smtClean="0">
                <a:solidFill>
                  <a:srgbClr val="19138D"/>
                </a:solidFill>
              </a:rPr>
              <a:pPr eaLnBrk="1" hangingPunct="1"/>
              <a:t>47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95235" name="Rectangle 2"/>
          <p:cNvSpPr>
            <a:spLocks noChangeArrowheads="1"/>
          </p:cNvSpPr>
          <p:nvPr/>
        </p:nvSpPr>
        <p:spPr bwMode="auto">
          <a:xfrm>
            <a:off x="838200" y="381000"/>
            <a:ext cx="8077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>
                <a:solidFill>
                  <a:schemeClr val="accent2"/>
                </a:solidFill>
              </a:rPr>
              <a:t>Example: Many-Many Association</a:t>
            </a:r>
          </a:p>
        </p:txBody>
      </p:sp>
      <p:graphicFrame>
        <p:nvGraphicFramePr>
          <p:cNvPr id="27652" name="Group 4"/>
          <p:cNvGraphicFramePr>
            <a:graphicFrameLocks noGrp="1"/>
          </p:cNvGraphicFramePr>
          <p:nvPr/>
        </p:nvGraphicFramePr>
        <p:xfrm>
          <a:off x="1143000" y="3352800"/>
          <a:ext cx="3810000" cy="1339852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Student#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Cleveland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Emily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New York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Birmingham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674" name="Group 26"/>
          <p:cNvGraphicFramePr>
            <a:graphicFrameLocks noGrp="1"/>
          </p:cNvGraphicFramePr>
          <p:nvPr/>
        </p:nvGraphicFramePr>
        <p:xfrm>
          <a:off x="1143000" y="4876800"/>
          <a:ext cx="2673350" cy="1004889"/>
        </p:xfrm>
        <a:graphic>
          <a:graphicData uri="http://schemas.openxmlformats.org/drawingml/2006/table">
            <a:tbl>
              <a:tblPr/>
              <a:tblGrid>
                <a:gridCol w="106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Course#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Acg4401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Acg3101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FAR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688" name="Group 40"/>
          <p:cNvGraphicFramePr>
            <a:graphicFrameLocks noGrp="1"/>
          </p:cNvGraphicFramePr>
          <p:nvPr/>
        </p:nvGraphicFramePr>
        <p:xfrm>
          <a:off x="5410200" y="3429000"/>
          <a:ext cx="2514600" cy="2009778"/>
        </p:xfrm>
        <a:graphic>
          <a:graphicData uri="http://schemas.openxmlformats.org/drawingml/2006/table">
            <a:tbl>
              <a:tblPr/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Student#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Course#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Acg4401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Acg3101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Acg4401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Acg3101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Acg3101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5295" name="Group 63"/>
          <p:cNvGrpSpPr>
            <a:grpSpLocks/>
          </p:cNvGrpSpPr>
          <p:nvPr/>
        </p:nvGrpSpPr>
        <p:grpSpPr bwMode="auto">
          <a:xfrm>
            <a:off x="1344613" y="1376363"/>
            <a:ext cx="6330950" cy="1665287"/>
            <a:chOff x="1343886" y="1376339"/>
            <a:chExt cx="6331533" cy="1664972"/>
          </a:xfrm>
        </p:grpSpPr>
        <p:grpSp>
          <p:nvGrpSpPr>
            <p:cNvPr id="95296" name="Group 64"/>
            <p:cNvGrpSpPr>
              <a:grpSpLocks/>
            </p:cNvGrpSpPr>
            <p:nvPr/>
          </p:nvGrpSpPr>
          <p:grpSpPr bwMode="auto">
            <a:xfrm>
              <a:off x="1343886" y="1440873"/>
              <a:ext cx="2286005" cy="1600438"/>
              <a:chOff x="1343886" y="1440873"/>
              <a:chExt cx="2286005" cy="1600438"/>
            </a:xfrm>
          </p:grpSpPr>
          <p:sp>
            <p:nvSpPr>
              <p:cNvPr id="95305" name="TextBox 73"/>
              <p:cNvSpPr txBox="1">
                <a:spLocks noChangeArrowheads="1"/>
              </p:cNvSpPr>
              <p:nvPr/>
            </p:nvSpPr>
            <p:spPr bwMode="auto">
              <a:xfrm>
                <a:off x="1343891" y="1440873"/>
                <a:ext cx="2286000" cy="16004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b="1"/>
                  <a:t>Student</a:t>
                </a:r>
                <a:br>
                  <a:rPr lang="en-US"/>
                </a:br>
                <a:endParaRPr lang="en-US" sz="800"/>
              </a:p>
              <a:p>
                <a:pPr eaLnBrk="1" hangingPunct="1"/>
                <a:r>
                  <a:rPr lang="en-US"/>
                  <a:t>-student# (PK)</a:t>
                </a:r>
              </a:p>
              <a:p>
                <a:pPr eaLnBrk="1" hangingPunct="1"/>
                <a:r>
                  <a:rPr lang="en-US"/>
                  <a:t>-name</a:t>
                </a:r>
              </a:p>
              <a:p>
                <a:pPr eaLnBrk="1" hangingPunct="1"/>
                <a:r>
                  <a:rPr lang="en-US"/>
                  <a:t>-address</a:t>
                </a:r>
              </a:p>
              <a:p>
                <a:pPr eaLnBrk="1" hangingPunct="1"/>
                <a:endParaRPr lang="en-US"/>
              </a:p>
            </p:txBody>
          </p:sp>
          <p:cxnSp>
            <p:nvCxnSpPr>
              <p:cNvPr id="75" name="Straight Connector 74"/>
              <p:cNvCxnSpPr/>
              <p:nvPr/>
            </p:nvCxnSpPr>
            <p:spPr>
              <a:xfrm>
                <a:off x="1343886" y="1801709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1343886" y="2730220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297" name="Group 65"/>
            <p:cNvGrpSpPr>
              <a:grpSpLocks/>
            </p:cNvGrpSpPr>
            <p:nvPr/>
          </p:nvGrpSpPr>
          <p:grpSpPr bwMode="auto">
            <a:xfrm>
              <a:off x="5389414" y="1440873"/>
              <a:ext cx="2286005" cy="1323439"/>
              <a:chOff x="5389414" y="1593278"/>
              <a:chExt cx="2286005" cy="1323439"/>
            </a:xfrm>
          </p:grpSpPr>
          <p:sp>
            <p:nvSpPr>
              <p:cNvPr id="95302" name="TextBox 70"/>
              <p:cNvSpPr txBox="1">
                <a:spLocks noChangeArrowheads="1"/>
              </p:cNvSpPr>
              <p:nvPr/>
            </p:nvSpPr>
            <p:spPr bwMode="auto">
              <a:xfrm>
                <a:off x="5389419" y="1593278"/>
                <a:ext cx="2286000" cy="132343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b="1"/>
                  <a:t>Course</a:t>
                </a:r>
                <a:br>
                  <a:rPr lang="en-US"/>
                </a:br>
                <a:endParaRPr lang="en-US" sz="800"/>
              </a:p>
              <a:p>
                <a:pPr eaLnBrk="1" hangingPunct="1"/>
                <a:r>
                  <a:rPr lang="en-US"/>
                  <a:t>-course# (PK)</a:t>
                </a:r>
              </a:p>
              <a:p>
                <a:pPr eaLnBrk="1" hangingPunct="1"/>
                <a:r>
                  <a:rPr lang="en-US"/>
                  <a:t>-description</a:t>
                </a:r>
              </a:p>
              <a:p>
                <a:pPr eaLnBrk="1" hangingPunct="1"/>
                <a:endParaRPr lang="en-US"/>
              </a:p>
            </p:txBody>
          </p:sp>
          <p:cxnSp>
            <p:nvCxnSpPr>
              <p:cNvPr id="72" name="Straight Connector 71"/>
              <p:cNvCxnSpPr/>
              <p:nvPr/>
            </p:nvCxnSpPr>
            <p:spPr>
              <a:xfrm>
                <a:off x="5389209" y="1939829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5389209" y="2646133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7" name="Straight Connector 66"/>
            <p:cNvCxnSpPr/>
            <p:nvPr/>
          </p:nvCxnSpPr>
          <p:spPr>
            <a:xfrm>
              <a:off x="3630097" y="1649337"/>
              <a:ext cx="17591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299" name="TextBox 67"/>
            <p:cNvSpPr txBox="1">
              <a:spLocks noChangeArrowheads="1"/>
            </p:cNvSpPr>
            <p:nvPr/>
          </p:nvSpPr>
          <p:spPr bwMode="auto">
            <a:xfrm>
              <a:off x="3588326" y="1620976"/>
              <a:ext cx="7065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1..*</a:t>
              </a:r>
            </a:p>
          </p:txBody>
        </p:sp>
        <p:sp>
          <p:nvSpPr>
            <p:cNvPr id="95300" name="TextBox 68"/>
            <p:cNvSpPr txBox="1">
              <a:spLocks noChangeArrowheads="1"/>
            </p:cNvSpPr>
            <p:nvPr/>
          </p:nvSpPr>
          <p:spPr bwMode="auto">
            <a:xfrm>
              <a:off x="4904546" y="1634826"/>
              <a:ext cx="7065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1..*</a:t>
              </a:r>
            </a:p>
          </p:txBody>
        </p:sp>
        <p:sp>
          <p:nvSpPr>
            <p:cNvPr id="95301" name="TextBox 69"/>
            <p:cNvSpPr txBox="1">
              <a:spLocks noChangeArrowheads="1"/>
            </p:cNvSpPr>
            <p:nvPr/>
          </p:nvSpPr>
          <p:spPr bwMode="auto">
            <a:xfrm>
              <a:off x="4100944" y="1376339"/>
              <a:ext cx="8035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Takes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9977075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905CF35-20E0-46F7-BB29-9EF725E8DA89}" type="slidenum">
              <a:rPr lang="en-US" smtClean="0">
                <a:solidFill>
                  <a:srgbClr val="19138D"/>
                </a:solidFill>
              </a:rPr>
              <a:pPr eaLnBrk="1" hangingPunct="1"/>
              <a:t>48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Association Conversion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321550" cy="47212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Step 3: For multiplicity pattern 1..1 – 1..1, 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- </a:t>
            </a:r>
            <a:r>
              <a:rPr lang="en-US" dirty="0"/>
              <a:t>3A: Post the primary key from one class’ table into the other class’ table as a foreign key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- 3B: It doesn’t matter which class’ primary key is posted into the other class’ table, but DO NOT post both</a:t>
            </a:r>
          </a:p>
          <a:p>
            <a:pPr lvl="3" eaLnBrk="1" hangingPunct="1">
              <a:lnSpc>
                <a:spcPct val="90000"/>
              </a:lnSpc>
            </a:pPr>
            <a:r>
              <a:rPr lang="en-US" dirty="0"/>
              <a:t>DO NOT make a separate table </a:t>
            </a:r>
          </a:p>
          <a:p>
            <a:pPr lvl="3" eaLnBrk="1" hangingPunct="1">
              <a:lnSpc>
                <a:spcPct val="90000"/>
              </a:lnSpc>
            </a:pPr>
            <a:r>
              <a:rPr lang="en-US" dirty="0"/>
              <a:t>Redundancy is automatically avoided and load is not an issue when you post a foreign key into either table in a 1..1 – 1..1 association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67397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89D8E10-FB3B-430F-9614-C7587D6975B6}" type="slidenum">
              <a:rPr lang="en-US" smtClean="0">
                <a:solidFill>
                  <a:srgbClr val="19138D"/>
                </a:solidFill>
              </a:rPr>
              <a:pPr eaLnBrk="1" hangingPunct="1"/>
              <a:t>49</a:t>
            </a:fld>
            <a:endParaRPr lang="en-US" dirty="0">
              <a:solidFill>
                <a:srgbClr val="19138D"/>
              </a:solidFill>
            </a:endParaRPr>
          </a:p>
        </p:txBody>
      </p:sp>
      <p:sp>
        <p:nvSpPr>
          <p:cNvPr id="97283" name="Rectangle 2"/>
          <p:cNvSpPr>
            <a:spLocks noGrp="1" noChangeArrowheads="1"/>
          </p:cNvSpPr>
          <p:nvPr>
            <p:ph type="title"/>
          </p:nvPr>
        </p:nvSpPr>
        <p:spPr>
          <a:xfrm>
            <a:off x="1349375" y="225425"/>
            <a:ext cx="4710113" cy="825500"/>
          </a:xfrm>
        </p:spPr>
        <p:txBody>
          <a:bodyPr/>
          <a:lstStyle/>
          <a:p>
            <a:pPr eaLnBrk="1" hangingPunct="1"/>
            <a:r>
              <a:rPr lang="en-US" sz="3600"/>
              <a:t>Example: 1..1 – 1..1</a:t>
            </a:r>
          </a:p>
        </p:txBody>
      </p:sp>
      <p:graphicFrame>
        <p:nvGraphicFramePr>
          <p:cNvPr id="29699" name="Group 3"/>
          <p:cNvGraphicFramePr>
            <a:graphicFrameLocks noGrp="1"/>
          </p:cNvGraphicFramePr>
          <p:nvPr/>
        </p:nvGraphicFramePr>
        <p:xfrm>
          <a:off x="1182688" y="3087688"/>
          <a:ext cx="3810000" cy="1339852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SaleID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Amount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721" name="Group 25"/>
          <p:cNvGraphicFramePr>
            <a:graphicFrameLocks noGrp="1"/>
          </p:cNvGraphicFramePr>
          <p:nvPr/>
        </p:nvGraphicFramePr>
        <p:xfrm>
          <a:off x="1204913" y="4638675"/>
          <a:ext cx="3810000" cy="1339852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CR-ID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Amount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743" name="Group 47"/>
          <p:cNvGraphicFramePr>
            <a:graphicFrameLocks noGrp="1"/>
          </p:cNvGraphicFramePr>
          <p:nvPr/>
        </p:nvGraphicFramePr>
        <p:xfrm>
          <a:off x="5008563" y="3084513"/>
          <a:ext cx="1066800" cy="1339852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CR-ID 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755" name="Group 59"/>
          <p:cNvGraphicFramePr>
            <a:graphicFrameLocks noGrp="1"/>
          </p:cNvGraphicFramePr>
          <p:nvPr/>
        </p:nvGraphicFramePr>
        <p:xfrm>
          <a:off x="5030788" y="4637088"/>
          <a:ext cx="1066800" cy="1339852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S-ID 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767" name="AutoShape 71"/>
          <p:cNvSpPr>
            <a:spLocks/>
          </p:cNvSpPr>
          <p:nvPr/>
        </p:nvSpPr>
        <p:spPr bwMode="auto">
          <a:xfrm>
            <a:off x="6205538" y="3475038"/>
            <a:ext cx="541337" cy="1995487"/>
          </a:xfrm>
          <a:prstGeom prst="rightBrace">
            <a:avLst>
              <a:gd name="adj1" fmla="val 30718"/>
              <a:gd name="adj2" fmla="val 50000"/>
            </a:avLst>
          </a:prstGeom>
          <a:noFill/>
          <a:ln w="31750">
            <a:solidFill>
              <a:srgbClr val="EB494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68" name="Text Box 72"/>
          <p:cNvSpPr txBox="1">
            <a:spLocks noChangeArrowheads="1"/>
          </p:cNvSpPr>
          <p:nvPr/>
        </p:nvSpPr>
        <p:spPr bwMode="auto">
          <a:xfrm>
            <a:off x="6934200" y="3959225"/>
            <a:ext cx="203358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b="1"/>
              <a:t>Choose ONE of these; DO NOT do both!!!</a:t>
            </a:r>
          </a:p>
        </p:txBody>
      </p:sp>
      <p:grpSp>
        <p:nvGrpSpPr>
          <p:cNvPr id="97354" name="Group 1"/>
          <p:cNvGrpSpPr>
            <a:grpSpLocks/>
          </p:cNvGrpSpPr>
          <p:nvPr/>
        </p:nvGrpSpPr>
        <p:grpSpPr bwMode="auto">
          <a:xfrm>
            <a:off x="1344613" y="1238250"/>
            <a:ext cx="6330950" cy="1665288"/>
            <a:chOff x="1343886" y="1237789"/>
            <a:chExt cx="6331533" cy="1664972"/>
          </a:xfrm>
        </p:grpSpPr>
        <p:grpSp>
          <p:nvGrpSpPr>
            <p:cNvPr id="97355" name="Group 105"/>
            <p:cNvGrpSpPr>
              <a:grpSpLocks/>
            </p:cNvGrpSpPr>
            <p:nvPr/>
          </p:nvGrpSpPr>
          <p:grpSpPr bwMode="auto">
            <a:xfrm>
              <a:off x="1343886" y="1302323"/>
              <a:ext cx="2286005" cy="1600438"/>
              <a:chOff x="1343886" y="1440873"/>
              <a:chExt cx="2286005" cy="1600438"/>
            </a:xfrm>
          </p:grpSpPr>
          <p:sp>
            <p:nvSpPr>
              <p:cNvPr id="97364" name="TextBox 114"/>
              <p:cNvSpPr txBox="1">
                <a:spLocks noChangeArrowheads="1"/>
              </p:cNvSpPr>
              <p:nvPr/>
            </p:nvSpPr>
            <p:spPr bwMode="auto">
              <a:xfrm>
                <a:off x="1343891" y="1440873"/>
                <a:ext cx="2286000" cy="16004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b="1"/>
                  <a:t>Sale</a:t>
                </a:r>
                <a:br>
                  <a:rPr lang="en-US"/>
                </a:br>
                <a:endParaRPr lang="en-US" sz="800"/>
              </a:p>
              <a:p>
                <a:pPr eaLnBrk="1" hangingPunct="1"/>
                <a:r>
                  <a:rPr lang="en-US"/>
                  <a:t>-saleID (PK)</a:t>
                </a:r>
              </a:p>
              <a:p>
                <a:pPr eaLnBrk="1" hangingPunct="1"/>
                <a:r>
                  <a:rPr lang="en-US"/>
                  <a:t>-date</a:t>
                </a:r>
              </a:p>
              <a:p>
                <a:pPr eaLnBrk="1" hangingPunct="1"/>
                <a:r>
                  <a:rPr lang="en-US"/>
                  <a:t>-amount</a:t>
                </a:r>
              </a:p>
              <a:p>
                <a:pPr eaLnBrk="1" hangingPunct="1"/>
                <a:endParaRPr lang="en-US"/>
              </a:p>
            </p:txBody>
          </p:sp>
          <p:cxnSp>
            <p:nvCxnSpPr>
              <p:cNvPr id="116" name="Straight Connector 115"/>
              <p:cNvCxnSpPr/>
              <p:nvPr/>
            </p:nvCxnSpPr>
            <p:spPr>
              <a:xfrm>
                <a:off x="1343886" y="1801708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>
              <a:xfrm>
                <a:off x="1343886" y="2730220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356" name="Group 106"/>
            <p:cNvGrpSpPr>
              <a:grpSpLocks/>
            </p:cNvGrpSpPr>
            <p:nvPr/>
          </p:nvGrpSpPr>
          <p:grpSpPr bwMode="auto">
            <a:xfrm>
              <a:off x="5389414" y="1302323"/>
              <a:ext cx="2286005" cy="1600438"/>
              <a:chOff x="5389414" y="1593278"/>
              <a:chExt cx="2286005" cy="1323439"/>
            </a:xfrm>
          </p:grpSpPr>
          <p:sp>
            <p:nvSpPr>
              <p:cNvPr id="97361" name="TextBox 111"/>
              <p:cNvSpPr txBox="1">
                <a:spLocks noChangeArrowheads="1"/>
              </p:cNvSpPr>
              <p:nvPr/>
            </p:nvSpPr>
            <p:spPr bwMode="auto">
              <a:xfrm>
                <a:off x="5389419" y="1593278"/>
                <a:ext cx="2286000" cy="132343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b="1"/>
                  <a:t>Cash Receipt</a:t>
                </a:r>
                <a:br>
                  <a:rPr lang="en-US"/>
                </a:br>
                <a:endParaRPr lang="en-US" sz="800"/>
              </a:p>
              <a:p>
                <a:pPr eaLnBrk="1" hangingPunct="1"/>
                <a:r>
                  <a:rPr lang="en-US"/>
                  <a:t>-CR-ID (PK)</a:t>
                </a:r>
              </a:p>
              <a:p>
                <a:pPr eaLnBrk="1" hangingPunct="1"/>
                <a:r>
                  <a:rPr lang="en-US"/>
                  <a:t>-date</a:t>
                </a:r>
              </a:p>
              <a:p>
                <a:pPr eaLnBrk="1" hangingPunct="1"/>
                <a:r>
                  <a:rPr lang="en-US"/>
                  <a:t>-amount</a:t>
                </a:r>
              </a:p>
              <a:p>
                <a:pPr eaLnBrk="1" hangingPunct="1"/>
                <a:endParaRPr lang="en-US"/>
              </a:p>
            </p:txBody>
          </p:sp>
          <p:cxnSp>
            <p:nvCxnSpPr>
              <p:cNvPr id="113" name="Straight Connector 112"/>
              <p:cNvCxnSpPr/>
              <p:nvPr/>
            </p:nvCxnSpPr>
            <p:spPr>
              <a:xfrm>
                <a:off x="5389209" y="1940224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>
                <a:off x="5389209" y="2646344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8" name="Straight Connector 107"/>
            <p:cNvCxnSpPr/>
            <p:nvPr/>
          </p:nvCxnSpPr>
          <p:spPr>
            <a:xfrm>
              <a:off x="3630097" y="1510787"/>
              <a:ext cx="17591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358" name="TextBox 108"/>
            <p:cNvSpPr txBox="1">
              <a:spLocks noChangeArrowheads="1"/>
            </p:cNvSpPr>
            <p:nvPr/>
          </p:nvSpPr>
          <p:spPr bwMode="auto">
            <a:xfrm>
              <a:off x="3588326" y="1482426"/>
              <a:ext cx="7065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1..1</a:t>
              </a:r>
            </a:p>
          </p:txBody>
        </p:sp>
        <p:sp>
          <p:nvSpPr>
            <p:cNvPr id="97359" name="TextBox 109"/>
            <p:cNvSpPr txBox="1">
              <a:spLocks noChangeArrowheads="1"/>
            </p:cNvSpPr>
            <p:nvPr/>
          </p:nvSpPr>
          <p:spPr bwMode="auto">
            <a:xfrm>
              <a:off x="4904546" y="1496276"/>
              <a:ext cx="7065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1..1</a:t>
              </a:r>
            </a:p>
          </p:txBody>
        </p:sp>
        <p:sp>
          <p:nvSpPr>
            <p:cNvPr id="97360" name="TextBox 110"/>
            <p:cNvSpPr txBox="1">
              <a:spLocks noChangeArrowheads="1"/>
            </p:cNvSpPr>
            <p:nvPr/>
          </p:nvSpPr>
          <p:spPr bwMode="auto">
            <a:xfrm>
              <a:off x="4100944" y="1237789"/>
              <a:ext cx="8035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Duality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027719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9E1A3A3-35AD-4BB6-9A2D-706391C07E33}" type="slidenum">
              <a:rPr lang="en-US" smtClean="0">
                <a:solidFill>
                  <a:srgbClr val="19138D"/>
                </a:solidFill>
              </a:rPr>
              <a:pPr eaLnBrk="1" hangingPunct="1"/>
              <a:t>50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81000"/>
            <a:ext cx="6400800" cy="714375"/>
          </a:xfrm>
        </p:spPr>
        <p:txBody>
          <a:bodyPr/>
          <a:lstStyle/>
          <a:p>
            <a:pPr eaLnBrk="1" hangingPunct="1"/>
            <a:r>
              <a:rPr lang="en-US" sz="4000"/>
              <a:t>Association Conversion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9838" y="1233488"/>
            <a:ext cx="747395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Step 4: For remaining associations that have 1..1 beside one class, post that class’ primary key into the related class’ table as a foreign key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I.e., for the following multiplicity patterns </a:t>
            </a:r>
            <a:br>
              <a:rPr lang="en-US" sz="2000" dirty="0"/>
            </a:br>
            <a:r>
              <a:rPr lang="en-US" sz="2000" dirty="0"/>
              <a:t>0..*-1..1,    1..*-1..1,    1..1-0..*,    1..1-1..*,    0..1-1..1,    1..1-0..1 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/>
              <a:t>Do NOT make a separate table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/>
              <a:t>Post a foreign key FROM the 1..1 class’ table INTO the other class’ table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/>
              <a:t>Redundancy is avoided and load is not an issue if you follow this instruction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/>
              <a:t>If you post the opposite direction, either redundancy [for * maximums] OR load [for 0 minimums] will be a problem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/>
              <a:t>Posting FROM a 1..1 guarantees that each related class instance will have a value and that each related class instance will have only one value </a:t>
            </a:r>
          </a:p>
          <a:p>
            <a:pPr lvl="1" eaLnBrk="1" hangingPunct="1">
              <a:lnSpc>
                <a:spcPct val="90000"/>
              </a:lnSpc>
              <a:buFont typeface="Arial" charset="0"/>
              <a:buNone/>
            </a:pP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69838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9B07909-8AF9-4E30-BED5-A868EE2F4185}" type="slidenum">
              <a:rPr lang="en-US" smtClean="0">
                <a:solidFill>
                  <a:srgbClr val="19138D"/>
                </a:solidFill>
              </a:rPr>
              <a:pPr eaLnBrk="1" hangingPunct="1"/>
              <a:t>51</a:t>
            </a:fld>
            <a:endParaRPr lang="en-US" dirty="0">
              <a:solidFill>
                <a:srgbClr val="19138D"/>
              </a:solidFill>
            </a:endParaRPr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381000"/>
            <a:ext cx="7250113" cy="695325"/>
          </a:xfrm>
        </p:spPr>
        <p:txBody>
          <a:bodyPr/>
          <a:lstStyle/>
          <a:p>
            <a:pPr eaLnBrk="1" hangingPunct="1"/>
            <a:r>
              <a:rPr lang="en-US" sz="3600"/>
              <a:t>Example 1: Posting From a 1..1</a:t>
            </a:r>
          </a:p>
        </p:txBody>
      </p:sp>
      <p:graphicFrame>
        <p:nvGraphicFramePr>
          <p:cNvPr id="31780" name="Group 36"/>
          <p:cNvGraphicFramePr>
            <a:graphicFrameLocks noGrp="1"/>
          </p:cNvGraphicFramePr>
          <p:nvPr/>
        </p:nvGraphicFramePr>
        <p:xfrm>
          <a:off x="1225550" y="3052763"/>
          <a:ext cx="3146425" cy="1339852"/>
        </p:xfrm>
        <a:graphic>
          <a:graphicData uri="http://schemas.openxmlformats.org/drawingml/2006/table">
            <a:tbl>
              <a:tblPr/>
              <a:tblGrid>
                <a:gridCol w="881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SaleID</a:t>
                      </a:r>
                      <a:endParaRPr kumimoji="0" lang="en-US" sz="14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Amount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1802" name="Group 58"/>
          <p:cNvGrpSpPr>
            <a:grpSpLocks/>
          </p:cNvGrpSpPr>
          <p:nvPr/>
        </p:nvGrpSpPr>
        <p:grpSpPr bwMode="auto">
          <a:xfrm>
            <a:off x="1225550" y="4564063"/>
            <a:ext cx="3622675" cy="1004887"/>
            <a:chOff x="482" y="3296"/>
            <a:chExt cx="2282" cy="633"/>
          </a:xfrm>
        </p:grpSpPr>
        <p:sp>
          <p:nvSpPr>
            <p:cNvPr id="99406" name="Rectangle 59"/>
            <p:cNvSpPr>
              <a:spLocks noChangeArrowheads="1"/>
            </p:cNvSpPr>
            <p:nvPr/>
          </p:nvSpPr>
          <p:spPr bwMode="auto">
            <a:xfrm>
              <a:off x="1851" y="3718"/>
              <a:ext cx="91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D98E29"/>
                </a:buClr>
              </a:pPr>
              <a:r>
                <a:rPr lang="en-US" sz="1400"/>
                <a:t>Cincinnati</a:t>
              </a:r>
            </a:p>
          </p:txBody>
        </p:sp>
        <p:sp>
          <p:nvSpPr>
            <p:cNvPr id="99407" name="Rectangle 60"/>
            <p:cNvSpPr>
              <a:spLocks noChangeArrowheads="1"/>
            </p:cNvSpPr>
            <p:nvPr/>
          </p:nvSpPr>
          <p:spPr bwMode="auto">
            <a:xfrm>
              <a:off x="1121" y="3718"/>
              <a:ext cx="73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D98E29"/>
                </a:buClr>
              </a:pPr>
              <a:r>
                <a:rPr lang="en-US" sz="1400"/>
                <a:t>Steven</a:t>
              </a:r>
            </a:p>
          </p:txBody>
        </p:sp>
        <p:sp>
          <p:nvSpPr>
            <p:cNvPr id="99408" name="Rectangle 61"/>
            <p:cNvSpPr>
              <a:spLocks noChangeArrowheads="1"/>
            </p:cNvSpPr>
            <p:nvPr/>
          </p:nvSpPr>
          <p:spPr bwMode="auto">
            <a:xfrm>
              <a:off x="482" y="3718"/>
              <a:ext cx="63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D98E29"/>
                </a:buClr>
              </a:pPr>
              <a:r>
                <a:rPr lang="en-US" sz="1400"/>
                <a:t>C2</a:t>
              </a:r>
            </a:p>
          </p:txBody>
        </p:sp>
        <p:sp>
          <p:nvSpPr>
            <p:cNvPr id="99409" name="Rectangle 62"/>
            <p:cNvSpPr>
              <a:spLocks noChangeArrowheads="1"/>
            </p:cNvSpPr>
            <p:nvPr/>
          </p:nvSpPr>
          <p:spPr bwMode="auto">
            <a:xfrm>
              <a:off x="1851" y="3507"/>
              <a:ext cx="91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D98E29"/>
                </a:buClr>
              </a:pPr>
              <a:r>
                <a:rPr lang="en-US" sz="1400"/>
                <a:t>Walnut Creek</a:t>
              </a:r>
            </a:p>
          </p:txBody>
        </p:sp>
        <p:sp>
          <p:nvSpPr>
            <p:cNvPr id="99410" name="Rectangle 63"/>
            <p:cNvSpPr>
              <a:spLocks noChangeArrowheads="1"/>
            </p:cNvSpPr>
            <p:nvPr/>
          </p:nvSpPr>
          <p:spPr bwMode="auto">
            <a:xfrm>
              <a:off x="1121" y="3507"/>
              <a:ext cx="73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D98E29"/>
                </a:buClr>
              </a:pPr>
              <a:r>
                <a:rPr lang="en-US" sz="1400"/>
                <a:t>Heather</a:t>
              </a:r>
            </a:p>
          </p:txBody>
        </p:sp>
        <p:sp>
          <p:nvSpPr>
            <p:cNvPr id="99411" name="Rectangle 64"/>
            <p:cNvSpPr>
              <a:spLocks noChangeArrowheads="1"/>
            </p:cNvSpPr>
            <p:nvPr/>
          </p:nvSpPr>
          <p:spPr bwMode="auto">
            <a:xfrm>
              <a:off x="482" y="3507"/>
              <a:ext cx="63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D98E29"/>
                </a:buClr>
              </a:pPr>
              <a:r>
                <a:rPr lang="en-US" sz="1400"/>
                <a:t>C1</a:t>
              </a:r>
            </a:p>
          </p:txBody>
        </p:sp>
        <p:sp>
          <p:nvSpPr>
            <p:cNvPr id="99412" name="Rectangle 65"/>
            <p:cNvSpPr>
              <a:spLocks noChangeArrowheads="1"/>
            </p:cNvSpPr>
            <p:nvPr/>
          </p:nvSpPr>
          <p:spPr bwMode="auto">
            <a:xfrm>
              <a:off x="1851" y="3296"/>
              <a:ext cx="91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D98E29"/>
                </a:buClr>
              </a:pPr>
              <a:r>
                <a:rPr lang="en-US" sz="1400"/>
                <a:t>Address</a:t>
              </a:r>
            </a:p>
          </p:txBody>
        </p:sp>
        <p:sp>
          <p:nvSpPr>
            <p:cNvPr id="99413" name="Rectangle 66"/>
            <p:cNvSpPr>
              <a:spLocks noChangeArrowheads="1"/>
            </p:cNvSpPr>
            <p:nvPr/>
          </p:nvSpPr>
          <p:spPr bwMode="auto">
            <a:xfrm>
              <a:off x="1121" y="3296"/>
              <a:ext cx="73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D98E29"/>
                </a:buClr>
              </a:pPr>
              <a:r>
                <a:rPr lang="en-US" sz="1400"/>
                <a:t>Name	</a:t>
              </a:r>
            </a:p>
          </p:txBody>
        </p:sp>
        <p:sp>
          <p:nvSpPr>
            <p:cNvPr id="99414" name="Rectangle 67"/>
            <p:cNvSpPr>
              <a:spLocks noChangeArrowheads="1"/>
            </p:cNvSpPr>
            <p:nvPr/>
          </p:nvSpPr>
          <p:spPr bwMode="auto">
            <a:xfrm>
              <a:off x="482" y="3296"/>
              <a:ext cx="63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D98E29"/>
                </a:buClr>
              </a:pPr>
              <a:r>
                <a:rPr lang="en-US" sz="1400" u="sng"/>
                <a:t>Cust-ID</a:t>
              </a:r>
            </a:p>
          </p:txBody>
        </p:sp>
        <p:sp>
          <p:nvSpPr>
            <p:cNvPr id="99415" name="Line 68"/>
            <p:cNvSpPr>
              <a:spLocks noChangeShapeType="1"/>
            </p:cNvSpPr>
            <p:nvPr/>
          </p:nvSpPr>
          <p:spPr bwMode="auto">
            <a:xfrm>
              <a:off x="482" y="3296"/>
              <a:ext cx="228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416" name="Line 69"/>
            <p:cNvSpPr>
              <a:spLocks noChangeShapeType="1"/>
            </p:cNvSpPr>
            <p:nvPr/>
          </p:nvSpPr>
          <p:spPr bwMode="auto">
            <a:xfrm>
              <a:off x="482" y="3507"/>
              <a:ext cx="22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417" name="Line 70"/>
            <p:cNvSpPr>
              <a:spLocks noChangeShapeType="1"/>
            </p:cNvSpPr>
            <p:nvPr/>
          </p:nvSpPr>
          <p:spPr bwMode="auto">
            <a:xfrm>
              <a:off x="482" y="3718"/>
              <a:ext cx="22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418" name="Line 71"/>
            <p:cNvSpPr>
              <a:spLocks noChangeShapeType="1"/>
            </p:cNvSpPr>
            <p:nvPr/>
          </p:nvSpPr>
          <p:spPr bwMode="auto">
            <a:xfrm>
              <a:off x="482" y="3929"/>
              <a:ext cx="228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419" name="Line 72"/>
            <p:cNvSpPr>
              <a:spLocks noChangeShapeType="1"/>
            </p:cNvSpPr>
            <p:nvPr/>
          </p:nvSpPr>
          <p:spPr bwMode="auto">
            <a:xfrm>
              <a:off x="482" y="3296"/>
              <a:ext cx="0" cy="63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420" name="Line 73"/>
            <p:cNvSpPr>
              <a:spLocks noChangeShapeType="1"/>
            </p:cNvSpPr>
            <p:nvPr/>
          </p:nvSpPr>
          <p:spPr bwMode="auto">
            <a:xfrm>
              <a:off x="1121" y="3296"/>
              <a:ext cx="0" cy="6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421" name="Line 74"/>
            <p:cNvSpPr>
              <a:spLocks noChangeShapeType="1"/>
            </p:cNvSpPr>
            <p:nvPr/>
          </p:nvSpPr>
          <p:spPr bwMode="auto">
            <a:xfrm>
              <a:off x="1851" y="3296"/>
              <a:ext cx="0" cy="6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422" name="Line 75"/>
            <p:cNvSpPr>
              <a:spLocks noChangeShapeType="1"/>
            </p:cNvSpPr>
            <p:nvPr/>
          </p:nvSpPr>
          <p:spPr bwMode="auto">
            <a:xfrm>
              <a:off x="2764" y="3296"/>
              <a:ext cx="0" cy="63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aphicFrame>
        <p:nvGraphicFramePr>
          <p:cNvPr id="31820" name="Group 76"/>
          <p:cNvGraphicFramePr>
            <a:graphicFrameLocks noGrp="1"/>
          </p:cNvGraphicFramePr>
          <p:nvPr/>
        </p:nvGraphicFramePr>
        <p:xfrm>
          <a:off x="4343400" y="3048000"/>
          <a:ext cx="969963" cy="1339852"/>
        </p:xfrm>
        <a:graphic>
          <a:graphicData uri="http://schemas.openxmlformats.org/drawingml/2006/table">
            <a:tbl>
              <a:tblPr/>
              <a:tblGrid>
                <a:gridCol w="969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Cust-ID*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832" name="Group 88"/>
          <p:cNvGraphicFramePr>
            <a:graphicFrameLocks noGrp="1"/>
          </p:cNvGraphicFramePr>
          <p:nvPr/>
        </p:nvGraphicFramePr>
        <p:xfrm>
          <a:off x="1219200" y="5562600"/>
          <a:ext cx="3611563" cy="334963"/>
        </p:xfrm>
        <a:graphic>
          <a:graphicData uri="http://schemas.openxmlformats.org/drawingml/2006/table">
            <a:tbl>
              <a:tblPr/>
              <a:tblGrid>
                <a:gridCol w="1014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Cincinnati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1842" name="Group 98"/>
          <p:cNvGrpSpPr>
            <a:grpSpLocks/>
          </p:cNvGrpSpPr>
          <p:nvPr/>
        </p:nvGrpSpPr>
        <p:grpSpPr bwMode="auto">
          <a:xfrm>
            <a:off x="4856163" y="4545013"/>
            <a:ext cx="884237" cy="1343025"/>
            <a:chOff x="2769" y="3284"/>
            <a:chExt cx="557" cy="846"/>
          </a:xfrm>
        </p:grpSpPr>
        <p:grpSp>
          <p:nvGrpSpPr>
            <p:cNvPr id="99395" name="Group 99"/>
            <p:cNvGrpSpPr>
              <a:grpSpLocks/>
            </p:cNvGrpSpPr>
            <p:nvPr/>
          </p:nvGrpSpPr>
          <p:grpSpPr bwMode="auto">
            <a:xfrm>
              <a:off x="2769" y="3284"/>
              <a:ext cx="555" cy="633"/>
              <a:chOff x="2769" y="3284"/>
              <a:chExt cx="555" cy="633"/>
            </a:xfrm>
          </p:grpSpPr>
          <p:sp>
            <p:nvSpPr>
              <p:cNvPr id="99397" name="Rectangle 100"/>
              <p:cNvSpPr>
                <a:spLocks noChangeArrowheads="1"/>
              </p:cNvSpPr>
              <p:nvPr/>
            </p:nvSpPr>
            <p:spPr bwMode="auto">
              <a:xfrm>
                <a:off x="2769" y="3706"/>
                <a:ext cx="555" cy="21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D98E29"/>
                  </a:buClr>
                </a:pPr>
                <a:r>
                  <a:rPr lang="en-US" sz="1400" dirty="0"/>
                  <a:t>S2</a:t>
                </a:r>
              </a:p>
            </p:txBody>
          </p:sp>
          <p:sp>
            <p:nvSpPr>
              <p:cNvPr id="99398" name="Rectangle 101"/>
              <p:cNvSpPr>
                <a:spLocks noChangeArrowheads="1"/>
              </p:cNvSpPr>
              <p:nvPr/>
            </p:nvSpPr>
            <p:spPr bwMode="auto">
              <a:xfrm>
                <a:off x="2769" y="3495"/>
                <a:ext cx="555" cy="21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D98E29"/>
                  </a:buClr>
                </a:pPr>
                <a:r>
                  <a:rPr lang="en-US" sz="1400"/>
                  <a:t>S1, S3</a:t>
                </a:r>
              </a:p>
            </p:txBody>
          </p:sp>
          <p:sp>
            <p:nvSpPr>
              <p:cNvPr id="99399" name="Rectangle 102"/>
              <p:cNvSpPr>
                <a:spLocks noChangeArrowheads="1"/>
              </p:cNvSpPr>
              <p:nvPr/>
            </p:nvSpPr>
            <p:spPr bwMode="auto">
              <a:xfrm>
                <a:off x="2769" y="3284"/>
                <a:ext cx="555" cy="21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D98E29"/>
                  </a:buClr>
                </a:pPr>
                <a:r>
                  <a:rPr lang="en-US" sz="1400" dirty="0"/>
                  <a:t>S-ID*</a:t>
                </a:r>
              </a:p>
            </p:txBody>
          </p:sp>
          <p:sp>
            <p:nvSpPr>
              <p:cNvPr id="99400" name="Line 103"/>
              <p:cNvSpPr>
                <a:spLocks noChangeShapeType="1"/>
              </p:cNvSpPr>
              <p:nvPr/>
            </p:nvSpPr>
            <p:spPr bwMode="auto">
              <a:xfrm>
                <a:off x="2769" y="3284"/>
                <a:ext cx="555" cy="0"/>
              </a:xfrm>
              <a:prstGeom prst="line">
                <a:avLst/>
              </a:prstGeom>
              <a:noFill/>
              <a:ln w="28575" cap="sq">
                <a:solidFill>
                  <a:srgbClr val="EB494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9401" name="Line 104"/>
              <p:cNvSpPr>
                <a:spLocks noChangeShapeType="1"/>
              </p:cNvSpPr>
              <p:nvPr/>
            </p:nvSpPr>
            <p:spPr bwMode="auto">
              <a:xfrm>
                <a:off x="2769" y="3495"/>
                <a:ext cx="555" cy="0"/>
              </a:xfrm>
              <a:prstGeom prst="line">
                <a:avLst/>
              </a:prstGeom>
              <a:noFill/>
              <a:ln w="12700">
                <a:solidFill>
                  <a:srgbClr val="EB494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9402" name="Line 105"/>
              <p:cNvSpPr>
                <a:spLocks noChangeShapeType="1"/>
              </p:cNvSpPr>
              <p:nvPr/>
            </p:nvSpPr>
            <p:spPr bwMode="auto">
              <a:xfrm>
                <a:off x="2769" y="3706"/>
                <a:ext cx="555" cy="0"/>
              </a:xfrm>
              <a:prstGeom prst="line">
                <a:avLst/>
              </a:prstGeom>
              <a:noFill/>
              <a:ln w="12700">
                <a:solidFill>
                  <a:srgbClr val="EB494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9403" name="Line 106"/>
              <p:cNvSpPr>
                <a:spLocks noChangeShapeType="1"/>
              </p:cNvSpPr>
              <p:nvPr/>
            </p:nvSpPr>
            <p:spPr bwMode="auto">
              <a:xfrm>
                <a:off x="2769" y="3917"/>
                <a:ext cx="555" cy="0"/>
              </a:xfrm>
              <a:prstGeom prst="line">
                <a:avLst/>
              </a:prstGeom>
              <a:noFill/>
              <a:ln w="28575" cap="sq">
                <a:solidFill>
                  <a:srgbClr val="EB494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9404" name="Line 107"/>
              <p:cNvSpPr>
                <a:spLocks noChangeShapeType="1"/>
              </p:cNvSpPr>
              <p:nvPr/>
            </p:nvSpPr>
            <p:spPr bwMode="auto">
              <a:xfrm>
                <a:off x="2769" y="3284"/>
                <a:ext cx="0" cy="633"/>
              </a:xfrm>
              <a:prstGeom prst="line">
                <a:avLst/>
              </a:prstGeom>
              <a:noFill/>
              <a:ln w="28575" cap="sq">
                <a:solidFill>
                  <a:srgbClr val="EB494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9405" name="Line 108"/>
              <p:cNvSpPr>
                <a:spLocks noChangeShapeType="1"/>
              </p:cNvSpPr>
              <p:nvPr/>
            </p:nvSpPr>
            <p:spPr bwMode="auto">
              <a:xfrm>
                <a:off x="3324" y="3284"/>
                <a:ext cx="0" cy="633"/>
              </a:xfrm>
              <a:prstGeom prst="line">
                <a:avLst/>
              </a:prstGeom>
              <a:noFill/>
              <a:ln w="28575" cap="sq">
                <a:solidFill>
                  <a:srgbClr val="EB494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99396" name="Rectangle 109"/>
            <p:cNvSpPr>
              <a:spLocks noChangeArrowheads="1"/>
            </p:cNvSpPr>
            <p:nvPr/>
          </p:nvSpPr>
          <p:spPr bwMode="auto">
            <a:xfrm>
              <a:off x="2771" y="3919"/>
              <a:ext cx="555" cy="211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EB4945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D98E29"/>
                </a:buClr>
              </a:pPr>
              <a:endParaRPr lang="en-US" sz="1400"/>
            </a:p>
          </p:txBody>
        </p:sp>
      </p:grpSp>
      <p:sp>
        <p:nvSpPr>
          <p:cNvPr id="31854" name="AutoShape 110"/>
          <p:cNvSpPr>
            <a:spLocks noChangeArrowheads="1"/>
          </p:cNvSpPr>
          <p:nvPr/>
        </p:nvSpPr>
        <p:spPr bwMode="auto">
          <a:xfrm>
            <a:off x="4762500" y="4721225"/>
            <a:ext cx="1066800" cy="990600"/>
          </a:xfrm>
          <a:custGeom>
            <a:avLst/>
            <a:gdLst>
              <a:gd name="T0" fmla="*/ 26344033 w 21600"/>
              <a:gd name="T1" fmla="*/ 0 h 21600"/>
              <a:gd name="T2" fmla="*/ 7715384 w 21600"/>
              <a:gd name="T3" fmla="*/ 6652567 h 21600"/>
              <a:gd name="T4" fmla="*/ 0 w 21600"/>
              <a:gd name="T5" fmla="*/ 22715008 h 21600"/>
              <a:gd name="T6" fmla="*/ 7715384 w 21600"/>
              <a:gd name="T7" fmla="*/ 38777450 h 21600"/>
              <a:gd name="T8" fmla="*/ 26344033 w 21600"/>
              <a:gd name="T9" fmla="*/ 45430017 h 21600"/>
              <a:gd name="T10" fmla="*/ 44972683 w 21600"/>
              <a:gd name="T11" fmla="*/ 38777450 h 21600"/>
              <a:gd name="T12" fmla="*/ 52688067 w 21600"/>
              <a:gd name="T13" fmla="*/ 22715008 h 21600"/>
              <a:gd name="T14" fmla="*/ 44972683 w 21600"/>
              <a:gd name="T15" fmla="*/ 665256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9379" name="Group 2"/>
          <p:cNvGrpSpPr>
            <a:grpSpLocks/>
          </p:cNvGrpSpPr>
          <p:nvPr/>
        </p:nvGrpSpPr>
        <p:grpSpPr bwMode="auto">
          <a:xfrm>
            <a:off x="1344613" y="1182688"/>
            <a:ext cx="6330950" cy="1665287"/>
            <a:chOff x="1343886" y="1182369"/>
            <a:chExt cx="6331533" cy="1664972"/>
          </a:xfrm>
        </p:grpSpPr>
        <p:grpSp>
          <p:nvGrpSpPr>
            <p:cNvPr id="99383" name="Group 112"/>
            <p:cNvGrpSpPr>
              <a:grpSpLocks/>
            </p:cNvGrpSpPr>
            <p:nvPr/>
          </p:nvGrpSpPr>
          <p:grpSpPr bwMode="auto">
            <a:xfrm>
              <a:off x="1343886" y="1246903"/>
              <a:ext cx="2286005" cy="1600438"/>
              <a:chOff x="1343886" y="1440873"/>
              <a:chExt cx="2286005" cy="1600438"/>
            </a:xfrm>
          </p:grpSpPr>
          <p:sp>
            <p:nvSpPr>
              <p:cNvPr id="99392" name="TextBox 121"/>
              <p:cNvSpPr txBox="1">
                <a:spLocks noChangeArrowheads="1"/>
              </p:cNvSpPr>
              <p:nvPr/>
            </p:nvSpPr>
            <p:spPr bwMode="auto">
              <a:xfrm>
                <a:off x="1343891" y="1440873"/>
                <a:ext cx="2286000" cy="16004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b="1"/>
                  <a:t>Sale</a:t>
                </a:r>
                <a:br>
                  <a:rPr lang="en-US"/>
                </a:br>
                <a:endParaRPr lang="en-US" sz="800"/>
              </a:p>
              <a:p>
                <a:pPr eaLnBrk="1" hangingPunct="1"/>
                <a:r>
                  <a:rPr lang="en-US"/>
                  <a:t>-saleID (PK)</a:t>
                </a:r>
              </a:p>
              <a:p>
                <a:pPr eaLnBrk="1" hangingPunct="1"/>
                <a:r>
                  <a:rPr lang="en-US"/>
                  <a:t>-date</a:t>
                </a:r>
              </a:p>
              <a:p>
                <a:pPr eaLnBrk="1" hangingPunct="1"/>
                <a:r>
                  <a:rPr lang="en-US"/>
                  <a:t>-amount</a:t>
                </a:r>
              </a:p>
              <a:p>
                <a:pPr eaLnBrk="1" hangingPunct="1"/>
                <a:endParaRPr lang="en-US"/>
              </a:p>
            </p:txBody>
          </p:sp>
          <p:cxnSp>
            <p:nvCxnSpPr>
              <p:cNvPr id="123" name="Straight Connector 122"/>
              <p:cNvCxnSpPr/>
              <p:nvPr/>
            </p:nvCxnSpPr>
            <p:spPr>
              <a:xfrm>
                <a:off x="1343886" y="1801709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>
              <a:xfrm>
                <a:off x="1343886" y="2730220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384" name="Group 113"/>
            <p:cNvGrpSpPr>
              <a:grpSpLocks/>
            </p:cNvGrpSpPr>
            <p:nvPr/>
          </p:nvGrpSpPr>
          <p:grpSpPr bwMode="auto">
            <a:xfrm>
              <a:off x="5389414" y="1246903"/>
              <a:ext cx="2286005" cy="1600438"/>
              <a:chOff x="5389414" y="1593278"/>
              <a:chExt cx="2286005" cy="1600438"/>
            </a:xfrm>
          </p:grpSpPr>
          <p:sp>
            <p:nvSpPr>
              <p:cNvPr id="99389" name="TextBox 118"/>
              <p:cNvSpPr txBox="1">
                <a:spLocks noChangeArrowheads="1"/>
              </p:cNvSpPr>
              <p:nvPr/>
            </p:nvSpPr>
            <p:spPr bwMode="auto">
              <a:xfrm>
                <a:off x="5389419" y="1593278"/>
                <a:ext cx="2286000" cy="16004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b="1"/>
                  <a:t>Customer</a:t>
                </a:r>
                <a:br>
                  <a:rPr lang="en-US"/>
                </a:br>
                <a:endParaRPr lang="en-US" sz="800"/>
              </a:p>
              <a:p>
                <a:pPr eaLnBrk="1" hangingPunct="1"/>
                <a:r>
                  <a:rPr lang="en-US"/>
                  <a:t>-cust-ID(PK)</a:t>
                </a:r>
              </a:p>
              <a:p>
                <a:pPr eaLnBrk="1" hangingPunct="1"/>
                <a:r>
                  <a:rPr lang="en-US"/>
                  <a:t>-name</a:t>
                </a:r>
              </a:p>
              <a:p>
                <a:pPr eaLnBrk="1" hangingPunct="1"/>
                <a:r>
                  <a:rPr lang="en-US"/>
                  <a:t>-address</a:t>
                </a:r>
              </a:p>
              <a:p>
                <a:pPr eaLnBrk="1" hangingPunct="1"/>
                <a:endParaRPr lang="en-US"/>
              </a:p>
            </p:txBody>
          </p:sp>
          <p:cxnSp>
            <p:nvCxnSpPr>
              <p:cNvPr id="120" name="Straight Connector 119"/>
              <p:cNvCxnSpPr/>
              <p:nvPr/>
            </p:nvCxnSpPr>
            <p:spPr>
              <a:xfrm>
                <a:off x="5389209" y="1939828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5389209" y="2868341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5" name="Straight Connector 114"/>
            <p:cNvCxnSpPr/>
            <p:nvPr/>
          </p:nvCxnSpPr>
          <p:spPr>
            <a:xfrm>
              <a:off x="3630097" y="1455367"/>
              <a:ext cx="17591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386" name="TextBox 115"/>
            <p:cNvSpPr txBox="1">
              <a:spLocks noChangeArrowheads="1"/>
            </p:cNvSpPr>
            <p:nvPr/>
          </p:nvSpPr>
          <p:spPr bwMode="auto">
            <a:xfrm>
              <a:off x="3588326" y="1427006"/>
              <a:ext cx="7065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0..*</a:t>
              </a:r>
            </a:p>
          </p:txBody>
        </p:sp>
        <p:sp>
          <p:nvSpPr>
            <p:cNvPr id="99387" name="TextBox 116"/>
            <p:cNvSpPr txBox="1">
              <a:spLocks noChangeArrowheads="1"/>
            </p:cNvSpPr>
            <p:nvPr/>
          </p:nvSpPr>
          <p:spPr bwMode="auto">
            <a:xfrm>
              <a:off x="4904546" y="1440856"/>
              <a:ext cx="7065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1..1</a:t>
              </a:r>
            </a:p>
          </p:txBody>
        </p:sp>
        <p:sp>
          <p:nvSpPr>
            <p:cNvPr id="99388" name="TextBox 117"/>
            <p:cNvSpPr txBox="1">
              <a:spLocks noChangeArrowheads="1"/>
            </p:cNvSpPr>
            <p:nvPr/>
          </p:nvSpPr>
          <p:spPr bwMode="auto">
            <a:xfrm>
              <a:off x="3810000" y="1182369"/>
              <a:ext cx="144783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Participation</a:t>
              </a:r>
            </a:p>
          </p:txBody>
        </p:sp>
      </p:grpSp>
      <p:grpSp>
        <p:nvGrpSpPr>
          <p:cNvPr id="99380" name="Group 1"/>
          <p:cNvGrpSpPr>
            <a:grpSpLocks/>
          </p:cNvGrpSpPr>
          <p:nvPr/>
        </p:nvGrpSpPr>
        <p:grpSpPr bwMode="auto">
          <a:xfrm>
            <a:off x="3575050" y="1708150"/>
            <a:ext cx="809625" cy="598488"/>
            <a:chOff x="3574461" y="1708568"/>
            <a:chExt cx="810650" cy="597327"/>
          </a:xfrm>
        </p:grpSpPr>
        <p:sp>
          <p:nvSpPr>
            <p:cNvPr id="99381" name="TextBox 124"/>
            <p:cNvSpPr txBox="1">
              <a:spLocks noChangeArrowheads="1"/>
            </p:cNvSpPr>
            <p:nvPr/>
          </p:nvSpPr>
          <p:spPr bwMode="auto">
            <a:xfrm>
              <a:off x="3574461" y="1967341"/>
              <a:ext cx="7065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1..*</a:t>
              </a:r>
            </a:p>
          </p:txBody>
        </p:sp>
        <p:sp>
          <p:nvSpPr>
            <p:cNvPr id="99382" name="TextBox 125"/>
            <p:cNvSpPr txBox="1">
              <a:spLocks noChangeArrowheads="1"/>
            </p:cNvSpPr>
            <p:nvPr/>
          </p:nvSpPr>
          <p:spPr bwMode="auto">
            <a:xfrm>
              <a:off x="3678529" y="1708568"/>
              <a:ext cx="7065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or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7847004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C390CC1-3856-4FBD-9317-9D580F822BC0}" type="slidenum">
              <a:rPr lang="en-US" smtClean="0">
                <a:solidFill>
                  <a:srgbClr val="19138D"/>
                </a:solidFill>
              </a:rPr>
              <a:pPr eaLnBrk="1" hangingPunct="1"/>
              <a:t>52</a:t>
            </a:fld>
            <a:endParaRPr lang="en-US" dirty="0">
              <a:solidFill>
                <a:srgbClr val="19138D"/>
              </a:solidFill>
            </a:endParaRPr>
          </a:p>
        </p:txBody>
      </p:sp>
      <p:sp>
        <p:nvSpPr>
          <p:cNvPr id="100355" name="Rectangle 2"/>
          <p:cNvSpPr>
            <a:spLocks noChangeArrowheads="1"/>
          </p:cNvSpPr>
          <p:nvPr/>
        </p:nvSpPr>
        <p:spPr bwMode="auto">
          <a:xfrm>
            <a:off x="1497013" y="381000"/>
            <a:ext cx="6935787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600">
                <a:solidFill>
                  <a:schemeClr val="accent2"/>
                </a:solidFill>
              </a:rPr>
              <a:t>Example 2: Posting FROM a 1..1</a:t>
            </a:r>
          </a:p>
        </p:txBody>
      </p:sp>
      <p:graphicFrame>
        <p:nvGraphicFramePr>
          <p:cNvPr id="32802" name="Group 34"/>
          <p:cNvGraphicFramePr>
            <a:graphicFrameLocks noGrp="1"/>
          </p:cNvGraphicFramePr>
          <p:nvPr/>
        </p:nvGraphicFramePr>
        <p:xfrm>
          <a:off x="1258888" y="3003550"/>
          <a:ext cx="3146425" cy="1339852"/>
        </p:xfrm>
        <a:graphic>
          <a:graphicData uri="http://schemas.openxmlformats.org/drawingml/2006/table">
            <a:tbl>
              <a:tblPr/>
              <a:tblGrid>
                <a:gridCol w="88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SaleID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Amount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824" name="Group 56"/>
          <p:cNvGraphicFramePr>
            <a:graphicFrameLocks noGrp="1"/>
          </p:cNvGraphicFramePr>
          <p:nvPr/>
        </p:nvGraphicFramePr>
        <p:xfrm>
          <a:off x="1246188" y="4432300"/>
          <a:ext cx="3146425" cy="1674815"/>
        </p:xfrm>
        <a:graphic>
          <a:graphicData uri="http://schemas.openxmlformats.org/drawingml/2006/table">
            <a:tbl>
              <a:tblPr/>
              <a:tblGrid>
                <a:gridCol w="88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CR-ID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Amount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850" name="Group 82"/>
          <p:cNvGraphicFramePr>
            <a:graphicFrameLocks noGrp="1"/>
          </p:cNvGraphicFramePr>
          <p:nvPr/>
        </p:nvGraphicFramePr>
        <p:xfrm>
          <a:off x="4376738" y="2998788"/>
          <a:ext cx="881062" cy="1339852"/>
        </p:xfrm>
        <a:graphic>
          <a:graphicData uri="http://schemas.openxmlformats.org/drawingml/2006/table">
            <a:tbl>
              <a:tblPr/>
              <a:tblGrid>
                <a:gridCol w="88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CR-ID*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862" name="Group 94"/>
          <p:cNvGraphicFramePr>
            <a:graphicFrameLocks noGrp="1"/>
          </p:cNvGraphicFramePr>
          <p:nvPr/>
        </p:nvGraphicFramePr>
        <p:xfrm>
          <a:off x="4419600" y="4419600"/>
          <a:ext cx="881063" cy="1674815"/>
        </p:xfrm>
        <a:graphic>
          <a:graphicData uri="http://schemas.openxmlformats.org/drawingml/2006/table">
            <a:tbl>
              <a:tblPr/>
              <a:tblGrid>
                <a:gridCol w="881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S-ID*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D98E29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B49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876" name="AutoShape 108"/>
          <p:cNvSpPr>
            <a:spLocks noChangeArrowheads="1"/>
          </p:cNvSpPr>
          <p:nvPr/>
        </p:nvSpPr>
        <p:spPr bwMode="auto">
          <a:xfrm>
            <a:off x="4314825" y="4679950"/>
            <a:ext cx="1198563" cy="1065213"/>
          </a:xfrm>
          <a:custGeom>
            <a:avLst/>
            <a:gdLst>
              <a:gd name="T0" fmla="*/ 33253576 w 21600"/>
              <a:gd name="T1" fmla="*/ 0 h 21600"/>
              <a:gd name="T2" fmla="*/ 9738990 w 21600"/>
              <a:gd name="T3" fmla="*/ 7692465 h 21600"/>
              <a:gd name="T4" fmla="*/ 0 w 21600"/>
              <a:gd name="T5" fmla="*/ 26265736 h 21600"/>
              <a:gd name="T6" fmla="*/ 9738990 w 21600"/>
              <a:gd name="T7" fmla="*/ 44838958 h 21600"/>
              <a:gd name="T8" fmla="*/ 33253576 w 21600"/>
              <a:gd name="T9" fmla="*/ 52531423 h 21600"/>
              <a:gd name="T10" fmla="*/ 56768105 w 21600"/>
              <a:gd name="T11" fmla="*/ 44838958 h 21600"/>
              <a:gd name="T12" fmla="*/ 66507096 w 21600"/>
              <a:gd name="T13" fmla="*/ 26265736 h 21600"/>
              <a:gd name="T14" fmla="*/ 56768105 w 21600"/>
              <a:gd name="T15" fmla="*/ 7692465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0431" name="Group 110"/>
          <p:cNvGrpSpPr>
            <a:grpSpLocks/>
          </p:cNvGrpSpPr>
          <p:nvPr/>
        </p:nvGrpSpPr>
        <p:grpSpPr bwMode="auto">
          <a:xfrm>
            <a:off x="1344613" y="1238250"/>
            <a:ext cx="6330950" cy="1665288"/>
            <a:chOff x="1343886" y="1237789"/>
            <a:chExt cx="6331533" cy="1664972"/>
          </a:xfrm>
        </p:grpSpPr>
        <p:grpSp>
          <p:nvGrpSpPr>
            <p:cNvPr id="100432" name="Group 111"/>
            <p:cNvGrpSpPr>
              <a:grpSpLocks/>
            </p:cNvGrpSpPr>
            <p:nvPr/>
          </p:nvGrpSpPr>
          <p:grpSpPr bwMode="auto">
            <a:xfrm>
              <a:off x="1343886" y="1302323"/>
              <a:ext cx="2286005" cy="1600438"/>
              <a:chOff x="1343886" y="1440873"/>
              <a:chExt cx="2286005" cy="1600438"/>
            </a:xfrm>
          </p:grpSpPr>
          <p:sp>
            <p:nvSpPr>
              <p:cNvPr id="100441" name="TextBox 120"/>
              <p:cNvSpPr txBox="1">
                <a:spLocks noChangeArrowheads="1"/>
              </p:cNvSpPr>
              <p:nvPr/>
            </p:nvSpPr>
            <p:spPr bwMode="auto">
              <a:xfrm>
                <a:off x="1343891" y="1440873"/>
                <a:ext cx="2286000" cy="16004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b="1"/>
                  <a:t>Sale</a:t>
                </a:r>
                <a:br>
                  <a:rPr lang="en-US"/>
                </a:br>
                <a:endParaRPr lang="en-US" sz="800"/>
              </a:p>
              <a:p>
                <a:pPr eaLnBrk="1" hangingPunct="1"/>
                <a:r>
                  <a:rPr lang="en-US"/>
                  <a:t>-saleID (PK)</a:t>
                </a:r>
              </a:p>
              <a:p>
                <a:pPr eaLnBrk="1" hangingPunct="1"/>
                <a:r>
                  <a:rPr lang="en-US"/>
                  <a:t>-date</a:t>
                </a:r>
              </a:p>
              <a:p>
                <a:pPr eaLnBrk="1" hangingPunct="1"/>
                <a:r>
                  <a:rPr lang="en-US"/>
                  <a:t>-amount</a:t>
                </a:r>
              </a:p>
              <a:p>
                <a:pPr eaLnBrk="1" hangingPunct="1"/>
                <a:endParaRPr lang="en-US"/>
              </a:p>
            </p:txBody>
          </p:sp>
          <p:cxnSp>
            <p:nvCxnSpPr>
              <p:cNvPr id="122" name="Straight Connector 121"/>
              <p:cNvCxnSpPr/>
              <p:nvPr/>
            </p:nvCxnSpPr>
            <p:spPr>
              <a:xfrm>
                <a:off x="1343886" y="1801708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>
                <a:off x="1343886" y="2730220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433" name="Group 112"/>
            <p:cNvGrpSpPr>
              <a:grpSpLocks/>
            </p:cNvGrpSpPr>
            <p:nvPr/>
          </p:nvGrpSpPr>
          <p:grpSpPr bwMode="auto">
            <a:xfrm>
              <a:off x="5389414" y="1302323"/>
              <a:ext cx="2286005" cy="1600438"/>
              <a:chOff x="5389414" y="1593278"/>
              <a:chExt cx="2286005" cy="1323439"/>
            </a:xfrm>
          </p:grpSpPr>
          <p:sp>
            <p:nvSpPr>
              <p:cNvPr id="100438" name="TextBox 117"/>
              <p:cNvSpPr txBox="1">
                <a:spLocks noChangeArrowheads="1"/>
              </p:cNvSpPr>
              <p:nvPr/>
            </p:nvSpPr>
            <p:spPr bwMode="auto">
              <a:xfrm>
                <a:off x="5389419" y="1593278"/>
                <a:ext cx="2286000" cy="132343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b="1"/>
                  <a:t>Cash Receipt</a:t>
                </a:r>
                <a:br>
                  <a:rPr lang="en-US"/>
                </a:br>
                <a:endParaRPr lang="en-US" sz="800"/>
              </a:p>
              <a:p>
                <a:pPr eaLnBrk="1" hangingPunct="1"/>
                <a:r>
                  <a:rPr lang="en-US"/>
                  <a:t>-CR-ID (PK)</a:t>
                </a:r>
              </a:p>
              <a:p>
                <a:pPr eaLnBrk="1" hangingPunct="1"/>
                <a:r>
                  <a:rPr lang="en-US"/>
                  <a:t>-date</a:t>
                </a:r>
              </a:p>
              <a:p>
                <a:pPr eaLnBrk="1" hangingPunct="1"/>
                <a:r>
                  <a:rPr lang="en-US"/>
                  <a:t>-amount</a:t>
                </a:r>
              </a:p>
              <a:p>
                <a:pPr eaLnBrk="1" hangingPunct="1"/>
                <a:endParaRPr lang="en-US"/>
              </a:p>
            </p:txBody>
          </p:sp>
          <p:cxnSp>
            <p:nvCxnSpPr>
              <p:cNvPr id="119" name="Straight Connector 118"/>
              <p:cNvCxnSpPr/>
              <p:nvPr/>
            </p:nvCxnSpPr>
            <p:spPr>
              <a:xfrm>
                <a:off x="5389209" y="1940224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>
                <a:off x="5389209" y="2646344"/>
                <a:ext cx="228621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4" name="Straight Connector 113"/>
            <p:cNvCxnSpPr/>
            <p:nvPr/>
          </p:nvCxnSpPr>
          <p:spPr>
            <a:xfrm>
              <a:off x="3630097" y="1510787"/>
              <a:ext cx="17591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435" name="TextBox 114"/>
            <p:cNvSpPr txBox="1">
              <a:spLocks noChangeArrowheads="1"/>
            </p:cNvSpPr>
            <p:nvPr/>
          </p:nvSpPr>
          <p:spPr bwMode="auto">
            <a:xfrm>
              <a:off x="3588326" y="1482426"/>
              <a:ext cx="7065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0..1</a:t>
              </a:r>
            </a:p>
          </p:txBody>
        </p:sp>
        <p:sp>
          <p:nvSpPr>
            <p:cNvPr id="100436" name="TextBox 115"/>
            <p:cNvSpPr txBox="1">
              <a:spLocks noChangeArrowheads="1"/>
            </p:cNvSpPr>
            <p:nvPr/>
          </p:nvSpPr>
          <p:spPr bwMode="auto">
            <a:xfrm>
              <a:off x="4904546" y="1496276"/>
              <a:ext cx="70658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1..1</a:t>
              </a:r>
            </a:p>
          </p:txBody>
        </p:sp>
        <p:sp>
          <p:nvSpPr>
            <p:cNvPr id="100437" name="TextBox 116"/>
            <p:cNvSpPr txBox="1">
              <a:spLocks noChangeArrowheads="1"/>
            </p:cNvSpPr>
            <p:nvPr/>
          </p:nvSpPr>
          <p:spPr bwMode="auto">
            <a:xfrm>
              <a:off x="4100944" y="1237789"/>
              <a:ext cx="80357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Duality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68236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C456D1E-ECCB-4110-9A36-438723CE12CD}" type="slidenum">
              <a:rPr lang="en-US" smtClean="0">
                <a:solidFill>
                  <a:srgbClr val="19138D"/>
                </a:solidFill>
              </a:rPr>
              <a:pPr eaLnBrk="1" hangingPunct="1"/>
              <a:t>53</a:t>
            </a:fld>
            <a:endParaRPr lang="en-US">
              <a:solidFill>
                <a:srgbClr val="19138D"/>
              </a:solidFill>
            </a:endParaRPr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5791200" cy="769938"/>
          </a:xfrm>
        </p:spPr>
        <p:txBody>
          <a:bodyPr/>
          <a:lstStyle/>
          <a:p>
            <a:pPr eaLnBrk="1" hangingPunct="1"/>
            <a:r>
              <a:rPr lang="en-US" sz="4000"/>
              <a:t>Association Conversion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838" y="1150938"/>
            <a:ext cx="8250137" cy="537718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Step 5: For remaining associations that have 0..1 multiplicities beside one or both classes, consider load</a:t>
            </a:r>
            <a:br>
              <a:rPr lang="en-US" sz="2000" dirty="0"/>
            </a:br>
            <a:r>
              <a:rPr lang="en-US" sz="1800" dirty="0"/>
              <a:t>I.e., for the following multiplicity patterns </a:t>
            </a:r>
            <a:br>
              <a:rPr lang="en-US" sz="1800" dirty="0"/>
            </a:br>
            <a:r>
              <a:rPr lang="en-US" sz="1800" dirty="0"/>
              <a:t>0..*-0..1,    1..*-0..1,    0..1-0..*,    0..1-1..*,    0..1-0..1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dirty="0"/>
              <a:t>The rule for maximum multiplicities requires posting from a 0..1 or making a separate table; you CANNOT post into the 0..1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dirty="0"/>
              <a:t>The rule for minimum multiplicities says you really shouldn’t post from the 0..1 because doing so will create null values that waste valuable space in the database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dirty="0"/>
              <a:t>However, if a separate table would waste more space, then it is better to follow the maximum rule and break the minimum rule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5A: Post the 0..1 class’ table into the related class’ table as a foreign key if doing so results in a high load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5B: Create a separate table for any associations for which posting a foreign key results in low load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600" dirty="0"/>
              <a:t>Note: For 0..1-0..1 for step 5A, post whichever direction results in highest load; if neither direction yields high load, then follow step 5B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22042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3692</Words>
  <Application>Microsoft Office PowerPoint</Application>
  <PresentationFormat>On-screen Show (4:3)</PresentationFormat>
  <Paragraphs>631</Paragraphs>
  <Slides>53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7" baseType="lpstr">
      <vt:lpstr>MS PGothic</vt:lpstr>
      <vt:lpstr>MS PGothic</vt:lpstr>
      <vt:lpstr>新細明體</vt:lpstr>
      <vt:lpstr>Arial</vt:lpstr>
      <vt:lpstr>Arial Black</vt:lpstr>
      <vt:lpstr>Calibri</vt:lpstr>
      <vt:lpstr>Calibri Light</vt:lpstr>
      <vt:lpstr>Impact</vt:lpstr>
      <vt:lpstr>Palatino Linotype</vt:lpstr>
      <vt:lpstr>Times</vt:lpstr>
      <vt:lpstr>Times New Roman</vt:lpstr>
      <vt:lpstr>Wingdings</vt:lpstr>
      <vt:lpstr>Office Theme</vt:lpstr>
      <vt:lpstr>Picture</vt:lpstr>
      <vt:lpstr>AC6761 Artificial Intelligence Accounting</vt:lpstr>
      <vt:lpstr>Traditional Double-Entry Bookkeeping​ </vt:lpstr>
      <vt:lpstr>Strengths and limitations</vt:lpstr>
      <vt:lpstr>​​REA Accounting Model: A Paradigm Shift </vt:lpstr>
      <vt:lpstr>Strengths and limitations</vt:lpstr>
      <vt:lpstr>Accounting Systems for Economic Storytelling</vt:lpstr>
      <vt:lpstr>Histories</vt:lpstr>
      <vt:lpstr>Criticism</vt:lpstr>
      <vt:lpstr>Re-Inventing Accounting Systems</vt:lpstr>
      <vt:lpstr>Bill McCarthy’s example</vt:lpstr>
      <vt:lpstr>Example of  Economic Story Telling</vt:lpstr>
      <vt:lpstr>Details</vt:lpstr>
      <vt:lpstr>Double-Entry System</vt:lpstr>
      <vt:lpstr>Double-Entry System</vt:lpstr>
      <vt:lpstr>Double-Entry System</vt:lpstr>
      <vt:lpstr>Double-Entry System</vt:lpstr>
      <vt:lpstr>PowerPoint Presentation</vt:lpstr>
      <vt:lpstr>Duality</vt:lpstr>
      <vt:lpstr>PowerPoint Presentation</vt:lpstr>
      <vt:lpstr>Conceptual model</vt:lpstr>
      <vt:lpstr>Logical model</vt:lpstr>
      <vt:lpstr>Physical database model</vt:lpstr>
      <vt:lpstr>Conceptual modeling with UML class diagrams</vt:lpstr>
      <vt:lpstr>Conceptual Modeling Constructs</vt:lpstr>
      <vt:lpstr>UML Class Diagrams: Classes </vt:lpstr>
      <vt:lpstr>Conceptual Modeling Constructs</vt:lpstr>
      <vt:lpstr>Example Classes and Association</vt:lpstr>
      <vt:lpstr>Conceptual Modeling Constructs</vt:lpstr>
      <vt:lpstr>Conceptual Modeling Constructs</vt:lpstr>
      <vt:lpstr>Examples:  Customer, Sale</vt:lpstr>
      <vt:lpstr>Example:  Employee/Department multiplicities</vt:lpstr>
      <vt:lpstr>Interpret Multiplicities: Exercise 1</vt:lpstr>
      <vt:lpstr>Interpret Multiplicities: Exercise 2</vt:lpstr>
      <vt:lpstr>Interpret Multiplicities: Exercise 3</vt:lpstr>
      <vt:lpstr>Interpret  Multiplicities: Exercise 4</vt:lpstr>
      <vt:lpstr>Relational Database Model</vt:lpstr>
      <vt:lpstr>Relational Database Model</vt:lpstr>
      <vt:lpstr>Foreign Key Example</vt:lpstr>
      <vt:lpstr>Relational Database Model</vt:lpstr>
      <vt:lpstr>Referential Integrity Example</vt:lpstr>
      <vt:lpstr>One Fact-One Place Violations</vt:lpstr>
      <vt:lpstr>PowerPoint Presentation</vt:lpstr>
      <vt:lpstr>Converting Conceptual to Relational </vt:lpstr>
      <vt:lpstr>Association Conversion</vt:lpstr>
      <vt:lpstr>Association Conversion</vt:lpstr>
      <vt:lpstr>Example: Many-Many Associations</vt:lpstr>
      <vt:lpstr>PowerPoint Presentation</vt:lpstr>
      <vt:lpstr>Association Conversion</vt:lpstr>
      <vt:lpstr>Example: 1..1 – 1..1</vt:lpstr>
      <vt:lpstr>Association Conversion</vt:lpstr>
      <vt:lpstr>Example 1: Posting From a 1..1</vt:lpstr>
      <vt:lpstr>PowerPoint Presentation</vt:lpstr>
      <vt:lpstr>Association Conversion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2020-08-27T08:06:10Z</dcterms:created>
  <dcterms:modified xsi:type="dcterms:W3CDTF">2025-09-27T11:04:01Z</dcterms:modified>
</cp:coreProperties>
</file>