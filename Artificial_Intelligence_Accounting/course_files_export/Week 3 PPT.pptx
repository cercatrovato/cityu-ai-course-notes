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5721" r:id="rId1"/>
  </p:sldMasterIdLst>
  <p:notesMasterIdLst>
    <p:notesMasterId r:id="rId49"/>
  </p:notesMasterIdLst>
  <p:handoutMasterIdLst>
    <p:handoutMasterId r:id="rId50"/>
  </p:handoutMasterIdLst>
  <p:sldIdLst>
    <p:sldId id="397" r:id="rId2"/>
    <p:sldId id="257" r:id="rId3"/>
    <p:sldId id="416" r:id="rId4"/>
    <p:sldId id="417" r:id="rId5"/>
    <p:sldId id="379" r:id="rId6"/>
    <p:sldId id="380" r:id="rId7"/>
    <p:sldId id="381" r:id="rId8"/>
    <p:sldId id="384" r:id="rId9"/>
    <p:sldId id="385" r:id="rId10"/>
    <p:sldId id="467" r:id="rId11"/>
    <p:sldId id="468" r:id="rId12"/>
    <p:sldId id="471" r:id="rId13"/>
    <p:sldId id="388" r:id="rId14"/>
    <p:sldId id="418" r:id="rId15"/>
    <p:sldId id="419" r:id="rId16"/>
    <p:sldId id="420" r:id="rId17"/>
    <p:sldId id="421" r:id="rId18"/>
    <p:sldId id="422" r:id="rId19"/>
    <p:sldId id="425" r:id="rId20"/>
    <p:sldId id="431" r:id="rId21"/>
    <p:sldId id="424" r:id="rId22"/>
    <p:sldId id="426" r:id="rId23"/>
    <p:sldId id="433" r:id="rId24"/>
    <p:sldId id="435" r:id="rId25"/>
    <p:sldId id="429" r:id="rId26"/>
    <p:sldId id="434" r:id="rId27"/>
    <p:sldId id="436" r:id="rId28"/>
    <p:sldId id="423" r:id="rId29"/>
    <p:sldId id="394" r:id="rId30"/>
    <p:sldId id="390" r:id="rId31"/>
    <p:sldId id="391" r:id="rId32"/>
    <p:sldId id="392" r:id="rId33"/>
    <p:sldId id="395" r:id="rId34"/>
    <p:sldId id="437" r:id="rId35"/>
    <p:sldId id="438" r:id="rId36"/>
    <p:sldId id="439" r:id="rId37"/>
    <p:sldId id="440" r:id="rId38"/>
    <p:sldId id="441" r:id="rId39"/>
    <p:sldId id="445" r:id="rId40"/>
    <p:sldId id="398" r:id="rId41"/>
    <p:sldId id="448" r:id="rId42"/>
    <p:sldId id="399" r:id="rId43"/>
    <p:sldId id="475" r:id="rId44"/>
    <p:sldId id="476" r:id="rId45"/>
    <p:sldId id="401" r:id="rId46"/>
    <p:sldId id="474" r:id="rId47"/>
    <p:sldId id="403" r:id="rId48"/>
  </p:sldIdLst>
  <p:sldSz cx="9144000" cy="6858000" type="screen4x3"/>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8" name="Auth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2D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61" autoAdjust="0"/>
    <p:restoredTop sz="92494" autoAdjust="0"/>
  </p:normalViewPr>
  <p:slideViewPr>
    <p:cSldViewPr>
      <p:cViewPr varScale="1">
        <p:scale>
          <a:sx n="76" d="100"/>
          <a:sy n="76" d="100"/>
        </p:scale>
        <p:origin x="1963" y="58"/>
      </p:cViewPr>
      <p:guideLst>
        <p:guide orient="horz" pos="2160"/>
        <p:guide pos="2880"/>
      </p:guideLst>
    </p:cSldViewPr>
  </p:slideViewPr>
  <p:outlineViewPr>
    <p:cViewPr>
      <p:scale>
        <a:sx n="33" d="100"/>
        <a:sy n="33" d="100"/>
      </p:scale>
      <p:origin x="0" y="-731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885" y="67"/>
      </p:cViewPr>
      <p:guideLst>
        <p:guide orient="horz" pos="3128"/>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966849" y="0"/>
            <a:ext cx="829254" cy="298240"/>
          </a:xfrm>
          <a:prstGeom prst="rect">
            <a:avLst/>
          </a:prstGeom>
        </p:spPr>
        <p:txBody>
          <a:bodyPr vert="horz" wrap="square" lIns="93164" tIns="46582" rIns="93164" bIns="46582" numCol="1" anchor="b" anchorCtr="0" compatLnSpc="1">
            <a:prstTxWarp prst="textNoShape">
              <a:avLst/>
            </a:prstTxWarp>
          </a:bodyPr>
          <a:lstStyle>
            <a:lvl1pPr algn="r">
              <a:defRPr sz="1200"/>
            </a:lvl1pPr>
          </a:lstStyle>
          <a:p>
            <a:pPr>
              <a:defRPr/>
            </a:pPr>
            <a:r>
              <a:rPr lang="en-US" dirty="0"/>
              <a:t>1-</a:t>
            </a:r>
            <a:fld id="{4FC70F1E-A9CF-4725-BA99-5BD9E946C6F2}" type="slidenum">
              <a:rPr lang="en-US"/>
              <a:pPr>
                <a:defRPr/>
              </a:pPr>
              <a:t>‹#›</a:t>
            </a:fld>
            <a:endParaRPr lang="en-US" dirty="0"/>
          </a:p>
        </p:txBody>
      </p:sp>
    </p:spTree>
    <p:extLst>
      <p:ext uri="{BB962C8B-B14F-4D97-AF65-F5344CB8AC3E}">
        <p14:creationId xmlns:p14="http://schemas.microsoft.com/office/powerpoint/2010/main" val="131622212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wrap="square" lIns="93164" tIns="46582" rIns="93164" bIns="46582"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79768" y="4716662"/>
            <a:ext cx="5438140" cy="4468416"/>
          </a:xfrm>
          <a:prstGeom prst="rect">
            <a:avLst/>
          </a:prstGeom>
          <a:ln>
            <a:noFill/>
          </a:ln>
        </p:spPr>
        <p:txBody>
          <a:bodyPr vert="horz" wrap="square" lIns="93164" tIns="46582" rIns="93164" bIns="4658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Slide Number Placeholder 4"/>
          <p:cNvSpPr txBox="1">
            <a:spLocks/>
          </p:cNvSpPr>
          <p:nvPr/>
        </p:nvSpPr>
        <p:spPr>
          <a:xfrm>
            <a:off x="5287083" y="0"/>
            <a:ext cx="1510595" cy="330995"/>
          </a:xfrm>
          <a:prstGeom prst="rect">
            <a:avLst/>
          </a:prstGeom>
        </p:spPr>
        <p:txBody>
          <a:bodyPr lIns="93164" tIns="46582" rIns="93164" bIns="46582" anchor="b"/>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r" eaLnBrk="1" hangingPunct="1">
              <a:defRPr/>
            </a:pPr>
            <a:r>
              <a:rPr lang="en-US" sz="1200" dirty="0">
                <a:latin typeface="Calibri" pitchFamily="-107" charset="0"/>
              </a:rPr>
              <a:t>1 - </a:t>
            </a:r>
            <a:fld id="{E8754586-748E-423B-B46D-321A01942A47}" type="slidenum">
              <a:rPr lang="en-US" sz="1200" smtClean="0">
                <a:latin typeface="Calibri" pitchFamily="-107" charset="0"/>
              </a:rPr>
              <a:pPr algn="r" eaLnBrk="1" hangingPunct="1">
                <a:defRPr/>
              </a:pPr>
              <a:t>‹#›</a:t>
            </a:fld>
            <a:endParaRPr lang="en-US" sz="1200" dirty="0">
              <a:latin typeface="Calibri" pitchFamily="-107" charset="0"/>
            </a:endParaRPr>
          </a:p>
        </p:txBody>
      </p:sp>
    </p:spTree>
    <p:extLst>
      <p:ext uri="{BB962C8B-B14F-4D97-AF65-F5344CB8AC3E}">
        <p14:creationId xmlns:p14="http://schemas.microsoft.com/office/powerpoint/2010/main" val="83702605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S PGothic" pitchFamily="34"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9" name="Notes Placeholder 2"/>
          <p:cNvSpPr>
            <a:spLocks noGrp="1"/>
          </p:cNvSpPr>
          <p:nvPr>
            <p:ph type="body" idx="1"/>
          </p:nvPr>
        </p:nvSpPr>
        <p:spPr bwMode="auto">
          <a:noFill/>
        </p:spPr>
        <p:txBody>
          <a:bodyPr/>
          <a:lstStyle/>
          <a:p>
            <a:pPr eaLnBrk="1" hangingPunct="1">
              <a:spcBef>
                <a:spcPct val="0"/>
              </a:spcBef>
            </a:pPr>
            <a:endParaRPr lang="en-US" altLang="en-US" dirty="0"/>
          </a:p>
        </p:txBody>
      </p:sp>
    </p:spTree>
    <p:extLst>
      <p:ext uri="{BB962C8B-B14F-4D97-AF65-F5344CB8AC3E}">
        <p14:creationId xmlns:p14="http://schemas.microsoft.com/office/powerpoint/2010/main" val="3198462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2</a:t>
            </a:fld>
            <a:endParaRPr lang="en-US"/>
          </a:p>
        </p:txBody>
      </p:sp>
    </p:spTree>
    <p:extLst>
      <p:ext uri="{BB962C8B-B14F-4D97-AF65-F5344CB8AC3E}">
        <p14:creationId xmlns:p14="http://schemas.microsoft.com/office/powerpoint/2010/main" val="3218720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661EA64-2998-41C8-888A-A46C77E07308}" type="slidenum">
              <a:rPr lang="en-US"/>
              <a:pPr>
                <a:spcBef>
                  <a:spcPct val="0"/>
                </a:spcBef>
              </a:pPr>
              <a:t>3</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640320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eaLnBrk="1" hangingPunct="1">
              <a:defRPr/>
            </a:pPr>
            <a:endParaRPr lang="en-US" dirty="0"/>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7BCB79-1DE1-4D46-8D10-70CCA62F2627}" type="slidenum">
              <a:rPr lang="en-US"/>
              <a:pPr>
                <a:spcBef>
                  <a:spcPct val="0"/>
                </a:spcBef>
              </a:pPr>
              <a:t>4</a:t>
            </a:fld>
            <a:endParaRPr lang="en-US"/>
          </a:p>
        </p:txBody>
      </p:sp>
    </p:spTree>
    <p:extLst>
      <p:ext uri="{BB962C8B-B14F-4D97-AF65-F5344CB8AC3E}">
        <p14:creationId xmlns:p14="http://schemas.microsoft.com/office/powerpoint/2010/main" val="1122524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5</a:t>
            </a:fld>
            <a:endParaRPr lang="en-US"/>
          </a:p>
        </p:txBody>
      </p:sp>
    </p:spTree>
    <p:extLst>
      <p:ext uri="{BB962C8B-B14F-4D97-AF65-F5344CB8AC3E}">
        <p14:creationId xmlns:p14="http://schemas.microsoft.com/office/powerpoint/2010/main" val="2558558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6</a:t>
            </a:fld>
            <a:endParaRPr lang="en-US"/>
          </a:p>
        </p:txBody>
      </p:sp>
    </p:spTree>
    <p:extLst>
      <p:ext uri="{BB962C8B-B14F-4D97-AF65-F5344CB8AC3E}">
        <p14:creationId xmlns:p14="http://schemas.microsoft.com/office/powerpoint/2010/main" val="2578918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7</a:t>
            </a:fld>
            <a:endParaRPr lang="en-US"/>
          </a:p>
        </p:txBody>
      </p:sp>
    </p:spTree>
    <p:extLst>
      <p:ext uri="{BB962C8B-B14F-4D97-AF65-F5344CB8AC3E}">
        <p14:creationId xmlns:p14="http://schemas.microsoft.com/office/powerpoint/2010/main" val="1349680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p:txBody>
      </p:sp>
      <p:sp>
        <p:nvSpPr>
          <p:cNvPr id="4" name="Slide Number Placeholder 3"/>
          <p:cNvSpPr>
            <a:spLocks noGrp="1"/>
          </p:cNvSpPr>
          <p:nvPr>
            <p:ph type="sldNum" sz="quarter" idx="10"/>
          </p:nvPr>
        </p:nvSpPr>
        <p:spPr/>
        <p:txBody>
          <a:bodyPr/>
          <a:lstStyle/>
          <a:p>
            <a:fld id="{FA4CCCBE-C639-4766-89DF-3918936CD908}" type="slidenum">
              <a:rPr lang="en-US" smtClean="0"/>
              <a:t>8</a:t>
            </a:fld>
            <a:endParaRPr lang="en-US"/>
          </a:p>
        </p:txBody>
      </p:sp>
    </p:spTree>
    <p:extLst>
      <p:ext uri="{BB962C8B-B14F-4D97-AF65-F5344CB8AC3E}">
        <p14:creationId xmlns:p14="http://schemas.microsoft.com/office/powerpoint/2010/main" val="835718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noStrike" dirty="0"/>
          </a:p>
        </p:txBody>
      </p:sp>
      <p:sp>
        <p:nvSpPr>
          <p:cNvPr id="4" name="Slide Number Placeholder 3"/>
          <p:cNvSpPr>
            <a:spLocks noGrp="1"/>
          </p:cNvSpPr>
          <p:nvPr>
            <p:ph type="sldNum" sz="quarter" idx="10"/>
          </p:nvPr>
        </p:nvSpPr>
        <p:spPr/>
        <p:txBody>
          <a:bodyPr/>
          <a:lstStyle/>
          <a:p>
            <a:fld id="{FA4CCCBE-C639-4766-89DF-3918936CD908}" type="slidenum">
              <a:rPr lang="en-US" smtClean="0"/>
              <a:t>9</a:t>
            </a:fld>
            <a:endParaRPr lang="en-US"/>
          </a:p>
        </p:txBody>
      </p:sp>
    </p:spTree>
    <p:extLst>
      <p:ext uri="{BB962C8B-B14F-4D97-AF65-F5344CB8AC3E}">
        <p14:creationId xmlns:p14="http://schemas.microsoft.com/office/powerpoint/2010/main" val="2259899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A4CCCBE-C639-4766-89DF-3918936CD908}" type="slidenum">
              <a:rPr lang="en-US" smtClean="0"/>
              <a:t>11</a:t>
            </a:fld>
            <a:endParaRPr lang="en-US"/>
          </a:p>
        </p:txBody>
      </p:sp>
    </p:spTree>
    <p:extLst>
      <p:ext uri="{BB962C8B-B14F-4D97-AF65-F5344CB8AC3E}">
        <p14:creationId xmlns:p14="http://schemas.microsoft.com/office/powerpoint/2010/main" val="2412205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A4CCCBE-C639-4766-89DF-3918936CD908}" type="slidenum">
              <a:rPr lang="en-US" smtClean="0"/>
              <a:t>12</a:t>
            </a:fld>
            <a:endParaRPr lang="en-US"/>
          </a:p>
        </p:txBody>
      </p:sp>
    </p:spTree>
    <p:extLst>
      <p:ext uri="{BB962C8B-B14F-4D97-AF65-F5344CB8AC3E}">
        <p14:creationId xmlns:p14="http://schemas.microsoft.com/office/powerpoint/2010/main" val="2843220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13</a:t>
            </a:fld>
            <a:endParaRPr lang="en-US"/>
          </a:p>
        </p:txBody>
      </p:sp>
    </p:spTree>
    <p:extLst>
      <p:ext uri="{BB962C8B-B14F-4D97-AF65-F5344CB8AC3E}">
        <p14:creationId xmlns:p14="http://schemas.microsoft.com/office/powerpoint/2010/main" val="2655114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FA4CCCBE-C639-4766-89DF-3918936CD908}" type="slidenum">
              <a:rPr lang="en-US" smtClean="0"/>
              <a:t>14</a:t>
            </a:fld>
            <a:endParaRPr lang="en-US"/>
          </a:p>
        </p:txBody>
      </p:sp>
    </p:spTree>
    <p:extLst>
      <p:ext uri="{BB962C8B-B14F-4D97-AF65-F5344CB8AC3E}">
        <p14:creationId xmlns:p14="http://schemas.microsoft.com/office/powerpoint/2010/main" val="3547376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A4CCCBE-C639-4766-89DF-3918936CD908}" type="slidenum">
              <a:rPr lang="en-US" smtClean="0"/>
              <a:t>15</a:t>
            </a:fld>
            <a:endParaRPr lang="en-US"/>
          </a:p>
        </p:txBody>
      </p:sp>
    </p:spTree>
    <p:extLst>
      <p:ext uri="{BB962C8B-B14F-4D97-AF65-F5344CB8AC3E}">
        <p14:creationId xmlns:p14="http://schemas.microsoft.com/office/powerpoint/2010/main" val="3904281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16</a:t>
            </a:fld>
            <a:endParaRPr lang="en-US"/>
          </a:p>
        </p:txBody>
      </p:sp>
    </p:spTree>
    <p:extLst>
      <p:ext uri="{BB962C8B-B14F-4D97-AF65-F5344CB8AC3E}">
        <p14:creationId xmlns:p14="http://schemas.microsoft.com/office/powerpoint/2010/main" val="757359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17</a:t>
            </a:fld>
            <a:endParaRPr lang="en-US"/>
          </a:p>
        </p:txBody>
      </p:sp>
    </p:spTree>
    <p:extLst>
      <p:ext uri="{BB962C8B-B14F-4D97-AF65-F5344CB8AC3E}">
        <p14:creationId xmlns:p14="http://schemas.microsoft.com/office/powerpoint/2010/main" val="1378870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18</a:t>
            </a:fld>
            <a:endParaRPr lang="en-US"/>
          </a:p>
        </p:txBody>
      </p:sp>
    </p:spTree>
    <p:extLst>
      <p:ext uri="{BB962C8B-B14F-4D97-AF65-F5344CB8AC3E}">
        <p14:creationId xmlns:p14="http://schemas.microsoft.com/office/powerpoint/2010/main" val="4133346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19</a:t>
            </a:fld>
            <a:endParaRPr lang="en-US"/>
          </a:p>
        </p:txBody>
      </p:sp>
    </p:spTree>
    <p:extLst>
      <p:ext uri="{BB962C8B-B14F-4D97-AF65-F5344CB8AC3E}">
        <p14:creationId xmlns:p14="http://schemas.microsoft.com/office/powerpoint/2010/main" val="971673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20</a:t>
            </a:fld>
            <a:endParaRPr lang="en-US"/>
          </a:p>
        </p:txBody>
      </p:sp>
    </p:spTree>
    <p:extLst>
      <p:ext uri="{BB962C8B-B14F-4D97-AF65-F5344CB8AC3E}">
        <p14:creationId xmlns:p14="http://schemas.microsoft.com/office/powerpoint/2010/main" val="2175784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21</a:t>
            </a:fld>
            <a:endParaRPr lang="en-US"/>
          </a:p>
        </p:txBody>
      </p:sp>
    </p:spTree>
    <p:extLst>
      <p:ext uri="{BB962C8B-B14F-4D97-AF65-F5344CB8AC3E}">
        <p14:creationId xmlns:p14="http://schemas.microsoft.com/office/powerpoint/2010/main" val="1176216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22</a:t>
            </a:fld>
            <a:endParaRPr lang="en-US"/>
          </a:p>
        </p:txBody>
      </p:sp>
    </p:spTree>
    <p:extLst>
      <p:ext uri="{BB962C8B-B14F-4D97-AF65-F5344CB8AC3E}">
        <p14:creationId xmlns:p14="http://schemas.microsoft.com/office/powerpoint/2010/main" val="305358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23</a:t>
            </a:fld>
            <a:endParaRPr lang="en-US"/>
          </a:p>
        </p:txBody>
      </p:sp>
    </p:spTree>
    <p:extLst>
      <p:ext uri="{BB962C8B-B14F-4D97-AF65-F5344CB8AC3E}">
        <p14:creationId xmlns:p14="http://schemas.microsoft.com/office/powerpoint/2010/main" val="326341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24</a:t>
            </a:fld>
            <a:endParaRPr lang="en-US"/>
          </a:p>
        </p:txBody>
      </p:sp>
    </p:spTree>
    <p:extLst>
      <p:ext uri="{BB962C8B-B14F-4D97-AF65-F5344CB8AC3E}">
        <p14:creationId xmlns:p14="http://schemas.microsoft.com/office/powerpoint/2010/main" val="19320389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25</a:t>
            </a:fld>
            <a:endParaRPr lang="en-US"/>
          </a:p>
        </p:txBody>
      </p:sp>
    </p:spTree>
    <p:extLst>
      <p:ext uri="{BB962C8B-B14F-4D97-AF65-F5344CB8AC3E}">
        <p14:creationId xmlns:p14="http://schemas.microsoft.com/office/powerpoint/2010/main" val="3928013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HK" sz="1200" b="0" i="0" u="none" strike="noStrike" kern="1200" baseline="0" dirty="0">
              <a:solidFill>
                <a:schemeClr val="tx1"/>
              </a:solidFill>
              <a:latin typeface="+mn-lt"/>
              <a:ea typeface="+mn-ea"/>
              <a:cs typeface="+mn-cs"/>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26</a:t>
            </a:fld>
            <a:endParaRPr lang="en-US"/>
          </a:p>
        </p:txBody>
      </p:sp>
    </p:spTree>
    <p:extLst>
      <p:ext uri="{BB962C8B-B14F-4D97-AF65-F5344CB8AC3E}">
        <p14:creationId xmlns:p14="http://schemas.microsoft.com/office/powerpoint/2010/main" val="2173640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HK" sz="1200" b="0" i="0" u="none" strike="noStrike" kern="1200" baseline="0" dirty="0">
              <a:solidFill>
                <a:schemeClr val="tx1"/>
              </a:solidFill>
              <a:latin typeface="+mn-lt"/>
              <a:ea typeface="+mn-ea"/>
              <a:cs typeface="+mn-cs"/>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27</a:t>
            </a:fld>
            <a:endParaRPr lang="en-US"/>
          </a:p>
        </p:txBody>
      </p:sp>
    </p:spTree>
    <p:extLst>
      <p:ext uri="{BB962C8B-B14F-4D97-AF65-F5344CB8AC3E}">
        <p14:creationId xmlns:p14="http://schemas.microsoft.com/office/powerpoint/2010/main" val="128707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661EA64-2998-41C8-888A-A46C77E07308}" type="slidenum">
              <a:rPr lang="en-US"/>
              <a:pPr>
                <a:spcBef>
                  <a:spcPct val="0"/>
                </a:spcBef>
              </a:pPr>
              <a:t>28</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7652689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eaLnBrk="1" hangingPunct="1">
              <a:defRPr/>
            </a:pPr>
            <a:endParaRPr lang="en-US" dirty="0"/>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7BCB79-1DE1-4D46-8D10-70CCA62F2627}" type="slidenum">
              <a:rPr lang="en-US"/>
              <a:pPr>
                <a:spcBef>
                  <a:spcPct val="0"/>
                </a:spcBef>
              </a:pPr>
              <a:t>29</a:t>
            </a:fld>
            <a:endParaRPr lang="en-US"/>
          </a:p>
        </p:txBody>
      </p:sp>
    </p:spTree>
    <p:extLst>
      <p:ext uri="{BB962C8B-B14F-4D97-AF65-F5344CB8AC3E}">
        <p14:creationId xmlns:p14="http://schemas.microsoft.com/office/powerpoint/2010/main" val="2275405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30</a:t>
            </a:fld>
            <a:endParaRPr lang="en-US"/>
          </a:p>
        </p:txBody>
      </p:sp>
    </p:spTree>
    <p:extLst>
      <p:ext uri="{BB962C8B-B14F-4D97-AF65-F5344CB8AC3E}">
        <p14:creationId xmlns:p14="http://schemas.microsoft.com/office/powerpoint/2010/main" val="22257634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31</a:t>
            </a:fld>
            <a:endParaRPr lang="en-US"/>
          </a:p>
        </p:txBody>
      </p:sp>
    </p:spTree>
    <p:extLst>
      <p:ext uri="{BB962C8B-B14F-4D97-AF65-F5344CB8AC3E}">
        <p14:creationId xmlns:p14="http://schemas.microsoft.com/office/powerpoint/2010/main" val="1351218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FA4CCCBE-C639-4766-89DF-3918936CD908}" type="slidenum">
              <a:rPr lang="en-US" smtClean="0"/>
              <a:t>32</a:t>
            </a:fld>
            <a:endParaRPr lang="en-US"/>
          </a:p>
        </p:txBody>
      </p:sp>
    </p:spTree>
    <p:extLst>
      <p:ext uri="{BB962C8B-B14F-4D97-AF65-F5344CB8AC3E}">
        <p14:creationId xmlns:p14="http://schemas.microsoft.com/office/powerpoint/2010/main" val="32376801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33</a:t>
            </a:fld>
            <a:endParaRPr lang="en-US"/>
          </a:p>
        </p:txBody>
      </p:sp>
    </p:spTree>
    <p:extLst>
      <p:ext uri="{BB962C8B-B14F-4D97-AF65-F5344CB8AC3E}">
        <p14:creationId xmlns:p14="http://schemas.microsoft.com/office/powerpoint/2010/main" val="26252459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35</a:t>
            </a:fld>
            <a:endParaRPr lang="en-US"/>
          </a:p>
        </p:txBody>
      </p:sp>
    </p:spTree>
    <p:extLst>
      <p:ext uri="{BB962C8B-B14F-4D97-AF65-F5344CB8AC3E}">
        <p14:creationId xmlns:p14="http://schemas.microsoft.com/office/powerpoint/2010/main" val="958822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36</a:t>
            </a:fld>
            <a:endParaRPr lang="en-US"/>
          </a:p>
        </p:txBody>
      </p:sp>
    </p:spTree>
    <p:extLst>
      <p:ext uri="{BB962C8B-B14F-4D97-AF65-F5344CB8AC3E}">
        <p14:creationId xmlns:p14="http://schemas.microsoft.com/office/powerpoint/2010/main" val="41769376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37</a:t>
            </a:fld>
            <a:endParaRPr lang="en-US"/>
          </a:p>
        </p:txBody>
      </p:sp>
    </p:spTree>
    <p:extLst>
      <p:ext uri="{BB962C8B-B14F-4D97-AF65-F5344CB8AC3E}">
        <p14:creationId xmlns:p14="http://schemas.microsoft.com/office/powerpoint/2010/main" val="18605728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F3886F-6C3A-4039-8AA1-5C864B4383D7}" type="slidenum">
              <a:rPr lang="en-US"/>
              <a:pPr>
                <a:spcBef>
                  <a:spcPct val="0"/>
                </a:spcBef>
              </a:pPr>
              <a:t>38</a:t>
            </a:fld>
            <a:endParaRPr lang="en-US"/>
          </a:p>
        </p:txBody>
      </p:sp>
    </p:spTree>
    <p:extLst>
      <p:ext uri="{BB962C8B-B14F-4D97-AF65-F5344CB8AC3E}">
        <p14:creationId xmlns:p14="http://schemas.microsoft.com/office/powerpoint/2010/main" val="10294797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661EA64-2998-41C8-888A-A46C77E07308}" type="slidenum">
              <a:rPr lang="en-US"/>
              <a:pPr>
                <a:spcBef>
                  <a:spcPct val="0"/>
                </a:spcBef>
              </a:pPr>
              <a:t>39</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2552304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tabLst>
                <a:tab pos="212697" algn="l"/>
              </a:tabLst>
            </a:pPr>
            <a:endParaRPr lang="en-US" dirty="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5FCCA71-1915-4A62-9208-6B3202360CDD}" type="slidenum">
              <a:rPr lang="en-US"/>
              <a:pPr>
                <a:spcBef>
                  <a:spcPct val="0"/>
                </a:spcBef>
              </a:pPr>
              <a:t>40</a:t>
            </a:fld>
            <a:endParaRPr lang="en-US"/>
          </a:p>
        </p:txBody>
      </p:sp>
    </p:spTree>
    <p:extLst>
      <p:ext uri="{BB962C8B-B14F-4D97-AF65-F5344CB8AC3E}">
        <p14:creationId xmlns:p14="http://schemas.microsoft.com/office/powerpoint/2010/main" val="34285760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tabLst>
                <a:tab pos="212697" algn="l"/>
              </a:tabLst>
            </a:pPr>
            <a:endParaRPr lang="en-US" dirty="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5FCCA71-1915-4A62-9208-6B3202360CDD}" type="slidenum">
              <a:rPr lang="en-US"/>
              <a:pPr>
                <a:spcBef>
                  <a:spcPct val="0"/>
                </a:spcBef>
              </a:pPr>
              <a:t>41</a:t>
            </a:fld>
            <a:endParaRPr lang="en-US"/>
          </a:p>
        </p:txBody>
      </p:sp>
    </p:spTree>
    <p:extLst>
      <p:ext uri="{BB962C8B-B14F-4D97-AF65-F5344CB8AC3E}">
        <p14:creationId xmlns:p14="http://schemas.microsoft.com/office/powerpoint/2010/main" val="35835946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5FCCA71-1915-4A62-9208-6B3202360CDD}" type="slidenum">
              <a:rPr lang="en-US"/>
              <a:pPr>
                <a:spcBef>
                  <a:spcPct val="0"/>
                </a:spcBef>
              </a:pPr>
              <a:t>42</a:t>
            </a:fld>
            <a:endParaRPr lang="en-US"/>
          </a:p>
        </p:txBody>
      </p:sp>
    </p:spTree>
    <p:extLst>
      <p:ext uri="{BB962C8B-B14F-4D97-AF65-F5344CB8AC3E}">
        <p14:creationId xmlns:p14="http://schemas.microsoft.com/office/powerpoint/2010/main" val="8651529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296">
              <a:spcBef>
                <a:spcPct val="30000"/>
              </a:spcBef>
              <a:defRPr sz="1200">
                <a:solidFill>
                  <a:schemeClr val="tx1"/>
                </a:solidFill>
                <a:latin typeface="Times New Roman" panose="02020603050405020304" pitchFamily="18" charset="0"/>
              </a:defRPr>
            </a:lvl1pPr>
            <a:lvl2pPr marL="716130" indent="-275434" defTabSz="927296">
              <a:spcBef>
                <a:spcPct val="30000"/>
              </a:spcBef>
              <a:defRPr sz="1200">
                <a:solidFill>
                  <a:schemeClr val="tx1"/>
                </a:solidFill>
                <a:latin typeface="Times New Roman" panose="02020603050405020304" pitchFamily="18" charset="0"/>
              </a:defRPr>
            </a:lvl2pPr>
            <a:lvl3pPr marL="1101738" indent="-220348" defTabSz="927296">
              <a:spcBef>
                <a:spcPct val="30000"/>
              </a:spcBef>
              <a:defRPr sz="1200">
                <a:solidFill>
                  <a:schemeClr val="tx1"/>
                </a:solidFill>
                <a:latin typeface="Times New Roman" panose="02020603050405020304" pitchFamily="18" charset="0"/>
              </a:defRPr>
            </a:lvl3pPr>
            <a:lvl4pPr marL="1542433" indent="-220348" defTabSz="927296">
              <a:spcBef>
                <a:spcPct val="30000"/>
              </a:spcBef>
              <a:defRPr sz="1200">
                <a:solidFill>
                  <a:schemeClr val="tx1"/>
                </a:solidFill>
                <a:latin typeface="Times New Roman" panose="02020603050405020304" pitchFamily="18" charset="0"/>
              </a:defRPr>
            </a:lvl4pPr>
            <a:lvl5pPr marL="1983128" indent="-220348" defTabSz="927296">
              <a:spcBef>
                <a:spcPct val="30000"/>
              </a:spcBef>
              <a:defRPr sz="1200">
                <a:solidFill>
                  <a:schemeClr val="tx1"/>
                </a:solidFill>
                <a:latin typeface="Times New Roman" panose="02020603050405020304" pitchFamily="18" charset="0"/>
              </a:defRPr>
            </a:lvl5pPr>
            <a:lvl6pPr marL="2423823" indent="-220348" defTabSz="927296" eaLnBrk="0" fontAlgn="base" hangingPunct="0">
              <a:spcBef>
                <a:spcPct val="30000"/>
              </a:spcBef>
              <a:spcAft>
                <a:spcPct val="0"/>
              </a:spcAft>
              <a:defRPr sz="1200">
                <a:solidFill>
                  <a:schemeClr val="tx1"/>
                </a:solidFill>
                <a:latin typeface="Times New Roman" panose="02020603050405020304" pitchFamily="18" charset="0"/>
              </a:defRPr>
            </a:lvl6pPr>
            <a:lvl7pPr marL="2864518" indent="-220348" defTabSz="927296" eaLnBrk="0" fontAlgn="base" hangingPunct="0">
              <a:spcBef>
                <a:spcPct val="30000"/>
              </a:spcBef>
              <a:spcAft>
                <a:spcPct val="0"/>
              </a:spcAft>
              <a:defRPr sz="1200">
                <a:solidFill>
                  <a:schemeClr val="tx1"/>
                </a:solidFill>
                <a:latin typeface="Times New Roman" panose="02020603050405020304" pitchFamily="18" charset="0"/>
              </a:defRPr>
            </a:lvl7pPr>
            <a:lvl8pPr marL="3305213" indent="-220348" defTabSz="927296" eaLnBrk="0" fontAlgn="base" hangingPunct="0">
              <a:spcBef>
                <a:spcPct val="30000"/>
              </a:spcBef>
              <a:spcAft>
                <a:spcPct val="0"/>
              </a:spcAft>
              <a:defRPr sz="1200">
                <a:solidFill>
                  <a:schemeClr val="tx1"/>
                </a:solidFill>
                <a:latin typeface="Times New Roman" panose="02020603050405020304" pitchFamily="18" charset="0"/>
              </a:defRPr>
            </a:lvl8pPr>
            <a:lvl9pPr marL="3745908" indent="-220348" defTabSz="927296"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533BF6-F108-4309-B3EE-E2E1B1D90D4E}" type="slidenum">
              <a:rPr lang="en-US"/>
              <a:pPr>
                <a:spcBef>
                  <a:spcPct val="0"/>
                </a:spcBef>
              </a:pPr>
              <a:t>45</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0" dirty="0"/>
          </a:p>
        </p:txBody>
      </p:sp>
    </p:spTree>
    <p:extLst>
      <p:ext uri="{BB962C8B-B14F-4D97-AF65-F5344CB8AC3E}">
        <p14:creationId xmlns:p14="http://schemas.microsoft.com/office/powerpoint/2010/main" val="32189094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A4CCCBE-C639-4766-89DF-3918936CD908}" type="slidenum">
              <a:rPr lang="en-US" smtClean="0"/>
              <a:t>47</a:t>
            </a:fld>
            <a:endParaRPr lang="en-US"/>
          </a:p>
        </p:txBody>
      </p:sp>
    </p:spTree>
    <p:extLst>
      <p:ext uri="{BB962C8B-B14F-4D97-AF65-F5344CB8AC3E}">
        <p14:creationId xmlns:p14="http://schemas.microsoft.com/office/powerpoint/2010/main" val="2317554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FB42-E70C-4FA6-B141-9BD8E6020B3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HK"/>
          </a:p>
        </p:txBody>
      </p:sp>
      <p:sp>
        <p:nvSpPr>
          <p:cNvPr id="3" name="Subtitle 2">
            <a:extLst>
              <a:ext uri="{FF2B5EF4-FFF2-40B4-BE49-F238E27FC236}">
                <a16:creationId xmlns:a16="http://schemas.microsoft.com/office/drawing/2014/main" id="{C154AD63-5068-4E4E-A3E7-F90521A24E3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HK"/>
          </a:p>
        </p:txBody>
      </p:sp>
      <p:sp>
        <p:nvSpPr>
          <p:cNvPr id="4" name="Date Placeholder 3">
            <a:extLst>
              <a:ext uri="{FF2B5EF4-FFF2-40B4-BE49-F238E27FC236}">
                <a16:creationId xmlns:a16="http://schemas.microsoft.com/office/drawing/2014/main" id="{6F106812-10C8-433B-B6CA-EEC7F43376CF}"/>
              </a:ext>
            </a:extLst>
          </p:cNvPr>
          <p:cNvSpPr>
            <a:spLocks noGrp="1"/>
          </p:cNvSpPr>
          <p:nvPr>
            <p:ph type="dt" sz="half" idx="10"/>
          </p:nvPr>
        </p:nvSpPr>
        <p:spPr/>
        <p:txBody>
          <a:bodyPr/>
          <a:lstStyle/>
          <a:p>
            <a:pPr>
              <a:defRPr/>
            </a:pPr>
            <a:fld id="{5D29925E-EED2-44FE-A088-00640B77843B}" type="datetime1">
              <a:rPr lang="en-US" smtClean="0"/>
              <a:pPr>
                <a:defRPr/>
              </a:pPr>
              <a:t>8/29/2025</a:t>
            </a:fld>
            <a:endParaRPr lang="en-US" dirty="0"/>
          </a:p>
        </p:txBody>
      </p:sp>
      <p:sp>
        <p:nvSpPr>
          <p:cNvPr id="5" name="Footer Placeholder 4">
            <a:extLst>
              <a:ext uri="{FF2B5EF4-FFF2-40B4-BE49-F238E27FC236}">
                <a16:creationId xmlns:a16="http://schemas.microsoft.com/office/drawing/2014/main" id="{7F628831-A964-419A-8F9B-E13A6AC9D22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4BCD5A45-30F2-4BA8-A795-B19884B2D3EE}"/>
              </a:ext>
            </a:extLst>
          </p:cNvPr>
          <p:cNvSpPr>
            <a:spLocks noGrp="1"/>
          </p:cNvSpPr>
          <p:nvPr>
            <p:ph type="sldNum" sz="quarter" idx="12"/>
          </p:nvPr>
        </p:nvSpPr>
        <p:spPr/>
        <p:txBody>
          <a:bodyPr/>
          <a:lstStyle/>
          <a:p>
            <a:pPr>
              <a:defRPr/>
            </a:pPr>
            <a:fld id="{D326DA46-A0C8-43DB-B9C0-C1581C69E33E}" type="slidenum">
              <a:rPr lang="en-US" smtClean="0"/>
              <a:pPr>
                <a:defRPr/>
              </a:pPr>
              <a:t>‹#›</a:t>
            </a:fld>
            <a:endParaRPr lang="en-US" dirty="0"/>
          </a:p>
        </p:txBody>
      </p:sp>
    </p:spTree>
    <p:extLst>
      <p:ext uri="{BB962C8B-B14F-4D97-AF65-F5344CB8AC3E}">
        <p14:creationId xmlns:p14="http://schemas.microsoft.com/office/powerpoint/2010/main" val="2430746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9A0F-11F4-468A-92A1-C983B748FF94}"/>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E9CBAD7F-CA6D-45BF-B764-72E47621BF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E3137278-C858-4DC0-AFCD-3C6A68D3C186}"/>
              </a:ext>
            </a:extLst>
          </p:cNvPr>
          <p:cNvSpPr>
            <a:spLocks noGrp="1"/>
          </p:cNvSpPr>
          <p:nvPr>
            <p:ph type="dt" sz="half" idx="10"/>
          </p:nvPr>
        </p:nvSpPr>
        <p:spPr/>
        <p:txBody>
          <a:bodyPr/>
          <a:lstStyle/>
          <a:p>
            <a:pPr>
              <a:defRPr/>
            </a:pPr>
            <a:fld id="{F432F547-B0D0-4CB8-8543-44DCD76FB919}" type="datetime1">
              <a:rPr lang="en-US" smtClean="0"/>
              <a:pPr>
                <a:defRPr/>
              </a:pPr>
              <a:t>8/29/2025</a:t>
            </a:fld>
            <a:endParaRPr lang="en-US" dirty="0"/>
          </a:p>
        </p:txBody>
      </p:sp>
      <p:sp>
        <p:nvSpPr>
          <p:cNvPr id="5" name="Footer Placeholder 4">
            <a:extLst>
              <a:ext uri="{FF2B5EF4-FFF2-40B4-BE49-F238E27FC236}">
                <a16:creationId xmlns:a16="http://schemas.microsoft.com/office/drawing/2014/main" id="{1BAC488E-4D8B-43F6-9EB5-45796484B24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31C8EFFA-FE3F-4B63-A363-A60D6A346D0C}"/>
              </a:ext>
            </a:extLst>
          </p:cNvPr>
          <p:cNvSpPr>
            <a:spLocks noGrp="1"/>
          </p:cNvSpPr>
          <p:nvPr>
            <p:ph type="sldNum" sz="quarter" idx="12"/>
          </p:nvPr>
        </p:nvSpPr>
        <p:spPr/>
        <p:txBody>
          <a:bodyPr/>
          <a:lstStyle/>
          <a:p>
            <a:pPr>
              <a:defRPr/>
            </a:pPr>
            <a:fld id="{4D43F197-C583-4294-BD21-B6AE0DDD46C4}" type="slidenum">
              <a:rPr lang="en-US" smtClean="0"/>
              <a:pPr>
                <a:defRPr/>
              </a:pPr>
              <a:t>‹#›</a:t>
            </a:fld>
            <a:endParaRPr lang="en-US" dirty="0"/>
          </a:p>
        </p:txBody>
      </p:sp>
    </p:spTree>
    <p:extLst>
      <p:ext uri="{BB962C8B-B14F-4D97-AF65-F5344CB8AC3E}">
        <p14:creationId xmlns:p14="http://schemas.microsoft.com/office/powerpoint/2010/main" val="3415552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6687-01E3-4EFA-AAF4-3B4BB497AA8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HK"/>
          </a:p>
        </p:txBody>
      </p:sp>
      <p:sp>
        <p:nvSpPr>
          <p:cNvPr id="3" name="Text Placeholder 2">
            <a:extLst>
              <a:ext uri="{FF2B5EF4-FFF2-40B4-BE49-F238E27FC236}">
                <a16:creationId xmlns:a16="http://schemas.microsoft.com/office/drawing/2014/main" id="{BADF4309-F76B-4BB7-B6F9-72503B8510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A4824F7-8986-499F-A6D6-173E38F03D7D}"/>
              </a:ext>
            </a:extLst>
          </p:cNvPr>
          <p:cNvSpPr>
            <a:spLocks noGrp="1"/>
          </p:cNvSpPr>
          <p:nvPr>
            <p:ph type="dt" sz="half" idx="10"/>
          </p:nvPr>
        </p:nvSpPr>
        <p:spPr/>
        <p:txBody>
          <a:bodyPr/>
          <a:lstStyle/>
          <a:p>
            <a:pPr>
              <a:defRPr/>
            </a:pPr>
            <a:fld id="{45180D1F-64D5-4D03-86A8-B0C78FB9D084}" type="datetime1">
              <a:rPr lang="en-US" smtClean="0"/>
              <a:pPr>
                <a:defRPr/>
              </a:pPr>
              <a:t>8/29/2025</a:t>
            </a:fld>
            <a:endParaRPr lang="en-US" dirty="0"/>
          </a:p>
        </p:txBody>
      </p:sp>
      <p:sp>
        <p:nvSpPr>
          <p:cNvPr id="5" name="Footer Placeholder 4">
            <a:extLst>
              <a:ext uri="{FF2B5EF4-FFF2-40B4-BE49-F238E27FC236}">
                <a16:creationId xmlns:a16="http://schemas.microsoft.com/office/drawing/2014/main" id="{1EA8C674-1E77-404C-A67C-7EEBBF9AB08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D82BAFC3-E5CC-4C2D-9F40-7AC36D99BDC0}"/>
              </a:ext>
            </a:extLst>
          </p:cNvPr>
          <p:cNvSpPr>
            <a:spLocks noGrp="1"/>
          </p:cNvSpPr>
          <p:nvPr>
            <p:ph type="sldNum" sz="quarter" idx="12"/>
          </p:nvPr>
        </p:nvSpPr>
        <p:spPr/>
        <p:txBody>
          <a:bodyPr/>
          <a:lstStyle/>
          <a:p>
            <a:pPr>
              <a:defRPr/>
            </a:pPr>
            <a:fld id="{CE116888-0E84-4000-8C9A-DF22FF321353}" type="slidenum">
              <a:rPr lang="en-US" smtClean="0"/>
              <a:pPr>
                <a:defRPr/>
              </a:pPr>
              <a:t>‹#›</a:t>
            </a:fld>
            <a:endParaRPr lang="en-US" dirty="0"/>
          </a:p>
        </p:txBody>
      </p:sp>
    </p:spTree>
    <p:extLst>
      <p:ext uri="{BB962C8B-B14F-4D97-AF65-F5344CB8AC3E}">
        <p14:creationId xmlns:p14="http://schemas.microsoft.com/office/powerpoint/2010/main" val="171666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6322-B5D5-4209-90AD-C2E4307513A1}"/>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A55F3636-E557-4BF5-BDB8-7608D671E6D1}"/>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Content Placeholder 3">
            <a:extLst>
              <a:ext uri="{FF2B5EF4-FFF2-40B4-BE49-F238E27FC236}">
                <a16:creationId xmlns:a16="http://schemas.microsoft.com/office/drawing/2014/main" id="{4541DEDD-0FE5-4DE5-8D0C-0BF6BF334DEC}"/>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Date Placeholder 4">
            <a:extLst>
              <a:ext uri="{FF2B5EF4-FFF2-40B4-BE49-F238E27FC236}">
                <a16:creationId xmlns:a16="http://schemas.microsoft.com/office/drawing/2014/main" id="{8684DEA4-5D2C-45AC-A09E-EA1426FF5322}"/>
              </a:ext>
            </a:extLst>
          </p:cNvPr>
          <p:cNvSpPr>
            <a:spLocks noGrp="1"/>
          </p:cNvSpPr>
          <p:nvPr>
            <p:ph type="dt" sz="half" idx="10"/>
          </p:nvPr>
        </p:nvSpPr>
        <p:spPr/>
        <p:txBody>
          <a:bodyPr/>
          <a:lstStyle/>
          <a:p>
            <a:pPr>
              <a:defRPr/>
            </a:pPr>
            <a:fld id="{6A607C7E-F4F5-4B77-8CDC-90CC78F38487}" type="datetime1">
              <a:rPr lang="en-US" smtClean="0"/>
              <a:pPr>
                <a:defRPr/>
              </a:pPr>
              <a:t>8/29/2025</a:t>
            </a:fld>
            <a:endParaRPr lang="en-US" dirty="0"/>
          </a:p>
        </p:txBody>
      </p:sp>
      <p:sp>
        <p:nvSpPr>
          <p:cNvPr id="6" name="Footer Placeholder 5">
            <a:extLst>
              <a:ext uri="{FF2B5EF4-FFF2-40B4-BE49-F238E27FC236}">
                <a16:creationId xmlns:a16="http://schemas.microsoft.com/office/drawing/2014/main" id="{2A2A3584-A3FD-4926-AF2B-BA4A2209746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EADF32EB-F0E7-4396-94E9-D3172F1D0D50}"/>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6422752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8068-C533-471D-B504-99206ADAC47E}"/>
              </a:ext>
            </a:extLst>
          </p:cNvPr>
          <p:cNvSpPr>
            <a:spLocks noGrp="1"/>
          </p:cNvSpPr>
          <p:nvPr>
            <p:ph type="title"/>
          </p:nvPr>
        </p:nvSpPr>
        <p:spPr>
          <a:xfrm>
            <a:off x="629841" y="365126"/>
            <a:ext cx="7886700" cy="1325563"/>
          </a:xfrm>
        </p:spPr>
        <p:txBody>
          <a:bodyPr/>
          <a:lstStyle/>
          <a:p>
            <a:r>
              <a:rPr lang="en-US"/>
              <a:t>Click to edit Master title style</a:t>
            </a:r>
            <a:endParaRPr lang="en-HK"/>
          </a:p>
        </p:txBody>
      </p:sp>
      <p:sp>
        <p:nvSpPr>
          <p:cNvPr id="3" name="Text Placeholder 2">
            <a:extLst>
              <a:ext uri="{FF2B5EF4-FFF2-40B4-BE49-F238E27FC236}">
                <a16:creationId xmlns:a16="http://schemas.microsoft.com/office/drawing/2014/main" id="{870A985D-5BF7-4CB5-A92B-4A6FDFBB42C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001B07C4-7F34-446A-9E2E-1B83A53EA1A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Text Placeholder 4">
            <a:extLst>
              <a:ext uri="{FF2B5EF4-FFF2-40B4-BE49-F238E27FC236}">
                <a16:creationId xmlns:a16="http://schemas.microsoft.com/office/drawing/2014/main" id="{AFC32C3C-0143-494D-9F52-9E04ECF3F6F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E306F971-95B4-46A0-91C2-A0AFD49D1487}"/>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7" name="Date Placeholder 6">
            <a:extLst>
              <a:ext uri="{FF2B5EF4-FFF2-40B4-BE49-F238E27FC236}">
                <a16:creationId xmlns:a16="http://schemas.microsoft.com/office/drawing/2014/main" id="{30C71DDC-BE93-430E-B7EA-CDF6C2BE70F6}"/>
              </a:ext>
            </a:extLst>
          </p:cNvPr>
          <p:cNvSpPr>
            <a:spLocks noGrp="1"/>
          </p:cNvSpPr>
          <p:nvPr>
            <p:ph type="dt" sz="half" idx="10"/>
          </p:nvPr>
        </p:nvSpPr>
        <p:spPr/>
        <p:txBody>
          <a:bodyPr/>
          <a:lstStyle/>
          <a:p>
            <a:pPr>
              <a:defRPr/>
            </a:pPr>
            <a:fld id="{6A607C7E-F4F5-4B77-8CDC-90CC78F38487}" type="datetime1">
              <a:rPr lang="en-US" smtClean="0"/>
              <a:pPr>
                <a:defRPr/>
              </a:pPr>
              <a:t>8/29/2025</a:t>
            </a:fld>
            <a:endParaRPr lang="en-US" dirty="0"/>
          </a:p>
        </p:txBody>
      </p:sp>
      <p:sp>
        <p:nvSpPr>
          <p:cNvPr id="8" name="Footer Placeholder 7">
            <a:extLst>
              <a:ext uri="{FF2B5EF4-FFF2-40B4-BE49-F238E27FC236}">
                <a16:creationId xmlns:a16="http://schemas.microsoft.com/office/drawing/2014/main" id="{A7D57A58-19C6-42DB-9019-46F96D1CD12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9" name="Slide Number Placeholder 8">
            <a:extLst>
              <a:ext uri="{FF2B5EF4-FFF2-40B4-BE49-F238E27FC236}">
                <a16:creationId xmlns:a16="http://schemas.microsoft.com/office/drawing/2014/main" id="{62CBDDE3-F8EA-46B4-9C1F-FFEAFED26B91}"/>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54793755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99D1-45FB-49A6-A72B-39DFBA7983D3}"/>
              </a:ext>
            </a:extLst>
          </p:cNvPr>
          <p:cNvSpPr>
            <a:spLocks noGrp="1"/>
          </p:cNvSpPr>
          <p:nvPr>
            <p:ph type="title"/>
          </p:nvPr>
        </p:nvSpPr>
        <p:spPr/>
        <p:txBody>
          <a:bodyPr/>
          <a:lstStyle/>
          <a:p>
            <a:r>
              <a:rPr lang="en-US"/>
              <a:t>Click to edit Master title style</a:t>
            </a:r>
            <a:endParaRPr lang="en-HK"/>
          </a:p>
        </p:txBody>
      </p:sp>
      <p:sp>
        <p:nvSpPr>
          <p:cNvPr id="3" name="Date Placeholder 2">
            <a:extLst>
              <a:ext uri="{FF2B5EF4-FFF2-40B4-BE49-F238E27FC236}">
                <a16:creationId xmlns:a16="http://schemas.microsoft.com/office/drawing/2014/main" id="{A31AEA5B-B844-499C-BA2B-C67C65D26DBB}"/>
              </a:ext>
            </a:extLst>
          </p:cNvPr>
          <p:cNvSpPr>
            <a:spLocks noGrp="1"/>
          </p:cNvSpPr>
          <p:nvPr>
            <p:ph type="dt" sz="half" idx="10"/>
          </p:nvPr>
        </p:nvSpPr>
        <p:spPr/>
        <p:txBody>
          <a:bodyPr/>
          <a:lstStyle/>
          <a:p>
            <a:pPr>
              <a:defRPr/>
            </a:pPr>
            <a:fld id="{3F12F0C6-B5C0-45E6-85FD-C21AB31A1A95}" type="datetime1">
              <a:rPr lang="en-US" smtClean="0"/>
              <a:pPr>
                <a:defRPr/>
              </a:pPr>
              <a:t>8/29/2025</a:t>
            </a:fld>
            <a:endParaRPr lang="en-US" dirty="0"/>
          </a:p>
        </p:txBody>
      </p:sp>
      <p:sp>
        <p:nvSpPr>
          <p:cNvPr id="4" name="Footer Placeholder 3">
            <a:extLst>
              <a:ext uri="{FF2B5EF4-FFF2-40B4-BE49-F238E27FC236}">
                <a16:creationId xmlns:a16="http://schemas.microsoft.com/office/drawing/2014/main" id="{9F7586E5-DF4D-41FD-939D-D5906457C7F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5" name="Slide Number Placeholder 4">
            <a:extLst>
              <a:ext uri="{FF2B5EF4-FFF2-40B4-BE49-F238E27FC236}">
                <a16:creationId xmlns:a16="http://schemas.microsoft.com/office/drawing/2014/main" id="{3568673F-6F56-412B-8D53-B5B5D1D6A606}"/>
              </a:ext>
            </a:extLst>
          </p:cNvPr>
          <p:cNvSpPr>
            <a:spLocks noGrp="1"/>
          </p:cNvSpPr>
          <p:nvPr>
            <p:ph type="sldNum" sz="quarter" idx="12"/>
          </p:nvPr>
        </p:nvSpPr>
        <p:spPr/>
        <p:txBody>
          <a:bodyPr/>
          <a:lstStyle/>
          <a:p>
            <a:pPr>
              <a:defRPr/>
            </a:pPr>
            <a:fld id="{738B8CC1-C7B3-4BC4-BEEE-A4A95954513D}" type="slidenum">
              <a:rPr lang="en-US" smtClean="0"/>
              <a:pPr>
                <a:defRPr/>
              </a:pPr>
              <a:t>‹#›</a:t>
            </a:fld>
            <a:endParaRPr lang="en-US" dirty="0"/>
          </a:p>
        </p:txBody>
      </p:sp>
    </p:spTree>
    <p:extLst>
      <p:ext uri="{BB962C8B-B14F-4D97-AF65-F5344CB8AC3E}">
        <p14:creationId xmlns:p14="http://schemas.microsoft.com/office/powerpoint/2010/main" val="211570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17015-38ED-4E49-B354-BF1208BF6C66}"/>
              </a:ext>
            </a:extLst>
          </p:cNvPr>
          <p:cNvSpPr>
            <a:spLocks noGrp="1"/>
          </p:cNvSpPr>
          <p:nvPr>
            <p:ph type="dt" sz="half" idx="10"/>
          </p:nvPr>
        </p:nvSpPr>
        <p:spPr/>
        <p:txBody>
          <a:bodyPr/>
          <a:lstStyle/>
          <a:p>
            <a:pPr>
              <a:defRPr/>
            </a:pPr>
            <a:fld id="{C8224EFF-F9F8-496A-8AFF-0F456197E8B5}" type="datetime1">
              <a:rPr lang="en-US" smtClean="0"/>
              <a:pPr>
                <a:defRPr/>
              </a:pPr>
              <a:t>8/29/2025</a:t>
            </a:fld>
            <a:endParaRPr lang="en-US" dirty="0"/>
          </a:p>
        </p:txBody>
      </p:sp>
      <p:sp>
        <p:nvSpPr>
          <p:cNvPr id="3" name="Footer Placeholder 2">
            <a:extLst>
              <a:ext uri="{FF2B5EF4-FFF2-40B4-BE49-F238E27FC236}">
                <a16:creationId xmlns:a16="http://schemas.microsoft.com/office/drawing/2014/main" id="{4BFED087-1CA0-4D1D-A5B0-CA6A37061CA7}"/>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4" name="Slide Number Placeholder 3">
            <a:extLst>
              <a:ext uri="{FF2B5EF4-FFF2-40B4-BE49-F238E27FC236}">
                <a16:creationId xmlns:a16="http://schemas.microsoft.com/office/drawing/2014/main" id="{705E9A89-0D3C-4EB6-BC78-A5673BA3818B}"/>
              </a:ext>
            </a:extLst>
          </p:cNvPr>
          <p:cNvSpPr>
            <a:spLocks noGrp="1"/>
          </p:cNvSpPr>
          <p:nvPr>
            <p:ph type="sldNum" sz="quarter" idx="12"/>
          </p:nvPr>
        </p:nvSpPr>
        <p:spPr/>
        <p:txBody>
          <a:bodyPr/>
          <a:lstStyle/>
          <a:p>
            <a:pPr>
              <a:defRPr/>
            </a:pPr>
            <a:fld id="{AA019379-17AD-4E0D-9610-E34AD365F0A3}" type="slidenum">
              <a:rPr lang="en-US" smtClean="0"/>
              <a:pPr>
                <a:defRPr/>
              </a:pPr>
              <a:t>‹#›</a:t>
            </a:fld>
            <a:endParaRPr lang="en-US" dirty="0"/>
          </a:p>
        </p:txBody>
      </p:sp>
    </p:spTree>
    <p:extLst>
      <p:ext uri="{BB962C8B-B14F-4D97-AF65-F5344CB8AC3E}">
        <p14:creationId xmlns:p14="http://schemas.microsoft.com/office/powerpoint/2010/main" val="17171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35F3-02F6-4359-A8DD-7118AD1E85E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Content Placeholder 2">
            <a:extLst>
              <a:ext uri="{FF2B5EF4-FFF2-40B4-BE49-F238E27FC236}">
                <a16:creationId xmlns:a16="http://schemas.microsoft.com/office/drawing/2014/main" id="{FD9C6DA7-C41C-4B1D-821B-A34DDED7DFB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Text Placeholder 3">
            <a:extLst>
              <a:ext uri="{FF2B5EF4-FFF2-40B4-BE49-F238E27FC236}">
                <a16:creationId xmlns:a16="http://schemas.microsoft.com/office/drawing/2014/main" id="{1B6F4FC8-0644-4504-8FD0-62DFC733C5B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20DD565-4EB8-457E-B8A9-509B3DCE9EDB}"/>
              </a:ext>
            </a:extLst>
          </p:cNvPr>
          <p:cNvSpPr>
            <a:spLocks noGrp="1"/>
          </p:cNvSpPr>
          <p:nvPr>
            <p:ph type="dt" sz="half" idx="10"/>
          </p:nvPr>
        </p:nvSpPr>
        <p:spPr/>
        <p:txBody>
          <a:bodyPr/>
          <a:lstStyle/>
          <a:p>
            <a:pPr>
              <a:defRPr/>
            </a:pPr>
            <a:fld id="{ED88E37B-CCA0-4BF7-B7AF-2BF4EC7610D2}" type="datetime1">
              <a:rPr lang="en-US" smtClean="0"/>
              <a:pPr>
                <a:defRPr/>
              </a:pPr>
              <a:t>8/29/2025</a:t>
            </a:fld>
            <a:endParaRPr lang="en-US" dirty="0"/>
          </a:p>
        </p:txBody>
      </p:sp>
      <p:sp>
        <p:nvSpPr>
          <p:cNvPr id="6" name="Footer Placeholder 5">
            <a:extLst>
              <a:ext uri="{FF2B5EF4-FFF2-40B4-BE49-F238E27FC236}">
                <a16:creationId xmlns:a16="http://schemas.microsoft.com/office/drawing/2014/main" id="{CE79D874-3E53-419D-8C82-3E772F73DA1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44EB5090-F9E3-4FA5-B32F-54204C780AAF}"/>
              </a:ext>
            </a:extLst>
          </p:cNvPr>
          <p:cNvSpPr>
            <a:spLocks noGrp="1"/>
          </p:cNvSpPr>
          <p:nvPr>
            <p:ph type="sldNum" sz="quarter" idx="12"/>
          </p:nvPr>
        </p:nvSpPr>
        <p:spPr/>
        <p:txBody>
          <a:bodyPr/>
          <a:lstStyle/>
          <a:p>
            <a:pPr>
              <a:defRPr/>
            </a:pPr>
            <a:fld id="{759EE4FC-2A91-409C-B8D2-F3728F9891D1}" type="slidenum">
              <a:rPr lang="en-US" smtClean="0"/>
              <a:pPr>
                <a:defRPr/>
              </a:pPr>
              <a:t>‹#›</a:t>
            </a:fld>
            <a:endParaRPr lang="en-US" dirty="0"/>
          </a:p>
        </p:txBody>
      </p:sp>
    </p:spTree>
    <p:extLst>
      <p:ext uri="{BB962C8B-B14F-4D97-AF65-F5344CB8AC3E}">
        <p14:creationId xmlns:p14="http://schemas.microsoft.com/office/powerpoint/2010/main" val="40215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7437F-279B-4932-9EF7-FFD910F0FF2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Picture Placeholder 2">
            <a:extLst>
              <a:ext uri="{FF2B5EF4-FFF2-40B4-BE49-F238E27FC236}">
                <a16:creationId xmlns:a16="http://schemas.microsoft.com/office/drawing/2014/main" id="{D68E7D60-0F4E-4BE9-B09F-E7246F9691B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HK"/>
          </a:p>
        </p:txBody>
      </p:sp>
      <p:sp>
        <p:nvSpPr>
          <p:cNvPr id="4" name="Text Placeholder 3">
            <a:extLst>
              <a:ext uri="{FF2B5EF4-FFF2-40B4-BE49-F238E27FC236}">
                <a16:creationId xmlns:a16="http://schemas.microsoft.com/office/drawing/2014/main" id="{6FF00D92-3484-4528-A351-19165E1E60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47D33E0-CCF8-4FEC-A987-DCEDD3193901}"/>
              </a:ext>
            </a:extLst>
          </p:cNvPr>
          <p:cNvSpPr>
            <a:spLocks noGrp="1"/>
          </p:cNvSpPr>
          <p:nvPr>
            <p:ph type="dt" sz="half" idx="10"/>
          </p:nvPr>
        </p:nvSpPr>
        <p:spPr/>
        <p:txBody>
          <a:bodyPr/>
          <a:lstStyle/>
          <a:p>
            <a:pPr>
              <a:defRPr/>
            </a:pPr>
            <a:fld id="{6A607C7E-F4F5-4B77-8CDC-90CC78F38487}" type="datetime1">
              <a:rPr lang="en-US" smtClean="0"/>
              <a:pPr>
                <a:defRPr/>
              </a:pPr>
              <a:t>8/29/2025</a:t>
            </a:fld>
            <a:endParaRPr lang="en-US" dirty="0"/>
          </a:p>
        </p:txBody>
      </p:sp>
      <p:sp>
        <p:nvSpPr>
          <p:cNvPr id="6" name="Footer Placeholder 5">
            <a:extLst>
              <a:ext uri="{FF2B5EF4-FFF2-40B4-BE49-F238E27FC236}">
                <a16:creationId xmlns:a16="http://schemas.microsoft.com/office/drawing/2014/main" id="{D8A906EF-43E0-4C73-8925-C4A8189FB145}"/>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35C2ED9E-B863-4067-A92B-B18B62177CC5}"/>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387335032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C477-2B1A-4487-9A1A-D9D3C01F65C3}"/>
              </a:ext>
            </a:extLst>
          </p:cNvPr>
          <p:cNvSpPr>
            <a:spLocks noGrp="1"/>
          </p:cNvSpPr>
          <p:nvPr>
            <p:ph type="title"/>
          </p:nvPr>
        </p:nvSpPr>
        <p:spPr/>
        <p:txBody>
          <a:bodyPr/>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95AA2816-85E2-44D9-878A-B0F1465BB9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8C3A877E-BE39-43C8-9EE8-D621A9D0EDB7}"/>
              </a:ext>
            </a:extLst>
          </p:cNvPr>
          <p:cNvSpPr>
            <a:spLocks noGrp="1"/>
          </p:cNvSpPr>
          <p:nvPr>
            <p:ph type="dt" sz="half" idx="10"/>
          </p:nvPr>
        </p:nvSpPr>
        <p:spPr/>
        <p:txBody>
          <a:bodyPr/>
          <a:lstStyle/>
          <a:p>
            <a:pPr>
              <a:defRPr/>
            </a:pPr>
            <a:fld id="{7103DD5F-3ADD-4550-807E-1C58669018A4}" type="datetime1">
              <a:rPr lang="en-US" smtClean="0"/>
              <a:pPr>
                <a:defRPr/>
              </a:pPr>
              <a:t>8/29/2025</a:t>
            </a:fld>
            <a:endParaRPr lang="en-US" dirty="0"/>
          </a:p>
        </p:txBody>
      </p:sp>
      <p:sp>
        <p:nvSpPr>
          <p:cNvPr id="5" name="Footer Placeholder 4">
            <a:extLst>
              <a:ext uri="{FF2B5EF4-FFF2-40B4-BE49-F238E27FC236}">
                <a16:creationId xmlns:a16="http://schemas.microsoft.com/office/drawing/2014/main" id="{F0429F1C-DBE1-4824-91C7-103FAFC42734}"/>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7487950F-2711-4E12-8356-E605F7485B5E}"/>
              </a:ext>
            </a:extLst>
          </p:cNvPr>
          <p:cNvSpPr>
            <a:spLocks noGrp="1"/>
          </p:cNvSpPr>
          <p:nvPr>
            <p:ph type="sldNum" sz="quarter" idx="12"/>
          </p:nvPr>
        </p:nvSpPr>
        <p:spPr/>
        <p:txBody>
          <a:bodyPr/>
          <a:lstStyle/>
          <a:p>
            <a:pPr>
              <a:defRPr/>
            </a:pPr>
            <a:fld id="{A3AD7A4F-0B31-4615-9C11-A8677BAFCAEB}" type="slidenum">
              <a:rPr lang="en-US" smtClean="0"/>
              <a:pPr>
                <a:defRPr/>
              </a:pPr>
              <a:t>‹#›</a:t>
            </a:fld>
            <a:endParaRPr lang="en-US" dirty="0"/>
          </a:p>
        </p:txBody>
      </p:sp>
    </p:spTree>
    <p:extLst>
      <p:ext uri="{BB962C8B-B14F-4D97-AF65-F5344CB8AC3E}">
        <p14:creationId xmlns:p14="http://schemas.microsoft.com/office/powerpoint/2010/main" val="34913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2CA952-B5B7-4257-8694-84F3A9F9044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57EB2DB1-6CAB-4906-8B39-FB4DED0A89BF}"/>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3FB8120D-AC6D-4553-9834-55272B2AA92D}"/>
              </a:ext>
            </a:extLst>
          </p:cNvPr>
          <p:cNvSpPr>
            <a:spLocks noGrp="1"/>
          </p:cNvSpPr>
          <p:nvPr>
            <p:ph type="dt" sz="half" idx="10"/>
          </p:nvPr>
        </p:nvSpPr>
        <p:spPr/>
        <p:txBody>
          <a:bodyPr/>
          <a:lstStyle/>
          <a:p>
            <a:pPr>
              <a:defRPr/>
            </a:pPr>
            <a:fld id="{6281D123-9B63-43A4-93F3-FBB2E34B51D6}" type="datetime1">
              <a:rPr lang="en-US" smtClean="0"/>
              <a:pPr>
                <a:defRPr/>
              </a:pPr>
              <a:t>8/29/2025</a:t>
            </a:fld>
            <a:endParaRPr lang="en-US" dirty="0"/>
          </a:p>
        </p:txBody>
      </p:sp>
      <p:sp>
        <p:nvSpPr>
          <p:cNvPr id="5" name="Footer Placeholder 4">
            <a:extLst>
              <a:ext uri="{FF2B5EF4-FFF2-40B4-BE49-F238E27FC236}">
                <a16:creationId xmlns:a16="http://schemas.microsoft.com/office/drawing/2014/main" id="{38426FC3-224D-4426-B73C-2AA0B48F55C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EEEE764-C080-4BE3-AFC3-EA929A6EE48D}"/>
              </a:ext>
            </a:extLst>
          </p:cNvPr>
          <p:cNvSpPr>
            <a:spLocks noGrp="1"/>
          </p:cNvSpPr>
          <p:nvPr>
            <p:ph type="sldNum" sz="quarter" idx="12"/>
          </p:nvPr>
        </p:nvSpPr>
        <p:spPr/>
        <p:txBody>
          <a:bodyPr/>
          <a:lstStyle/>
          <a:p>
            <a:pPr>
              <a:defRPr/>
            </a:pPr>
            <a:fld id="{9B01C260-B825-4CE8-9DDA-33D812275B3B}" type="slidenum">
              <a:rPr lang="en-US" smtClean="0"/>
              <a:pPr>
                <a:defRPr/>
              </a:pPr>
              <a:t>‹#›</a:t>
            </a:fld>
            <a:endParaRPr lang="en-US" dirty="0"/>
          </a:p>
        </p:txBody>
      </p:sp>
    </p:spTree>
    <p:extLst>
      <p:ext uri="{BB962C8B-B14F-4D97-AF65-F5344CB8AC3E}">
        <p14:creationId xmlns:p14="http://schemas.microsoft.com/office/powerpoint/2010/main" val="333628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220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64F96-0661-4ECF-9982-9B197F1FD6C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HK"/>
          </a:p>
        </p:txBody>
      </p:sp>
      <p:sp>
        <p:nvSpPr>
          <p:cNvPr id="3" name="Text Placeholder 2">
            <a:extLst>
              <a:ext uri="{FF2B5EF4-FFF2-40B4-BE49-F238E27FC236}">
                <a16:creationId xmlns:a16="http://schemas.microsoft.com/office/drawing/2014/main" id="{DAD15EEC-6249-47C2-8057-6D2EEB8EAC4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2FFA0C48-B9DE-4CE6-A788-912657533B7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6A607C7E-F4F5-4B77-8CDC-90CC78F38487}" type="datetime1">
              <a:rPr lang="en-US" smtClean="0"/>
              <a:pPr>
                <a:defRPr/>
              </a:pPr>
              <a:t>8/29/2025</a:t>
            </a:fld>
            <a:endParaRPr lang="en-US" dirty="0"/>
          </a:p>
        </p:txBody>
      </p:sp>
      <p:sp>
        <p:nvSpPr>
          <p:cNvPr id="5" name="Footer Placeholder 4">
            <a:extLst>
              <a:ext uri="{FF2B5EF4-FFF2-40B4-BE49-F238E27FC236}">
                <a16:creationId xmlns:a16="http://schemas.microsoft.com/office/drawing/2014/main" id="{F3B3B9AB-B01B-4609-977B-94A63EF8D5A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2444386-A281-4CF3-A02F-A34096AE11C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4252344573"/>
      </p:ext>
    </p:extLst>
  </p:cSld>
  <p:clrMap bg1="lt1" tx1="dk1" bg2="lt2" tx2="dk2" accent1="accent1" accent2="accent2" accent3="accent3" accent4="accent4" accent5="accent5" accent6="accent6" hlink="hlink" folHlink="folHlink"/>
  <p:sldLayoutIdLst>
    <p:sldLayoutId id="2147485722" r:id="rId1"/>
    <p:sldLayoutId id="2147485723" r:id="rId2"/>
    <p:sldLayoutId id="2147485724" r:id="rId3"/>
    <p:sldLayoutId id="2147485725" r:id="rId4"/>
    <p:sldLayoutId id="2147485726" r:id="rId5"/>
    <p:sldLayoutId id="2147485727" r:id="rId6"/>
    <p:sldLayoutId id="2147485728" r:id="rId7"/>
    <p:sldLayoutId id="2147485729" r:id="rId8"/>
    <p:sldLayoutId id="2147485730" r:id="rId9"/>
    <p:sldLayoutId id="2147485731" r:id="rId10"/>
    <p:sldLayoutId id="2147485732" r:id="rId11"/>
    <p:sldLayoutId id="2147484929" r:id="rId12"/>
    <p:sldLayoutId id="2147484917" r:id="rId13"/>
    <p:sldLayoutId id="2147485054" r:id="rId14"/>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3"/>
          <p:cNvSpPr>
            <a:spLocks noGrp="1"/>
          </p:cNvSpPr>
          <p:nvPr>
            <p:ph type="ctrTitle"/>
          </p:nvPr>
        </p:nvSpPr>
        <p:spPr>
          <a:xfrm>
            <a:off x="609600" y="1088237"/>
            <a:ext cx="6858000" cy="1718936"/>
          </a:xfrm>
        </p:spPr>
        <p:txBody>
          <a:bodyPr>
            <a:normAutofit/>
          </a:bodyPr>
          <a:lstStyle/>
          <a:p>
            <a:pPr algn="l" eaLnBrk="1" hangingPunct="1"/>
            <a:r>
              <a:rPr lang="en-US" altLang="en-US" b="1" dirty="0"/>
              <a:t>AC6761 Artificial Intelligence Accounting</a:t>
            </a:r>
          </a:p>
        </p:txBody>
      </p:sp>
      <p:sp>
        <p:nvSpPr>
          <p:cNvPr id="129027" name="Subtitle 2"/>
          <p:cNvSpPr>
            <a:spLocks noGrp="1"/>
          </p:cNvSpPr>
          <p:nvPr>
            <p:ph type="subTitle" idx="1"/>
          </p:nvPr>
        </p:nvSpPr>
        <p:spPr>
          <a:xfrm>
            <a:off x="762000" y="3429000"/>
            <a:ext cx="7162800" cy="1543012"/>
          </a:xfrm>
        </p:spPr>
        <p:txBody>
          <a:bodyPr>
            <a:normAutofit/>
          </a:bodyPr>
          <a:lstStyle/>
          <a:p>
            <a:pPr algn="l" eaLnBrk="1" hangingPunct="1">
              <a:buFont typeface="Wingdings" pitchFamily="-107" charset="2"/>
              <a:buNone/>
            </a:pPr>
            <a:r>
              <a:rPr lang="en-US" altLang="en-US" sz="3600" b="1">
                <a:solidFill>
                  <a:srgbClr val="898989"/>
                </a:solidFill>
              </a:rPr>
              <a:t>Chapter 3 </a:t>
            </a:r>
            <a:r>
              <a:rPr lang="en-US" altLang="en-US" sz="3600" b="1" dirty="0">
                <a:solidFill>
                  <a:srgbClr val="898989"/>
                </a:solidFill>
              </a:rPr>
              <a:t>Annual report analyses</a:t>
            </a:r>
          </a:p>
        </p:txBody>
      </p:sp>
      <p:sp>
        <p:nvSpPr>
          <p:cNvPr id="10" name="Rectangle 9"/>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539750" y="548680"/>
            <a:ext cx="8064500" cy="646331"/>
          </a:xfrm>
          <a:prstGeom prst="rect">
            <a:avLst/>
          </a:prstGeom>
          <a:noFill/>
          <a:ln w="9525">
            <a:noFill/>
            <a:miter lim="800000"/>
            <a:headEnd/>
            <a:tailEnd/>
          </a:ln>
        </p:spPr>
        <p:txBody>
          <a:bodyPr wrap="square">
            <a:spAutoFit/>
          </a:bodyPr>
          <a:lstStyle/>
          <a:p>
            <a:pPr algn="ctr"/>
            <a:r>
              <a:rPr lang="en-US" altLang="zh-TW" sz="3600" dirty="0">
                <a:solidFill>
                  <a:schemeClr val="accent4"/>
                </a:solidFill>
                <a:latin typeface="Times New Roman" panose="02020603050405020304" pitchFamily="18" charset="0"/>
                <a:ea typeface="新細明體" pitchFamily="18" charset="-120"/>
                <a:cs typeface="Times New Roman" panose="02020603050405020304" pitchFamily="18" charset="0"/>
              </a:rPr>
              <a:t>Components </a:t>
            </a:r>
            <a:r>
              <a:rPr lang="en-US" altLang="zh-TW" sz="3600">
                <a:solidFill>
                  <a:schemeClr val="accent4"/>
                </a:solidFill>
                <a:latin typeface="Times New Roman" panose="02020603050405020304" pitchFamily="18" charset="0"/>
                <a:ea typeface="新細明體" pitchFamily="18" charset="-120"/>
                <a:cs typeface="Times New Roman" panose="02020603050405020304" pitchFamily="18" charset="0"/>
              </a:rPr>
              <a:t>of Annual Report</a:t>
            </a:r>
            <a:endParaRPr lang="en-US" altLang="zh-TW" sz="3600" dirty="0">
              <a:solidFill>
                <a:schemeClr val="accent4"/>
              </a:solidFill>
              <a:latin typeface="Times New Roman" panose="02020603050405020304" pitchFamily="18" charset="0"/>
              <a:ea typeface="新細明體" pitchFamily="18" charset="-120"/>
              <a:cs typeface="Times New Roman" panose="02020603050405020304" pitchFamily="18" charset="0"/>
            </a:endParaRPr>
          </a:p>
        </p:txBody>
      </p:sp>
      <p:sp>
        <p:nvSpPr>
          <p:cNvPr id="11267" name="Text Box 3"/>
          <p:cNvSpPr txBox="1">
            <a:spLocks noChangeArrowheads="1"/>
          </p:cNvSpPr>
          <p:nvPr/>
        </p:nvSpPr>
        <p:spPr bwMode="auto">
          <a:xfrm>
            <a:off x="683568" y="1415673"/>
            <a:ext cx="7992368" cy="4893647"/>
          </a:xfrm>
          <a:prstGeom prst="rect">
            <a:avLst/>
          </a:prstGeom>
          <a:noFill/>
          <a:ln w="9525">
            <a:noFill/>
            <a:miter lim="800000"/>
            <a:headEnd/>
            <a:tailEnd/>
          </a:ln>
        </p:spPr>
        <p:txBody>
          <a:bodyPr wrap="square">
            <a:spAutoFit/>
          </a:bodyPr>
          <a:lstStyle/>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Corporate Profile</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Directors and Senior Management Profile </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Directors’ Report</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Chairman’s Statement</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Management’s Discussion and Analysis (MD&amp;A)</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Corporate Governance </a:t>
            </a:r>
            <a:r>
              <a:rPr lang="en-US" altLang="zh-TW" sz="2400" dirty="0">
                <a:latin typeface="Times New Roman" panose="02020603050405020304" pitchFamily="18" charset="0"/>
                <a:cs typeface="Times New Roman" panose="02020603050405020304" pitchFamily="18" charset="0"/>
              </a:rPr>
              <a:t>Report / ESG Report</a:t>
            </a:r>
            <a:endParaRPr lang="en-US" altLang="zh-TW" sz="2400" dirty="0">
              <a:latin typeface="Times New Roman" panose="02020603050405020304" pitchFamily="18" charset="0"/>
              <a:ea typeface="新細明體" pitchFamily="18" charset="-120"/>
              <a:cs typeface="Times New Roman" panose="02020603050405020304" pitchFamily="18" charset="0"/>
            </a:endParaRP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Auditor’s Report</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Consolidated Statement of Profit or Loss </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Consolidated Statement of Financial Position</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Consolidated Cash Flow Statement</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Statement of Changes in Equity</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Notes to the Accounts</a:t>
            </a:r>
          </a:p>
          <a:p>
            <a:pPr marL="514350" indent="-514350">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Financial Highlights and Supplementary Information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Text Box 8"/>
          <p:cNvSpPr txBox="1">
            <a:spLocks noChangeArrowheads="1"/>
          </p:cNvSpPr>
          <p:nvPr/>
        </p:nvSpPr>
        <p:spPr bwMode="auto">
          <a:xfrm>
            <a:off x="1115616" y="2729756"/>
            <a:ext cx="698477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SzPct val="65000"/>
              <a:buFont typeface="Wingdings" panose="05000000000000000000" pitchFamily="2" charset="2"/>
              <a:buChar char="n"/>
              <a:defRPr sz="2200">
                <a:solidFill>
                  <a:schemeClr val="tx1"/>
                </a:solidFill>
                <a:latin typeface="Garamond" panose="02020404030301010803" pitchFamily="18" charset="0"/>
              </a:defRPr>
            </a:lvl1pPr>
            <a:lvl2pPr marL="742950" indent="-285750">
              <a:spcBef>
                <a:spcPct val="20000"/>
              </a:spcBef>
              <a:buClr>
                <a:srgbClr val="000099"/>
              </a:buClr>
              <a:buFont typeface="Webdings" panose="05030102010509060703" pitchFamily="18" charset="2"/>
              <a:buChar char="ë"/>
              <a:defRPr sz="2000">
                <a:solidFill>
                  <a:schemeClr val="tx1"/>
                </a:solidFill>
                <a:latin typeface="Garamond" panose="02020404030301010803" pitchFamily="18" charset="0"/>
              </a:defRPr>
            </a:lvl2pPr>
            <a:lvl3pPr marL="1143000" indent="-228600">
              <a:spcBef>
                <a:spcPct val="20000"/>
              </a:spcBef>
              <a:buClr>
                <a:srgbClr val="000099"/>
              </a:buClr>
              <a:buFont typeface="Wingdings" panose="05000000000000000000" pitchFamily="2" charset="2"/>
              <a:buChar char="ü"/>
              <a:defRPr>
                <a:solidFill>
                  <a:schemeClr val="tx1"/>
                </a:solidFill>
                <a:latin typeface="Garamond" panose="02020404030301010803" pitchFamily="18" charset="0"/>
              </a:defRPr>
            </a:lvl3pPr>
            <a:lvl4pPr marL="1600200" indent="-228600">
              <a:spcBef>
                <a:spcPct val="20000"/>
              </a:spcBef>
              <a:buClr>
                <a:srgbClr val="000099"/>
              </a:buClr>
              <a:buChar char="o"/>
              <a:defRPr sz="1600">
                <a:solidFill>
                  <a:schemeClr val="tx1"/>
                </a:solidFill>
                <a:latin typeface="Garamond" panose="02020404030301010803" pitchFamily="18" charset="0"/>
              </a:defRPr>
            </a:lvl4pPr>
            <a:lvl5pPr marL="2057400" indent="-228600">
              <a:spcBef>
                <a:spcPct val="20000"/>
              </a:spcBef>
              <a:buClr>
                <a:srgbClr val="000099"/>
              </a:buClr>
              <a:buChar char="•"/>
              <a:defRPr sz="1400">
                <a:solidFill>
                  <a:schemeClr val="tx1"/>
                </a:solidFill>
                <a:latin typeface="Garamond" panose="02020404030301010803" pitchFamily="18" charset="0"/>
              </a:defRPr>
            </a:lvl5pPr>
            <a:lvl6pPr marL="25146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6pPr>
            <a:lvl7pPr marL="29718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7pPr>
            <a:lvl8pPr marL="34290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8pPr>
            <a:lvl9pPr marL="38862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9pPr>
          </a:lstStyle>
          <a:p>
            <a:pPr algn="ctr">
              <a:spcBef>
                <a:spcPct val="0"/>
              </a:spcBef>
              <a:buClrTx/>
              <a:buSzTx/>
              <a:buNone/>
            </a:pPr>
            <a:r>
              <a:rPr lang="en-US" sz="4000" b="1" dirty="0">
                <a:solidFill>
                  <a:srgbClr val="993300"/>
                </a:solidFill>
                <a:latin typeface="Times New Roman" panose="02020603050405020304" pitchFamily="18" charset="0"/>
                <a:cs typeface="Times New Roman" panose="02020603050405020304" pitchFamily="18" charset="0"/>
              </a:rPr>
              <a:t>Balance Sheet</a:t>
            </a:r>
            <a:br>
              <a:rPr lang="en-US" sz="4000" b="1" dirty="0">
                <a:solidFill>
                  <a:srgbClr val="993300"/>
                </a:solidFill>
                <a:latin typeface="Times New Roman" panose="02020603050405020304" pitchFamily="18" charset="0"/>
                <a:cs typeface="Times New Roman" panose="02020603050405020304" pitchFamily="18" charset="0"/>
              </a:rPr>
            </a:br>
            <a:r>
              <a:rPr lang="en-US" sz="4000" b="1" dirty="0">
                <a:solidFill>
                  <a:srgbClr val="993300"/>
                </a:solidFill>
                <a:latin typeface="Times New Roman" panose="02020603050405020304" pitchFamily="18" charset="0"/>
                <a:cs typeface="Times New Roman" panose="02020603050405020304" pitchFamily="18" charset="0"/>
              </a:rPr>
              <a:t>(</a:t>
            </a:r>
            <a:r>
              <a:rPr lang="en-US" sz="4000" dirty="0">
                <a:solidFill>
                  <a:srgbClr val="993300"/>
                </a:solidFill>
                <a:latin typeface="Times New Roman" panose="02020603050405020304" pitchFamily="18" charset="0"/>
                <a:cs typeface="Times New Roman" panose="02020603050405020304" pitchFamily="18" charset="0"/>
              </a:rPr>
              <a:t>Statement of financial position)</a:t>
            </a:r>
            <a:endParaRPr lang="en-US" sz="4000" b="1" dirty="0">
              <a:solidFill>
                <a:srgbClr val="99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4781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4294967295"/>
          </p:nvPr>
        </p:nvSpPr>
        <p:spPr>
          <a:xfrm>
            <a:off x="701676" y="1412875"/>
            <a:ext cx="7758112" cy="4896445"/>
          </a:xfrm>
        </p:spPr>
        <p:txBody>
          <a:bodyPr>
            <a:noAutofit/>
          </a:bodyPr>
          <a:lstStyle/>
          <a:p>
            <a:pPr marL="0" indent="0">
              <a:spcBef>
                <a:spcPts val="0"/>
              </a:spcBef>
              <a:spcAft>
                <a:spcPts val="0"/>
              </a:spcAft>
              <a:buClrTx/>
              <a:buSzPct val="100000"/>
              <a:buNone/>
              <a:defRPr/>
            </a:pPr>
            <a:r>
              <a:rPr lang="en-US" sz="2000" dirty="0">
                <a:latin typeface="Times New Roman" panose="02020603050405020304" pitchFamily="18" charset="0"/>
                <a:cs typeface="Times New Roman" panose="02020603050405020304" pitchFamily="18" charset="0"/>
              </a:rPr>
              <a:t>Snapshot of </a:t>
            </a:r>
            <a:r>
              <a:rPr lang="en-US" sz="2000" u="sng" dirty="0">
                <a:latin typeface="Times New Roman" panose="02020603050405020304" pitchFamily="18" charset="0"/>
                <a:cs typeface="Times New Roman" panose="02020603050405020304" pitchFamily="18" charset="0"/>
              </a:rPr>
              <a:t>financial position</a:t>
            </a:r>
            <a:r>
              <a:rPr lang="en-US" sz="2000" dirty="0">
                <a:latin typeface="Times New Roman" panose="02020603050405020304" pitchFamily="18" charset="0"/>
                <a:cs typeface="Times New Roman" panose="02020603050405020304" pitchFamily="18" charset="0"/>
              </a:rPr>
              <a:t> on a given day</a:t>
            </a:r>
          </a:p>
          <a:p>
            <a:pPr>
              <a:spcBef>
                <a:spcPts val="600"/>
              </a:spcBef>
              <a:spcAft>
                <a:spcPts val="0"/>
              </a:spcAft>
              <a:buClrTx/>
              <a:buSzPct val="100000"/>
              <a:buFont typeface="Wingdings" panose="05000000000000000000" pitchFamily="2" charset="2"/>
              <a:buChar char="Ø"/>
              <a:defRPr/>
            </a:pPr>
            <a:r>
              <a:rPr lang="en-US" sz="2000" b="1" dirty="0">
                <a:latin typeface="Times New Roman" panose="02020603050405020304" pitchFamily="18" charset="0"/>
                <a:cs typeface="Times New Roman" panose="02020603050405020304" pitchFamily="18" charset="0"/>
              </a:rPr>
              <a:t>Assets: resources that provide probable future economic benefits</a:t>
            </a:r>
          </a:p>
          <a:p>
            <a:pPr lvl="1" eaLnBrk="1" hangingPunct="1">
              <a:spcBef>
                <a:spcPts val="300"/>
              </a:spcBef>
              <a:spcAft>
                <a:spcPts val="0"/>
              </a:spcAft>
              <a:buClrTx/>
              <a:buSzPct val="100000"/>
              <a:defRPr/>
            </a:pPr>
            <a:r>
              <a:rPr lang="en-US" dirty="0">
                <a:latin typeface="Times New Roman" panose="02020603050405020304" pitchFamily="18" charset="0"/>
                <a:cs typeface="Times New Roman" panose="02020603050405020304" pitchFamily="18" charset="0"/>
              </a:rPr>
              <a:t>To be reported on a balance sheet, an asset must:</a:t>
            </a:r>
          </a:p>
          <a:p>
            <a:pPr lvl="2" eaLnBrk="1" hangingPunct="1">
              <a:spcBef>
                <a:spcPts val="300"/>
              </a:spcBef>
              <a:spcAft>
                <a:spcPts val="0"/>
              </a:spcAft>
              <a:buClrTx/>
              <a:buSzPct val="100000"/>
              <a:defRPr/>
            </a:pPr>
            <a:r>
              <a:rPr lang="en-US" sz="2000" dirty="0">
                <a:latin typeface="Times New Roman" panose="02020603050405020304" pitchFamily="18" charset="0"/>
                <a:cs typeface="Times New Roman" panose="02020603050405020304" pitchFamily="18" charset="0"/>
              </a:rPr>
              <a:t>Be owned or controlled by the company</a:t>
            </a:r>
          </a:p>
          <a:p>
            <a:pPr lvl="2" eaLnBrk="1" hangingPunct="1">
              <a:spcBef>
                <a:spcPts val="300"/>
              </a:spcBef>
              <a:spcAft>
                <a:spcPts val="0"/>
              </a:spcAft>
              <a:buClrTx/>
              <a:buSzPct val="100000"/>
              <a:defRPr/>
            </a:pPr>
            <a:r>
              <a:rPr lang="en-US" sz="2000" dirty="0">
                <a:latin typeface="Times New Roman" panose="02020603050405020304" pitchFamily="18" charset="0"/>
                <a:cs typeface="Times New Roman" panose="02020603050405020304" pitchFamily="18" charset="0"/>
              </a:rPr>
              <a:t>Possess expected future benefits</a:t>
            </a:r>
          </a:p>
          <a:p>
            <a:pPr>
              <a:spcBef>
                <a:spcPts val="600"/>
              </a:spcBef>
              <a:spcAft>
                <a:spcPts val="0"/>
              </a:spcAft>
              <a:buClrTx/>
              <a:buSzPct val="100000"/>
              <a:buFont typeface="Wingdings" panose="05000000000000000000" pitchFamily="2" charset="2"/>
              <a:buChar char="Ø"/>
              <a:defRPr/>
            </a:pPr>
            <a:r>
              <a:rPr lang="en-US" sz="2000" b="1" dirty="0">
                <a:latin typeface="Times New Roman" panose="02020603050405020304" pitchFamily="18" charset="0"/>
                <a:cs typeface="Times New Roman" panose="02020603050405020304" pitchFamily="18" charset="0"/>
              </a:rPr>
              <a:t>Liabilities: </a:t>
            </a:r>
            <a:r>
              <a:rPr lang="en-HK" sz="2000" b="1" dirty="0">
                <a:latin typeface="Times New Roman" panose="02020603050405020304" pitchFamily="18" charset="0"/>
                <a:cs typeface="Times New Roman" panose="02020603050405020304" pitchFamily="18" charset="0"/>
              </a:rPr>
              <a:t>the claims on assets by creditors</a:t>
            </a:r>
            <a:endParaRPr lang="en-US" sz="2000" b="1" dirty="0">
              <a:latin typeface="Times New Roman" panose="02020603050405020304" pitchFamily="18" charset="0"/>
              <a:cs typeface="Times New Roman" panose="02020603050405020304" pitchFamily="18" charset="0"/>
            </a:endParaRPr>
          </a:p>
          <a:p>
            <a:pPr lvl="1">
              <a:spcBef>
                <a:spcPts val="300"/>
              </a:spcBef>
              <a:spcAft>
                <a:spcPts val="0"/>
              </a:spcAft>
              <a:buClrTx/>
              <a:buSzPct val="100000"/>
              <a:defRPr/>
            </a:pPr>
            <a:r>
              <a:rPr lang="en-US" dirty="0">
                <a:latin typeface="Times New Roman" panose="02020603050405020304" pitchFamily="18" charset="0"/>
                <a:cs typeface="Times New Roman" panose="02020603050405020304" pitchFamily="18" charset="0"/>
              </a:rPr>
              <a:t>Fixed return with lower risk - creditors</a:t>
            </a:r>
          </a:p>
          <a:p>
            <a:pPr>
              <a:spcBef>
                <a:spcPts val="600"/>
              </a:spcBef>
              <a:spcAft>
                <a:spcPts val="0"/>
              </a:spcAft>
              <a:buClrTx/>
              <a:buSzPct val="100000"/>
              <a:buFont typeface="Wingdings" panose="05000000000000000000" pitchFamily="2" charset="2"/>
              <a:buChar char="Ø"/>
              <a:defRPr/>
            </a:pPr>
            <a:r>
              <a:rPr lang="en-US" altLang="zh-CN" sz="2000" b="1" dirty="0">
                <a:latin typeface="Times New Roman" panose="02020603050405020304" pitchFamily="18" charset="0"/>
                <a:cs typeface="Times New Roman" panose="02020603050405020304" pitchFamily="18" charset="0"/>
              </a:rPr>
              <a:t>Equity: </a:t>
            </a:r>
            <a:r>
              <a:rPr lang="en-HK" altLang="zh-CN" sz="2000" b="1" dirty="0">
                <a:latin typeface="Times New Roman" panose="02020603050405020304" pitchFamily="18" charset="0"/>
                <a:cs typeface="Times New Roman" panose="02020603050405020304" pitchFamily="18" charset="0"/>
              </a:rPr>
              <a:t>the claims on assets by shareholders</a:t>
            </a:r>
            <a:endParaRPr lang="en-US" altLang="zh-CN" sz="2000" b="1" dirty="0">
              <a:latin typeface="Times New Roman" panose="02020603050405020304" pitchFamily="18" charset="0"/>
              <a:cs typeface="Times New Roman" panose="02020603050405020304" pitchFamily="18" charset="0"/>
            </a:endParaRPr>
          </a:p>
          <a:p>
            <a:pPr lvl="1">
              <a:spcBef>
                <a:spcPts val="300"/>
              </a:spcBef>
              <a:spcAft>
                <a:spcPts val="0"/>
              </a:spcAft>
              <a:buClrTx/>
              <a:buSzPct val="100000"/>
              <a:defRPr/>
            </a:pPr>
            <a:r>
              <a:rPr lang="en-US" altLang="zh-CN" dirty="0">
                <a:latin typeface="Times New Roman" panose="02020603050405020304" pitchFamily="18" charset="0"/>
                <a:cs typeface="Times New Roman" panose="02020603050405020304" pitchFamily="18" charset="0"/>
              </a:rPr>
              <a:t>Residual claim after creditors</a:t>
            </a:r>
          </a:p>
          <a:p>
            <a:pPr lvl="1">
              <a:spcBef>
                <a:spcPts val="300"/>
              </a:spcBef>
              <a:spcAft>
                <a:spcPts val="0"/>
              </a:spcAft>
              <a:buClrTx/>
              <a:buSzPct val="100000"/>
              <a:defRPr/>
            </a:pPr>
            <a:r>
              <a:rPr lang="en-US" altLang="zh-CN" dirty="0">
                <a:latin typeface="Times New Roman" panose="02020603050405020304" pitchFamily="18" charset="0"/>
                <a:cs typeface="Times New Roman" panose="02020603050405020304" pitchFamily="18" charset="0"/>
              </a:rPr>
              <a:t>Higher risk - shareholders</a:t>
            </a:r>
          </a:p>
          <a:p>
            <a:pPr lvl="1">
              <a:spcBef>
                <a:spcPts val="300"/>
              </a:spcBef>
              <a:spcAft>
                <a:spcPts val="0"/>
              </a:spcAft>
              <a:buClrTx/>
              <a:buSzPct val="100000"/>
              <a:defRPr/>
            </a:pPr>
            <a:endParaRPr lang="en-US" dirty="0">
              <a:latin typeface="Times New Roman" panose="02020603050405020304" pitchFamily="18" charset="0"/>
              <a:cs typeface="Times New Roman" panose="02020603050405020304" pitchFamily="18" charset="0"/>
            </a:endParaRPr>
          </a:p>
          <a:p>
            <a:pPr lvl="1" eaLnBrk="1" hangingPunct="1">
              <a:spcBef>
                <a:spcPts val="300"/>
              </a:spcBef>
              <a:defRPr/>
            </a:pPr>
            <a:endParaRPr lang="en-US" sz="1800" dirty="0">
              <a:latin typeface="Times New Roman" panose="02020603050405020304" pitchFamily="18" charset="0"/>
              <a:cs typeface="Times New Roman" panose="02020603050405020304" pitchFamily="18" charset="0"/>
            </a:endParaRPr>
          </a:p>
          <a:p>
            <a:pPr eaLnBrk="1" hangingPunct="1">
              <a:spcBef>
                <a:spcPts val="300"/>
              </a:spcBef>
              <a:buFont typeface="Wingdings" panose="05000000000000000000" pitchFamily="2" charset="2"/>
              <a:buNone/>
              <a:defRPr/>
            </a:pPr>
            <a:endParaRPr lang="en-US" dirty="0">
              <a:latin typeface="Times New Roman" panose="02020603050405020304" pitchFamily="18" charset="0"/>
              <a:cs typeface="Times New Roman" panose="02020603050405020304" pitchFamily="18" charset="0"/>
            </a:endParaRPr>
          </a:p>
          <a:p>
            <a:pPr eaLnBrk="1" hangingPunct="1">
              <a:spcBef>
                <a:spcPts val="300"/>
              </a:spcBef>
              <a:defRPr/>
            </a:pPr>
            <a:endParaRPr lang="en-US" dirty="0">
              <a:latin typeface="Times New Roman" panose="02020603050405020304" pitchFamily="18" charset="0"/>
              <a:cs typeface="Times New Roman" panose="02020603050405020304" pitchFamily="18" charset="0"/>
            </a:endParaRPr>
          </a:p>
          <a:p>
            <a:pPr eaLnBrk="1" hangingPunct="1">
              <a:spcBef>
                <a:spcPts val="300"/>
              </a:spcBef>
              <a:defRPr/>
            </a:pPr>
            <a:endParaRPr lang="en-US" dirty="0">
              <a:latin typeface="Times New Roman" panose="02020603050405020304" pitchFamily="18" charset="0"/>
              <a:cs typeface="Times New Roman" panose="02020603050405020304" pitchFamily="18" charset="0"/>
            </a:endParaRPr>
          </a:p>
          <a:p>
            <a:pPr eaLnBrk="1" hangingPunct="1">
              <a:defRPr/>
            </a:pPr>
            <a:endParaRPr lang="en-US" dirty="0">
              <a:latin typeface="Times New Roman" panose="02020603050405020304" pitchFamily="18" charset="0"/>
              <a:cs typeface="Times New Roman" panose="02020603050405020304" pitchFamily="18" charset="0"/>
            </a:endParaRPr>
          </a:p>
        </p:txBody>
      </p:sp>
      <p:sp>
        <p:nvSpPr>
          <p:cNvPr id="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Balance Sheet</a:t>
            </a:r>
          </a:p>
        </p:txBody>
      </p:sp>
    </p:spTree>
    <p:extLst>
      <p:ext uri="{BB962C8B-B14F-4D97-AF65-F5344CB8AC3E}">
        <p14:creationId xmlns:p14="http://schemas.microsoft.com/office/powerpoint/2010/main" val="2491107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Balance Sheet</a:t>
            </a:r>
          </a:p>
        </p:txBody>
      </p:sp>
      <p:sp>
        <p:nvSpPr>
          <p:cNvPr id="28675" name="Text Box 3"/>
          <p:cNvSpPr txBox="1">
            <a:spLocks noChangeArrowheads="1"/>
          </p:cNvSpPr>
          <p:nvPr/>
        </p:nvSpPr>
        <p:spPr bwMode="auto">
          <a:xfrm>
            <a:off x="539575" y="1247875"/>
            <a:ext cx="8064873" cy="5016758"/>
          </a:xfrm>
          <a:prstGeom prst="rect">
            <a:avLst/>
          </a:prstGeom>
          <a:noFill/>
          <a:ln w="9525">
            <a:noFill/>
            <a:miter lim="800000"/>
            <a:headEnd/>
            <a:tailEnd/>
          </a:ln>
        </p:spPr>
        <p:txBody>
          <a:bodyPr wrap="square">
            <a:spAutoFit/>
          </a:bodyPr>
          <a:lstStyle/>
          <a:p>
            <a:pPr marL="457200" indent="-457200">
              <a:buFont typeface="Wingdings" panose="05000000000000000000" pitchFamily="2" charset="2"/>
              <a:buChar char="Ø"/>
            </a:pPr>
            <a:r>
              <a:rPr lang="en-US" altLang="zh-TW" sz="2800" u="sng" dirty="0">
                <a:latin typeface="Times New Roman" panose="02020603050405020304" pitchFamily="18" charset="0"/>
                <a:ea typeface="新細明體" pitchFamily="18" charset="-120"/>
                <a:cs typeface="Times New Roman" panose="02020603050405020304" pitchFamily="18" charset="0"/>
              </a:rPr>
              <a:t>Current Assets:</a:t>
            </a:r>
            <a:r>
              <a:rPr lang="en-US" altLang="zh-TW" sz="2800" dirty="0">
                <a:latin typeface="Times New Roman" panose="02020603050405020304" pitchFamily="18" charset="0"/>
                <a:ea typeface="新細明體" pitchFamily="18" charset="-120"/>
                <a:cs typeface="Times New Roman" panose="02020603050405020304" pitchFamily="18" charset="0"/>
              </a:rPr>
              <a:t> </a:t>
            </a:r>
          </a:p>
          <a:p>
            <a:pPr marL="720725" lvl="1" indent="-26352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can be converted to cash within one year or one operating cycle, whichever is longer</a:t>
            </a:r>
          </a:p>
          <a:p>
            <a:pPr marL="720725" lvl="1" indent="-26352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operating cycle is the time for a firm to convert cash back into cash (i.e., purchase </a:t>
            </a:r>
            <a:r>
              <a:rPr lang="en-US" altLang="zh-CN" sz="2400" dirty="0">
                <a:latin typeface="Times New Roman" panose="02020603050405020304" pitchFamily="18" charset="0"/>
                <a:ea typeface="新細明體" pitchFamily="18" charset="-120"/>
                <a:cs typeface="Times New Roman" panose="02020603050405020304" pitchFamily="18" charset="0"/>
              </a:rPr>
              <a:t>material</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CN" sz="2400" dirty="0">
                <a:latin typeface="Times New Roman" panose="02020603050405020304" pitchFamily="18" charset="0"/>
                <a:ea typeface="新細明體" pitchFamily="18" charset="-120"/>
                <a:cs typeface="Times New Roman" panose="02020603050405020304" pitchFamily="18" charset="0"/>
              </a:rPr>
              <a:t>manufacture product, sell product,</a:t>
            </a:r>
            <a:r>
              <a:rPr lang="en-US" altLang="zh-TW" sz="2400" dirty="0">
                <a:latin typeface="Times New Roman" panose="02020603050405020304" pitchFamily="18" charset="0"/>
                <a:ea typeface="新細明體" pitchFamily="18" charset="-120"/>
                <a:cs typeface="Times New Roman" panose="02020603050405020304" pitchFamily="18" charset="0"/>
              </a:rPr>
              <a:t> and collect cash)</a:t>
            </a:r>
          </a:p>
          <a:p>
            <a:pPr marL="720725" lvl="1" indent="-26352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e.g., inventories, accounts receivables, cash and cash equivalents</a:t>
            </a:r>
          </a:p>
          <a:p>
            <a:pPr marL="457200" indent="-457200">
              <a:buFont typeface="Wingdings" panose="05000000000000000000" pitchFamily="2" charset="2"/>
              <a:buChar char="Ø"/>
            </a:pPr>
            <a:r>
              <a:rPr lang="en-US" altLang="zh-TW" sz="2800" u="sng" dirty="0">
                <a:latin typeface="Times New Roman" panose="02020603050405020304" pitchFamily="18" charset="0"/>
                <a:ea typeface="新細明體" pitchFamily="18" charset="-120"/>
                <a:cs typeface="Times New Roman" panose="02020603050405020304" pitchFamily="18" charset="0"/>
              </a:rPr>
              <a:t>Non-Current Assets:</a:t>
            </a:r>
            <a:r>
              <a:rPr lang="en-US" altLang="zh-TW" sz="2800" dirty="0">
                <a:latin typeface="Times New Roman" panose="02020603050405020304" pitchFamily="18" charset="0"/>
                <a:ea typeface="新細明體" pitchFamily="18" charset="-120"/>
                <a:cs typeface="Times New Roman" panose="02020603050405020304" pitchFamily="18" charset="0"/>
              </a:rPr>
              <a:t> </a:t>
            </a:r>
          </a:p>
          <a:p>
            <a:pPr marL="720725" lvl="1" indent="-26352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cannot be easily converted to cash</a:t>
            </a:r>
          </a:p>
          <a:p>
            <a:pPr marL="720725" lvl="1" indent="-26352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plant property &amp; equipment (PP&amp;E)</a:t>
            </a:r>
          </a:p>
          <a:p>
            <a:pPr marL="720725" lvl="1" indent="-26352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investments</a:t>
            </a:r>
          </a:p>
          <a:p>
            <a:pPr marL="720725" lvl="1" indent="-26352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intangibles</a:t>
            </a:r>
            <a:endParaRPr lang="en-US" altLang="zh-TW" sz="2800" dirty="0">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2921393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539750" y="554038"/>
            <a:ext cx="7920038" cy="720725"/>
          </a:xfrm>
          <a:ln>
            <a:noFill/>
          </a:ln>
        </p:spPr>
        <p:txBody>
          <a:bodyPr>
            <a:normAutofit/>
          </a:bodyPr>
          <a:lstStyle/>
          <a:p>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Non-Current Assets</a:t>
            </a:r>
          </a:p>
        </p:txBody>
      </p:sp>
      <p:sp>
        <p:nvSpPr>
          <p:cNvPr id="29699" name="Rectangle 3"/>
          <p:cNvSpPr>
            <a:spLocks noGrp="1" noChangeArrowheads="1"/>
          </p:cNvSpPr>
          <p:nvPr>
            <p:ph idx="4294967295"/>
          </p:nvPr>
        </p:nvSpPr>
        <p:spPr>
          <a:xfrm>
            <a:off x="684213" y="1412875"/>
            <a:ext cx="7954962" cy="4824413"/>
          </a:xfrm>
          <a:noFill/>
        </p:spPr>
        <p:txBody>
          <a:bodyPr>
            <a:noAutofit/>
          </a:bodyPr>
          <a:lstStyle/>
          <a:p>
            <a:pPr eaLnBrk="1" hangingPunct="1">
              <a:lnSpc>
                <a:spcPct val="90000"/>
              </a:lnSpc>
              <a:spcBef>
                <a:spcPts val="0"/>
              </a:spcBef>
              <a:buClrTx/>
              <a:buSzPct val="1000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Plant, Property &amp; Equipment (PP&amp;E)</a:t>
            </a:r>
          </a:p>
          <a:p>
            <a:pPr lvl="1">
              <a:lnSpc>
                <a:spcPct val="90000"/>
              </a:lnSpc>
              <a:spcBef>
                <a:spcPts val="0"/>
              </a:spcBef>
              <a:buClr>
                <a:schemeClr val="tx1"/>
              </a:buClr>
            </a:pPr>
            <a:r>
              <a:rPr lang="en-US" altLang="zh-TW" sz="2400" dirty="0">
                <a:latin typeface="Times New Roman" panose="02020603050405020304" pitchFamily="18" charset="0"/>
                <a:ea typeface="新細明體" pitchFamily="18" charset="-120"/>
                <a:cs typeface="Times New Roman" panose="02020603050405020304" pitchFamily="18" charset="0"/>
              </a:rPr>
              <a:t>Tangible, fixed asset (usually illiquid); Percentage of PP&amp;E to total assets varies by industry</a:t>
            </a:r>
          </a:p>
          <a:p>
            <a:pPr lvl="1" eaLnBrk="1" hangingPunct="1">
              <a:lnSpc>
                <a:spcPct val="90000"/>
              </a:lnSpc>
              <a:spcBef>
                <a:spcPts val="0"/>
              </a:spcBef>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If at </a:t>
            </a:r>
            <a:r>
              <a:rPr lang="en-US" altLang="zh-CN" sz="2400" dirty="0">
                <a:latin typeface="Times New Roman" panose="02020603050405020304" pitchFamily="18" charset="0"/>
                <a:ea typeface="新細明體" pitchFamily="18" charset="-120"/>
                <a:cs typeface="Times New Roman" panose="02020603050405020304" pitchFamily="18" charset="0"/>
              </a:rPr>
              <a:t>historical </a:t>
            </a:r>
            <a:r>
              <a:rPr lang="en-US" altLang="zh-TW" sz="2400" dirty="0">
                <a:latin typeface="Times New Roman" panose="02020603050405020304" pitchFamily="18" charset="0"/>
                <a:ea typeface="新細明體" pitchFamily="18" charset="-120"/>
                <a:cs typeface="Times New Roman" panose="02020603050405020304" pitchFamily="18" charset="0"/>
              </a:rPr>
              <a:t>cost, subject to depreciation policy</a:t>
            </a:r>
          </a:p>
          <a:p>
            <a:pPr lvl="1" eaLnBrk="1" hangingPunct="1">
              <a:lnSpc>
                <a:spcPct val="90000"/>
              </a:lnSpc>
              <a:spcBef>
                <a:spcPts val="0"/>
              </a:spcBef>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Most at </a:t>
            </a:r>
            <a:r>
              <a:rPr lang="en-US" altLang="zh-CN" sz="2400" dirty="0">
                <a:latin typeface="Times New Roman" panose="02020603050405020304" pitchFamily="18" charset="0"/>
                <a:ea typeface="新細明體" pitchFamily="18" charset="-120"/>
                <a:cs typeface="Times New Roman" panose="02020603050405020304" pitchFamily="18" charset="0"/>
              </a:rPr>
              <a:t>historical </a:t>
            </a:r>
            <a:r>
              <a:rPr lang="en-US" altLang="zh-TW" sz="2400" dirty="0">
                <a:latin typeface="Times New Roman" panose="02020603050405020304" pitchFamily="18" charset="0"/>
                <a:ea typeface="新細明體" pitchFamily="18" charset="-120"/>
                <a:cs typeface="Times New Roman" panose="02020603050405020304" pitchFamily="18" charset="0"/>
              </a:rPr>
              <a:t>cost and different from market value</a:t>
            </a:r>
          </a:p>
          <a:p>
            <a:pPr eaLnBrk="1" hangingPunct="1">
              <a:lnSpc>
                <a:spcPct val="90000"/>
              </a:lnSpc>
              <a:spcBef>
                <a:spcPts val="0"/>
              </a:spcBef>
              <a:buClrTx/>
              <a:buSzPct val="1000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Investments</a:t>
            </a:r>
          </a:p>
          <a:p>
            <a:pPr lvl="1" eaLnBrk="1" hangingPunct="1">
              <a:lnSpc>
                <a:spcPct val="90000"/>
              </a:lnSpc>
              <a:spcBef>
                <a:spcPts val="0"/>
              </a:spcBef>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Expected to hold more than one year or operating cycle</a:t>
            </a:r>
          </a:p>
          <a:p>
            <a:pPr lvl="1" eaLnBrk="1" hangingPunct="1">
              <a:lnSpc>
                <a:spcPct val="90000"/>
              </a:lnSpc>
              <a:spcBef>
                <a:spcPts val="0"/>
              </a:spcBef>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Long-term equity investments in </a:t>
            </a:r>
            <a:r>
              <a:rPr lang="en-US" altLang="zh-CN" sz="2400" dirty="0">
                <a:latin typeface="Times New Roman" panose="02020603050405020304" pitchFamily="18" charset="0"/>
                <a:ea typeface="新細明體" pitchFamily="18" charset="-120"/>
                <a:cs typeface="Times New Roman" panose="02020603050405020304" pitchFamily="18" charset="0"/>
              </a:rPr>
              <a:t>subsidiaries or others</a:t>
            </a:r>
            <a:endParaRPr lang="en-US" altLang="zh-TW" sz="2400" dirty="0">
              <a:latin typeface="Times New Roman" panose="02020603050405020304" pitchFamily="18" charset="0"/>
              <a:ea typeface="新細明體" pitchFamily="18" charset="-120"/>
              <a:cs typeface="Times New Roman" panose="02020603050405020304" pitchFamily="18" charset="0"/>
            </a:endParaRPr>
          </a:p>
          <a:p>
            <a:pPr lvl="1" eaLnBrk="1" hangingPunct="1">
              <a:lnSpc>
                <a:spcPct val="90000"/>
              </a:lnSpc>
              <a:spcBef>
                <a:spcPts val="0"/>
              </a:spcBef>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Long-term debt investments with long maturity</a:t>
            </a:r>
          </a:p>
          <a:p>
            <a:pPr lvl="1" eaLnBrk="1" hangingPunct="1">
              <a:lnSpc>
                <a:spcPct val="90000"/>
              </a:lnSpc>
              <a:spcBef>
                <a:spcPts val="0"/>
              </a:spcBef>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Investment property for price increase</a:t>
            </a:r>
          </a:p>
          <a:p>
            <a:pPr lvl="1" eaLnBrk="1" hangingPunct="1">
              <a:lnSpc>
                <a:spcPct val="90000"/>
              </a:lnSpc>
              <a:spcBef>
                <a:spcPts val="0"/>
              </a:spcBef>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Could bear risk of market fluctuation in value</a:t>
            </a:r>
          </a:p>
        </p:txBody>
      </p:sp>
    </p:spTree>
    <p:extLst>
      <p:ext uri="{BB962C8B-B14F-4D97-AF65-F5344CB8AC3E}">
        <p14:creationId xmlns:p14="http://schemas.microsoft.com/office/powerpoint/2010/main" val="803571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idx="4294967295"/>
          </p:nvPr>
        </p:nvSpPr>
        <p:spPr>
          <a:xfrm>
            <a:off x="685800" y="1423988"/>
            <a:ext cx="7773988" cy="4679950"/>
          </a:xfrm>
          <a:noFill/>
        </p:spPr>
        <p:txBody>
          <a:bodyPr>
            <a:normAutofit/>
          </a:bodyPr>
          <a:lstStyle/>
          <a:p>
            <a:pPr eaLnBrk="1" hangingPunct="1">
              <a:buClrTx/>
              <a:buSzPct val="1000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Intangibles</a:t>
            </a:r>
          </a:p>
          <a:p>
            <a:pPr lvl="1">
              <a:buClrTx/>
              <a:buSzPct val="100000"/>
            </a:pPr>
            <a:r>
              <a:rPr lang="en-US" altLang="zh-TW" sz="2600" dirty="0">
                <a:latin typeface="Times New Roman" panose="02020603050405020304" pitchFamily="18" charset="0"/>
                <a:ea typeface="新細明體" pitchFamily="18" charset="-120"/>
                <a:cs typeface="Times New Roman" panose="02020603050405020304" pitchFamily="18" charset="0"/>
              </a:rPr>
              <a:t>Patents, trademarks, copyrights, etc.</a:t>
            </a:r>
          </a:p>
          <a:p>
            <a:pPr lvl="1">
              <a:buClrTx/>
              <a:buSzPct val="100000"/>
            </a:pPr>
            <a:r>
              <a:rPr lang="en-US" altLang="zh-TW" sz="2600" dirty="0">
                <a:latin typeface="Times New Roman" panose="02020603050405020304" pitchFamily="18" charset="0"/>
                <a:ea typeface="新細明體" pitchFamily="18" charset="-120"/>
                <a:cs typeface="Times New Roman" panose="02020603050405020304" pitchFamily="18" charset="0"/>
              </a:rPr>
              <a:t>Purchased goodwill in M&amp;A transactions</a:t>
            </a:r>
          </a:p>
          <a:p>
            <a:pPr lvl="2">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purchase price – fair value of target’s net asset</a:t>
            </a:r>
          </a:p>
          <a:p>
            <a:pPr lvl="1">
              <a:buClrTx/>
              <a:buSzPct val="100000"/>
            </a:pPr>
            <a:r>
              <a:rPr lang="en-US" altLang="zh-TW" sz="2600" dirty="0">
                <a:latin typeface="Times New Roman" panose="02020603050405020304" pitchFamily="18" charset="0"/>
                <a:ea typeface="新細明體" pitchFamily="18" charset="-120"/>
                <a:cs typeface="Times New Roman" panose="02020603050405020304" pitchFamily="18" charset="0"/>
              </a:rPr>
              <a:t>Internally generated goodwill is generally not shown as an asset</a:t>
            </a:r>
          </a:p>
          <a:p>
            <a:pPr lvl="2">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e.g., customer relationship, trained employee skills, reputation built in the market</a:t>
            </a:r>
          </a:p>
          <a:p>
            <a:pPr lvl="2">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hard to identify and value in a reliable way</a:t>
            </a:r>
          </a:p>
        </p:txBody>
      </p:sp>
      <p:sp>
        <p:nvSpPr>
          <p:cNvPr id="4" name="Rectangle 2"/>
          <p:cNvSpPr txBox="1">
            <a:spLocks noChangeArrowheads="1"/>
          </p:cNvSpPr>
          <p:nvPr/>
        </p:nvSpPr>
        <p:spPr>
          <a:xfrm>
            <a:off x="539750" y="554038"/>
            <a:ext cx="7920038" cy="720725"/>
          </a:xfrm>
          <a:prstGeom prst="rect">
            <a:avLst/>
          </a:prstGeom>
          <a:ln>
            <a:noFill/>
          </a:ln>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Non-Current Assets</a:t>
            </a:r>
          </a:p>
        </p:txBody>
      </p:sp>
    </p:spTree>
    <p:extLst>
      <p:ext uri="{BB962C8B-B14F-4D97-AF65-F5344CB8AC3E}">
        <p14:creationId xmlns:p14="http://schemas.microsoft.com/office/powerpoint/2010/main" val="3677901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idx="4294967295"/>
          </p:nvPr>
        </p:nvSpPr>
        <p:spPr>
          <a:xfrm>
            <a:off x="539750" y="549275"/>
            <a:ext cx="8064500" cy="730250"/>
          </a:xfrm>
          <a:effectLst/>
        </p:spPr>
        <p:txBody>
          <a:bodyPr vert="horz" lIns="91440" tIns="45720" rIns="91440" bIns="45720" rtlCol="0" anchor="ctr">
            <a:normAutofit/>
          </a:bodyPr>
          <a:lstStyle/>
          <a:p>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Current Assets</a:t>
            </a:r>
            <a:endParaRPr lang="zh-TW" altLang="en-US" sz="3600" dirty="0">
              <a:solidFill>
                <a:srgbClr val="993300"/>
              </a:solidFill>
              <a:latin typeface="Times New Roman" panose="02020603050405020304" pitchFamily="18" charset="0"/>
              <a:ea typeface="新細明體" pitchFamily="18" charset="-120"/>
              <a:cs typeface="Times New Roman" panose="02020603050405020304" pitchFamily="18" charset="0"/>
            </a:endParaRPr>
          </a:p>
        </p:txBody>
      </p:sp>
      <p:sp>
        <p:nvSpPr>
          <p:cNvPr id="31747" name="Content Placeholder 2"/>
          <p:cNvSpPr>
            <a:spLocks noGrp="1"/>
          </p:cNvSpPr>
          <p:nvPr>
            <p:ph idx="4294967295"/>
          </p:nvPr>
        </p:nvSpPr>
        <p:spPr>
          <a:xfrm>
            <a:off x="716633" y="1412875"/>
            <a:ext cx="7743155" cy="5040313"/>
          </a:xfrm>
          <a:noFill/>
        </p:spPr>
        <p:txBody>
          <a:bodyPr>
            <a:noAutofit/>
          </a:bodyPr>
          <a:lstStyle/>
          <a:p>
            <a:pPr>
              <a:buClrTx/>
              <a:buSzPct val="1000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Inventories</a:t>
            </a:r>
          </a:p>
          <a:p>
            <a:pPr lvl="1">
              <a:buClrTx/>
              <a:buSzPct val="100000"/>
            </a:pPr>
            <a:r>
              <a:rPr lang="en-US" altLang="zh-TW" sz="2400" dirty="0">
                <a:latin typeface="Times New Roman" panose="02020603050405020304" pitchFamily="18" charset="0"/>
                <a:cs typeface="Times New Roman" panose="02020603050405020304" pitchFamily="18" charset="0"/>
              </a:rPr>
              <a:t>Sizable item for manufacturing / retailing corporations</a:t>
            </a:r>
          </a:p>
          <a:p>
            <a:pPr lvl="1">
              <a:buClrTx/>
              <a:buSzPct val="100000"/>
            </a:pPr>
            <a:r>
              <a:rPr lang="en-US" altLang="zh-TW" sz="2400" dirty="0">
                <a:latin typeface="Times New Roman" panose="02020603050405020304" pitchFamily="18" charset="0"/>
                <a:cs typeface="Times New Roman" panose="02020603050405020304" pitchFamily="18" charset="0"/>
              </a:rPr>
              <a:t>Essential for business, but tie up capital: putting in warehouses before being sold</a:t>
            </a:r>
          </a:p>
          <a:p>
            <a:pPr lvl="1">
              <a:buClrTx/>
              <a:buSzPct val="100000"/>
            </a:pPr>
            <a:r>
              <a:rPr lang="en-US" altLang="zh-CN" sz="2400" dirty="0">
                <a:latin typeface="Times New Roman" panose="02020603050405020304" pitchFamily="18" charset="0"/>
                <a:ea typeface="新細明體" pitchFamily="18" charset="-120"/>
                <a:cs typeface="Times New Roman" panose="02020603050405020304" pitchFamily="18" charset="0"/>
              </a:rPr>
              <a:t>Conservatively </a:t>
            </a:r>
            <a:r>
              <a:rPr lang="en-US" altLang="zh-TW" sz="2400" dirty="0">
                <a:latin typeface="Times New Roman" panose="02020603050405020304" pitchFamily="18" charset="0"/>
                <a:ea typeface="新細明體" pitchFamily="18" charset="-120"/>
                <a:cs typeface="Times New Roman" panose="02020603050405020304" pitchFamily="18" charset="0"/>
              </a:rPr>
              <a:t>reported at the lower of </a:t>
            </a:r>
            <a:r>
              <a:rPr lang="en-US" altLang="zh-CN" sz="2400" dirty="0">
                <a:latin typeface="Times New Roman" panose="02020603050405020304" pitchFamily="18" charset="0"/>
                <a:ea typeface="新細明體" pitchFamily="18" charset="-120"/>
                <a:cs typeface="Times New Roman" panose="02020603050405020304" pitchFamily="18" charset="0"/>
              </a:rPr>
              <a:t>historical </a:t>
            </a:r>
            <a:r>
              <a:rPr lang="en-US" altLang="zh-TW" sz="2400" dirty="0">
                <a:latin typeface="Times New Roman" panose="02020603050405020304" pitchFamily="18" charset="0"/>
                <a:ea typeface="新細明體" pitchFamily="18" charset="-120"/>
                <a:cs typeface="Times New Roman" panose="02020603050405020304" pitchFamily="18" charset="0"/>
              </a:rPr>
              <a:t>cost or net realizable value.</a:t>
            </a:r>
          </a:p>
          <a:p>
            <a:pPr lvl="1">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Could be an easy item for earnings management or even fraud (e.g., delay impairment, fake inventories)</a:t>
            </a:r>
          </a:p>
        </p:txBody>
      </p:sp>
    </p:spTree>
    <p:extLst>
      <p:ext uri="{BB962C8B-B14F-4D97-AF65-F5344CB8AC3E}">
        <p14:creationId xmlns:p14="http://schemas.microsoft.com/office/powerpoint/2010/main" val="3072242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4294967295"/>
          </p:nvPr>
        </p:nvSpPr>
        <p:spPr>
          <a:xfrm>
            <a:off x="707629" y="1425079"/>
            <a:ext cx="8064500" cy="4967287"/>
          </a:xfrm>
          <a:noFill/>
        </p:spPr>
        <p:txBody>
          <a:bodyPr>
            <a:noAutofit/>
          </a:bodyPr>
          <a:lstStyle/>
          <a:p>
            <a:pPr>
              <a:buClrTx/>
              <a:buSzPct val="1000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Accounts Receivables</a:t>
            </a:r>
          </a:p>
          <a:p>
            <a:pPr lvl="1">
              <a:buClrTx/>
              <a:buSzPct val="100000"/>
            </a:pPr>
            <a:r>
              <a:rPr lang="en-US" altLang="zh-TW" sz="2400" dirty="0">
                <a:latin typeface="Times New Roman" panose="02020603050405020304" pitchFamily="18" charset="0"/>
                <a:cs typeface="Times New Roman" panose="02020603050405020304" pitchFamily="18" charset="0"/>
              </a:rPr>
              <a:t>Normally readily available within a short period without significantly affecting the presented value</a:t>
            </a:r>
          </a:p>
          <a:p>
            <a:pPr>
              <a:buClrTx/>
              <a:buSzPct val="100000"/>
              <a:buFont typeface="Wingdings" panose="05000000000000000000" pitchFamily="2" charset="2"/>
              <a:buChar char="Ø"/>
            </a:pPr>
            <a:endParaRPr lang="en-US" altLang="zh-TW" sz="2800" dirty="0">
              <a:latin typeface="Times New Roman" panose="02020603050405020304" pitchFamily="18" charset="0"/>
              <a:ea typeface="新細明體" pitchFamily="18" charset="-120"/>
              <a:cs typeface="Times New Roman" panose="02020603050405020304" pitchFamily="18" charset="0"/>
            </a:endParaRPr>
          </a:p>
          <a:p>
            <a:pPr>
              <a:buClrTx/>
              <a:buSzPct val="1000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Cash and Cash Equivalents</a:t>
            </a:r>
          </a:p>
          <a:p>
            <a:pPr lvl="1">
              <a:buClrTx/>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The prime item to verify liquidity</a:t>
            </a:r>
          </a:p>
        </p:txBody>
      </p:sp>
      <p:sp>
        <p:nvSpPr>
          <p:cNvPr id="4" name="Title 1"/>
          <p:cNvSpPr txBox="1">
            <a:spLocks/>
          </p:cNvSpPr>
          <p:nvPr/>
        </p:nvSpPr>
        <p:spPr>
          <a:xfrm>
            <a:off x="539750" y="549275"/>
            <a:ext cx="8064500" cy="730250"/>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TW" sz="3600">
                <a:solidFill>
                  <a:srgbClr val="993300"/>
                </a:solidFill>
                <a:latin typeface="Times New Roman" panose="02020603050405020304" pitchFamily="18" charset="0"/>
                <a:ea typeface="新細明體" pitchFamily="18" charset="-120"/>
                <a:cs typeface="Times New Roman" panose="02020603050405020304" pitchFamily="18" charset="0"/>
              </a:rPr>
              <a:t>Current Assets</a:t>
            </a:r>
            <a:endParaRPr lang="zh-TW" altLang="en-US" sz="3600" dirty="0">
              <a:solidFill>
                <a:srgbClr val="993300"/>
              </a:solidFill>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12830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306F6027-94CF-F686-4E84-5F25A9CCBEFE}"/>
              </a:ext>
            </a:extLst>
          </p:cNvPr>
          <p:cNvSpPr txBox="1">
            <a:spLocks noChangeArrowheads="1"/>
          </p:cNvSpPr>
          <p:nvPr/>
        </p:nvSpPr>
        <p:spPr bwMode="auto">
          <a:xfrm>
            <a:off x="539552" y="1432967"/>
            <a:ext cx="8640315" cy="3970318"/>
          </a:xfrm>
          <a:prstGeom prst="rect">
            <a:avLst/>
          </a:prstGeom>
          <a:noFill/>
          <a:ln w="9525">
            <a:noFill/>
            <a:miter lim="800000"/>
            <a:headEnd/>
            <a:tailEnd/>
          </a:ln>
        </p:spPr>
        <p:txBody>
          <a:bodyPr wrap="square">
            <a:spAutoFit/>
          </a:bodyPr>
          <a:lstStyle/>
          <a:p>
            <a:pPr marL="457200" indent="-457200">
              <a:buFont typeface="Wingdings" panose="05000000000000000000" pitchFamily="2" charset="2"/>
              <a:buChar char="Ø"/>
            </a:pPr>
            <a:r>
              <a:rPr lang="en-US" altLang="zh-TW" sz="2800" u="sng" dirty="0">
                <a:latin typeface="Times New Roman" panose="02020603050405020304" pitchFamily="18" charset="0"/>
                <a:ea typeface="新細明體" pitchFamily="18" charset="-120"/>
                <a:cs typeface="Times New Roman" panose="02020603050405020304" pitchFamily="18" charset="0"/>
              </a:rPr>
              <a:t>Current Liabilities</a:t>
            </a:r>
          </a:p>
          <a:p>
            <a:pPr marL="800100" lvl="1" indent="-342900">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settled within one year or operating cycle, whichever is longer</a:t>
            </a:r>
          </a:p>
          <a:p>
            <a:pPr marL="800100" lvl="1" indent="-342900">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accounts payable</a:t>
            </a:r>
          </a:p>
          <a:p>
            <a:pPr marL="800100" lvl="1" indent="-342900">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short-term debt; long-term debt comes to due</a:t>
            </a:r>
          </a:p>
          <a:p>
            <a:pPr marL="800100" lvl="1" indent="-342900">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accrued expenses</a:t>
            </a:r>
          </a:p>
          <a:p>
            <a:pPr marL="800100" lvl="1" indent="-342900">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deferred revenue</a:t>
            </a:r>
          </a:p>
          <a:p>
            <a:pPr marL="800100" lvl="1" indent="-342900">
              <a:buFont typeface="Arial" panose="020B0604020202020204" pitchFamily="34" charset="0"/>
              <a:buChar char="•"/>
            </a:pPr>
            <a:endParaRPr lang="en-US" altLang="zh-TW" sz="2800" dirty="0">
              <a:latin typeface="Times New Roman" panose="02020603050405020304" pitchFamily="18" charset="0"/>
              <a:ea typeface="新細明體" pitchFamily="18" charset="-120"/>
              <a:cs typeface="Times New Roman" panose="02020603050405020304" pitchFamily="18" charset="0"/>
            </a:endParaRPr>
          </a:p>
          <a:p>
            <a:pPr marL="457200" indent="-457200">
              <a:buFont typeface="Wingdings" panose="05000000000000000000" pitchFamily="2" charset="2"/>
              <a:buChar char="Ø"/>
            </a:pPr>
            <a:r>
              <a:rPr lang="en-US" altLang="zh-TW" sz="2800" u="sng" dirty="0">
                <a:latin typeface="Times New Roman" panose="02020603050405020304" pitchFamily="18" charset="0"/>
                <a:ea typeface="新細明體" pitchFamily="18" charset="-120"/>
                <a:cs typeface="Times New Roman" panose="02020603050405020304" pitchFamily="18" charset="0"/>
              </a:rPr>
              <a:t>Non-Current Liabilities</a:t>
            </a:r>
          </a:p>
          <a:p>
            <a:pPr marL="803275" lvl="1" indent="-34607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long-term debt</a:t>
            </a:r>
          </a:p>
          <a:p>
            <a:pPr marL="803275" lvl="1" indent="-34607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bonds payable</a:t>
            </a:r>
          </a:p>
        </p:txBody>
      </p:sp>
      <p:sp>
        <p:nvSpPr>
          <p:cNvPr id="3" name="Text Box 2">
            <a:extLst>
              <a:ext uri="{FF2B5EF4-FFF2-40B4-BE49-F238E27FC236}">
                <a16:creationId xmlns:a16="http://schemas.microsoft.com/office/drawing/2014/main" id="{96D6A053-4BB4-2FA5-398C-80079CD6FD06}"/>
              </a:ext>
            </a:extLst>
          </p:cNvPr>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Balance Sheet</a:t>
            </a:r>
          </a:p>
        </p:txBody>
      </p:sp>
    </p:spTree>
    <p:extLst>
      <p:ext uri="{BB962C8B-B14F-4D97-AF65-F5344CB8AC3E}">
        <p14:creationId xmlns:p14="http://schemas.microsoft.com/office/powerpoint/2010/main" val="2584913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306F6027-94CF-F686-4E84-5F25A9CCBEFE}"/>
              </a:ext>
            </a:extLst>
          </p:cNvPr>
          <p:cNvSpPr txBox="1">
            <a:spLocks noChangeArrowheads="1"/>
          </p:cNvSpPr>
          <p:nvPr/>
        </p:nvSpPr>
        <p:spPr bwMode="auto">
          <a:xfrm>
            <a:off x="539750" y="1240138"/>
            <a:ext cx="8136706" cy="5109091"/>
          </a:xfrm>
          <a:prstGeom prst="rect">
            <a:avLst/>
          </a:prstGeom>
          <a:noFill/>
          <a:ln w="9525">
            <a:noFill/>
            <a:miter lim="800000"/>
            <a:headEnd/>
            <a:tailEnd/>
          </a:ln>
        </p:spPr>
        <p:txBody>
          <a:bodyPr wrap="square">
            <a:spAutoFit/>
          </a:bodyPr>
          <a:lstStyle/>
          <a:p>
            <a:pPr marL="457200" indent="-457200">
              <a:buFont typeface="Wingdings" panose="05000000000000000000" pitchFamily="2" charset="2"/>
              <a:buChar char="Ø"/>
            </a:pPr>
            <a:r>
              <a:rPr lang="en-US" altLang="zh-TW" sz="2800" u="sng" dirty="0">
                <a:latin typeface="Times New Roman" panose="02020603050405020304" pitchFamily="18" charset="0"/>
                <a:ea typeface="新細明體" pitchFamily="18" charset="-120"/>
                <a:cs typeface="Times New Roman" panose="02020603050405020304" pitchFamily="18" charset="0"/>
              </a:rPr>
              <a:t>Equity</a:t>
            </a:r>
            <a:r>
              <a:rPr lang="en-US" altLang="zh-TW" sz="2800" dirty="0">
                <a:latin typeface="Times New Roman" panose="02020603050405020304" pitchFamily="18" charset="0"/>
                <a:ea typeface="新細明體" pitchFamily="18" charset="-120"/>
                <a:cs typeface="Times New Roman" panose="02020603050405020304" pitchFamily="18" charset="0"/>
              </a:rPr>
              <a:t>	</a:t>
            </a:r>
          </a:p>
          <a:p>
            <a:pPr marL="720725"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Common or Preferred Stock (share capital)</a:t>
            </a:r>
          </a:p>
          <a:p>
            <a:pPr marL="720725"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Additional Paid-in Capital (share premium)</a:t>
            </a:r>
          </a:p>
          <a:p>
            <a:pPr marL="720725"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Treasury Stock</a:t>
            </a:r>
          </a:p>
          <a:p>
            <a:pPr marL="720725"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Retained Earnings</a:t>
            </a:r>
          </a:p>
          <a:p>
            <a:pPr marL="720725"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Accumulated other comprehensive income/loss</a:t>
            </a:r>
          </a:p>
          <a:p>
            <a:pPr marL="1177925" lvl="1" indent="-282575">
              <a:buFont typeface="Arial" panose="020B0604020202020204" pitchFamily="34" charset="0"/>
              <a:buChar char="•"/>
            </a:pPr>
            <a:r>
              <a:rPr lang="en-US" altLang="zh-CN" sz="2400" dirty="0">
                <a:latin typeface="Times New Roman" panose="02020603050405020304" pitchFamily="18" charset="0"/>
                <a:ea typeface="新細明體" pitchFamily="18" charset="-120"/>
                <a:cs typeface="Times New Roman" panose="02020603050405020304" pitchFamily="18" charset="0"/>
              </a:rPr>
              <a:t>unrealized and </a:t>
            </a:r>
            <a:r>
              <a:rPr lang="en-US" altLang="zh-TW" sz="2400" dirty="0">
                <a:latin typeface="Times New Roman" panose="02020603050405020304" pitchFamily="18" charset="0"/>
                <a:ea typeface="新細明體" pitchFamily="18" charset="-120"/>
                <a:cs typeface="Times New Roman" panose="02020603050405020304" pitchFamily="18" charset="0"/>
              </a:rPr>
              <a:t>usually </a:t>
            </a:r>
            <a:r>
              <a:rPr lang="en-US" altLang="zh-CN" sz="2400" dirty="0">
                <a:latin typeface="Times New Roman" panose="02020603050405020304" pitchFamily="18" charset="0"/>
                <a:ea typeface="新細明體" pitchFamily="18" charset="-120"/>
                <a:cs typeface="Times New Roman" panose="02020603050405020304" pitchFamily="18" charset="0"/>
              </a:rPr>
              <a:t>related to the market price change of long-term holdings</a:t>
            </a:r>
          </a:p>
          <a:p>
            <a:pPr marL="1177925" lvl="1" indent="-282575">
              <a:buFont typeface="Arial" panose="020B0604020202020204" pitchFamily="34" charset="0"/>
              <a:buChar char="•"/>
            </a:pPr>
            <a:r>
              <a:rPr lang="en-US" altLang="zh-TW" sz="2400" dirty="0">
                <a:latin typeface="Times New Roman" panose="02020603050405020304" pitchFamily="18" charset="0"/>
                <a:ea typeface="新細明體" pitchFamily="18" charset="-120"/>
                <a:cs typeface="Times New Roman" panose="02020603050405020304" pitchFamily="18" charset="0"/>
              </a:rPr>
              <a:t>e.g., unrealized gains or losses on </a:t>
            </a:r>
            <a:r>
              <a:rPr lang="en-US" altLang="zh-CN" sz="2400" dirty="0">
                <a:latin typeface="Times New Roman" panose="02020603050405020304" pitchFamily="18" charset="0"/>
                <a:ea typeface="新細明體" pitchFamily="18" charset="-120"/>
                <a:cs typeface="Times New Roman" panose="02020603050405020304" pitchFamily="18" charset="0"/>
              </a:rPr>
              <a:t>available-for-sale securities: buy at $100 and the price increases to $150 at year-end. the $50 is not realized as the security has not been sold. but needs to reflect such value change in the long-term held security.</a:t>
            </a:r>
            <a:endParaRPr lang="en-US" altLang="zh-TW" sz="2800" dirty="0">
              <a:latin typeface="Times New Roman" panose="02020603050405020304" pitchFamily="18" charset="0"/>
              <a:ea typeface="新細明體" pitchFamily="18" charset="-120"/>
              <a:cs typeface="Times New Roman" panose="02020603050405020304" pitchFamily="18" charset="0"/>
            </a:endParaRPr>
          </a:p>
        </p:txBody>
      </p:sp>
      <p:sp>
        <p:nvSpPr>
          <p:cNvPr id="3" name="Text Box 2">
            <a:extLst>
              <a:ext uri="{FF2B5EF4-FFF2-40B4-BE49-F238E27FC236}">
                <a16:creationId xmlns:a16="http://schemas.microsoft.com/office/drawing/2014/main" id="{96D6A053-4BB4-2FA5-398C-80079CD6FD06}"/>
              </a:ext>
            </a:extLst>
          </p:cNvPr>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Balance Sheet</a:t>
            </a:r>
          </a:p>
        </p:txBody>
      </p:sp>
    </p:spTree>
    <p:extLst>
      <p:ext uri="{BB962C8B-B14F-4D97-AF65-F5344CB8AC3E}">
        <p14:creationId xmlns:p14="http://schemas.microsoft.com/office/powerpoint/2010/main" val="582300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306F6027-94CF-F686-4E84-5F25A9CCBEFE}"/>
              </a:ext>
            </a:extLst>
          </p:cNvPr>
          <p:cNvSpPr txBox="1">
            <a:spLocks noChangeArrowheads="1"/>
          </p:cNvSpPr>
          <p:nvPr/>
        </p:nvSpPr>
        <p:spPr bwMode="auto">
          <a:xfrm>
            <a:off x="539750" y="1240138"/>
            <a:ext cx="8136706" cy="4524315"/>
          </a:xfrm>
          <a:prstGeom prst="rect">
            <a:avLst/>
          </a:prstGeom>
          <a:noFill/>
          <a:ln w="9525">
            <a:noFill/>
            <a:miter lim="800000"/>
            <a:headEnd/>
            <a:tailEnd/>
          </a:ln>
        </p:spPr>
        <p:txBody>
          <a:bodyPr wrap="square">
            <a:spAutoFit/>
          </a:bodyPr>
          <a:lstStyle/>
          <a:p>
            <a:pPr marL="457200" indent="-457200">
              <a:buFont typeface="Wingdings" panose="05000000000000000000" pitchFamily="2" charset="2"/>
              <a:buChar char="Ø"/>
            </a:pPr>
            <a:r>
              <a:rPr lang="en-US" altLang="zh-TW" sz="2800" u="sng" dirty="0">
                <a:latin typeface="Times New Roman" panose="02020603050405020304" pitchFamily="18" charset="0"/>
                <a:ea typeface="新細明體" pitchFamily="18" charset="-120"/>
                <a:cs typeface="Times New Roman" panose="02020603050405020304" pitchFamily="18" charset="0"/>
              </a:rPr>
              <a:t>Equity</a:t>
            </a:r>
            <a:r>
              <a:rPr lang="en-US" altLang="zh-TW" sz="2800" dirty="0">
                <a:latin typeface="Times New Roman" panose="02020603050405020304" pitchFamily="18" charset="0"/>
                <a:ea typeface="新細明體" pitchFamily="18" charset="-120"/>
                <a:cs typeface="Times New Roman" panose="02020603050405020304" pitchFamily="18" charset="0"/>
              </a:rPr>
              <a:t>	</a:t>
            </a:r>
          </a:p>
          <a:p>
            <a:pPr marL="720725"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Non-controlling interests</a:t>
            </a:r>
          </a:p>
          <a:p>
            <a:pPr marL="1177925" lvl="1"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parent </a:t>
            </a:r>
            <a:r>
              <a:rPr lang="en-US" altLang="zh-CN" sz="2600" dirty="0">
                <a:latin typeface="Times New Roman" panose="02020603050405020304" pitchFamily="18" charset="0"/>
                <a:ea typeface="新細明體" pitchFamily="18" charset="-120"/>
                <a:cs typeface="Times New Roman" panose="02020603050405020304" pitchFamily="18" charset="0"/>
              </a:rPr>
              <a:t>firm A owns 80% of subsidiary firm B</a:t>
            </a:r>
          </a:p>
          <a:p>
            <a:pPr marL="1177925" lvl="1"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net assets of subsidiary firm B is $100</a:t>
            </a:r>
          </a:p>
          <a:p>
            <a:pPr marL="1177925" lvl="1"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equity by parent firm A is $80</a:t>
            </a:r>
          </a:p>
          <a:p>
            <a:pPr marL="1177925" lvl="1"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remaining $20 is owned by others</a:t>
            </a:r>
          </a:p>
          <a:p>
            <a:pPr marL="1177925" lvl="1"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consolidated financial statement includes firm B’s assets and liabilities, and lists the $20 equity owned by other non-controlling holders of firm B</a:t>
            </a:r>
          </a:p>
          <a:p>
            <a:pPr marL="1177925" lvl="1" indent="-282575">
              <a:buFont typeface="Arial" panose="020B0604020202020204" pitchFamily="34" charset="0"/>
              <a:buChar char="•"/>
            </a:pPr>
            <a:r>
              <a:rPr lang="en-US" altLang="zh-TW" sz="2600" dirty="0">
                <a:latin typeface="Times New Roman" panose="02020603050405020304" pitchFamily="18" charset="0"/>
                <a:ea typeface="新細明體" pitchFamily="18" charset="-120"/>
                <a:cs typeface="Times New Roman" panose="02020603050405020304" pitchFamily="18" charset="0"/>
              </a:rPr>
              <a:t>similarly, if firm B’s net profit is $10, then list $2 for non-controlling interests on income statement</a:t>
            </a:r>
          </a:p>
        </p:txBody>
      </p:sp>
      <p:sp>
        <p:nvSpPr>
          <p:cNvPr id="3" name="Text Box 2">
            <a:extLst>
              <a:ext uri="{FF2B5EF4-FFF2-40B4-BE49-F238E27FC236}">
                <a16:creationId xmlns:a16="http://schemas.microsoft.com/office/drawing/2014/main" id="{96D6A053-4BB4-2FA5-398C-80079CD6FD06}"/>
              </a:ext>
            </a:extLst>
          </p:cNvPr>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Balance Sheet</a:t>
            </a:r>
          </a:p>
        </p:txBody>
      </p:sp>
    </p:spTree>
    <p:extLst>
      <p:ext uri="{BB962C8B-B14F-4D97-AF65-F5344CB8AC3E}">
        <p14:creationId xmlns:p14="http://schemas.microsoft.com/office/powerpoint/2010/main" val="2429122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p:cNvSpPr txBox="1">
            <a:spLocks/>
          </p:cNvSpPr>
          <p:nvPr/>
        </p:nvSpPr>
        <p:spPr>
          <a:xfrm>
            <a:off x="701932" y="1412875"/>
            <a:ext cx="7757856" cy="489644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Key information: </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Major assets owned</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Size of the company (total assets or net assets after l</a:t>
            </a:r>
            <a:r>
              <a:rPr lang="en-US" altLang="zh-CN" sz="1800" dirty="0">
                <a:latin typeface="Times New Roman" panose="02020603050405020304" pitchFamily="18" charset="0"/>
                <a:cs typeface="Times New Roman" panose="02020603050405020304" pitchFamily="18" charset="0"/>
              </a:rPr>
              <a:t>iabilities</a:t>
            </a:r>
            <a:r>
              <a:rPr lang="en-US" sz="1800" dirty="0">
                <a:latin typeface="Times New Roman" panose="02020603050405020304" pitchFamily="18" charset="0"/>
                <a:cs typeface="Times New Roman" panose="02020603050405020304" pitchFamily="18" charset="0"/>
              </a:rPr>
              <a:t>)</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How assets are financed (debt, equity and internal financing)</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How much debt the firm must repay next year</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How much cash or quick assets the firm has on hand to repay the debt due next year</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Trends or abrupt changes in major assets, liabilities and equity during a period of time</a:t>
            </a:r>
          </a:p>
          <a:p>
            <a:pPr>
              <a:spcBef>
                <a:spcPts val="600"/>
              </a:spcBef>
              <a:spcAft>
                <a:spcPts val="0"/>
              </a:spcAft>
              <a:buClrTx/>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Weaknesses:</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Book value </a:t>
            </a:r>
            <a:r>
              <a:rPr lang="en-US" altLang="zh-CN" sz="1800" dirty="0">
                <a:latin typeface="Times New Roman" panose="02020603050405020304" pitchFamily="18" charset="0"/>
                <a:cs typeface="Times New Roman" panose="02020603050405020304" pitchFamily="18" charset="0"/>
              </a:rPr>
              <a:t>based on historical cost and depreciation is reliable but </a:t>
            </a:r>
            <a:r>
              <a:rPr lang="en-US" sz="1800" dirty="0">
                <a:latin typeface="Times New Roman" panose="02020603050405020304" pitchFamily="18" charset="0"/>
                <a:cs typeface="Times New Roman" panose="02020603050405020304" pitchFamily="18" charset="0"/>
              </a:rPr>
              <a:t>not representative of the current fair value at the market</a:t>
            </a:r>
          </a:p>
          <a:p>
            <a:pPr lvl="1">
              <a:spcBef>
                <a:spcPts val="0"/>
              </a:spcBef>
              <a:spcAft>
                <a:spcPts val="0"/>
              </a:spcAft>
              <a:buClrTx/>
              <a:buSzPct val="100000"/>
            </a:pPr>
            <a:r>
              <a:rPr lang="en-US" sz="1800" dirty="0">
                <a:latin typeface="Times New Roman" panose="02020603050405020304" pitchFamily="18" charset="0"/>
                <a:cs typeface="Times New Roman" panose="02020603050405020304" pitchFamily="18" charset="0"/>
              </a:rPr>
              <a:t>Some assets and liabilities are not recognized on the balance sheet.</a:t>
            </a:r>
          </a:p>
          <a:p>
            <a:pPr lvl="2">
              <a:spcBef>
                <a:spcPts val="0"/>
              </a:spcBef>
              <a:spcAft>
                <a:spcPts val="0"/>
              </a:spcAft>
              <a:buClrTx/>
              <a:buSzPct val="100000"/>
            </a:pPr>
            <a:r>
              <a:rPr lang="en-US" dirty="0">
                <a:latin typeface="Times New Roman" panose="02020603050405020304" pitchFamily="18" charset="0"/>
                <a:cs typeface="Times New Roman" panose="02020603050405020304" pitchFamily="18" charset="0"/>
              </a:rPr>
              <a:t>e.g., research and development ability, intangible assets developed within the firm, contingent lawsuits with uncertainty</a:t>
            </a:r>
          </a:p>
          <a:p>
            <a:pPr lvl="1">
              <a:spcBef>
                <a:spcPts val="300"/>
              </a:spcBef>
              <a:defRPr/>
            </a:pPr>
            <a:endParaRPr lang="en-US" sz="1800" dirty="0">
              <a:latin typeface="Times New Roman" panose="02020603050405020304" pitchFamily="18" charset="0"/>
              <a:cs typeface="Times New Roman" panose="02020603050405020304" pitchFamily="18" charset="0"/>
            </a:endParaRPr>
          </a:p>
          <a:p>
            <a:pPr>
              <a:spcBef>
                <a:spcPts val="300"/>
              </a:spcBef>
              <a:buFont typeface="Wingdings" panose="05000000000000000000" pitchFamily="2" charset="2"/>
              <a:buNone/>
              <a:defRPr/>
            </a:pPr>
            <a:endParaRPr lang="en-US" dirty="0">
              <a:latin typeface="Times New Roman" panose="02020603050405020304" pitchFamily="18" charset="0"/>
              <a:cs typeface="Times New Roman" panose="02020603050405020304" pitchFamily="18" charset="0"/>
            </a:endParaRPr>
          </a:p>
          <a:p>
            <a:pPr>
              <a:spcBef>
                <a:spcPts val="300"/>
              </a:spcBef>
              <a:defRPr/>
            </a:pPr>
            <a:endParaRPr lang="en-US" dirty="0">
              <a:latin typeface="Times New Roman" panose="02020603050405020304" pitchFamily="18" charset="0"/>
              <a:cs typeface="Times New Roman" panose="02020603050405020304" pitchFamily="18" charset="0"/>
            </a:endParaRPr>
          </a:p>
          <a:p>
            <a:pPr>
              <a:spcBef>
                <a:spcPts val="300"/>
              </a:spcBef>
              <a:defRPr/>
            </a:pPr>
            <a:endParaRPr lang="en-US" dirty="0">
              <a:latin typeface="Times New Roman" panose="02020603050405020304" pitchFamily="18" charset="0"/>
              <a:cs typeface="Times New Roman" panose="02020603050405020304" pitchFamily="18" charset="0"/>
            </a:endParaRPr>
          </a:p>
          <a:p>
            <a:pPr>
              <a:defRPr/>
            </a:pPr>
            <a:endParaRPr lang="en-US" dirty="0">
              <a:latin typeface="Times New Roman" panose="02020603050405020304" pitchFamily="18" charset="0"/>
              <a:cs typeface="Times New Roman" panose="02020603050405020304" pitchFamily="18" charset="0"/>
            </a:endParaRPr>
          </a:p>
        </p:txBody>
      </p:sp>
      <p:sp>
        <p:nvSpPr>
          <p:cNvPr id="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Balance Sheet</a:t>
            </a:r>
          </a:p>
        </p:txBody>
      </p:sp>
    </p:spTree>
    <p:extLst>
      <p:ext uri="{BB962C8B-B14F-4D97-AF65-F5344CB8AC3E}">
        <p14:creationId xmlns:p14="http://schemas.microsoft.com/office/powerpoint/2010/main" val="3395280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67A068A-1A36-62AF-72AA-06B24C7FCE87}"/>
              </a:ext>
            </a:extLst>
          </p:cNvPr>
          <p:cNvPicPr>
            <a:picLocks noChangeAspect="1"/>
          </p:cNvPicPr>
          <p:nvPr/>
        </p:nvPicPr>
        <p:blipFill>
          <a:blip r:embed="rId3"/>
          <a:srcRect b="91914"/>
          <a:stretch/>
        </p:blipFill>
        <p:spPr>
          <a:xfrm>
            <a:off x="611560" y="282174"/>
            <a:ext cx="8214691" cy="554538"/>
          </a:xfrm>
          <a:prstGeom prst="rect">
            <a:avLst/>
          </a:prstGeom>
        </p:spPr>
      </p:pic>
      <p:pic>
        <p:nvPicPr>
          <p:cNvPr id="5" name="图片 4">
            <a:extLst>
              <a:ext uri="{FF2B5EF4-FFF2-40B4-BE49-F238E27FC236}">
                <a16:creationId xmlns:a16="http://schemas.microsoft.com/office/drawing/2014/main" id="{47582AF7-356A-5F10-F0F5-DB6591392214}"/>
              </a:ext>
            </a:extLst>
          </p:cNvPr>
          <p:cNvPicPr>
            <a:picLocks noChangeAspect="1"/>
          </p:cNvPicPr>
          <p:nvPr/>
        </p:nvPicPr>
        <p:blipFill>
          <a:blip r:embed="rId3"/>
          <a:srcRect t="13650"/>
          <a:stretch/>
        </p:blipFill>
        <p:spPr>
          <a:xfrm>
            <a:off x="611560" y="836712"/>
            <a:ext cx="8214691" cy="5921896"/>
          </a:xfrm>
          <a:prstGeom prst="rect">
            <a:avLst/>
          </a:prstGeom>
        </p:spPr>
      </p:pic>
    </p:spTree>
    <p:extLst>
      <p:ext uri="{BB962C8B-B14F-4D97-AF65-F5344CB8AC3E}">
        <p14:creationId xmlns:p14="http://schemas.microsoft.com/office/powerpoint/2010/main" val="1700947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2858684-C7C6-6209-B228-579E0161693E}"/>
              </a:ext>
            </a:extLst>
          </p:cNvPr>
          <p:cNvPicPr>
            <a:picLocks noChangeAspect="1"/>
          </p:cNvPicPr>
          <p:nvPr/>
        </p:nvPicPr>
        <p:blipFill>
          <a:blip r:embed="rId3"/>
          <a:srcRect b="13726"/>
          <a:stretch/>
        </p:blipFill>
        <p:spPr>
          <a:xfrm>
            <a:off x="791577" y="486500"/>
            <a:ext cx="7452829" cy="1872208"/>
          </a:xfrm>
          <a:prstGeom prst="rect">
            <a:avLst/>
          </a:prstGeom>
        </p:spPr>
      </p:pic>
      <p:pic>
        <p:nvPicPr>
          <p:cNvPr id="8" name="图片 7">
            <a:extLst>
              <a:ext uri="{FF2B5EF4-FFF2-40B4-BE49-F238E27FC236}">
                <a16:creationId xmlns:a16="http://schemas.microsoft.com/office/drawing/2014/main" id="{6F06A1B9-873A-5358-7D6A-F8FA9E121773}"/>
              </a:ext>
            </a:extLst>
          </p:cNvPr>
          <p:cNvPicPr>
            <a:picLocks noChangeAspect="1"/>
          </p:cNvPicPr>
          <p:nvPr/>
        </p:nvPicPr>
        <p:blipFill>
          <a:blip r:embed="rId4"/>
          <a:stretch>
            <a:fillRect/>
          </a:stretch>
        </p:blipFill>
        <p:spPr>
          <a:xfrm>
            <a:off x="791578" y="2358708"/>
            <a:ext cx="7452829" cy="4242169"/>
          </a:xfrm>
          <a:prstGeom prst="rect">
            <a:avLst/>
          </a:prstGeom>
        </p:spPr>
      </p:pic>
    </p:spTree>
    <p:extLst>
      <p:ext uri="{BB962C8B-B14F-4D97-AF65-F5344CB8AC3E}">
        <p14:creationId xmlns:p14="http://schemas.microsoft.com/office/powerpoint/2010/main" val="1525805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p:cNvSpPr txBox="1">
            <a:spLocks/>
          </p:cNvSpPr>
          <p:nvPr/>
        </p:nvSpPr>
        <p:spPr>
          <a:xfrm>
            <a:off x="701932" y="1412875"/>
            <a:ext cx="7757856" cy="489644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HK" dirty="0">
                <a:latin typeface="Times New Roman" panose="02020603050405020304" pitchFamily="18" charset="0"/>
                <a:cs typeface="Times New Roman" panose="02020603050405020304" pitchFamily="18" charset="0"/>
              </a:rPr>
              <a:t>Common-size analysis converts financial statement line items into percentages of either total sales (for income statement) or total assets (for balance sheet).</a:t>
            </a:r>
          </a:p>
          <a:p>
            <a:pPr lvl="1">
              <a:spcBef>
                <a:spcPts val="300"/>
              </a:spcBef>
              <a:buClrTx/>
              <a:buSzPct val="100000"/>
              <a:defRPr/>
            </a:pPr>
            <a:r>
              <a:rPr lang="en-HK" sz="2400" dirty="0">
                <a:latin typeface="Times New Roman" panose="02020603050405020304" pitchFamily="18" charset="0"/>
                <a:cs typeface="Times New Roman" panose="02020603050405020304" pitchFamily="18" charset="0"/>
              </a:rPr>
              <a:t>Allows comparing financial statements across firms and across time for the same size.</a:t>
            </a:r>
          </a:p>
          <a:p>
            <a:pPr lvl="1">
              <a:spcBef>
                <a:spcPts val="300"/>
              </a:spcBef>
              <a:buClrTx/>
              <a:buSzPct val="100000"/>
              <a:defRPr/>
            </a:pPr>
            <a:r>
              <a:rPr lang="en-HK" sz="2400" dirty="0">
                <a:latin typeface="Times New Roman" panose="02020603050405020304" pitchFamily="18" charset="0"/>
                <a:cs typeface="Times New Roman" panose="02020603050405020304" pitchFamily="18" charset="0"/>
              </a:rPr>
              <a:t>Help evaluating financial statements reported </a:t>
            </a:r>
            <a:r>
              <a:rPr lang="en-US" altLang="zh-CN" sz="2400" dirty="0">
                <a:latin typeface="Times New Roman" panose="02020603050405020304" pitchFamily="18" charset="0"/>
                <a:cs typeface="Times New Roman" panose="02020603050405020304" pitchFamily="18" charset="0"/>
              </a:rPr>
              <a:t>with</a:t>
            </a:r>
            <a:r>
              <a:rPr lang="en-HK" sz="2400" dirty="0">
                <a:latin typeface="Times New Roman" panose="02020603050405020304" pitchFamily="18" charset="0"/>
                <a:cs typeface="Times New Roman" panose="02020603050405020304" pitchFamily="18" charset="0"/>
              </a:rPr>
              <a:t> different currencies, or financial statements of firms of different size</a:t>
            </a:r>
          </a:p>
          <a:p>
            <a:pPr lvl="1">
              <a:spcBef>
                <a:spcPts val="300"/>
              </a:spcBef>
              <a:defRPr/>
            </a:pPr>
            <a:endParaRPr lang="en-US" sz="1800" dirty="0">
              <a:latin typeface="Times New Roman" panose="02020603050405020304" pitchFamily="18" charset="0"/>
              <a:cs typeface="Times New Roman" panose="02020603050405020304" pitchFamily="18" charset="0"/>
            </a:endParaRPr>
          </a:p>
          <a:p>
            <a:pPr>
              <a:spcBef>
                <a:spcPts val="300"/>
              </a:spcBef>
              <a:buFont typeface="Wingdings" panose="05000000000000000000" pitchFamily="2" charset="2"/>
              <a:buNone/>
              <a:defRPr/>
            </a:pPr>
            <a:endParaRPr lang="en-US" dirty="0">
              <a:latin typeface="Times New Roman" panose="02020603050405020304" pitchFamily="18" charset="0"/>
              <a:cs typeface="Times New Roman" panose="02020603050405020304" pitchFamily="18" charset="0"/>
            </a:endParaRPr>
          </a:p>
          <a:p>
            <a:pPr>
              <a:spcBef>
                <a:spcPts val="300"/>
              </a:spcBef>
              <a:defRPr/>
            </a:pPr>
            <a:endParaRPr lang="en-US" dirty="0">
              <a:latin typeface="Times New Roman" panose="02020603050405020304" pitchFamily="18" charset="0"/>
              <a:cs typeface="Times New Roman" panose="02020603050405020304" pitchFamily="18" charset="0"/>
            </a:endParaRPr>
          </a:p>
          <a:p>
            <a:pPr>
              <a:spcBef>
                <a:spcPts val="300"/>
              </a:spcBef>
              <a:defRPr/>
            </a:pPr>
            <a:endParaRPr lang="en-US" dirty="0">
              <a:latin typeface="Times New Roman" panose="02020603050405020304" pitchFamily="18" charset="0"/>
              <a:cs typeface="Times New Roman" panose="02020603050405020304" pitchFamily="18" charset="0"/>
            </a:endParaRPr>
          </a:p>
          <a:p>
            <a:pPr>
              <a:defRPr/>
            </a:pPr>
            <a:endParaRPr lang="en-US" dirty="0">
              <a:latin typeface="Times New Roman" panose="02020603050405020304" pitchFamily="18" charset="0"/>
              <a:cs typeface="Times New Roman" panose="02020603050405020304" pitchFamily="18" charset="0"/>
            </a:endParaRPr>
          </a:p>
        </p:txBody>
      </p:sp>
      <p:sp>
        <p:nvSpPr>
          <p:cNvPr id="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Common-Size Financial Statements</a:t>
            </a:r>
          </a:p>
        </p:txBody>
      </p:sp>
    </p:spTree>
    <p:extLst>
      <p:ext uri="{BB962C8B-B14F-4D97-AF65-F5344CB8AC3E}">
        <p14:creationId xmlns:p14="http://schemas.microsoft.com/office/powerpoint/2010/main" val="4183052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Common-Size Balance Sheet</a:t>
            </a:r>
          </a:p>
        </p:txBody>
      </p:sp>
      <p:graphicFrame>
        <p:nvGraphicFramePr>
          <p:cNvPr id="5" name="Table 5">
            <a:extLst>
              <a:ext uri="{FF2B5EF4-FFF2-40B4-BE49-F238E27FC236}">
                <a16:creationId xmlns:a16="http://schemas.microsoft.com/office/drawing/2014/main" id="{E0D66B0A-BA2A-DF4D-9AB4-C354F58D6D91}"/>
              </a:ext>
            </a:extLst>
          </p:cNvPr>
          <p:cNvGraphicFramePr>
            <a:graphicFrameLocks noGrp="1"/>
          </p:cNvGraphicFramePr>
          <p:nvPr>
            <p:extLst/>
          </p:nvPr>
        </p:nvGraphicFramePr>
        <p:xfrm>
          <a:off x="827583" y="1391088"/>
          <a:ext cx="7612553" cy="4752528"/>
        </p:xfrm>
        <a:graphic>
          <a:graphicData uri="http://schemas.openxmlformats.org/drawingml/2006/table">
            <a:tbl>
              <a:tblPr>
                <a:tableStyleId>{5C22544A-7EE6-4342-B048-85BDC9FD1C3A}</a:tableStyleId>
              </a:tblPr>
              <a:tblGrid>
                <a:gridCol w="2592289">
                  <a:extLst>
                    <a:ext uri="{9D8B030D-6E8A-4147-A177-3AD203B41FA5}">
                      <a16:colId xmlns:a16="http://schemas.microsoft.com/office/drawing/2014/main" val="922391358"/>
                    </a:ext>
                  </a:extLst>
                </a:gridCol>
                <a:gridCol w="2510132">
                  <a:extLst>
                    <a:ext uri="{9D8B030D-6E8A-4147-A177-3AD203B41FA5}">
                      <a16:colId xmlns:a16="http://schemas.microsoft.com/office/drawing/2014/main" val="1571012011"/>
                    </a:ext>
                  </a:extLst>
                </a:gridCol>
                <a:gridCol w="2510132">
                  <a:extLst>
                    <a:ext uri="{9D8B030D-6E8A-4147-A177-3AD203B41FA5}">
                      <a16:colId xmlns:a16="http://schemas.microsoft.com/office/drawing/2014/main" val="3771728480"/>
                    </a:ext>
                  </a:extLst>
                </a:gridCol>
              </a:tblGrid>
              <a:tr h="792088">
                <a:tc>
                  <a:txBody>
                    <a:bodyPr/>
                    <a:lstStyle/>
                    <a:p>
                      <a:endParaRPr 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Company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Company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8536857"/>
                  </a:ext>
                </a:extLst>
              </a:tr>
              <a:tr h="792088">
                <a:tc>
                  <a:txBody>
                    <a:bodyPr/>
                    <a:lstStyle/>
                    <a:p>
                      <a:r>
                        <a:rPr lang="en-US" sz="2000" dirty="0">
                          <a:latin typeface="Times New Roman" panose="02020603050405020304" pitchFamily="18" charset="0"/>
                          <a:cs typeface="Times New Roman" panose="02020603050405020304" pitchFamily="18" charset="0"/>
                        </a:rPr>
                        <a:t>Current Assets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$2,000,000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$25,000,000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2636367"/>
                  </a:ext>
                </a:extLst>
              </a:tr>
              <a:tr h="792088">
                <a:tc>
                  <a:txBody>
                    <a:bodyPr/>
                    <a:lstStyle/>
                    <a:p>
                      <a:r>
                        <a:rPr lang="en-US" sz="2000" dirty="0">
                          <a:latin typeface="Times New Roman" panose="02020603050405020304" pitchFamily="18" charset="0"/>
                          <a:cs typeface="Times New Roman" panose="02020603050405020304" pitchFamily="18" charset="0"/>
                        </a:rPr>
                        <a:t>Non-current Assets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$10,000,000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2569647"/>
                  </a:ext>
                </a:extLst>
              </a:tr>
              <a:tr h="792088">
                <a:tc>
                  <a:txBody>
                    <a:bodyPr/>
                    <a:lstStyle/>
                    <a:p>
                      <a:r>
                        <a:rPr lang="en-US" sz="2000" dirty="0">
                          <a:latin typeface="Times New Roman" panose="02020603050405020304" pitchFamily="18" charset="0"/>
                          <a:cs typeface="Times New Roman" panose="02020603050405020304" pitchFamily="18" charset="0"/>
                        </a:rPr>
                        <a:t>Current Liabilities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$3,000,000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2774050"/>
                  </a:ext>
                </a:extLst>
              </a:tr>
              <a:tr h="792088">
                <a:tc>
                  <a:txBody>
                    <a:bodyPr/>
                    <a:lstStyle/>
                    <a:p>
                      <a:r>
                        <a:rPr lang="en-US" sz="2000" dirty="0">
                          <a:latin typeface="Times New Roman" panose="02020603050405020304" pitchFamily="18" charset="0"/>
                          <a:cs typeface="Times New Roman" panose="02020603050405020304" pitchFamily="18" charset="0"/>
                        </a:rPr>
                        <a:t>Non-current Liabilities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$12,000,000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25259"/>
                  </a:ext>
                </a:extLst>
              </a:tr>
              <a:tr h="792088">
                <a:tc>
                  <a:txBody>
                    <a:bodyPr/>
                    <a:lstStyle/>
                    <a:p>
                      <a:r>
                        <a:rPr lang="en-US" sz="2000" dirty="0">
                          <a:latin typeface="Times New Roman" panose="02020603050405020304" pitchFamily="18" charset="0"/>
                          <a:cs typeface="Times New Roman" panose="02020603050405020304" pitchFamily="18" charset="0"/>
                        </a:rPr>
                        <a:t>Shareholders’ Equity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$20,000,000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516868"/>
                  </a:ext>
                </a:extLst>
              </a:tr>
            </a:tbl>
          </a:graphicData>
        </a:graphic>
      </p:graphicFrame>
    </p:spTree>
    <p:extLst>
      <p:ext uri="{BB962C8B-B14F-4D97-AF65-F5344CB8AC3E}">
        <p14:creationId xmlns:p14="http://schemas.microsoft.com/office/powerpoint/2010/main" val="3282717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Common-Size Balance Sheet</a:t>
            </a:r>
          </a:p>
        </p:txBody>
      </p:sp>
      <p:graphicFrame>
        <p:nvGraphicFramePr>
          <p:cNvPr id="6" name="Table 5">
            <a:extLst>
              <a:ext uri="{FF2B5EF4-FFF2-40B4-BE49-F238E27FC236}">
                <a16:creationId xmlns:a16="http://schemas.microsoft.com/office/drawing/2014/main" id="{E0D66B0A-BA2A-DF4D-9AB4-C354F58D6D91}"/>
              </a:ext>
            </a:extLst>
          </p:cNvPr>
          <p:cNvGraphicFramePr>
            <a:graphicFrameLocks noGrp="1"/>
          </p:cNvGraphicFramePr>
          <p:nvPr>
            <p:extLst/>
          </p:nvPr>
        </p:nvGraphicFramePr>
        <p:xfrm>
          <a:off x="827583" y="1391088"/>
          <a:ext cx="7612553" cy="4752528"/>
        </p:xfrm>
        <a:graphic>
          <a:graphicData uri="http://schemas.openxmlformats.org/drawingml/2006/table">
            <a:tbl>
              <a:tblPr>
                <a:tableStyleId>{5C22544A-7EE6-4342-B048-85BDC9FD1C3A}</a:tableStyleId>
              </a:tblPr>
              <a:tblGrid>
                <a:gridCol w="2592289">
                  <a:extLst>
                    <a:ext uri="{9D8B030D-6E8A-4147-A177-3AD203B41FA5}">
                      <a16:colId xmlns:a16="http://schemas.microsoft.com/office/drawing/2014/main" val="922391358"/>
                    </a:ext>
                  </a:extLst>
                </a:gridCol>
                <a:gridCol w="2510132">
                  <a:extLst>
                    <a:ext uri="{9D8B030D-6E8A-4147-A177-3AD203B41FA5}">
                      <a16:colId xmlns:a16="http://schemas.microsoft.com/office/drawing/2014/main" val="1571012011"/>
                    </a:ext>
                  </a:extLst>
                </a:gridCol>
                <a:gridCol w="2510132">
                  <a:extLst>
                    <a:ext uri="{9D8B030D-6E8A-4147-A177-3AD203B41FA5}">
                      <a16:colId xmlns:a16="http://schemas.microsoft.com/office/drawing/2014/main" val="3771728480"/>
                    </a:ext>
                  </a:extLst>
                </a:gridCol>
              </a:tblGrid>
              <a:tr h="792088">
                <a:tc>
                  <a:txBody>
                    <a:bodyPr/>
                    <a:lstStyle/>
                    <a:p>
                      <a:endParaRPr 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Company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Company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8536857"/>
                  </a:ext>
                </a:extLst>
              </a:tr>
              <a:tr h="792088">
                <a:tc>
                  <a:txBody>
                    <a:bodyPr/>
                    <a:lstStyle/>
                    <a:p>
                      <a:r>
                        <a:rPr lang="en-US" sz="2000" dirty="0">
                          <a:latin typeface="Times New Roman" panose="02020603050405020304" pitchFamily="18" charset="0"/>
                          <a:cs typeface="Times New Roman" panose="02020603050405020304" pitchFamily="18" charset="0"/>
                        </a:rPr>
                        <a:t>Current Assets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2636367"/>
                  </a:ext>
                </a:extLst>
              </a:tr>
              <a:tr h="792088">
                <a:tc>
                  <a:txBody>
                    <a:bodyPr/>
                    <a:lstStyle/>
                    <a:p>
                      <a:r>
                        <a:rPr lang="en-US" sz="2000" dirty="0">
                          <a:latin typeface="Times New Roman" panose="02020603050405020304" pitchFamily="18" charset="0"/>
                          <a:cs typeface="Times New Roman" panose="02020603050405020304" pitchFamily="18" charset="0"/>
                        </a:rPr>
                        <a:t>Non-current Assets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33.3%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28.6%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2569647"/>
                  </a:ext>
                </a:extLst>
              </a:tr>
              <a:tr h="792088">
                <a:tc>
                  <a:txBody>
                    <a:bodyPr/>
                    <a:lstStyle/>
                    <a:p>
                      <a:r>
                        <a:rPr lang="en-US" sz="2000" dirty="0">
                          <a:latin typeface="Times New Roman" panose="02020603050405020304" pitchFamily="18" charset="0"/>
                          <a:cs typeface="Times New Roman" panose="02020603050405020304" pitchFamily="18" charset="0"/>
                        </a:rPr>
                        <a:t>Current Liabilities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16.7%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2774050"/>
                  </a:ext>
                </a:extLst>
              </a:tr>
              <a:tr h="792088">
                <a:tc>
                  <a:txBody>
                    <a:bodyPr/>
                    <a:lstStyle/>
                    <a:p>
                      <a:r>
                        <a:rPr lang="en-US" sz="2000" dirty="0">
                          <a:latin typeface="Times New Roman" panose="02020603050405020304" pitchFamily="18" charset="0"/>
                          <a:cs typeface="Times New Roman" panose="02020603050405020304" pitchFamily="18" charset="0"/>
                        </a:rPr>
                        <a:t>Non-current Liabilities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25259"/>
                  </a:ext>
                </a:extLst>
              </a:tr>
              <a:tr h="792088">
                <a:tc>
                  <a:txBody>
                    <a:bodyPr/>
                    <a:lstStyle/>
                    <a:p>
                      <a:r>
                        <a:rPr lang="en-US" sz="2000" dirty="0">
                          <a:latin typeface="Times New Roman" panose="02020603050405020304" pitchFamily="18" charset="0"/>
                          <a:cs typeface="Times New Roman" panose="02020603050405020304" pitchFamily="18" charset="0"/>
                        </a:rPr>
                        <a:t>Shareholders’ Equity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33.3%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516868"/>
                  </a:ext>
                </a:extLst>
              </a:tr>
            </a:tbl>
          </a:graphicData>
        </a:graphic>
      </p:graphicFrame>
    </p:spTree>
    <p:extLst>
      <p:ext uri="{BB962C8B-B14F-4D97-AF65-F5344CB8AC3E}">
        <p14:creationId xmlns:p14="http://schemas.microsoft.com/office/powerpoint/2010/main" val="712654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1115616" y="2132856"/>
            <a:ext cx="691276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SzPct val="65000"/>
              <a:buFont typeface="Wingdings" panose="05000000000000000000" pitchFamily="2" charset="2"/>
              <a:buChar char="n"/>
              <a:defRPr sz="2200">
                <a:solidFill>
                  <a:schemeClr val="tx1"/>
                </a:solidFill>
                <a:latin typeface="Garamond" panose="02020404030301010803" pitchFamily="18" charset="0"/>
              </a:defRPr>
            </a:lvl1pPr>
            <a:lvl2pPr marL="742950" indent="-285750">
              <a:spcBef>
                <a:spcPct val="20000"/>
              </a:spcBef>
              <a:buClr>
                <a:srgbClr val="000099"/>
              </a:buClr>
              <a:buFont typeface="Webdings" panose="05030102010509060703" pitchFamily="18" charset="2"/>
              <a:buChar char="ë"/>
              <a:defRPr sz="2000">
                <a:solidFill>
                  <a:schemeClr val="tx1"/>
                </a:solidFill>
                <a:latin typeface="Garamond" panose="02020404030301010803" pitchFamily="18" charset="0"/>
              </a:defRPr>
            </a:lvl2pPr>
            <a:lvl3pPr marL="1143000" indent="-228600">
              <a:spcBef>
                <a:spcPct val="20000"/>
              </a:spcBef>
              <a:buClr>
                <a:srgbClr val="000099"/>
              </a:buClr>
              <a:buFont typeface="Wingdings" panose="05000000000000000000" pitchFamily="2" charset="2"/>
              <a:buChar char="ü"/>
              <a:defRPr>
                <a:solidFill>
                  <a:schemeClr val="tx1"/>
                </a:solidFill>
                <a:latin typeface="Garamond" panose="02020404030301010803" pitchFamily="18" charset="0"/>
              </a:defRPr>
            </a:lvl3pPr>
            <a:lvl4pPr marL="1600200" indent="-228600">
              <a:spcBef>
                <a:spcPct val="20000"/>
              </a:spcBef>
              <a:buClr>
                <a:srgbClr val="000099"/>
              </a:buClr>
              <a:buChar char="o"/>
              <a:defRPr sz="1600">
                <a:solidFill>
                  <a:schemeClr val="tx1"/>
                </a:solidFill>
                <a:latin typeface="Garamond" panose="02020404030301010803" pitchFamily="18" charset="0"/>
              </a:defRPr>
            </a:lvl4pPr>
            <a:lvl5pPr marL="2057400" indent="-228600">
              <a:spcBef>
                <a:spcPct val="20000"/>
              </a:spcBef>
              <a:buClr>
                <a:srgbClr val="000099"/>
              </a:buClr>
              <a:buChar char="•"/>
              <a:defRPr sz="1400">
                <a:solidFill>
                  <a:schemeClr val="tx1"/>
                </a:solidFill>
                <a:latin typeface="Garamond" panose="02020404030301010803" pitchFamily="18" charset="0"/>
              </a:defRPr>
            </a:lvl5pPr>
            <a:lvl6pPr marL="25146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6pPr>
            <a:lvl7pPr marL="29718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7pPr>
            <a:lvl8pPr marL="34290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8pPr>
            <a:lvl9pPr marL="38862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9pPr>
          </a:lstStyle>
          <a:p>
            <a:pPr algn="ctr">
              <a:spcBef>
                <a:spcPct val="0"/>
              </a:spcBef>
              <a:buClrTx/>
              <a:buSzTx/>
              <a:buNone/>
            </a:pPr>
            <a:r>
              <a:rPr lang="en-US" sz="4000" b="1" dirty="0">
                <a:solidFill>
                  <a:srgbClr val="993300"/>
                </a:solidFill>
                <a:latin typeface="Times New Roman" panose="02020603050405020304" pitchFamily="18" charset="0"/>
                <a:cs typeface="Times New Roman" panose="02020603050405020304" pitchFamily="18" charset="0"/>
              </a:rPr>
              <a:t>Case : Nike </a:t>
            </a:r>
          </a:p>
          <a:p>
            <a:pPr algn="ctr">
              <a:spcBef>
                <a:spcPct val="0"/>
              </a:spcBef>
              <a:buClrTx/>
              <a:buSzTx/>
              <a:buNone/>
            </a:pPr>
            <a:endParaRPr lang="en-US" sz="4000" b="1" dirty="0">
              <a:solidFill>
                <a:srgbClr val="993300"/>
              </a:solidFill>
              <a:latin typeface="Times New Roman" panose="02020603050405020304" pitchFamily="18" charset="0"/>
              <a:cs typeface="Times New Roman" panose="02020603050405020304" pitchFamily="18" charset="0"/>
            </a:endParaRPr>
          </a:p>
          <a:p>
            <a:pPr algn="ctr">
              <a:spcBef>
                <a:spcPct val="0"/>
              </a:spcBef>
              <a:buClrTx/>
              <a:buSzTx/>
              <a:buNone/>
            </a:pPr>
            <a:r>
              <a:rPr lang="en-US" sz="4000" b="1" dirty="0">
                <a:solidFill>
                  <a:srgbClr val="993300"/>
                </a:solidFill>
                <a:latin typeface="Times New Roman" panose="02020603050405020304" pitchFamily="18" charset="0"/>
                <a:cs typeface="Times New Roman" panose="02020603050405020304" pitchFamily="18" charset="0"/>
              </a:rPr>
              <a:t>Analyzing Balance Sheet</a:t>
            </a:r>
          </a:p>
        </p:txBody>
      </p:sp>
    </p:spTree>
    <p:extLst>
      <p:ext uri="{BB962C8B-B14F-4D97-AF65-F5344CB8AC3E}">
        <p14:creationId xmlns:p14="http://schemas.microsoft.com/office/powerpoint/2010/main" val="2507166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Strategy</a:t>
            </a:r>
          </a:p>
        </p:txBody>
      </p:sp>
      <p:sp>
        <p:nvSpPr>
          <p:cNvPr id="5" name="Content Placeholder 4"/>
          <p:cNvSpPr txBox="1">
            <a:spLocks/>
          </p:cNvSpPr>
          <p:nvPr/>
        </p:nvSpPr>
        <p:spPr>
          <a:xfrm>
            <a:off x="664271" y="1268760"/>
            <a:ext cx="7945926" cy="489644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HK" sz="2000" dirty="0">
                <a:latin typeface="Times New Roman" panose="02020603050405020304" pitchFamily="18" charset="0"/>
                <a:cs typeface="Times New Roman" panose="02020603050405020304" pitchFamily="18" charset="0"/>
              </a:rPr>
              <a:t>Nike, Inc.’s principal business activity involves the design, development, and worldwide marketing of athletic footwear, apparel, equipment, accessories, and services for serious and recreational athletes. Nike boasts that it is the largest seller of athletic footwear and apparel in the world. Nike sells products to retail accounts, through Nike-owned retail stores and Internet websites, and through a mix of independent distributors and licensees throughout the world. Nike outsources its production: Nearly all of Nike’s footwear and apparel products are produced in Asia (Vietnam, China, and Indonesia) and elsewhere outside of the United States by independent manufacturers, while equipment products are produced both in the United States and abroad.</a:t>
            </a:r>
            <a:endParaRPr lang="en-US"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defRPr/>
            </a:pPr>
            <a:endParaRPr lang="en-US" sz="2000" dirty="0">
              <a:latin typeface="Times New Roman" panose="02020603050405020304" pitchFamily="18" charset="0"/>
              <a:cs typeface="Times New Roman" panose="02020603050405020304" pitchFamily="18" charset="0"/>
            </a:endParaRPr>
          </a:p>
        </p:txBody>
      </p:sp>
      <p:sp>
        <p:nvSpPr>
          <p:cNvPr id="2" name="Rectangle 1"/>
          <p:cNvSpPr/>
          <p:nvPr/>
        </p:nvSpPr>
        <p:spPr>
          <a:xfrm>
            <a:off x="664271" y="6482912"/>
            <a:ext cx="4487511" cy="369332"/>
          </a:xfrm>
          <a:prstGeom prst="rect">
            <a:avLst/>
          </a:prstGeom>
        </p:spPr>
        <p:txBody>
          <a:bodyPr wrap="none">
            <a:spAutoFit/>
          </a:bodyPr>
          <a:lstStyle/>
          <a:p>
            <a:r>
              <a:rPr lang="en-US" dirty="0"/>
              <a:t>https://investors.nike.com/Home/default.aspx.</a:t>
            </a:r>
          </a:p>
        </p:txBody>
      </p:sp>
    </p:spTree>
    <p:extLst>
      <p:ext uri="{BB962C8B-B14F-4D97-AF65-F5344CB8AC3E}">
        <p14:creationId xmlns:p14="http://schemas.microsoft.com/office/powerpoint/2010/main" val="1493932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Strategy</a:t>
            </a:r>
          </a:p>
        </p:txBody>
      </p:sp>
      <p:sp>
        <p:nvSpPr>
          <p:cNvPr id="5" name="Content Placeholder 4"/>
          <p:cNvSpPr txBox="1">
            <a:spLocks/>
          </p:cNvSpPr>
          <p:nvPr/>
        </p:nvSpPr>
        <p:spPr>
          <a:xfrm>
            <a:off x="664271" y="1268760"/>
            <a:ext cx="7945926" cy="489644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HK" sz="2000" dirty="0">
                <a:latin typeface="Times New Roman" panose="02020603050405020304" pitchFamily="18" charset="0"/>
                <a:cs typeface="Times New Roman" panose="02020603050405020304" pitchFamily="18" charset="0"/>
              </a:rPr>
              <a:t>Nike targets the serious athlete as well as the recreational athlete with performance-driven footwear, apparel, and equipment. The firm has steadily expanded the scope of its product portfolio from its primary products of high-quality athletic footwear for running, training, basketball, soccer, and casual wear to encompass related product lines such as sports apparel, bags, equipment, balls, eyewear, timepieces, and other athletic accessories. In addition, Nike has expanded its scope of sports, now offering products for swimming, baseball, cheerleading, football, golf, lacrosse, tennis, volleyball, skateboarding, and other leisure activities. In recent years, the firm has emphasized growth outside the United States. Nike also has grown by acquiring other apparel companies, including Cole </a:t>
            </a:r>
            <a:r>
              <a:rPr lang="en-HK" sz="2000" dirty="0" err="1">
                <a:latin typeface="Times New Roman" panose="02020603050405020304" pitchFamily="18" charset="0"/>
                <a:cs typeface="Times New Roman" panose="02020603050405020304" pitchFamily="18" charset="0"/>
              </a:rPr>
              <a:t>Haan</a:t>
            </a:r>
            <a:r>
              <a:rPr lang="en-HK" sz="2000" dirty="0">
                <a:latin typeface="Times New Roman" panose="02020603050405020304" pitchFamily="18" charset="0"/>
                <a:cs typeface="Times New Roman" panose="02020603050405020304" pitchFamily="18" charset="0"/>
              </a:rPr>
              <a:t>, Converse, Hurley, and Umbro.</a:t>
            </a:r>
          </a:p>
          <a:p>
            <a:pPr>
              <a:spcBef>
                <a:spcPts val="0"/>
              </a:spcBef>
              <a:spcAft>
                <a:spcPts val="0"/>
              </a:spcAft>
              <a:buClrTx/>
              <a:buSzPct val="100000"/>
              <a:buFont typeface="Wingdings" panose="05000000000000000000" pitchFamily="2" charset="2"/>
              <a:buChar char="Ø"/>
            </a:pPr>
            <a:r>
              <a:rPr lang="en-HK" sz="2000" dirty="0">
                <a:latin typeface="Times New Roman" panose="02020603050405020304" pitchFamily="18" charset="0"/>
                <a:cs typeface="Times New Roman" panose="02020603050405020304" pitchFamily="18" charset="0"/>
              </a:rPr>
              <a:t>To maintain its technological edge, Nike engages in extensive research at its research facilities in Beaverton, Oregon. It continually alters its product line to introduce new footwear, apparel, equipment, and evolutionary improvements in existing products.</a:t>
            </a:r>
            <a:endParaRPr lang="en-US" sz="2000" dirty="0">
              <a:latin typeface="Times New Roman" panose="02020603050405020304" pitchFamily="18" charset="0"/>
              <a:cs typeface="Times New Roman" panose="02020603050405020304" pitchFamily="18" charset="0"/>
            </a:endParaRPr>
          </a:p>
          <a:p>
            <a:pPr>
              <a:spcBef>
                <a:spcPts val="300"/>
              </a:spcBef>
              <a:buFont typeface="Wingdings" panose="05000000000000000000" pitchFamily="2" charset="2"/>
              <a:buNone/>
              <a:defRPr/>
            </a:pPr>
            <a:endParaRPr lang="en-US"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defRPr/>
            </a:pPr>
            <a:endParaRPr lang="en-US"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664271" y="6482912"/>
            <a:ext cx="4487511" cy="369332"/>
          </a:xfrm>
          <a:prstGeom prst="rect">
            <a:avLst/>
          </a:prstGeom>
        </p:spPr>
        <p:txBody>
          <a:bodyPr wrap="none">
            <a:spAutoFit/>
          </a:bodyPr>
          <a:lstStyle/>
          <a:p>
            <a:r>
              <a:rPr lang="en-US" dirty="0"/>
              <a:t>https://investors.nike.com/Home/default.aspx.</a:t>
            </a:r>
          </a:p>
        </p:txBody>
      </p:sp>
    </p:spTree>
    <p:extLst>
      <p:ext uri="{BB962C8B-B14F-4D97-AF65-F5344CB8AC3E}">
        <p14:creationId xmlns:p14="http://schemas.microsoft.com/office/powerpoint/2010/main" val="2739579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302" y="1714850"/>
            <a:ext cx="8180123" cy="3428299"/>
          </a:xfrm>
          <a:prstGeom prst="rect">
            <a:avLst/>
          </a:prstGeom>
        </p:spPr>
      </p:pic>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Balance Sheet (Assets)</a:t>
            </a:r>
          </a:p>
        </p:txBody>
      </p:sp>
    </p:spTree>
    <p:extLst>
      <p:ext uri="{BB962C8B-B14F-4D97-AF65-F5344CB8AC3E}">
        <p14:creationId xmlns:p14="http://schemas.microsoft.com/office/powerpoint/2010/main" val="2757920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Common-Size Balance Sheet (Assets)</a:t>
            </a:r>
          </a:p>
        </p:txBody>
      </p:sp>
      <p:pic>
        <p:nvPicPr>
          <p:cNvPr id="1026" name="Picture 2" descr="https://d3h42hm6kzwula.cloudfront.net/content/ee2ccd2f-8275-490a-ac7b-75cea24bd27c/4/book-encrypted/graphics/22091_ch01_30-t2.png?Expires=1663319838&amp;Key-Pair-Id=APKAI6FSCAULE26ASCVQ&amp;Signature=VHGm4fcjPy6EcYsh6h01gOCVllYsBRmdxi9WXy2g6uHN0O0hMhk5G7D0rTniCO6kQQ97Zth823SgsfHrsdI81HUkav1--cCoWqCnZXcUCBX8mGUG9tJeZm7XUl-X71id1vgiOQybJf9tPHcaTiCE~nXEjpofiTfpi7c3TSRC2JXFhuWfIrSLivdGcr7niNr2xf-RYIu0bSQA0b7hmSitfW-K055NAKzfDa3fhk5-b9uuYdSiSQmAQD8kPcFTxjE-G3nJZFbdKgl6lkscQHckU1WcaZD~7wucgZ0yn-bIvnPhkzIirEhZP0fONyJAkcMFdialtcERSQzeKA-YJj51~w__">
            <a:extLst>
              <a:ext uri="{FF2B5EF4-FFF2-40B4-BE49-F238E27FC236}">
                <a16:creationId xmlns:a16="http://schemas.microsoft.com/office/drawing/2014/main" id="{D881EBB8-BA4F-4BBD-925A-D3D2617866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37" b="57510"/>
          <a:stretch/>
        </p:blipFill>
        <p:spPr bwMode="auto">
          <a:xfrm>
            <a:off x="719572" y="1484784"/>
            <a:ext cx="7704856" cy="3351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1410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1077218"/>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Common-Size Balance Sheet (Liabilities and Shareholders’ Equity)</a:t>
            </a:r>
          </a:p>
        </p:txBody>
      </p:sp>
      <p:pic>
        <p:nvPicPr>
          <p:cNvPr id="1026" name="Picture 2" descr="https://d3h42hm6kzwula.cloudfront.net/content/ee2ccd2f-8275-490a-ac7b-75cea24bd27c/4/book-encrypted/graphics/22091_ch01_30-t2.png?Expires=1663319838&amp;Key-Pair-Id=APKAI6FSCAULE26ASCVQ&amp;Signature=VHGm4fcjPy6EcYsh6h01gOCVllYsBRmdxi9WXy2g6uHN0O0hMhk5G7D0rTniCO6kQQ97Zth823SgsfHrsdI81HUkav1--cCoWqCnZXcUCBX8mGUG9tJeZm7XUl-X71id1vgiOQybJf9tPHcaTiCE~nXEjpofiTfpi7c3TSRC2JXFhuWfIrSLivdGcr7niNr2xf-RYIu0bSQA0b7hmSitfW-K055NAKzfDa3fhk5-b9uuYdSiSQmAQD8kPcFTxjE-G3nJZFbdKgl6lkscQHckU1WcaZD~7wucgZ0yn-bIvnPhkzIirEhZP0fONyJAkcMFdialtcERSQzeKA-YJj51~w__">
            <a:extLst>
              <a:ext uri="{FF2B5EF4-FFF2-40B4-BE49-F238E27FC236}">
                <a16:creationId xmlns:a16="http://schemas.microsoft.com/office/drawing/2014/main" id="{D881EBB8-BA4F-4BBD-925A-D3D2617866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8" t="41994" r="418" b="-422"/>
          <a:stretch/>
        </p:blipFill>
        <p:spPr bwMode="auto">
          <a:xfrm>
            <a:off x="719572" y="1700808"/>
            <a:ext cx="7704856"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743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Excerpts from Notes</a:t>
            </a:r>
          </a:p>
        </p:txBody>
      </p:sp>
      <p:sp>
        <p:nvSpPr>
          <p:cNvPr id="4" name="Content Placeholder 4"/>
          <p:cNvSpPr txBox="1">
            <a:spLocks/>
          </p:cNvSpPr>
          <p:nvPr/>
        </p:nvSpPr>
        <p:spPr>
          <a:xfrm>
            <a:off x="664271" y="1412875"/>
            <a:ext cx="7945926" cy="475233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HK" sz="2000" b="1" dirty="0">
                <a:latin typeface="Times New Roman" panose="02020603050405020304" pitchFamily="18" charset="0"/>
                <a:cs typeface="Times New Roman" panose="02020603050405020304" pitchFamily="18" charset="0"/>
              </a:rPr>
              <a:t>Property, Plant and Equipment and Depreciation</a:t>
            </a:r>
            <a:r>
              <a:rPr lang="en-HK" sz="2000" dirty="0">
                <a:latin typeface="Times New Roman" panose="02020603050405020304" pitchFamily="18" charset="0"/>
                <a:cs typeface="Times New Roman" panose="02020603050405020304" pitchFamily="18" charset="0"/>
              </a:rPr>
              <a:t>: Property, plant and equipment are recorded at cost. Depreciation is determined on a straight-line basis for buildings and leasehold improvements over 2 to 40 years and for machinery and equipment over 2 to 15 years.</a:t>
            </a:r>
          </a:p>
          <a:p>
            <a:pPr>
              <a:spcBef>
                <a:spcPts val="0"/>
              </a:spcBef>
              <a:spcAft>
                <a:spcPts val="0"/>
              </a:spcAft>
              <a:buClrTx/>
              <a:buSzPct val="100000"/>
              <a:buFont typeface="Wingdings" panose="05000000000000000000" pitchFamily="2" charset="2"/>
              <a:buChar char="Ø"/>
            </a:pPr>
            <a:r>
              <a:rPr lang="en-HK" sz="2000" b="1" dirty="0">
                <a:latin typeface="Times New Roman" panose="02020603050405020304" pitchFamily="18" charset="0"/>
                <a:cs typeface="Times New Roman" panose="02020603050405020304" pitchFamily="18" charset="0"/>
              </a:rPr>
              <a:t>Identifiable Intangible Assets and Goodwill</a:t>
            </a:r>
            <a:r>
              <a:rPr lang="en-HK" sz="2000" dirty="0">
                <a:latin typeface="Times New Roman" panose="02020603050405020304" pitchFamily="18" charset="0"/>
                <a:cs typeface="Times New Roman" panose="02020603050405020304" pitchFamily="18" charset="0"/>
              </a:rPr>
              <a:t>: This account represents the excess of the purchase price of acquired businesses over the market values of identifiable net assets</a:t>
            </a:r>
            <a:endParaRPr lang="en-US"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defRP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066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Analyzing Balance Sheet </a:t>
            </a:r>
          </a:p>
        </p:txBody>
      </p:sp>
      <p:sp>
        <p:nvSpPr>
          <p:cNvPr id="5" name="Content Placeholder 4"/>
          <p:cNvSpPr txBox="1">
            <a:spLocks/>
          </p:cNvSpPr>
          <p:nvPr/>
        </p:nvSpPr>
        <p:spPr>
          <a:xfrm>
            <a:off x="664271" y="1412875"/>
            <a:ext cx="7945926" cy="475233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Refer to the common-size and percentage change balance sheets for Nike at the end of 2014, 2015, and 2016. What is the likely explanation for the relatively small percentages for property, plant, and equipment?</a:t>
            </a:r>
            <a:endParaRPr lang="en-HK" b="1" dirty="0">
              <a:latin typeface="Times New Roman" panose="02020603050405020304" pitchFamily="18" charset="0"/>
              <a:cs typeface="Times New Roman" panose="02020603050405020304" pitchFamily="18" charset="0"/>
            </a:endParaRPr>
          </a:p>
          <a:p>
            <a:pPr>
              <a:spcBef>
                <a:spcPts val="0"/>
              </a:spcBef>
              <a:spcAft>
                <a:spcPts val="0"/>
              </a:spcAft>
              <a:buClrTx/>
              <a:buSzPct val="100000"/>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lvl="1" indent="0">
              <a:spcBef>
                <a:spcPts val="0"/>
              </a:spcBef>
              <a:spcAft>
                <a:spcPts val="0"/>
              </a:spcAft>
              <a:buClrTx/>
              <a:buSzPct val="100000"/>
              <a:buNone/>
            </a:pPr>
            <a:endParaRPr lang="en-HK"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6322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Analyzing Balance Sheet </a:t>
            </a:r>
          </a:p>
        </p:txBody>
      </p:sp>
      <p:sp>
        <p:nvSpPr>
          <p:cNvPr id="5" name="Content Placeholder 4"/>
          <p:cNvSpPr txBox="1">
            <a:spLocks/>
          </p:cNvSpPr>
          <p:nvPr/>
        </p:nvSpPr>
        <p:spPr>
          <a:xfrm>
            <a:off x="664271" y="1412875"/>
            <a:ext cx="7945926" cy="475233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What is the likely explanation for the relatively small percentages for notes payable and long-term debt?</a:t>
            </a:r>
          </a:p>
          <a:p>
            <a:pPr>
              <a:spcBef>
                <a:spcPts val="0"/>
              </a:spcBef>
              <a:spcAft>
                <a:spcPts val="0"/>
              </a:spcAft>
              <a:buClrTx/>
              <a:buSzPct val="100000"/>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457200" lvl="1" indent="0">
              <a:spcBef>
                <a:spcPts val="0"/>
              </a:spcBef>
              <a:spcAft>
                <a:spcPts val="0"/>
              </a:spcAft>
              <a:buClrTx/>
              <a:buSzPct val="100000"/>
              <a:buNone/>
            </a:pPr>
            <a:endParaRPr lang="en-HK"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373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p:cNvSpPr txBox="1">
            <a:spLocks noChangeArrowheads="1"/>
          </p:cNvSpPr>
          <p:nvPr/>
        </p:nvSpPr>
        <p:spPr bwMode="auto">
          <a:xfrm>
            <a:off x="1115616" y="2729756"/>
            <a:ext cx="698477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SzPct val="65000"/>
              <a:buFont typeface="Wingdings" panose="05000000000000000000" pitchFamily="2" charset="2"/>
              <a:buChar char="n"/>
              <a:defRPr sz="2200">
                <a:solidFill>
                  <a:schemeClr val="tx1"/>
                </a:solidFill>
                <a:latin typeface="Garamond" panose="02020404030301010803" pitchFamily="18" charset="0"/>
              </a:defRPr>
            </a:lvl1pPr>
            <a:lvl2pPr marL="742950" indent="-285750">
              <a:spcBef>
                <a:spcPct val="20000"/>
              </a:spcBef>
              <a:buClr>
                <a:srgbClr val="000099"/>
              </a:buClr>
              <a:buFont typeface="Webdings" panose="05030102010509060703" pitchFamily="18" charset="2"/>
              <a:buChar char="ë"/>
              <a:defRPr sz="2000">
                <a:solidFill>
                  <a:schemeClr val="tx1"/>
                </a:solidFill>
                <a:latin typeface="Garamond" panose="02020404030301010803" pitchFamily="18" charset="0"/>
              </a:defRPr>
            </a:lvl2pPr>
            <a:lvl3pPr marL="1143000" indent="-228600">
              <a:spcBef>
                <a:spcPct val="20000"/>
              </a:spcBef>
              <a:buClr>
                <a:srgbClr val="000099"/>
              </a:buClr>
              <a:buFont typeface="Wingdings" panose="05000000000000000000" pitchFamily="2" charset="2"/>
              <a:buChar char="ü"/>
              <a:defRPr>
                <a:solidFill>
                  <a:schemeClr val="tx1"/>
                </a:solidFill>
                <a:latin typeface="Garamond" panose="02020404030301010803" pitchFamily="18" charset="0"/>
              </a:defRPr>
            </a:lvl3pPr>
            <a:lvl4pPr marL="1600200" indent="-228600">
              <a:spcBef>
                <a:spcPct val="20000"/>
              </a:spcBef>
              <a:buClr>
                <a:srgbClr val="000099"/>
              </a:buClr>
              <a:buChar char="o"/>
              <a:defRPr sz="1600">
                <a:solidFill>
                  <a:schemeClr val="tx1"/>
                </a:solidFill>
                <a:latin typeface="Garamond" panose="02020404030301010803" pitchFamily="18" charset="0"/>
              </a:defRPr>
            </a:lvl4pPr>
            <a:lvl5pPr marL="2057400" indent="-228600">
              <a:spcBef>
                <a:spcPct val="20000"/>
              </a:spcBef>
              <a:buClr>
                <a:srgbClr val="000099"/>
              </a:buClr>
              <a:buChar char="•"/>
              <a:defRPr sz="1400">
                <a:solidFill>
                  <a:schemeClr val="tx1"/>
                </a:solidFill>
                <a:latin typeface="Garamond" panose="02020404030301010803" pitchFamily="18" charset="0"/>
              </a:defRPr>
            </a:lvl5pPr>
            <a:lvl6pPr marL="25146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6pPr>
            <a:lvl7pPr marL="29718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7pPr>
            <a:lvl8pPr marL="34290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8pPr>
            <a:lvl9pPr marL="38862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9pPr>
          </a:lstStyle>
          <a:p>
            <a:pPr algn="ctr">
              <a:spcBef>
                <a:spcPct val="0"/>
              </a:spcBef>
              <a:buClrTx/>
              <a:buSzTx/>
              <a:buNone/>
            </a:pPr>
            <a:r>
              <a:rPr lang="en-US" sz="4000" b="1" dirty="0">
                <a:solidFill>
                  <a:srgbClr val="993300"/>
                </a:solidFill>
                <a:latin typeface="Times New Roman" panose="02020603050405020304" pitchFamily="18" charset="0"/>
                <a:cs typeface="Times New Roman" panose="02020603050405020304" pitchFamily="18" charset="0"/>
              </a:rPr>
              <a:t>Income Statement</a:t>
            </a:r>
          </a:p>
          <a:p>
            <a:pPr algn="ctr">
              <a:spcBef>
                <a:spcPct val="0"/>
              </a:spcBef>
              <a:buClrTx/>
              <a:buSzTx/>
              <a:buNone/>
            </a:pPr>
            <a:r>
              <a:rPr lang="en-US" sz="4000" dirty="0">
                <a:solidFill>
                  <a:srgbClr val="993300"/>
                </a:solidFill>
                <a:latin typeface="Times New Roman" panose="02020603050405020304" pitchFamily="18" charset="0"/>
                <a:cs typeface="Times New Roman" panose="02020603050405020304" pitchFamily="18" charset="0"/>
              </a:rPr>
              <a:t>(Statement of profit or loss)</a:t>
            </a:r>
          </a:p>
          <a:p>
            <a:pPr algn="ctr">
              <a:spcBef>
                <a:spcPct val="0"/>
              </a:spcBef>
              <a:buClrTx/>
              <a:buSzTx/>
              <a:buNone/>
            </a:pPr>
            <a:endParaRPr lang="en-US" sz="4000" b="1" dirty="0">
              <a:solidFill>
                <a:srgbClr val="99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1287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4294967295"/>
          </p:nvPr>
        </p:nvSpPr>
        <p:spPr>
          <a:xfrm>
            <a:off x="656630" y="1412875"/>
            <a:ext cx="7758112" cy="4903788"/>
          </a:xfrm>
        </p:spPr>
        <p:txBody>
          <a:bodyPr>
            <a:noAutofit/>
          </a:bodyPr>
          <a:lstStyle/>
          <a:p>
            <a:pPr marL="0" indent="0">
              <a:spcAft>
                <a:spcPts val="0"/>
              </a:spcAft>
              <a:buClrTx/>
              <a:buSzPct val="100000"/>
              <a:buNone/>
            </a:pPr>
            <a:r>
              <a:rPr lang="en-US" dirty="0">
                <a:latin typeface="Times New Roman" panose="02020603050405020304" pitchFamily="18" charset="0"/>
                <a:cs typeface="Times New Roman" panose="02020603050405020304" pitchFamily="18" charset="0"/>
              </a:rPr>
              <a:t>Shows </a:t>
            </a:r>
            <a:r>
              <a:rPr lang="en-US" u="sng" dirty="0">
                <a:latin typeface="Times New Roman" panose="02020603050405020304" pitchFamily="18" charset="0"/>
                <a:cs typeface="Times New Roman" panose="02020603050405020304" pitchFamily="18" charset="0"/>
              </a:rPr>
              <a:t>financial performance</a:t>
            </a:r>
            <a:r>
              <a:rPr lang="en-US" dirty="0">
                <a:latin typeface="Times New Roman" panose="02020603050405020304" pitchFamily="18" charset="0"/>
                <a:cs typeface="Times New Roman" panose="02020603050405020304" pitchFamily="18" charset="0"/>
              </a:rPr>
              <a:t> over a given period</a:t>
            </a:r>
          </a:p>
          <a:p>
            <a:pPr>
              <a:spcAft>
                <a:spcPts val="0"/>
              </a:spcAft>
              <a:buClrTx/>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Net Income = Revenues </a:t>
            </a:r>
            <a:r>
              <a:rPr lang="en-US" altLang="zh-CN" dirty="0">
                <a:latin typeface="Times New Roman" panose="02020603050405020304" pitchFamily="18" charset="0"/>
                <a:cs typeface="Times New Roman" panose="02020603050405020304" pitchFamily="18" charset="0"/>
              </a:rPr>
              <a:t>– Expenses </a:t>
            </a:r>
            <a:r>
              <a:rPr lang="en-US" dirty="0">
                <a:latin typeface="Times New Roman" panose="02020603050405020304" pitchFamily="18" charset="0"/>
                <a:cs typeface="Times New Roman" panose="02020603050405020304" pitchFamily="18" charset="0"/>
              </a:rPr>
              <a:t>+ Gains – Losses</a:t>
            </a:r>
          </a:p>
          <a:p>
            <a:pPr lvl="1">
              <a:spcAft>
                <a:spcPts val="0"/>
              </a:spcAft>
              <a:buClrTx/>
              <a:buSzPct val="100000"/>
              <a:buFont typeface="Arial" panose="020B0604020202020204" pitchFamily="34" charset="0"/>
              <a:buChar char="•"/>
            </a:pPr>
            <a:r>
              <a:rPr lang="en-HK" sz="2200" dirty="0">
                <a:latin typeface="Times New Roman" panose="02020603050405020304" pitchFamily="18" charset="0"/>
                <a:cs typeface="Times New Roman" panose="02020603050405020304" pitchFamily="18" charset="0"/>
              </a:rPr>
              <a:t>Revenues (Expenses) represent the resources Generated (Consumed) by a firm</a:t>
            </a:r>
          </a:p>
          <a:p>
            <a:pPr lvl="1">
              <a:spcAft>
                <a:spcPts val="0"/>
              </a:spcAft>
              <a:buClrTx/>
              <a:buSzPct val="100000"/>
              <a:buFont typeface="Arial" panose="020B0604020202020204" pitchFamily="34" charset="0"/>
              <a:buChar char="•"/>
            </a:pPr>
            <a:r>
              <a:rPr lang="en-HK" sz="2200" dirty="0">
                <a:latin typeface="Times New Roman" panose="02020603050405020304" pitchFamily="18" charset="0"/>
                <a:cs typeface="Times New Roman" panose="02020603050405020304" pitchFamily="18" charset="0"/>
              </a:rPr>
              <a:t>Gains and losses typically result from non-operating or incidental activities that are outside of the core business</a:t>
            </a:r>
          </a:p>
          <a:p>
            <a:pPr>
              <a:buFont typeface="Wingdings" panose="05000000000000000000" pitchFamily="2" charset="2"/>
              <a:buChar char="Ø"/>
            </a:pPr>
            <a:r>
              <a:rPr lang="en-US" altLang="zh-HK" sz="2400" dirty="0">
                <a:latin typeface="Times New Roman" panose="02020603050405020304" pitchFamily="18" charset="0"/>
                <a:cs typeface="Times New Roman" panose="02020603050405020304" pitchFamily="18" charset="0"/>
              </a:rPr>
              <a:t>When using the income statement to assess a firm’s profitability, it is important to focus not only its current and past profitability, but also the likeliness of sustainable earnings in the future. </a:t>
            </a:r>
          </a:p>
          <a:p>
            <a:pPr lvl="1">
              <a:spcAft>
                <a:spcPts val="0"/>
              </a:spcAft>
              <a:buClrTx/>
              <a:buSzPct val="1000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lvl="1" eaLnBrk="1" hangingPunct="1">
              <a:spcBef>
                <a:spcPts val="300"/>
              </a:spcBef>
              <a:spcAft>
                <a:spcPts val="0"/>
              </a:spcAft>
              <a:defRPr/>
            </a:pPr>
            <a:endParaRPr lang="en-US" sz="1800" dirty="0">
              <a:latin typeface="Times New Roman" panose="02020603050405020304" pitchFamily="18" charset="0"/>
              <a:cs typeface="Times New Roman" panose="02020603050405020304" pitchFamily="18" charset="0"/>
            </a:endParaRPr>
          </a:p>
          <a:p>
            <a:pPr eaLnBrk="1" hangingPunct="1">
              <a:spcBef>
                <a:spcPts val="300"/>
              </a:spcBef>
              <a:spcAft>
                <a:spcPts val="0"/>
              </a:spcAft>
              <a:buFont typeface="Wingdings" panose="05000000000000000000" pitchFamily="2" charset="2"/>
              <a:buNone/>
              <a:defRPr/>
            </a:pPr>
            <a:endParaRPr lang="en-US" dirty="0">
              <a:latin typeface="Times New Roman" panose="02020603050405020304" pitchFamily="18" charset="0"/>
              <a:cs typeface="Times New Roman" panose="02020603050405020304" pitchFamily="18" charset="0"/>
            </a:endParaRPr>
          </a:p>
          <a:p>
            <a:pPr eaLnBrk="1" hangingPunct="1">
              <a:spcBef>
                <a:spcPts val="300"/>
              </a:spcBef>
              <a:spcAft>
                <a:spcPts val="0"/>
              </a:spcAft>
              <a:defRPr/>
            </a:pPr>
            <a:endParaRPr lang="en-US" dirty="0">
              <a:latin typeface="Times New Roman" panose="02020603050405020304" pitchFamily="18" charset="0"/>
              <a:cs typeface="Times New Roman" panose="02020603050405020304" pitchFamily="18" charset="0"/>
            </a:endParaRPr>
          </a:p>
          <a:p>
            <a:pPr eaLnBrk="1" hangingPunct="1">
              <a:spcBef>
                <a:spcPts val="300"/>
              </a:spcBef>
              <a:spcAft>
                <a:spcPts val="0"/>
              </a:spcAft>
              <a:defRPr/>
            </a:pPr>
            <a:endParaRPr lang="en-US" dirty="0">
              <a:latin typeface="Times New Roman" panose="02020603050405020304" pitchFamily="18" charset="0"/>
              <a:cs typeface="Times New Roman" panose="02020603050405020304" pitchFamily="18" charset="0"/>
            </a:endParaRPr>
          </a:p>
          <a:p>
            <a:pPr eaLnBrk="1" hangingPunct="1">
              <a:spcAft>
                <a:spcPts val="0"/>
              </a:spcAft>
              <a:defRPr/>
            </a:pPr>
            <a:endParaRPr lang="en-US" dirty="0">
              <a:latin typeface="Times New Roman" panose="02020603050405020304" pitchFamily="18" charset="0"/>
              <a:cs typeface="Times New Roman" panose="02020603050405020304" pitchFamily="18" charset="0"/>
            </a:endParaRPr>
          </a:p>
        </p:txBody>
      </p:sp>
      <p:sp>
        <p:nvSpPr>
          <p:cNvPr id="6" name="Text Box 6"/>
          <p:cNvSpPr txBox="1">
            <a:spLocks noChangeArrowheads="1"/>
          </p:cNvSpPr>
          <p:nvPr/>
        </p:nvSpPr>
        <p:spPr bwMode="auto">
          <a:xfrm>
            <a:off x="539750" y="549275"/>
            <a:ext cx="8064499"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cs typeface="Times New Roman" panose="02020603050405020304" pitchFamily="18" charset="0"/>
              </a:rPr>
              <a:t>Income Statement</a:t>
            </a:r>
            <a:endPar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1242050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539750" y="548680"/>
            <a:ext cx="8064500"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Income Statement</a:t>
            </a:r>
          </a:p>
        </p:txBody>
      </p:sp>
      <p:sp>
        <p:nvSpPr>
          <p:cNvPr id="20483" name="Text Box 3"/>
          <p:cNvSpPr txBox="1">
            <a:spLocks noChangeArrowheads="1"/>
          </p:cNvSpPr>
          <p:nvPr/>
        </p:nvSpPr>
        <p:spPr bwMode="auto">
          <a:xfrm>
            <a:off x="708409" y="1268760"/>
            <a:ext cx="7727181" cy="4524315"/>
          </a:xfrm>
          <a:prstGeom prst="rect">
            <a:avLst/>
          </a:prstGeom>
          <a:noFill/>
          <a:ln w="9525">
            <a:noFill/>
            <a:miter lim="800000"/>
            <a:headEnd/>
            <a:tailEnd/>
          </a:ln>
        </p:spPr>
        <p:txBody>
          <a:bodyPr wrap="square">
            <a:spAutoFit/>
          </a:bodyPr>
          <a:lstStyle/>
          <a:p>
            <a:pPr marL="520700" indent="-40957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Revenue (Sales, Turnover)</a:t>
            </a:r>
          </a:p>
          <a:p>
            <a:pPr marL="568325">
              <a:buSzPct val="100000"/>
            </a:pPr>
            <a:r>
              <a:rPr lang="en-US" altLang="zh-TW" sz="2400" dirty="0">
                <a:latin typeface="Arial" panose="020B0604020202020204" pitchFamily="34" charset="0"/>
                <a:ea typeface="新細明體" pitchFamily="18" charset="-120"/>
                <a:cs typeface="Arial" panose="020B0604020202020204" pitchFamily="34" charset="0"/>
              </a:rPr>
              <a:t>– </a:t>
            </a:r>
            <a:r>
              <a:rPr lang="en-US" altLang="zh-TW" sz="2400" dirty="0">
                <a:latin typeface="Times New Roman" panose="02020603050405020304" pitchFamily="18" charset="0"/>
                <a:ea typeface="新細明體" pitchFamily="18" charset="-120"/>
                <a:cs typeface="Times New Roman" panose="02020603050405020304" pitchFamily="18" charset="0"/>
              </a:rPr>
              <a:t>Cost of revenue (Cost of sales, Cost of goods sold)</a:t>
            </a:r>
          </a:p>
          <a:p>
            <a:pPr marL="520700" indent="-40957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Gross profit</a:t>
            </a:r>
          </a:p>
          <a:p>
            <a:pPr marL="56832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 Other income and gains</a:t>
            </a:r>
          </a:p>
          <a:p>
            <a:pPr marL="568325">
              <a:buSzPct val="100000"/>
            </a:pPr>
            <a:r>
              <a:rPr lang="en-US" altLang="zh-TW" sz="2400" dirty="0">
                <a:latin typeface="Arial" panose="020B0604020202020204" pitchFamily="34" charset="0"/>
                <a:ea typeface="新細明體" pitchFamily="18" charset="-120"/>
                <a:cs typeface="Arial" panose="020B0604020202020204" pitchFamily="34" charset="0"/>
              </a:rPr>
              <a:t>– </a:t>
            </a:r>
            <a:r>
              <a:rPr lang="en-US" altLang="zh-TW" sz="2400" dirty="0">
                <a:latin typeface="Times New Roman" panose="02020603050405020304" pitchFamily="18" charset="0"/>
                <a:ea typeface="新細明體" pitchFamily="18" charset="-120"/>
                <a:cs typeface="Times New Roman" panose="02020603050405020304" pitchFamily="18" charset="0"/>
              </a:rPr>
              <a:t>Distribution / administration / other expenses</a:t>
            </a:r>
          </a:p>
          <a:p>
            <a:pPr marL="520700" indent="-40957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Profit from operations</a:t>
            </a:r>
          </a:p>
          <a:p>
            <a:pPr marL="568325">
              <a:buSzPct val="100000"/>
            </a:pPr>
            <a:r>
              <a:rPr lang="en-US" altLang="zh-TW" sz="2400" dirty="0">
                <a:latin typeface="Arial" panose="020B0604020202020204" pitchFamily="34" charset="0"/>
                <a:ea typeface="新細明體" pitchFamily="18" charset="-120"/>
                <a:cs typeface="Arial" panose="020B0604020202020204" pitchFamily="34" charset="0"/>
              </a:rPr>
              <a:t>– </a:t>
            </a:r>
            <a:r>
              <a:rPr lang="en-US" altLang="zh-TW" sz="2400" dirty="0">
                <a:latin typeface="Times New Roman" panose="02020603050405020304" pitchFamily="18" charset="0"/>
                <a:ea typeface="新細明體" pitchFamily="18" charset="-120"/>
                <a:cs typeface="Times New Roman" panose="02020603050405020304" pitchFamily="18" charset="0"/>
              </a:rPr>
              <a:t>Finance costs</a:t>
            </a:r>
          </a:p>
          <a:p>
            <a:pPr marL="520700" indent="-40957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Profit before tax</a:t>
            </a:r>
          </a:p>
          <a:p>
            <a:pPr marL="568325">
              <a:buSzPct val="100000"/>
            </a:pPr>
            <a:r>
              <a:rPr lang="en-US" altLang="zh-TW" sz="2400" dirty="0">
                <a:latin typeface="Arial" panose="020B0604020202020204" pitchFamily="34" charset="0"/>
                <a:ea typeface="新細明體" pitchFamily="18" charset="-120"/>
                <a:cs typeface="Arial" panose="020B0604020202020204" pitchFamily="34" charset="0"/>
              </a:rPr>
              <a:t>– </a:t>
            </a:r>
            <a:r>
              <a:rPr lang="en-US" altLang="zh-TW" sz="2400" dirty="0">
                <a:latin typeface="Times New Roman" panose="02020603050405020304" pitchFamily="18" charset="0"/>
                <a:ea typeface="新細明體" pitchFamily="18" charset="-120"/>
                <a:cs typeface="Times New Roman" panose="02020603050405020304" pitchFamily="18" charset="0"/>
              </a:rPr>
              <a:t>Tax expense</a:t>
            </a:r>
          </a:p>
          <a:p>
            <a:pPr marL="520700" indent="-40957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Profit after tax, attributable to</a:t>
            </a:r>
          </a:p>
          <a:p>
            <a:pPr marL="56832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Shareholders of the company =&gt; Earnings per share</a:t>
            </a:r>
          </a:p>
          <a:p>
            <a:pPr marL="568325">
              <a:buSzPct val="100000"/>
            </a:pPr>
            <a:r>
              <a:rPr lang="en-US" altLang="zh-TW" sz="2400" dirty="0">
                <a:latin typeface="Times New Roman" panose="02020603050405020304" pitchFamily="18" charset="0"/>
                <a:ea typeface="新細明體" pitchFamily="18" charset="-120"/>
                <a:cs typeface="Times New Roman" panose="02020603050405020304" pitchFamily="18" charset="0"/>
              </a:rPr>
              <a:t>Non-controlling interests</a:t>
            </a:r>
          </a:p>
        </p:txBody>
      </p:sp>
    </p:spTree>
    <p:extLst>
      <p:ext uri="{BB962C8B-B14F-4D97-AF65-F5344CB8AC3E}">
        <p14:creationId xmlns:p14="http://schemas.microsoft.com/office/powerpoint/2010/main" val="3524329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1"/>
          <p:cNvSpPr txBox="1">
            <a:spLocks noChangeArrowheads="1"/>
          </p:cNvSpPr>
          <p:nvPr/>
        </p:nvSpPr>
        <p:spPr bwMode="auto">
          <a:xfrm>
            <a:off x="684214" y="560859"/>
            <a:ext cx="7920036"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Revenues</a:t>
            </a:r>
            <a:endParaRPr lang="zh-TW" altLang="en-US" sz="3600" dirty="0">
              <a:solidFill>
                <a:srgbClr val="993300"/>
              </a:solidFill>
              <a:latin typeface="Times New Roman" panose="02020603050405020304" pitchFamily="18" charset="0"/>
              <a:ea typeface="新細明體" pitchFamily="18" charset="-120"/>
              <a:cs typeface="Times New Roman" panose="02020603050405020304" pitchFamily="18" charset="0"/>
            </a:endParaRPr>
          </a:p>
        </p:txBody>
      </p:sp>
      <p:sp>
        <p:nvSpPr>
          <p:cNvPr id="21507" name="TextBox 2"/>
          <p:cNvSpPr txBox="1">
            <a:spLocks noChangeArrowheads="1"/>
          </p:cNvSpPr>
          <p:nvPr/>
        </p:nvSpPr>
        <p:spPr bwMode="auto">
          <a:xfrm>
            <a:off x="646609" y="1341923"/>
            <a:ext cx="7848600" cy="3539430"/>
          </a:xfrm>
          <a:prstGeom prst="rect">
            <a:avLst/>
          </a:prstGeom>
          <a:noFill/>
          <a:ln w="9525">
            <a:noFill/>
            <a:miter lim="800000"/>
            <a:headEnd/>
            <a:tailEnd/>
          </a:ln>
        </p:spPr>
        <p:txBody>
          <a:bodyPr>
            <a:spAutoFit/>
          </a:bodyPr>
          <a:lstStyle/>
          <a:p>
            <a:pPr marL="457200" indent="-4572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Revenue</a:t>
            </a:r>
          </a:p>
          <a:p>
            <a:pPr marL="914400" lvl="1" indent="-457200">
              <a:buFont typeface="Arial" panose="020B0604020202020204" pitchFamily="34" charset="0"/>
              <a:buChar char="•"/>
            </a:pPr>
            <a:r>
              <a:rPr lang="en-US" altLang="zh-TW" sz="2800" dirty="0">
                <a:latin typeface="Times New Roman" panose="02020603050405020304" pitchFamily="18" charset="0"/>
                <a:ea typeface="新細明體" pitchFamily="18" charset="-120"/>
                <a:cs typeface="Times New Roman" panose="02020603050405020304" pitchFamily="18" charset="0"/>
              </a:rPr>
              <a:t>Magnitude of </a:t>
            </a:r>
            <a:r>
              <a:rPr lang="en-US" altLang="zh-TW" sz="2800" dirty="0">
                <a:solidFill>
                  <a:srgbClr val="993300"/>
                </a:solidFill>
                <a:latin typeface="Times New Roman" panose="02020603050405020304" pitchFamily="18" charset="0"/>
                <a:ea typeface="新細明體" pitchFamily="18" charset="-120"/>
                <a:cs typeface="Times New Roman" panose="02020603050405020304" pitchFamily="18" charset="0"/>
              </a:rPr>
              <a:t>mainstream</a:t>
            </a:r>
            <a:r>
              <a:rPr lang="en-US" altLang="zh-TW" sz="2800" dirty="0">
                <a:latin typeface="Times New Roman" panose="02020603050405020304" pitchFamily="18" charset="0"/>
                <a:ea typeface="新細明體" pitchFamily="18" charset="-120"/>
                <a:cs typeface="Times New Roman" panose="02020603050405020304" pitchFamily="18" charset="0"/>
              </a:rPr>
              <a:t> source of income</a:t>
            </a:r>
          </a:p>
          <a:p>
            <a:pPr marL="914400" lvl="1" indent="-457200">
              <a:buFont typeface="Arial" panose="020B0604020202020204" pitchFamily="34" charset="0"/>
              <a:buChar char="•"/>
            </a:pPr>
            <a:r>
              <a:rPr lang="en-US" altLang="zh-TW" sz="2800" dirty="0">
                <a:latin typeface="Times New Roman" panose="02020603050405020304" pitchFamily="18" charset="0"/>
                <a:ea typeface="新細明體" pitchFamily="18" charset="-120"/>
                <a:cs typeface="Times New Roman" panose="02020603050405020304" pitchFamily="18" charset="0"/>
              </a:rPr>
              <a:t>Sometime called net revenue, turnover, or sales</a:t>
            </a:r>
          </a:p>
          <a:p>
            <a:pPr marL="457200" indent="-4572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Gross profits</a:t>
            </a:r>
          </a:p>
          <a:p>
            <a:pPr marL="914400" lvl="1" indent="-457200">
              <a:buFont typeface="Arial" panose="020B0604020202020204" pitchFamily="34" charset="0"/>
              <a:buChar char="•"/>
            </a:pPr>
            <a:r>
              <a:rPr lang="en-US" altLang="zh-TW" sz="2800" dirty="0">
                <a:latin typeface="Times New Roman" panose="02020603050405020304" pitchFamily="18" charset="0"/>
                <a:ea typeface="新細明體" pitchFamily="18" charset="-120"/>
                <a:cs typeface="Times New Roman" panose="02020603050405020304" pitchFamily="18" charset="0"/>
              </a:rPr>
              <a:t>GP = Revenue – Cost of Revenue </a:t>
            </a:r>
          </a:p>
          <a:p>
            <a:pPr marL="914400" lvl="1" indent="-457200">
              <a:buFont typeface="Arial" panose="020B0604020202020204" pitchFamily="34" charset="0"/>
              <a:buChar char="•"/>
            </a:pPr>
            <a:r>
              <a:rPr lang="en-US" altLang="zh-TW" sz="2800" dirty="0">
                <a:latin typeface="Times New Roman" panose="02020603050405020304" pitchFamily="18" charset="0"/>
                <a:ea typeface="新細明體" pitchFamily="18" charset="-120"/>
                <a:cs typeface="Times New Roman" panose="02020603050405020304" pitchFamily="18" charset="0"/>
              </a:rPr>
              <a:t>Ability to generate profits from revenue</a:t>
            </a:r>
          </a:p>
          <a:p>
            <a:pPr marL="457200" indent="-4572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Other revenues</a:t>
            </a:r>
          </a:p>
          <a:p>
            <a:pPr marL="914400" lvl="1" indent="-457200">
              <a:buFont typeface="Arial" panose="020B0604020202020204" pitchFamily="34" charset="0"/>
              <a:buChar char="•"/>
            </a:pPr>
            <a:r>
              <a:rPr lang="en-US" altLang="zh-TW" sz="2800" dirty="0">
                <a:latin typeface="Times New Roman" panose="02020603050405020304" pitchFamily="18" charset="0"/>
                <a:ea typeface="新細明體" pitchFamily="18" charset="-120"/>
                <a:cs typeface="Times New Roman" panose="02020603050405020304" pitchFamily="18" charset="0"/>
              </a:rPr>
              <a:t>Income from other sources</a:t>
            </a:r>
          </a:p>
        </p:txBody>
      </p:sp>
    </p:spTree>
    <p:extLst>
      <p:ext uri="{BB962C8B-B14F-4D97-AF65-F5344CB8AC3E}">
        <p14:creationId xmlns:p14="http://schemas.microsoft.com/office/powerpoint/2010/main" val="1635479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p:cNvSpPr txBox="1">
            <a:spLocks noChangeArrowheads="1"/>
          </p:cNvSpPr>
          <p:nvPr/>
        </p:nvSpPr>
        <p:spPr bwMode="auto">
          <a:xfrm>
            <a:off x="539750" y="560874"/>
            <a:ext cx="8064499"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Expenses</a:t>
            </a:r>
            <a:endParaRPr lang="zh-TW" altLang="en-US" sz="3600" dirty="0">
              <a:solidFill>
                <a:srgbClr val="993300"/>
              </a:solidFill>
              <a:latin typeface="Times New Roman" panose="02020603050405020304" pitchFamily="18" charset="0"/>
              <a:ea typeface="新細明體" pitchFamily="18" charset="-120"/>
              <a:cs typeface="Times New Roman" panose="02020603050405020304" pitchFamily="18" charset="0"/>
            </a:endParaRPr>
          </a:p>
        </p:txBody>
      </p:sp>
      <p:sp>
        <p:nvSpPr>
          <p:cNvPr id="23555" name="TextBox 3"/>
          <p:cNvSpPr txBox="1">
            <a:spLocks noChangeArrowheads="1"/>
          </p:cNvSpPr>
          <p:nvPr/>
        </p:nvSpPr>
        <p:spPr bwMode="auto">
          <a:xfrm>
            <a:off x="684213" y="1417827"/>
            <a:ext cx="7848598" cy="3539430"/>
          </a:xfrm>
          <a:prstGeom prst="rect">
            <a:avLst/>
          </a:prstGeom>
          <a:noFill/>
          <a:ln w="9525">
            <a:noFill/>
            <a:miter lim="800000"/>
            <a:headEnd/>
            <a:tailEnd/>
          </a:ln>
        </p:spPr>
        <p:txBody>
          <a:bodyPr wrap="square">
            <a:spAutoFit/>
          </a:bodyPr>
          <a:lstStyle/>
          <a:p>
            <a:pPr marL="457200" indent="-4572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Distribution – costs incurred while delivering products for sales</a:t>
            </a:r>
          </a:p>
          <a:p>
            <a:pPr marL="457200" indent="-4572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Administration – </a:t>
            </a:r>
            <a:r>
              <a:rPr lang="en-HK" altLang="zh-TW" sz="2800" dirty="0">
                <a:latin typeface="Times New Roman" panose="02020603050405020304" pitchFamily="18" charset="0"/>
                <a:ea typeface="新細明體" pitchFamily="18" charset="-120"/>
                <a:cs typeface="Times New Roman" panose="02020603050405020304" pitchFamily="18" charset="0"/>
              </a:rPr>
              <a:t>costs to maintain daily operations, such as salary expense</a:t>
            </a:r>
          </a:p>
          <a:p>
            <a:pPr marL="457200" indent="-4572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Others – other operational expenses not classified as distribution or administration</a:t>
            </a:r>
          </a:p>
          <a:p>
            <a:pPr marL="457200" indent="-457200">
              <a:buFont typeface="Wingdings" panose="05000000000000000000" pitchFamily="2" charset="2"/>
              <a:buChar char="Ø"/>
            </a:pPr>
            <a:r>
              <a:rPr lang="en-US" altLang="zh-TW" sz="2800" dirty="0">
                <a:latin typeface="Times New Roman" panose="02020603050405020304" pitchFamily="18" charset="0"/>
                <a:ea typeface="新細明體" pitchFamily="18" charset="-120"/>
                <a:cs typeface="Times New Roman" panose="02020603050405020304" pitchFamily="18" charset="0"/>
              </a:rPr>
              <a:t>Finance – costs incurred in maintaining debt finances (bank loans, etc.)</a:t>
            </a:r>
            <a:endParaRPr lang="zh-TW" altLang="en-US" sz="2800" dirty="0">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860001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1691680" y="526735"/>
            <a:ext cx="5688013" cy="584775"/>
          </a:xfrm>
          <a:prstGeom prst="rect">
            <a:avLst/>
          </a:prstGeom>
          <a:noFill/>
          <a:ln w="9525">
            <a:noFill/>
            <a:miter lim="800000"/>
            <a:headEnd/>
            <a:tailEnd/>
          </a:ln>
        </p:spPr>
        <p:txBody>
          <a:bodyPr>
            <a:spAutoFit/>
          </a:bodyPr>
          <a:lstStyle/>
          <a:p>
            <a:pPr algn="ctr"/>
            <a:r>
              <a:rPr lang="en-US" altLang="zh-TW" sz="3200" dirty="0">
                <a:latin typeface="Times New Roman" panose="02020603050405020304" pitchFamily="18" charset="0"/>
                <a:cs typeface="Times New Roman" panose="02020603050405020304" pitchFamily="18" charset="0"/>
              </a:rPr>
              <a:t>Income Statement</a:t>
            </a:r>
          </a:p>
        </p:txBody>
      </p:sp>
      <p:sp>
        <p:nvSpPr>
          <p:cNvPr id="8" name="Content Placeholder 4"/>
          <p:cNvSpPr txBox="1">
            <a:spLocks/>
          </p:cNvSpPr>
          <p:nvPr/>
        </p:nvSpPr>
        <p:spPr>
          <a:xfrm>
            <a:off x="701933" y="1124744"/>
            <a:ext cx="7757856" cy="5256584"/>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Aft>
                <a:spcPts val="0"/>
              </a:spcAft>
              <a:buClrTx/>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Key information:</a:t>
            </a:r>
          </a:p>
          <a:p>
            <a:pPr lvl="1">
              <a:spcAft>
                <a:spcPts val="0"/>
              </a:spcAft>
              <a:buClrTx/>
              <a:buSzPct val="100000"/>
            </a:pPr>
            <a:r>
              <a:rPr lang="en-US" sz="1800" dirty="0">
                <a:solidFill>
                  <a:schemeClr val="tx1"/>
                </a:solidFill>
                <a:latin typeface="Times New Roman" panose="02020603050405020304" pitchFamily="18" charset="0"/>
                <a:cs typeface="Times New Roman" panose="02020603050405020304" pitchFamily="18" charset="0"/>
              </a:rPr>
              <a:t>Magnitudes and trends:</a:t>
            </a:r>
          </a:p>
          <a:p>
            <a:pPr lvl="2">
              <a:spcAft>
                <a:spcPts val="0"/>
              </a:spcAft>
              <a:buClrTx/>
              <a:buSzPct val="100000"/>
            </a:pPr>
            <a:r>
              <a:rPr lang="en-US" dirty="0">
                <a:solidFill>
                  <a:schemeClr val="tx1"/>
                </a:solidFill>
                <a:latin typeface="Times New Roman" panose="02020603050405020304" pitchFamily="18" charset="0"/>
                <a:cs typeface="Times New Roman" panose="02020603050405020304" pitchFamily="18" charset="0"/>
              </a:rPr>
              <a:t>Profitability (net income or loss) for the period</a:t>
            </a:r>
          </a:p>
          <a:p>
            <a:pPr lvl="2">
              <a:spcAft>
                <a:spcPts val="0"/>
              </a:spcAft>
              <a:buClrTx/>
              <a:buSzPct val="100000"/>
            </a:pPr>
            <a:r>
              <a:rPr lang="en-US" dirty="0">
                <a:solidFill>
                  <a:schemeClr val="tx1"/>
                </a:solidFill>
                <a:latin typeface="Times New Roman" panose="02020603050405020304" pitchFamily="18" charset="0"/>
                <a:cs typeface="Times New Roman" panose="02020603050405020304" pitchFamily="18" charset="0"/>
              </a:rPr>
              <a:t>Sales revenue for the period</a:t>
            </a:r>
          </a:p>
          <a:p>
            <a:pPr lvl="2">
              <a:spcAft>
                <a:spcPts val="0"/>
              </a:spcAft>
              <a:buClrTx/>
              <a:buSzPct val="100000"/>
            </a:pPr>
            <a:r>
              <a:rPr lang="en-US" dirty="0">
                <a:solidFill>
                  <a:schemeClr val="tx1"/>
                </a:solidFill>
                <a:latin typeface="Times New Roman" panose="02020603050405020304" pitchFamily="18" charset="0"/>
                <a:cs typeface="Times New Roman" panose="02020603050405020304" pitchFamily="18" charset="0"/>
              </a:rPr>
              <a:t>Major expenses</a:t>
            </a:r>
          </a:p>
          <a:p>
            <a:pPr lvl="2">
              <a:spcAft>
                <a:spcPts val="0"/>
              </a:spcAft>
              <a:buClrTx/>
              <a:buSzPct val="100000"/>
            </a:pPr>
            <a:r>
              <a:rPr lang="en-US" dirty="0">
                <a:solidFill>
                  <a:schemeClr val="tx1"/>
                </a:solidFill>
                <a:latin typeface="Times New Roman" panose="02020603050405020304" pitchFamily="18" charset="0"/>
                <a:cs typeface="Times New Roman" panose="02020603050405020304" pitchFamily="18" charset="0"/>
              </a:rPr>
              <a:t>Income from operations</a:t>
            </a:r>
          </a:p>
          <a:p>
            <a:pPr lvl="2">
              <a:spcAft>
                <a:spcPts val="0"/>
              </a:spcAft>
              <a:buClrTx/>
              <a:buSzPct val="100000"/>
            </a:pPr>
            <a:r>
              <a:rPr lang="en-US" dirty="0">
                <a:solidFill>
                  <a:schemeClr val="tx1"/>
                </a:solidFill>
                <a:latin typeface="Times New Roman" panose="02020603050405020304" pitchFamily="18" charset="0"/>
                <a:cs typeface="Times New Roman" panose="02020603050405020304" pitchFamily="18" charset="0"/>
              </a:rPr>
              <a:t>Earnings per share (EPS)</a:t>
            </a:r>
          </a:p>
          <a:p>
            <a:pPr lvl="1">
              <a:spcBef>
                <a:spcPts val="1200"/>
              </a:spcBef>
              <a:spcAft>
                <a:spcPts val="0"/>
              </a:spcAft>
              <a:buClrTx/>
              <a:buSzPct val="100000"/>
            </a:pPr>
            <a:r>
              <a:rPr lang="en-US" sz="1800" dirty="0">
                <a:solidFill>
                  <a:schemeClr val="tx1"/>
                </a:solidFill>
                <a:latin typeface="Times New Roman" panose="02020603050405020304" pitchFamily="18" charset="0"/>
                <a:cs typeface="Times New Roman" panose="02020603050405020304" pitchFamily="18" charset="0"/>
              </a:rPr>
              <a:t>How is the firm generating most of its income? </a:t>
            </a:r>
          </a:p>
          <a:p>
            <a:pPr lvl="2">
              <a:spcAft>
                <a:spcPts val="0"/>
              </a:spcAft>
              <a:buClrTx/>
              <a:buSzPct val="100000"/>
            </a:pPr>
            <a:r>
              <a:rPr lang="en-US" dirty="0">
                <a:solidFill>
                  <a:schemeClr val="tx1"/>
                </a:solidFill>
                <a:latin typeface="Times New Roman" panose="02020603050405020304" pitchFamily="18" charset="0"/>
                <a:cs typeface="Times New Roman" panose="02020603050405020304" pitchFamily="18" charset="0"/>
              </a:rPr>
              <a:t>Through main business or other activities? Through recurring or nonrecurring items?</a:t>
            </a:r>
          </a:p>
          <a:p>
            <a:pPr>
              <a:spcAft>
                <a:spcPts val="0"/>
              </a:spcAft>
              <a:buClrTx/>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Weaknesses:</a:t>
            </a:r>
          </a:p>
          <a:p>
            <a:pPr lvl="1">
              <a:spcAft>
                <a:spcPts val="0"/>
              </a:spcAft>
              <a:buClrTx/>
              <a:buSzPct val="100000"/>
            </a:pPr>
            <a:r>
              <a:rPr lang="en-US" sz="1800" dirty="0">
                <a:solidFill>
                  <a:schemeClr val="tx1"/>
                </a:solidFill>
                <a:latin typeface="Times New Roman" panose="02020603050405020304" pitchFamily="18" charset="0"/>
                <a:cs typeface="Times New Roman" panose="02020603050405020304" pitchFamily="18" charset="0"/>
              </a:rPr>
              <a:t>Figures (revenues, expenses, gains and losses) could be manipulated: the quality of earnings may be low.</a:t>
            </a:r>
          </a:p>
          <a:p>
            <a:pPr lvl="1">
              <a:spcBef>
                <a:spcPts val="300"/>
              </a:spcBef>
              <a:defRPr/>
            </a:pPr>
            <a:endParaRPr lang="en-US" sz="1800" dirty="0">
              <a:solidFill>
                <a:schemeClr val="tx1"/>
              </a:solidFill>
              <a:latin typeface="Times New Roman" panose="02020603050405020304" pitchFamily="18" charset="0"/>
              <a:cs typeface="Times New Roman" panose="02020603050405020304" pitchFamily="18" charset="0"/>
            </a:endParaRPr>
          </a:p>
          <a:p>
            <a:pPr>
              <a:spcBef>
                <a:spcPts val="300"/>
              </a:spcBef>
              <a:buFont typeface="Wingdings" panose="05000000000000000000" pitchFamily="2" charset="2"/>
              <a:buNone/>
              <a:defRPr/>
            </a:pPr>
            <a:endParaRPr lang="en-US" dirty="0">
              <a:solidFill>
                <a:schemeClr val="tx1"/>
              </a:solidFill>
              <a:latin typeface="Times New Roman" panose="02020603050405020304" pitchFamily="18" charset="0"/>
              <a:cs typeface="Times New Roman" panose="02020603050405020304" pitchFamily="18" charset="0"/>
            </a:endParaRPr>
          </a:p>
          <a:p>
            <a:pPr>
              <a:spcBef>
                <a:spcPts val="300"/>
              </a:spcBef>
              <a:defRPr/>
            </a:pPr>
            <a:endParaRPr lang="en-US" dirty="0">
              <a:solidFill>
                <a:schemeClr val="tx1"/>
              </a:solidFill>
              <a:latin typeface="Times New Roman" panose="02020603050405020304" pitchFamily="18" charset="0"/>
              <a:cs typeface="Times New Roman" panose="02020603050405020304" pitchFamily="18" charset="0"/>
            </a:endParaRPr>
          </a:p>
          <a:p>
            <a:pPr>
              <a:spcBef>
                <a:spcPts val="300"/>
              </a:spcBef>
              <a:defRPr/>
            </a:pPr>
            <a:endParaRPr lang="en-US" dirty="0">
              <a:solidFill>
                <a:schemeClr val="tx1"/>
              </a:solidFill>
              <a:latin typeface="Times New Roman" panose="02020603050405020304" pitchFamily="18" charset="0"/>
              <a:cs typeface="Times New Roman" panose="02020603050405020304" pitchFamily="18" charset="0"/>
            </a:endParaRPr>
          </a:p>
          <a:p>
            <a:pPr>
              <a:defRPr/>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8665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943A29A-2EF8-467A-2C91-DCB4E298828F}"/>
              </a:ext>
            </a:extLst>
          </p:cNvPr>
          <p:cNvPicPr>
            <a:picLocks noChangeAspect="1"/>
          </p:cNvPicPr>
          <p:nvPr/>
        </p:nvPicPr>
        <p:blipFill>
          <a:blip r:embed="rId2"/>
          <a:srcRect b="91999"/>
          <a:stretch/>
        </p:blipFill>
        <p:spPr>
          <a:xfrm>
            <a:off x="1331640" y="216024"/>
            <a:ext cx="7141602" cy="548680"/>
          </a:xfrm>
          <a:prstGeom prst="rect">
            <a:avLst/>
          </a:prstGeom>
        </p:spPr>
      </p:pic>
      <p:pic>
        <p:nvPicPr>
          <p:cNvPr id="9" name="图片 8">
            <a:extLst>
              <a:ext uri="{FF2B5EF4-FFF2-40B4-BE49-F238E27FC236}">
                <a16:creationId xmlns:a16="http://schemas.microsoft.com/office/drawing/2014/main" id="{83273358-21A2-62B3-DA50-139F0C76A71A}"/>
              </a:ext>
            </a:extLst>
          </p:cNvPr>
          <p:cNvPicPr>
            <a:picLocks noChangeAspect="1"/>
          </p:cNvPicPr>
          <p:nvPr/>
        </p:nvPicPr>
        <p:blipFill>
          <a:blip r:embed="rId2"/>
          <a:srcRect t="12594"/>
          <a:stretch/>
        </p:blipFill>
        <p:spPr>
          <a:xfrm>
            <a:off x="1331640" y="764704"/>
            <a:ext cx="7141602" cy="5994330"/>
          </a:xfrm>
          <a:prstGeom prst="rect">
            <a:avLst/>
          </a:prstGeom>
        </p:spPr>
      </p:pic>
    </p:spTree>
    <p:extLst>
      <p:ext uri="{BB962C8B-B14F-4D97-AF65-F5344CB8AC3E}">
        <p14:creationId xmlns:p14="http://schemas.microsoft.com/office/powerpoint/2010/main" val="3352653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1115616" y="2132856"/>
            <a:ext cx="691276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SzPct val="65000"/>
              <a:buFont typeface="Wingdings" panose="05000000000000000000" pitchFamily="2" charset="2"/>
              <a:buChar char="n"/>
              <a:defRPr sz="2200">
                <a:solidFill>
                  <a:schemeClr val="tx1"/>
                </a:solidFill>
                <a:latin typeface="Garamond" panose="02020404030301010803" pitchFamily="18" charset="0"/>
              </a:defRPr>
            </a:lvl1pPr>
            <a:lvl2pPr marL="742950" indent="-285750">
              <a:spcBef>
                <a:spcPct val="20000"/>
              </a:spcBef>
              <a:buClr>
                <a:srgbClr val="000099"/>
              </a:buClr>
              <a:buFont typeface="Webdings" panose="05030102010509060703" pitchFamily="18" charset="2"/>
              <a:buChar char="ë"/>
              <a:defRPr sz="2000">
                <a:solidFill>
                  <a:schemeClr val="tx1"/>
                </a:solidFill>
                <a:latin typeface="Garamond" panose="02020404030301010803" pitchFamily="18" charset="0"/>
              </a:defRPr>
            </a:lvl2pPr>
            <a:lvl3pPr marL="1143000" indent="-228600">
              <a:spcBef>
                <a:spcPct val="20000"/>
              </a:spcBef>
              <a:buClr>
                <a:srgbClr val="000099"/>
              </a:buClr>
              <a:buFont typeface="Wingdings" panose="05000000000000000000" pitchFamily="2" charset="2"/>
              <a:buChar char="ü"/>
              <a:defRPr>
                <a:solidFill>
                  <a:schemeClr val="tx1"/>
                </a:solidFill>
                <a:latin typeface="Garamond" panose="02020404030301010803" pitchFamily="18" charset="0"/>
              </a:defRPr>
            </a:lvl3pPr>
            <a:lvl4pPr marL="1600200" indent="-228600">
              <a:spcBef>
                <a:spcPct val="20000"/>
              </a:spcBef>
              <a:buClr>
                <a:srgbClr val="000099"/>
              </a:buClr>
              <a:buChar char="o"/>
              <a:defRPr sz="1600">
                <a:solidFill>
                  <a:schemeClr val="tx1"/>
                </a:solidFill>
                <a:latin typeface="Garamond" panose="02020404030301010803" pitchFamily="18" charset="0"/>
              </a:defRPr>
            </a:lvl4pPr>
            <a:lvl5pPr marL="2057400" indent="-228600">
              <a:spcBef>
                <a:spcPct val="20000"/>
              </a:spcBef>
              <a:buClr>
                <a:srgbClr val="000099"/>
              </a:buClr>
              <a:buChar char="•"/>
              <a:defRPr sz="1400">
                <a:solidFill>
                  <a:schemeClr val="tx1"/>
                </a:solidFill>
                <a:latin typeface="Garamond" panose="02020404030301010803" pitchFamily="18" charset="0"/>
              </a:defRPr>
            </a:lvl5pPr>
            <a:lvl6pPr marL="25146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6pPr>
            <a:lvl7pPr marL="29718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7pPr>
            <a:lvl8pPr marL="34290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8pPr>
            <a:lvl9pPr marL="38862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9pPr>
          </a:lstStyle>
          <a:p>
            <a:pPr algn="ctr">
              <a:spcBef>
                <a:spcPct val="0"/>
              </a:spcBef>
              <a:buClrTx/>
              <a:buSzTx/>
              <a:buNone/>
            </a:pPr>
            <a:r>
              <a:rPr lang="en-US" sz="4000" b="1" dirty="0">
                <a:solidFill>
                  <a:srgbClr val="993300"/>
                </a:solidFill>
                <a:latin typeface="Times New Roman" panose="02020603050405020304" pitchFamily="18" charset="0"/>
                <a:cs typeface="Times New Roman" panose="02020603050405020304" pitchFamily="18" charset="0"/>
              </a:rPr>
              <a:t>Case: Nike</a:t>
            </a:r>
          </a:p>
          <a:p>
            <a:pPr algn="ctr">
              <a:spcBef>
                <a:spcPct val="0"/>
              </a:spcBef>
              <a:buClrTx/>
              <a:buSzTx/>
              <a:buNone/>
            </a:pPr>
            <a:endParaRPr lang="en-US" sz="4000" b="1" dirty="0">
              <a:solidFill>
                <a:srgbClr val="993300"/>
              </a:solidFill>
              <a:latin typeface="Times New Roman" panose="02020603050405020304" pitchFamily="18" charset="0"/>
              <a:cs typeface="Times New Roman" panose="02020603050405020304" pitchFamily="18" charset="0"/>
            </a:endParaRPr>
          </a:p>
          <a:p>
            <a:pPr algn="ctr">
              <a:spcBef>
                <a:spcPct val="0"/>
              </a:spcBef>
              <a:buClrTx/>
              <a:buSzTx/>
              <a:buNone/>
            </a:pPr>
            <a:r>
              <a:rPr lang="en-US" sz="4000" b="1" dirty="0">
                <a:solidFill>
                  <a:srgbClr val="993300"/>
                </a:solidFill>
                <a:latin typeface="Times New Roman" panose="02020603050405020304" pitchFamily="18" charset="0"/>
                <a:cs typeface="Times New Roman" panose="02020603050405020304" pitchFamily="18" charset="0"/>
              </a:rPr>
              <a:t>Analyzing Income Statement</a:t>
            </a:r>
          </a:p>
        </p:txBody>
      </p:sp>
    </p:spTree>
    <p:extLst>
      <p:ext uri="{BB962C8B-B14F-4D97-AF65-F5344CB8AC3E}">
        <p14:creationId xmlns:p14="http://schemas.microsoft.com/office/powerpoint/2010/main" val="3212125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Income Statement</a:t>
            </a:r>
          </a:p>
        </p:txBody>
      </p:sp>
      <p:pic>
        <p:nvPicPr>
          <p:cNvPr id="8" name="Picture 7">
            <a:extLst>
              <a:ext uri="{FF2B5EF4-FFF2-40B4-BE49-F238E27FC236}">
                <a16:creationId xmlns:a16="http://schemas.microsoft.com/office/drawing/2014/main" id="{0C8C40B2-CB46-4461-B935-B899D9249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751" y="1772816"/>
            <a:ext cx="8040602" cy="4176464"/>
          </a:xfrm>
          <a:prstGeom prst="rect">
            <a:avLst/>
          </a:prstGeom>
        </p:spPr>
      </p:pic>
    </p:spTree>
    <p:extLst>
      <p:ext uri="{BB962C8B-B14F-4D97-AF65-F5344CB8AC3E}">
        <p14:creationId xmlns:p14="http://schemas.microsoft.com/office/powerpoint/2010/main" val="2416978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a:t>
            </a:r>
            <a:r>
              <a:rPr lang="en-US" altLang="zh-TW" sz="3200" dirty="0">
                <a:solidFill>
                  <a:srgbClr val="993300"/>
                </a:solidFill>
                <a:latin typeface="Times New Roman" panose="02020603050405020304" pitchFamily="18" charset="0"/>
                <a:cs typeface="Times New Roman" panose="02020603050405020304" pitchFamily="18" charset="0"/>
              </a:rPr>
              <a:t>Common-Size Income </a:t>
            </a: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Statement</a:t>
            </a:r>
          </a:p>
        </p:txBody>
      </p:sp>
      <p:pic>
        <p:nvPicPr>
          <p:cNvPr id="3" name="Picture 2">
            <a:extLst>
              <a:ext uri="{FF2B5EF4-FFF2-40B4-BE49-F238E27FC236}">
                <a16:creationId xmlns:a16="http://schemas.microsoft.com/office/drawing/2014/main" id="{809A7C16-D2D0-4C60-A3A8-50B2D3B18B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827" y="1916832"/>
            <a:ext cx="8046720" cy="3266924"/>
          </a:xfrm>
          <a:prstGeom prst="rect">
            <a:avLst/>
          </a:prstGeom>
        </p:spPr>
      </p:pic>
    </p:spTree>
    <p:extLst>
      <p:ext uri="{BB962C8B-B14F-4D97-AF65-F5344CB8AC3E}">
        <p14:creationId xmlns:p14="http://schemas.microsoft.com/office/powerpoint/2010/main" val="376504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539750" y="620688"/>
            <a:ext cx="8064873" cy="584775"/>
          </a:xfrm>
          <a:prstGeom prst="rect">
            <a:avLst/>
          </a:prstGeom>
          <a:noFill/>
          <a:ln w="9525">
            <a:noFill/>
            <a:miter lim="800000"/>
            <a:headEnd/>
            <a:tailEnd/>
          </a:ln>
        </p:spPr>
        <p:txBody>
          <a:bodyPr wrap="square">
            <a:spAutoFit/>
          </a:bodyPr>
          <a:lstStyle/>
          <a:p>
            <a:pPr algn="ctr"/>
            <a:r>
              <a:rPr lang="en-US" altLang="zh-TW" sz="3200" dirty="0">
                <a:solidFill>
                  <a:srgbClr val="993300"/>
                </a:solidFill>
                <a:latin typeface="Times New Roman" panose="02020603050405020304" pitchFamily="18" charset="0"/>
                <a:ea typeface="新細明體" pitchFamily="18" charset="-120"/>
                <a:cs typeface="Times New Roman" panose="02020603050405020304" pitchFamily="18" charset="0"/>
              </a:rPr>
              <a:t>Nike:  Excerpts from Notes</a:t>
            </a:r>
          </a:p>
        </p:txBody>
      </p:sp>
      <p:sp>
        <p:nvSpPr>
          <p:cNvPr id="4" name="Content Placeholder 4"/>
          <p:cNvSpPr txBox="1">
            <a:spLocks/>
          </p:cNvSpPr>
          <p:nvPr/>
        </p:nvSpPr>
        <p:spPr>
          <a:xfrm>
            <a:off x="664271" y="1412875"/>
            <a:ext cx="7945926" cy="475233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spcBef>
                <a:spcPts val="0"/>
              </a:spcBef>
              <a:spcAft>
                <a:spcPts val="0"/>
              </a:spcAft>
              <a:buClrTx/>
              <a:buSzPct val="100000"/>
              <a:buFont typeface="Wingdings" panose="05000000000000000000" pitchFamily="2" charset="2"/>
              <a:buChar char="Ø"/>
            </a:pPr>
            <a:r>
              <a:rPr lang="en-HK" sz="2000" b="1" dirty="0">
                <a:latin typeface="Times New Roman" panose="02020603050405020304" pitchFamily="18" charset="0"/>
                <a:cs typeface="Times New Roman" panose="02020603050405020304" pitchFamily="18" charset="0"/>
              </a:rPr>
              <a:t>Revenue Recognition: </a:t>
            </a:r>
            <a:r>
              <a:rPr lang="en-US" sz="2000" dirty="0">
                <a:latin typeface="Times New Roman" panose="02020603050405020304" pitchFamily="18" charset="0"/>
                <a:cs typeface="Times New Roman" panose="02020603050405020304" pitchFamily="18" charset="0"/>
              </a:rPr>
              <a:t>Nike recognizes wholesale revenues after the ownership of the products, along with the related risks and benefits, have been passed to the customer, based on the terms of sale. This occurs upon shipment or upon receipt by the customer depending on the country of the sale and the agreement with the customer. Retail store revenues are recorded at the time of sale and online store revenues are recorded upon delivery to the customer. Provisions for post-invoice sales discounts, returns and miscellaneous claims from customers are estimated and recorded as a reduction to revenue at the time of sale.</a:t>
            </a:r>
            <a:endParaRPr lang="en-HK" sz="2000" dirty="0">
              <a:latin typeface="Times New Roman" panose="02020603050405020304" pitchFamily="18" charset="0"/>
              <a:cs typeface="Times New Roman" panose="02020603050405020304" pitchFamily="18" charset="0"/>
            </a:endParaRPr>
          </a:p>
          <a:p>
            <a:pPr>
              <a:spcBef>
                <a:spcPts val="0"/>
              </a:spcBef>
              <a:spcAft>
                <a:spcPts val="0"/>
              </a:spcAft>
              <a:buClrTx/>
              <a:buSzPct val="100000"/>
              <a:buFont typeface="Wingdings" panose="05000000000000000000" pitchFamily="2" charset="2"/>
              <a:buChar char="Ø"/>
            </a:pPr>
            <a:r>
              <a:rPr lang="en-HK" sz="2000" b="1" dirty="0">
                <a:latin typeface="Times New Roman" panose="02020603050405020304" pitchFamily="18" charset="0"/>
                <a:cs typeface="Times New Roman" panose="02020603050405020304" pitchFamily="18" charset="0"/>
              </a:rPr>
              <a:t>Demand Creation Expense</a:t>
            </a:r>
            <a:r>
              <a:rPr lang="en-HK"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Demand creation expense consists of advertising and promotion costs, including costs of endorsement contracts, television, digital and print advertising, brand events and retail brand presentation. Advertising production costs are expensed the first time an advertisement is run.</a:t>
            </a:r>
            <a:endParaRPr lang="en-HK"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spcBef>
                <a:spcPts val="300"/>
              </a:spcBef>
              <a:defRPr/>
            </a:pPr>
            <a:endParaRPr lang="en-US" sz="2000" dirty="0">
              <a:latin typeface="Times New Roman" panose="02020603050405020304" pitchFamily="18" charset="0"/>
              <a:cs typeface="Times New Roman" panose="02020603050405020304" pitchFamily="18" charset="0"/>
            </a:endParaRPr>
          </a:p>
          <a:p>
            <a:pPr>
              <a:defRP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221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p:cNvSpPr txBox="1">
            <a:spLocks noChangeArrowheads="1"/>
          </p:cNvSpPr>
          <p:nvPr/>
        </p:nvSpPr>
        <p:spPr bwMode="auto">
          <a:xfrm>
            <a:off x="1115616" y="2729756"/>
            <a:ext cx="698477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SzPct val="65000"/>
              <a:buFont typeface="Wingdings" panose="05000000000000000000" pitchFamily="2" charset="2"/>
              <a:buChar char="n"/>
              <a:defRPr sz="2200">
                <a:solidFill>
                  <a:schemeClr val="tx1"/>
                </a:solidFill>
                <a:latin typeface="Garamond" panose="02020404030301010803" pitchFamily="18" charset="0"/>
              </a:defRPr>
            </a:lvl1pPr>
            <a:lvl2pPr marL="742950" indent="-285750">
              <a:spcBef>
                <a:spcPct val="20000"/>
              </a:spcBef>
              <a:buClr>
                <a:srgbClr val="000099"/>
              </a:buClr>
              <a:buFont typeface="Webdings" panose="05030102010509060703" pitchFamily="18" charset="2"/>
              <a:buChar char="ë"/>
              <a:defRPr sz="2000">
                <a:solidFill>
                  <a:schemeClr val="tx1"/>
                </a:solidFill>
                <a:latin typeface="Garamond" panose="02020404030301010803" pitchFamily="18" charset="0"/>
              </a:defRPr>
            </a:lvl2pPr>
            <a:lvl3pPr marL="1143000" indent="-228600">
              <a:spcBef>
                <a:spcPct val="20000"/>
              </a:spcBef>
              <a:buClr>
                <a:srgbClr val="000099"/>
              </a:buClr>
              <a:buFont typeface="Wingdings" panose="05000000000000000000" pitchFamily="2" charset="2"/>
              <a:buChar char="ü"/>
              <a:defRPr>
                <a:solidFill>
                  <a:schemeClr val="tx1"/>
                </a:solidFill>
                <a:latin typeface="Garamond" panose="02020404030301010803" pitchFamily="18" charset="0"/>
              </a:defRPr>
            </a:lvl3pPr>
            <a:lvl4pPr marL="1600200" indent="-228600">
              <a:spcBef>
                <a:spcPct val="20000"/>
              </a:spcBef>
              <a:buClr>
                <a:srgbClr val="000099"/>
              </a:buClr>
              <a:buChar char="o"/>
              <a:defRPr sz="1600">
                <a:solidFill>
                  <a:schemeClr val="tx1"/>
                </a:solidFill>
                <a:latin typeface="Garamond" panose="02020404030301010803" pitchFamily="18" charset="0"/>
              </a:defRPr>
            </a:lvl4pPr>
            <a:lvl5pPr marL="2057400" indent="-228600">
              <a:spcBef>
                <a:spcPct val="20000"/>
              </a:spcBef>
              <a:buClr>
                <a:srgbClr val="000099"/>
              </a:buClr>
              <a:buChar char="•"/>
              <a:defRPr sz="1400">
                <a:solidFill>
                  <a:schemeClr val="tx1"/>
                </a:solidFill>
                <a:latin typeface="Garamond" panose="02020404030301010803" pitchFamily="18" charset="0"/>
              </a:defRPr>
            </a:lvl5pPr>
            <a:lvl6pPr marL="25146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6pPr>
            <a:lvl7pPr marL="29718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7pPr>
            <a:lvl8pPr marL="34290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8pPr>
            <a:lvl9pPr marL="3886200" indent="-228600" eaLnBrk="0" fontAlgn="base" hangingPunct="0">
              <a:spcBef>
                <a:spcPct val="20000"/>
              </a:spcBef>
              <a:spcAft>
                <a:spcPct val="0"/>
              </a:spcAft>
              <a:buClr>
                <a:srgbClr val="000099"/>
              </a:buClr>
              <a:buChar char="•"/>
              <a:defRPr sz="1400">
                <a:solidFill>
                  <a:schemeClr val="tx1"/>
                </a:solidFill>
                <a:latin typeface="Garamond" panose="02020404030301010803" pitchFamily="18" charset="0"/>
              </a:defRPr>
            </a:lvl9pPr>
          </a:lstStyle>
          <a:p>
            <a:pPr algn="ctr">
              <a:spcBef>
                <a:spcPct val="0"/>
              </a:spcBef>
              <a:buClrTx/>
              <a:buSzTx/>
              <a:buNone/>
            </a:pPr>
            <a:r>
              <a:rPr lang="en-US" sz="4000" b="1" dirty="0">
                <a:solidFill>
                  <a:srgbClr val="993300"/>
                </a:solidFill>
                <a:latin typeface="Times New Roman" panose="02020603050405020304" pitchFamily="18" charset="0"/>
                <a:cs typeface="Times New Roman" panose="02020603050405020304" pitchFamily="18" charset="0"/>
              </a:rPr>
              <a:t>Cash Flow Statement</a:t>
            </a:r>
          </a:p>
          <a:p>
            <a:pPr algn="ctr">
              <a:spcBef>
                <a:spcPct val="0"/>
              </a:spcBef>
              <a:buClrTx/>
              <a:buSzTx/>
              <a:buNone/>
            </a:pPr>
            <a:r>
              <a:rPr lang="en-US" sz="4000" dirty="0">
                <a:solidFill>
                  <a:srgbClr val="993300"/>
                </a:solidFill>
                <a:latin typeface="Times New Roman" panose="02020603050405020304" pitchFamily="18" charset="0"/>
                <a:cs typeface="Times New Roman" panose="02020603050405020304" pitchFamily="18" charset="0"/>
              </a:rPr>
              <a:t>(Statement of Cash Flow)</a:t>
            </a:r>
          </a:p>
          <a:p>
            <a:pPr algn="ctr">
              <a:spcBef>
                <a:spcPct val="0"/>
              </a:spcBef>
              <a:buClrTx/>
              <a:buSzTx/>
              <a:buNone/>
            </a:pPr>
            <a:endParaRPr lang="en-US" sz="4000" b="1" dirty="0">
              <a:solidFill>
                <a:srgbClr val="99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372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4294967295"/>
          </p:nvPr>
        </p:nvSpPr>
        <p:spPr>
          <a:xfrm>
            <a:off x="693737" y="1268760"/>
            <a:ext cx="7756525" cy="5157788"/>
          </a:xfrm>
        </p:spPr>
        <p:txBody>
          <a:bodyPr>
            <a:noAutofit/>
          </a:bodyPr>
          <a:lstStyle/>
          <a:p>
            <a:pPr marL="0" indent="0" eaLnBrk="1" hangingPunct="1">
              <a:spcAft>
                <a:spcPts val="0"/>
              </a:spcAft>
              <a:buClrTx/>
              <a:buSzPct val="100000"/>
              <a:buNone/>
            </a:pPr>
            <a:r>
              <a:rPr lang="en-US" dirty="0">
                <a:latin typeface="Times New Roman" panose="02020603050405020304" pitchFamily="18" charset="0"/>
                <a:cs typeface="Times New Roman" panose="02020603050405020304" pitchFamily="18" charset="0"/>
              </a:rPr>
              <a:t>Shows </a:t>
            </a:r>
            <a:r>
              <a:rPr lang="en-US" u="sng" dirty="0">
                <a:latin typeface="Times New Roman" panose="02020603050405020304" pitchFamily="18" charset="0"/>
                <a:cs typeface="Times New Roman" panose="02020603050405020304" pitchFamily="18" charset="0"/>
              </a:rPr>
              <a:t>cash inflows and outflows</a:t>
            </a:r>
            <a:r>
              <a:rPr lang="en-US" dirty="0">
                <a:latin typeface="Times New Roman" panose="02020603050405020304" pitchFamily="18" charset="0"/>
                <a:cs typeface="Times New Roman" panose="02020603050405020304" pitchFamily="18" charset="0"/>
              </a:rPr>
              <a:t> over a given period.</a:t>
            </a:r>
          </a:p>
          <a:p>
            <a:pPr marL="346075" lvl="1" indent="-346075" eaLnBrk="1" hangingPunct="1">
              <a:spcBef>
                <a:spcPts val="1200"/>
              </a:spcBef>
              <a:spcAft>
                <a:spcPts val="0"/>
              </a:spcAft>
              <a:buClrTx/>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Direct vs. Indirect method</a:t>
            </a:r>
          </a:p>
          <a:p>
            <a:pPr marL="803275" lvl="2" indent="-346075">
              <a:spcBef>
                <a:spcPts val="1200"/>
              </a:spcBef>
              <a:spcAft>
                <a:spcPts val="0"/>
              </a:spcAft>
              <a:buClrTx/>
              <a:buSzPct val="100000"/>
              <a:buFont typeface="Arial" panose="020B0604020202020204" pitchFamily="34" charset="0"/>
              <a:buChar char="•"/>
            </a:pPr>
            <a:r>
              <a:rPr lang="en-HK" sz="2200" dirty="0">
                <a:latin typeface="Times New Roman" panose="02020603050405020304" pitchFamily="18" charset="0"/>
                <a:cs typeface="Times New Roman" panose="02020603050405020304" pitchFamily="18" charset="0"/>
              </a:rPr>
              <a:t>Direct </a:t>
            </a:r>
            <a:r>
              <a:rPr lang="en-US" sz="2200" dirty="0">
                <a:latin typeface="Times New Roman" panose="02020603050405020304" pitchFamily="18" charset="0"/>
                <a:cs typeface="Times New Roman" panose="02020603050405020304" pitchFamily="18" charset="0"/>
              </a:rPr>
              <a:t>method partitions cash receipts and cash payments into logical categories, such as cash collected from customers, paid to suppliers, and paid to employees.</a:t>
            </a:r>
          </a:p>
          <a:p>
            <a:pPr marL="803275" lvl="2" indent="-346075">
              <a:spcBef>
                <a:spcPts val="1200"/>
              </a:spcBef>
              <a:spcAft>
                <a:spcPts val="0"/>
              </a:spcAft>
              <a:buClrTx/>
              <a:buSzPct val="100000"/>
              <a:buFont typeface="Arial" panose="020B0604020202020204" pitchFamily="34" charset="0"/>
              <a:buChar char="•"/>
            </a:pPr>
            <a:r>
              <a:rPr lang="en-HK" sz="2200" dirty="0">
                <a:latin typeface="Times New Roman" panose="02020603050405020304" pitchFamily="18" charset="0"/>
                <a:cs typeface="Times New Roman" panose="02020603050405020304" pitchFamily="18" charset="0"/>
              </a:rPr>
              <a:t>Indirect method </a:t>
            </a:r>
            <a:r>
              <a:rPr lang="en-US" sz="2200" dirty="0">
                <a:latin typeface="Times New Roman" panose="02020603050405020304" pitchFamily="18" charset="0"/>
                <a:cs typeface="Times New Roman" panose="02020603050405020304" pitchFamily="18" charset="0"/>
              </a:rPr>
              <a:t>reconciles reported net income to cash flows from operations by “unraveling” noncash (i.e., accrual) components of earnings.</a:t>
            </a:r>
          </a:p>
          <a:p>
            <a:pPr marL="803275" lvl="2" indent="-346075">
              <a:spcBef>
                <a:spcPts val="1200"/>
              </a:spcBef>
              <a:spcAft>
                <a:spcPts val="0"/>
              </a:spcAft>
              <a:buClrTx/>
              <a:buSzPct val="100000"/>
              <a:buFont typeface="Arial" panose="020B0604020202020204" pitchFamily="34" charset="0"/>
              <a:buChar char="•"/>
            </a:pPr>
            <a:r>
              <a:rPr lang="en-HK" sz="2200" dirty="0">
                <a:latin typeface="Times New Roman" panose="02020603050405020304" pitchFamily="18" charset="0"/>
                <a:cs typeface="Times New Roman" panose="02020603050405020304" pitchFamily="18" charset="0"/>
              </a:rPr>
              <a:t>Almost all firms use the indirect method</a:t>
            </a:r>
          </a:p>
          <a:p>
            <a:pPr marL="346075" lvl="1" indent="-346075">
              <a:spcBef>
                <a:spcPts val="1200"/>
              </a:spcBef>
              <a:spcAft>
                <a:spcPts val="0"/>
              </a:spcAft>
              <a:buClrTx/>
              <a:buSzPct val="100000"/>
              <a:buFont typeface="Wingdings" panose="05000000000000000000" pitchFamily="2" charset="2"/>
              <a:buChar char="Ø"/>
            </a:pPr>
            <a:r>
              <a:rPr lang="en-HK" sz="2400" dirty="0">
                <a:latin typeface="Times New Roman" panose="02020603050405020304" pitchFamily="18" charset="0"/>
                <a:cs typeface="Times New Roman" panose="02020603050405020304" pitchFamily="18" charset="0"/>
              </a:rPr>
              <a:t>Link net income to the change in cash on the balance sheet</a:t>
            </a:r>
          </a:p>
        </p:txBody>
      </p:sp>
      <p:sp>
        <p:nvSpPr>
          <p:cNvPr id="4" name="Text Box 2"/>
          <p:cNvSpPr txBox="1">
            <a:spLocks noChangeArrowheads="1"/>
          </p:cNvSpPr>
          <p:nvPr/>
        </p:nvSpPr>
        <p:spPr bwMode="auto">
          <a:xfrm>
            <a:off x="539750" y="555938"/>
            <a:ext cx="8064872"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cs typeface="Times New Roman" panose="02020603050405020304" pitchFamily="18" charset="0"/>
              </a:rPr>
              <a:t>Statement of </a:t>
            </a:r>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Cash Flow</a:t>
            </a:r>
          </a:p>
        </p:txBody>
      </p:sp>
    </p:spTree>
    <p:extLst>
      <p:ext uri="{BB962C8B-B14F-4D97-AF65-F5344CB8AC3E}">
        <p14:creationId xmlns:p14="http://schemas.microsoft.com/office/powerpoint/2010/main" val="9348844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4294967295"/>
          </p:nvPr>
        </p:nvSpPr>
        <p:spPr>
          <a:xfrm>
            <a:off x="693737" y="1268760"/>
            <a:ext cx="7756525" cy="5157788"/>
          </a:xfrm>
        </p:spPr>
        <p:txBody>
          <a:bodyPr>
            <a:noAutofit/>
          </a:bodyPr>
          <a:lstStyle/>
          <a:p>
            <a:pPr marL="346075" lvl="1" indent="-346075" eaLnBrk="1" hangingPunct="1">
              <a:spcBef>
                <a:spcPts val="600"/>
              </a:spcBef>
              <a:spcAft>
                <a:spcPts val="0"/>
              </a:spcAft>
              <a:buClrTx/>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Classifies cash flows by main activities:</a:t>
            </a:r>
          </a:p>
          <a:p>
            <a:pPr marL="688975" lvl="3" indent="-346075">
              <a:spcBef>
                <a:spcPts val="600"/>
              </a:spcBef>
              <a:spcAft>
                <a:spcPts val="0"/>
              </a:spcAft>
              <a:buClrTx/>
              <a:buSzPct val="100000"/>
            </a:pPr>
            <a:r>
              <a:rPr lang="en-US" sz="2400" b="1" dirty="0">
                <a:solidFill>
                  <a:srgbClr val="993300"/>
                </a:solidFill>
                <a:latin typeface="Times New Roman" panose="02020603050405020304" pitchFamily="18" charset="0"/>
                <a:cs typeface="Times New Roman" panose="02020603050405020304" pitchFamily="18" charset="0"/>
              </a:rPr>
              <a:t>Operating Activities (CFO)</a:t>
            </a:r>
          </a:p>
          <a:p>
            <a:pPr marL="914400" lvl="4" indent="-220663">
              <a:spcBef>
                <a:spcPts val="0"/>
              </a:spcBef>
              <a:spcAft>
                <a:spcPts val="0"/>
              </a:spcAft>
              <a:buClrTx/>
              <a:buSzPct val="100000"/>
            </a:pPr>
            <a:r>
              <a:rPr lang="en-HK" sz="2000" dirty="0">
                <a:latin typeface="Times New Roman" panose="02020603050405020304" pitchFamily="18" charset="0"/>
                <a:cs typeface="Times New Roman" panose="02020603050405020304" pitchFamily="18" charset="0"/>
              </a:rPr>
              <a:t>Regular business activities involving the production and delivery of goods or services</a:t>
            </a:r>
          </a:p>
          <a:p>
            <a:pPr marL="914400" lvl="4" indent="-220663">
              <a:spcBef>
                <a:spcPts val="0"/>
              </a:spcBef>
              <a:spcAft>
                <a:spcPts val="0"/>
              </a:spcAft>
              <a:buClrTx/>
              <a:buSzPct val="100000"/>
            </a:pPr>
            <a:r>
              <a:rPr lang="en-HK" sz="2000" dirty="0">
                <a:latin typeface="Times New Roman" panose="02020603050405020304" pitchFamily="18" charset="0"/>
                <a:cs typeface="Times New Roman" panose="02020603050405020304" pitchFamily="18" charset="0"/>
              </a:rPr>
              <a:t>Include net income from the income statement and adjust non-cash items</a:t>
            </a:r>
            <a:endParaRPr lang="en-US" sz="2000" dirty="0">
              <a:latin typeface="Times New Roman" panose="02020603050405020304" pitchFamily="18" charset="0"/>
              <a:cs typeface="Times New Roman" panose="02020603050405020304" pitchFamily="18" charset="0"/>
            </a:endParaRPr>
          </a:p>
          <a:p>
            <a:pPr marL="688975" lvl="3" indent="-346075">
              <a:spcBef>
                <a:spcPts val="600"/>
              </a:spcBef>
              <a:spcAft>
                <a:spcPts val="0"/>
              </a:spcAft>
              <a:buClrTx/>
              <a:buSzPct val="100000"/>
            </a:pPr>
            <a:r>
              <a:rPr lang="en-US" sz="2400" b="1" dirty="0">
                <a:solidFill>
                  <a:srgbClr val="993300"/>
                </a:solidFill>
                <a:latin typeface="Times New Roman" panose="02020603050405020304" pitchFamily="18" charset="0"/>
                <a:cs typeface="Times New Roman" panose="02020603050405020304" pitchFamily="18" charset="0"/>
              </a:rPr>
              <a:t>Investing Activities (CFI)</a:t>
            </a:r>
          </a:p>
          <a:p>
            <a:pPr marL="914400" lvl="4" indent="-220663">
              <a:spcBef>
                <a:spcPts val="0"/>
              </a:spcBef>
              <a:spcAft>
                <a:spcPts val="0"/>
              </a:spcAft>
              <a:buClrTx/>
              <a:buSzPct val="100000"/>
            </a:pPr>
            <a:r>
              <a:rPr lang="en-US" sz="2000" dirty="0">
                <a:latin typeface="Times New Roman" panose="02020603050405020304" pitchFamily="18" charset="0"/>
                <a:cs typeface="Times New Roman" panose="02020603050405020304" pitchFamily="18" charset="0"/>
              </a:rPr>
              <a:t>Relate to the acquisition and disposal of assets, such as plant and equipment, and investments in securities.</a:t>
            </a:r>
          </a:p>
          <a:p>
            <a:pPr marL="914400" lvl="4" indent="-220663">
              <a:spcBef>
                <a:spcPts val="0"/>
              </a:spcBef>
              <a:spcAft>
                <a:spcPts val="0"/>
              </a:spcAft>
              <a:buClrTx/>
              <a:buSzPct val="100000"/>
            </a:pPr>
            <a:r>
              <a:rPr lang="en-US" sz="2000" dirty="0">
                <a:latin typeface="Times New Roman" panose="02020603050405020304" pitchFamily="18" charset="0"/>
                <a:cs typeface="Times New Roman" panose="02020603050405020304" pitchFamily="18" charset="0"/>
              </a:rPr>
              <a:t>Negative value reflects spending cash on investment</a:t>
            </a:r>
          </a:p>
          <a:p>
            <a:pPr marL="688975" lvl="3" indent="-346075">
              <a:spcBef>
                <a:spcPts val="600"/>
              </a:spcBef>
              <a:spcAft>
                <a:spcPts val="0"/>
              </a:spcAft>
              <a:buClrTx/>
              <a:buSzPct val="100000"/>
            </a:pPr>
            <a:r>
              <a:rPr lang="en-US" sz="2400" b="1" dirty="0">
                <a:solidFill>
                  <a:srgbClr val="993300"/>
                </a:solidFill>
                <a:latin typeface="Times New Roman" panose="02020603050405020304" pitchFamily="18" charset="0"/>
                <a:cs typeface="Times New Roman" panose="02020603050405020304" pitchFamily="18" charset="0"/>
              </a:rPr>
              <a:t>Financing Activities (CFF)</a:t>
            </a:r>
          </a:p>
          <a:p>
            <a:pPr marL="914400" lvl="4" indent="-220663">
              <a:spcBef>
                <a:spcPts val="0"/>
              </a:spcBef>
              <a:spcAft>
                <a:spcPts val="0"/>
              </a:spcAft>
              <a:buClrTx/>
              <a:buSzPct val="100000"/>
            </a:pPr>
            <a:r>
              <a:rPr lang="en-US" sz="2000" dirty="0">
                <a:latin typeface="Times New Roman" panose="02020603050405020304" pitchFamily="18" charset="0"/>
                <a:cs typeface="Times New Roman" panose="02020603050405020304" pitchFamily="18" charset="0"/>
              </a:rPr>
              <a:t>Relate to </a:t>
            </a:r>
            <a:r>
              <a:rPr lang="en-HK" sz="2000" dirty="0">
                <a:latin typeface="Times New Roman" panose="02020603050405020304" pitchFamily="18" charset="0"/>
                <a:cs typeface="Times New Roman" panose="02020603050405020304" pitchFamily="18" charset="0"/>
              </a:rPr>
              <a:t>cash received from and paid to capital providers such as banks, other lending institutions, and shareholders.</a:t>
            </a:r>
          </a:p>
          <a:p>
            <a:pPr marL="914400" lvl="4" indent="-220663">
              <a:spcBef>
                <a:spcPts val="0"/>
              </a:spcBef>
              <a:spcAft>
                <a:spcPts val="0"/>
              </a:spcAft>
              <a:buClrTx/>
              <a:buSzPct val="100000"/>
            </a:pPr>
            <a:r>
              <a:rPr lang="en-HK" sz="2000" dirty="0">
                <a:latin typeface="Times New Roman" panose="02020603050405020304" pitchFamily="18" charset="0"/>
                <a:cs typeface="Times New Roman" panose="02020603050405020304" pitchFamily="18" charset="0"/>
              </a:rPr>
              <a:t>Reflect capital structure management</a:t>
            </a:r>
            <a:endParaRPr lang="en-US" sz="2000" dirty="0">
              <a:latin typeface="Times New Roman" panose="02020603050405020304" pitchFamily="18" charset="0"/>
              <a:cs typeface="Times New Roman" panose="02020603050405020304" pitchFamily="18" charset="0"/>
            </a:endParaRPr>
          </a:p>
        </p:txBody>
      </p:sp>
      <p:sp>
        <p:nvSpPr>
          <p:cNvPr id="4" name="Text Box 2"/>
          <p:cNvSpPr txBox="1">
            <a:spLocks noChangeArrowheads="1"/>
          </p:cNvSpPr>
          <p:nvPr/>
        </p:nvSpPr>
        <p:spPr bwMode="auto">
          <a:xfrm>
            <a:off x="539750" y="555938"/>
            <a:ext cx="8064872"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cs typeface="Times New Roman" panose="02020603050405020304" pitchFamily="18" charset="0"/>
              </a:rPr>
              <a:t>Statement of </a:t>
            </a:r>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Cash Flow</a:t>
            </a:r>
          </a:p>
        </p:txBody>
      </p:sp>
    </p:spTree>
    <p:extLst>
      <p:ext uri="{BB962C8B-B14F-4D97-AF65-F5344CB8AC3E}">
        <p14:creationId xmlns:p14="http://schemas.microsoft.com/office/powerpoint/2010/main" val="13699168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4294967295"/>
          </p:nvPr>
        </p:nvSpPr>
        <p:spPr>
          <a:xfrm>
            <a:off x="684213" y="1435812"/>
            <a:ext cx="7756525" cy="4873508"/>
          </a:xfrm>
        </p:spPr>
        <p:txBody>
          <a:bodyPr>
            <a:noAutofit/>
          </a:bodyPr>
          <a:lstStyle/>
          <a:p>
            <a:pPr>
              <a:buClrTx/>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Potential use of the Statement of Cash Flows:</a:t>
            </a:r>
          </a:p>
          <a:p>
            <a:pPr marL="568325" lvl="1" indent="-284163">
              <a:spcBef>
                <a:spcPts val="0"/>
              </a:spcBef>
              <a:buClrTx/>
              <a:buSzPct val="100000"/>
            </a:pPr>
            <a:r>
              <a:rPr lang="en-US" dirty="0">
                <a:latin typeface="Times New Roman" panose="02020603050405020304" pitchFamily="18" charset="0"/>
                <a:cs typeface="Times New Roman" panose="02020603050405020304" pitchFamily="18" charset="0"/>
              </a:rPr>
              <a:t>Assess extent to which earnings represent economic reality.</a:t>
            </a:r>
          </a:p>
          <a:p>
            <a:pPr marL="568325" lvl="1" indent="-284163">
              <a:spcBef>
                <a:spcPts val="0"/>
              </a:spcBef>
              <a:buClrTx/>
              <a:buSzPct val="100000"/>
            </a:pPr>
            <a:r>
              <a:rPr lang="en-US" dirty="0">
                <a:latin typeface="Times New Roman" panose="02020603050405020304" pitchFamily="18" charset="0"/>
                <a:cs typeface="Times New Roman" panose="02020603050405020304" pitchFamily="18" charset="0"/>
              </a:rPr>
              <a:t>Identify discrepancies between net income and cash flow from operations.  </a:t>
            </a:r>
          </a:p>
          <a:p>
            <a:pPr marL="914400" lvl="2" indent="-346075">
              <a:spcBef>
                <a:spcPts val="0"/>
              </a:spcBef>
              <a:buClrTx/>
              <a:buSzPct val="100000"/>
            </a:pPr>
            <a:r>
              <a:rPr lang="en-US" sz="2000" dirty="0">
                <a:latin typeface="Times New Roman" panose="02020603050405020304" pitchFamily="18" charset="0"/>
                <a:cs typeface="Times New Roman" panose="02020603050405020304" pitchFamily="18" charset="0"/>
              </a:rPr>
              <a:t>Ratio of net income to CFO</a:t>
            </a:r>
          </a:p>
          <a:p>
            <a:pPr marL="914400" lvl="2" indent="-346075">
              <a:spcBef>
                <a:spcPts val="0"/>
              </a:spcBef>
              <a:buClrTx/>
              <a:buSzPct val="100000"/>
            </a:pPr>
            <a:r>
              <a:rPr lang="en-US" sz="2000" dirty="0">
                <a:latin typeface="Times New Roman" panose="02020603050405020304" pitchFamily="18" charset="0"/>
                <a:cs typeface="Times New Roman" panose="02020603050405020304" pitchFamily="18" charset="0"/>
              </a:rPr>
              <a:t>Directions and rates of change of net income and CFO</a:t>
            </a:r>
          </a:p>
          <a:p>
            <a:pPr marL="914400" lvl="2" indent="-346075">
              <a:spcBef>
                <a:spcPts val="0"/>
              </a:spcBef>
              <a:buClrTx/>
              <a:buSzPct val="100000"/>
            </a:pPr>
            <a:r>
              <a:rPr lang="en-US" altLang="zh-CN" sz="2000" dirty="0">
                <a:latin typeface="Times New Roman" panose="02020603050405020304" pitchFamily="18" charset="0"/>
                <a:cs typeface="Times New Roman" panose="02020603050405020304" pitchFamily="18" charset="0"/>
              </a:rPr>
              <a:t>Increased d</a:t>
            </a:r>
            <a:r>
              <a:rPr lang="en-US" sz="2000" dirty="0">
                <a:latin typeface="Times New Roman" panose="02020603050405020304" pitchFamily="18" charset="0"/>
                <a:cs typeface="Times New Roman" panose="02020603050405020304" pitchFamily="18" charset="0"/>
              </a:rPr>
              <a:t>iscrepancy represents a red flag for further investigation </a:t>
            </a:r>
          </a:p>
          <a:p>
            <a:pPr marL="568325" lvl="1" indent="-284163">
              <a:spcBef>
                <a:spcPts val="0"/>
              </a:spcBef>
              <a:buClrTx/>
              <a:buSzPct val="100000"/>
            </a:pPr>
            <a:r>
              <a:rPr lang="en-US" dirty="0">
                <a:latin typeface="Times New Roman" panose="02020603050405020304" pitchFamily="18" charset="0"/>
                <a:cs typeface="Times New Roman" panose="02020603050405020304" pitchFamily="18" charset="0"/>
              </a:rPr>
              <a:t>Assess health and maturity of firms:</a:t>
            </a:r>
          </a:p>
          <a:p>
            <a:pPr marL="914400" lvl="2" indent="-346075">
              <a:spcBef>
                <a:spcPts val="0"/>
              </a:spcBef>
              <a:buClrTx/>
              <a:buSzPct val="100000"/>
            </a:pPr>
            <a:r>
              <a:rPr lang="en-US" sz="2000" dirty="0">
                <a:latin typeface="Times New Roman" panose="02020603050405020304" pitchFamily="18" charset="0"/>
                <a:cs typeface="Times New Roman" panose="02020603050405020304" pitchFamily="18" charset="0"/>
              </a:rPr>
              <a:t>Healthy, mature firms are likely to have positive CFO, negative or positive CFI, and negative CFF. </a:t>
            </a:r>
          </a:p>
          <a:p>
            <a:pPr marL="914400" lvl="2" indent="-346075">
              <a:spcBef>
                <a:spcPts val="0"/>
              </a:spcBef>
              <a:buClrTx/>
              <a:buSzPct val="100000"/>
            </a:pPr>
            <a:r>
              <a:rPr lang="en-US" sz="2000" dirty="0">
                <a:latin typeface="Times New Roman" panose="02020603050405020304" pitchFamily="18" charset="0"/>
                <a:cs typeface="Times New Roman" panose="02020603050405020304" pitchFamily="18" charset="0"/>
              </a:rPr>
              <a:t>Start-up firms are likely to have negative CFO, negative CFI and positive CFF.</a:t>
            </a:r>
          </a:p>
        </p:txBody>
      </p:sp>
      <p:sp>
        <p:nvSpPr>
          <p:cNvPr id="4" name="Text Box 2"/>
          <p:cNvSpPr txBox="1">
            <a:spLocks noChangeArrowheads="1"/>
          </p:cNvSpPr>
          <p:nvPr/>
        </p:nvSpPr>
        <p:spPr bwMode="auto">
          <a:xfrm>
            <a:off x="539750" y="555938"/>
            <a:ext cx="8064872"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cs typeface="Times New Roman" panose="02020603050405020304" pitchFamily="18" charset="0"/>
              </a:rPr>
              <a:t>Statement of </a:t>
            </a:r>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Cash Flow</a:t>
            </a:r>
          </a:p>
        </p:txBody>
      </p:sp>
    </p:spTree>
    <p:extLst>
      <p:ext uri="{BB962C8B-B14F-4D97-AF65-F5344CB8AC3E}">
        <p14:creationId xmlns:p14="http://schemas.microsoft.com/office/powerpoint/2010/main" val="18702087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5E93D02-EA31-3100-6A9A-A0EF5709CF3C}"/>
              </a:ext>
            </a:extLst>
          </p:cNvPr>
          <p:cNvPicPr>
            <a:picLocks noChangeAspect="1"/>
          </p:cNvPicPr>
          <p:nvPr/>
        </p:nvPicPr>
        <p:blipFill>
          <a:blip r:embed="rId2"/>
          <a:srcRect b="94099"/>
          <a:stretch/>
        </p:blipFill>
        <p:spPr>
          <a:xfrm>
            <a:off x="1681655" y="153795"/>
            <a:ext cx="5780690" cy="404664"/>
          </a:xfrm>
          <a:prstGeom prst="rect">
            <a:avLst/>
          </a:prstGeom>
        </p:spPr>
      </p:pic>
      <p:pic>
        <p:nvPicPr>
          <p:cNvPr id="2" name="图片 1">
            <a:extLst>
              <a:ext uri="{FF2B5EF4-FFF2-40B4-BE49-F238E27FC236}">
                <a16:creationId xmlns:a16="http://schemas.microsoft.com/office/drawing/2014/main" id="{B95CA136-54F2-79C6-EF8E-A232CA7E1DAE}"/>
              </a:ext>
            </a:extLst>
          </p:cNvPr>
          <p:cNvPicPr>
            <a:picLocks noChangeAspect="1"/>
          </p:cNvPicPr>
          <p:nvPr/>
        </p:nvPicPr>
        <p:blipFill>
          <a:blip r:embed="rId2"/>
          <a:srcRect t="9450"/>
          <a:stretch/>
        </p:blipFill>
        <p:spPr>
          <a:xfrm>
            <a:off x="1681655" y="494277"/>
            <a:ext cx="5780690" cy="6209928"/>
          </a:xfrm>
          <a:prstGeom prst="rect">
            <a:avLst/>
          </a:prstGeom>
        </p:spPr>
      </p:pic>
    </p:spTree>
    <p:extLst>
      <p:ext uri="{BB962C8B-B14F-4D97-AF65-F5344CB8AC3E}">
        <p14:creationId xmlns:p14="http://schemas.microsoft.com/office/powerpoint/2010/main" val="2074240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1AB516F-5C4D-D7E0-2D98-23EAE31034AA}"/>
              </a:ext>
            </a:extLst>
          </p:cNvPr>
          <p:cNvPicPr>
            <a:picLocks noChangeAspect="1"/>
          </p:cNvPicPr>
          <p:nvPr/>
        </p:nvPicPr>
        <p:blipFill>
          <a:blip r:embed="rId2"/>
          <a:stretch>
            <a:fillRect/>
          </a:stretch>
        </p:blipFill>
        <p:spPr>
          <a:xfrm>
            <a:off x="1745686" y="152636"/>
            <a:ext cx="5652628" cy="6552727"/>
          </a:xfrm>
          <a:prstGeom prst="rect">
            <a:avLst/>
          </a:prstGeom>
        </p:spPr>
      </p:pic>
    </p:spTree>
    <p:extLst>
      <p:ext uri="{BB962C8B-B14F-4D97-AF65-F5344CB8AC3E}">
        <p14:creationId xmlns:p14="http://schemas.microsoft.com/office/powerpoint/2010/main" val="3676492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rrowheads="1"/>
          </p:cNvSpPr>
          <p:nvPr>
            <p:ph type="title" idx="4294967295"/>
          </p:nvPr>
        </p:nvSpPr>
        <p:spPr>
          <a:xfrm>
            <a:off x="539750" y="549275"/>
            <a:ext cx="8064500" cy="719138"/>
          </a:xfrm>
        </p:spPr>
        <p:txBody>
          <a:bodyPr>
            <a:noAutofit/>
          </a:bodyPr>
          <a:lstStyle/>
          <a:p>
            <a:r>
              <a:rPr lang="en-HK" sz="3600" dirty="0">
                <a:solidFill>
                  <a:srgbClr val="993300"/>
                </a:solidFill>
                <a:latin typeface="Times New Roman" panose="02020603050405020304" pitchFamily="18" charset="0"/>
                <a:cs typeface="Times New Roman" panose="02020603050405020304" pitchFamily="18" charset="0"/>
              </a:rPr>
              <a:t>Statement of Changes in Equity</a:t>
            </a:r>
          </a:p>
        </p:txBody>
      </p:sp>
      <p:sp>
        <p:nvSpPr>
          <p:cNvPr id="33795" name="Rectangle 3"/>
          <p:cNvSpPr>
            <a:spLocks noGrp="1" noChangeArrowheads="1"/>
          </p:cNvSpPr>
          <p:nvPr>
            <p:ph type="body" idx="4294967295"/>
          </p:nvPr>
        </p:nvSpPr>
        <p:spPr>
          <a:xfrm>
            <a:off x="684857" y="1412875"/>
            <a:ext cx="7775575" cy="4824437"/>
          </a:xfrm>
        </p:spPr>
        <p:txBody>
          <a:bodyPr>
            <a:normAutofit/>
          </a:bodyPr>
          <a:lstStyle/>
          <a:p>
            <a:pPr eaLnBrk="1" hangingPunct="1">
              <a:buClrTx/>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Shows major changes in the interests of company’s shareholders over time.</a:t>
            </a:r>
          </a:p>
          <a:p>
            <a:pPr lvl="1" eaLnBrk="1" hangingPunct="1">
              <a:buClrTx/>
              <a:buSzPct val="100000"/>
            </a:pPr>
            <a:r>
              <a:rPr lang="en-US" dirty="0">
                <a:latin typeface="Times New Roman" panose="02020603050405020304" pitchFamily="18" charset="0"/>
                <a:cs typeface="Times New Roman" panose="02020603050405020304" pitchFamily="18" charset="0"/>
              </a:rPr>
              <a:t>Major changes in contributed capital and earned capital:</a:t>
            </a:r>
          </a:p>
          <a:p>
            <a:pPr lvl="2" eaLnBrk="1" hangingPunct="1">
              <a:buClrTx/>
              <a:buSzPct val="100000"/>
            </a:pPr>
            <a:r>
              <a:rPr lang="en-US" sz="2000" dirty="0">
                <a:latin typeface="Times New Roman" panose="02020603050405020304" pitchFamily="18" charset="0"/>
                <a:cs typeface="Times New Roman" panose="02020603050405020304" pitchFamily="18" charset="0"/>
              </a:rPr>
              <a:t>Contributed capital consists of common stock, preferred stock, additional paid in capital, and treasury stock.</a:t>
            </a:r>
          </a:p>
          <a:p>
            <a:pPr lvl="2" eaLnBrk="1" hangingPunct="1">
              <a:buClrTx/>
              <a:buSzPct val="100000"/>
            </a:pPr>
            <a:r>
              <a:rPr lang="en-US" sz="2000" dirty="0">
                <a:latin typeface="Times New Roman" panose="02020603050405020304" pitchFamily="18" charset="0"/>
                <a:cs typeface="Times New Roman" panose="02020603050405020304" pitchFamily="18" charset="0"/>
              </a:rPr>
              <a:t>Earned capital consists of retained earnings and accumulated other comprehensive income (AOCI).</a:t>
            </a:r>
          </a:p>
          <a:p>
            <a:pPr eaLnBrk="1" hangingPunct="1">
              <a:buClrTx/>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Additional key information:</a:t>
            </a:r>
          </a:p>
          <a:p>
            <a:pPr lvl="1" eaLnBrk="1" hangingPunct="1">
              <a:buClrTx/>
              <a:buSzPct val="100000"/>
            </a:pPr>
            <a:r>
              <a:rPr lang="en-US" dirty="0">
                <a:latin typeface="Times New Roman" panose="02020603050405020304" pitchFamily="18" charset="0"/>
                <a:cs typeface="Times New Roman" panose="02020603050405020304" pitchFamily="18" charset="0"/>
              </a:rPr>
              <a:t>Amount of dividends declared during period</a:t>
            </a:r>
          </a:p>
          <a:p>
            <a:pPr lvl="1" eaLnBrk="1" hangingPunct="1">
              <a:buClrTx/>
              <a:buSzPct val="100000"/>
            </a:pPr>
            <a:r>
              <a:rPr lang="en-US" dirty="0">
                <a:latin typeface="Times New Roman" panose="02020603050405020304" pitchFamily="18" charset="0"/>
                <a:cs typeface="Times New Roman" panose="02020603050405020304" pitchFamily="18" charset="0"/>
              </a:rPr>
              <a:t>Number of shares and cost of shares repurchased during period</a:t>
            </a:r>
          </a:p>
          <a:p>
            <a:pPr lvl="1" eaLnBrk="1" hangingPunct="1">
              <a:buClrTx/>
              <a:buSzPct val="100000"/>
            </a:pPr>
            <a:r>
              <a:rPr lang="en-US" dirty="0">
                <a:latin typeface="Times New Roman" panose="02020603050405020304" pitchFamily="18" charset="0"/>
                <a:cs typeface="Times New Roman" panose="02020603050405020304" pitchFamily="18" charset="0"/>
              </a:rPr>
              <a:t>Number of shares and price of shares issued during period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18897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B0539DB-EE45-2C02-4FAE-3DEDF074F075}"/>
              </a:ext>
            </a:extLst>
          </p:cNvPr>
          <p:cNvPicPr>
            <a:picLocks noChangeAspect="1"/>
          </p:cNvPicPr>
          <p:nvPr/>
        </p:nvPicPr>
        <p:blipFill>
          <a:blip r:embed="rId2"/>
          <a:srcRect r="21930" b="94099"/>
          <a:stretch/>
        </p:blipFill>
        <p:spPr>
          <a:xfrm>
            <a:off x="1907704" y="371466"/>
            <a:ext cx="5207138" cy="404664"/>
          </a:xfrm>
          <a:prstGeom prst="rect">
            <a:avLst/>
          </a:prstGeom>
        </p:spPr>
      </p:pic>
      <p:pic>
        <p:nvPicPr>
          <p:cNvPr id="6" name="图片 5">
            <a:extLst>
              <a:ext uri="{FF2B5EF4-FFF2-40B4-BE49-F238E27FC236}">
                <a16:creationId xmlns:a16="http://schemas.microsoft.com/office/drawing/2014/main" id="{F121EEE2-4547-9692-0305-94E4A3ED99BA}"/>
              </a:ext>
            </a:extLst>
          </p:cNvPr>
          <p:cNvPicPr>
            <a:picLocks noChangeAspect="1"/>
          </p:cNvPicPr>
          <p:nvPr/>
        </p:nvPicPr>
        <p:blipFill>
          <a:blip r:embed="rId3"/>
          <a:srcRect r="1963"/>
          <a:stretch/>
        </p:blipFill>
        <p:spPr>
          <a:xfrm>
            <a:off x="107504" y="776130"/>
            <a:ext cx="8964488" cy="5872076"/>
          </a:xfrm>
          <a:prstGeom prst="rect">
            <a:avLst/>
          </a:prstGeom>
        </p:spPr>
      </p:pic>
    </p:spTree>
    <p:extLst>
      <p:ext uri="{BB962C8B-B14F-4D97-AF65-F5344CB8AC3E}">
        <p14:creationId xmlns:p14="http://schemas.microsoft.com/office/powerpoint/2010/main" val="864542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539750" y="548680"/>
            <a:ext cx="8064500" cy="646331"/>
          </a:xfrm>
          <a:prstGeom prst="rect">
            <a:avLst/>
          </a:prstGeom>
          <a:noFill/>
          <a:ln w="9525">
            <a:noFill/>
            <a:miter lim="800000"/>
            <a:headEnd/>
            <a:tailEnd/>
          </a:ln>
        </p:spPr>
        <p:txBody>
          <a:bodyPr wrap="square">
            <a:spAutoFit/>
          </a:bodyPr>
          <a:lstStyle/>
          <a:p>
            <a:pPr algn="ctr"/>
            <a:r>
              <a:rPr lang="en-US" altLang="zh-TW" sz="3600" dirty="0">
                <a:solidFill>
                  <a:srgbClr val="993300"/>
                </a:solidFill>
                <a:latin typeface="Times New Roman" panose="02020603050405020304" pitchFamily="18" charset="0"/>
                <a:ea typeface="新細明體" pitchFamily="18" charset="-120"/>
                <a:cs typeface="Times New Roman" panose="02020603050405020304" pitchFamily="18" charset="0"/>
              </a:rPr>
              <a:t>Notes to the Accounts</a:t>
            </a:r>
          </a:p>
        </p:txBody>
      </p:sp>
      <p:sp>
        <p:nvSpPr>
          <p:cNvPr id="37891" name="Text Box 3"/>
          <p:cNvSpPr txBox="1">
            <a:spLocks noChangeArrowheads="1"/>
          </p:cNvSpPr>
          <p:nvPr/>
        </p:nvSpPr>
        <p:spPr bwMode="auto">
          <a:xfrm>
            <a:off x="683568" y="1412776"/>
            <a:ext cx="7775575" cy="5075107"/>
          </a:xfrm>
          <a:prstGeom prst="rect">
            <a:avLst/>
          </a:prstGeom>
          <a:noFill/>
          <a:ln w="9525">
            <a:noFill/>
            <a:miter lim="800000"/>
            <a:headEnd/>
            <a:tailEnd/>
          </a:ln>
        </p:spPr>
        <p:txBody>
          <a:bodyPr wrap="square">
            <a:spAutoFit/>
          </a:bodyPr>
          <a:lstStyle/>
          <a:p>
            <a:pPr marL="457200" indent="-457200">
              <a:lnSpc>
                <a:spcPct val="114000"/>
              </a:lnSpc>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Provide details about items that appear in the financial statements</a:t>
            </a:r>
          </a:p>
          <a:p>
            <a:pPr marL="457200" indent="-457200">
              <a:lnSpc>
                <a:spcPct val="114000"/>
              </a:lnSpc>
              <a:spcBef>
                <a:spcPts val="600"/>
              </a:spcBef>
              <a:buFont typeface="Wingdings" panose="05000000000000000000" pitchFamily="2" charset="2"/>
              <a:buChar char="Ø"/>
            </a:pPr>
            <a:r>
              <a:rPr lang="en-US" altLang="zh-TW" sz="2400" dirty="0">
                <a:latin typeface="Times New Roman" panose="02020603050405020304" pitchFamily="18" charset="0"/>
                <a:cs typeface="Times New Roman" panose="02020603050405020304" pitchFamily="18" charset="0"/>
              </a:rPr>
              <a:t>Specified by the Companies Ordinance</a:t>
            </a:r>
          </a:p>
          <a:p>
            <a:pPr marL="457200" indent="-457200">
              <a:lnSpc>
                <a:spcPct val="114000"/>
              </a:lnSpc>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Note 1 (sometimes Note 2) summarizes the firm’s accounting policies such as </a:t>
            </a:r>
            <a:r>
              <a:rPr lang="en-US" altLang="zh-CN" sz="2400" dirty="0">
                <a:latin typeface="Times New Roman" panose="02020603050405020304" pitchFamily="18" charset="0"/>
                <a:cs typeface="Times New Roman" panose="02020603050405020304" pitchFamily="18" charset="0"/>
              </a:rPr>
              <a:t>valuation method</a:t>
            </a:r>
            <a:endParaRPr lang="en-US" sz="2400" dirty="0">
              <a:latin typeface="Times New Roman" panose="02020603050405020304" pitchFamily="18" charset="0"/>
              <a:cs typeface="Times New Roman" panose="02020603050405020304" pitchFamily="18" charset="0"/>
            </a:endParaRPr>
          </a:p>
          <a:p>
            <a:pPr marL="457200" indent="-457200">
              <a:lnSpc>
                <a:spcPct val="114000"/>
              </a:lnSpc>
              <a:spcBef>
                <a:spcPts val="600"/>
              </a:spcBef>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Breakdown of financial statement items with detailed explanation and elaboration</a:t>
            </a:r>
          </a:p>
          <a:p>
            <a:pPr marL="457200" indent="-457200">
              <a:lnSpc>
                <a:spcPct val="114000"/>
              </a:lnSpc>
              <a:spcBef>
                <a:spcPts val="600"/>
              </a:spcBef>
              <a:buFont typeface="Wingdings" panose="05000000000000000000" pitchFamily="2" charset="2"/>
              <a:buChar char="Ø"/>
            </a:pPr>
            <a:r>
              <a:rPr lang="en-US" altLang="zh-TW" sz="2400" dirty="0">
                <a:latin typeface="Times New Roman" panose="02020603050405020304" pitchFamily="18" charset="0"/>
                <a:ea typeface="新細明體" pitchFamily="18" charset="-120"/>
                <a:cs typeface="Times New Roman" panose="02020603050405020304" pitchFamily="18" charset="0"/>
              </a:rPr>
              <a:t>Whenever you are curious about the aggregated numbers in financial statements, you can always look at their notes for detailed composition, assumption on valuation, etc.</a:t>
            </a:r>
          </a:p>
          <a:p>
            <a:pPr marL="457200" indent="-457200">
              <a:lnSpc>
                <a:spcPct val="114000"/>
              </a:lnSpc>
              <a:spcBef>
                <a:spcPts val="600"/>
              </a:spcBef>
              <a:buFont typeface="Wingdings" panose="05000000000000000000" pitchFamily="2" charset="2"/>
              <a:buChar char="Ø"/>
            </a:pPr>
            <a:endParaRPr lang="en-US" altLang="zh-TW" sz="2400" dirty="0">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695854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2494</Words>
  <Application>Microsoft Office PowerPoint</Application>
  <PresentationFormat>On-screen Show (4:3)</PresentationFormat>
  <Paragraphs>333</Paragraphs>
  <Slides>47</Slides>
  <Notes>42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等线</vt:lpstr>
      <vt:lpstr>ＭＳ Ｐゴシック</vt:lpstr>
      <vt:lpstr>ＭＳ Ｐゴシック</vt:lpstr>
      <vt:lpstr>新細明體</vt:lpstr>
      <vt:lpstr>Arial</vt:lpstr>
      <vt:lpstr>Calibri</vt:lpstr>
      <vt:lpstr>Calibri Light</vt:lpstr>
      <vt:lpstr>Palatino Linotype</vt:lpstr>
      <vt:lpstr>Times New Roman</vt:lpstr>
      <vt:lpstr>Wingdings</vt:lpstr>
      <vt:lpstr>Office Theme</vt:lpstr>
      <vt:lpstr>AC6761 Artificial Intelligence Accounting</vt:lpstr>
      <vt:lpstr>PowerPoint Presentation</vt:lpstr>
      <vt:lpstr>PowerPoint Presentation</vt:lpstr>
      <vt:lpstr>PowerPoint Presentation</vt:lpstr>
      <vt:lpstr>PowerPoint Presentation</vt:lpstr>
      <vt:lpstr>Non-Current Assets</vt:lpstr>
      <vt:lpstr>PowerPoint Presentation</vt:lpstr>
      <vt:lpstr>Current Assets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Statement of Changes in Equity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2020-08-27T08:06:10Z</dcterms:created>
  <dcterms:modified xsi:type="dcterms:W3CDTF">2025-08-29T01:54:01Z</dcterms:modified>
</cp:coreProperties>
</file>