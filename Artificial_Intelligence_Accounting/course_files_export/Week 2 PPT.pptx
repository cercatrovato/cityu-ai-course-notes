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5721" r:id="rId1"/>
  </p:sldMasterIdLst>
  <p:notesMasterIdLst>
    <p:notesMasterId r:id="rId49"/>
  </p:notesMasterIdLst>
  <p:handoutMasterIdLst>
    <p:handoutMasterId r:id="rId50"/>
  </p:handoutMasterIdLst>
  <p:sldIdLst>
    <p:sldId id="397" r:id="rId2"/>
    <p:sldId id="334" r:id="rId3"/>
    <p:sldId id="259" r:id="rId4"/>
    <p:sldId id="335" r:id="rId5"/>
    <p:sldId id="261" r:id="rId6"/>
    <p:sldId id="262" r:id="rId7"/>
    <p:sldId id="263" r:id="rId8"/>
    <p:sldId id="264" r:id="rId9"/>
    <p:sldId id="265" r:id="rId10"/>
    <p:sldId id="266" r:id="rId11"/>
    <p:sldId id="336" r:id="rId12"/>
    <p:sldId id="267" r:id="rId13"/>
    <p:sldId id="337" r:id="rId14"/>
    <p:sldId id="268" r:id="rId15"/>
    <p:sldId id="359" r:id="rId16"/>
    <p:sldId id="357" r:id="rId17"/>
    <p:sldId id="358" r:id="rId18"/>
    <p:sldId id="270" r:id="rId19"/>
    <p:sldId id="271" r:id="rId20"/>
    <p:sldId id="338" r:id="rId21"/>
    <p:sldId id="272" r:id="rId22"/>
    <p:sldId id="360" r:id="rId23"/>
    <p:sldId id="273" r:id="rId24"/>
    <p:sldId id="274" r:id="rId25"/>
    <p:sldId id="275" r:id="rId26"/>
    <p:sldId id="339" r:id="rId27"/>
    <p:sldId id="297" r:id="rId28"/>
    <p:sldId id="324" r:id="rId29"/>
    <p:sldId id="325" r:id="rId30"/>
    <p:sldId id="326" r:id="rId31"/>
    <p:sldId id="327" r:id="rId32"/>
    <p:sldId id="328" r:id="rId33"/>
    <p:sldId id="343" r:id="rId34"/>
    <p:sldId id="344" r:id="rId35"/>
    <p:sldId id="345" r:id="rId36"/>
    <p:sldId id="346" r:id="rId37"/>
    <p:sldId id="347" r:id="rId38"/>
    <p:sldId id="348" r:id="rId39"/>
    <p:sldId id="349" r:id="rId40"/>
    <p:sldId id="350" r:id="rId41"/>
    <p:sldId id="351" r:id="rId42"/>
    <p:sldId id="352" r:id="rId43"/>
    <p:sldId id="353" r:id="rId44"/>
    <p:sldId id="354" r:id="rId45"/>
    <p:sldId id="340" r:id="rId46"/>
    <p:sldId id="287" r:id="rId47"/>
    <p:sldId id="329" r:id="rId48"/>
  </p:sldIdLst>
  <p:sldSz cx="9144000" cy="6858000" type="screen4x3"/>
  <p:notesSz cx="6797675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8" name="Author" initials="A" lastIdx="0" clrIdx="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02D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61" autoAdjust="0"/>
    <p:restoredTop sz="92494" autoAdjust="0"/>
  </p:normalViewPr>
  <p:slideViewPr>
    <p:cSldViewPr>
      <p:cViewPr varScale="1">
        <p:scale>
          <a:sx n="76" d="100"/>
          <a:sy n="76" d="100"/>
        </p:scale>
        <p:origin x="1963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31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2885" y="67"/>
      </p:cViewPr>
      <p:guideLst>
        <p:guide orient="horz" pos="3128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966849" y="0"/>
            <a:ext cx="829254" cy="298240"/>
          </a:xfrm>
          <a:prstGeom prst="rect">
            <a:avLst/>
          </a:prstGeom>
        </p:spPr>
        <p:txBody>
          <a:bodyPr vert="horz" wrap="square" lIns="93164" tIns="46582" rIns="93164" bIns="4658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r>
              <a:rPr lang="en-US" dirty="0"/>
              <a:t>1-</a:t>
            </a:r>
            <a:fld id="{4FC70F1E-A9CF-4725-BA99-5BD9E946C6F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22212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3164" tIns="46582" rIns="93164" bIns="46582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6662"/>
            <a:ext cx="5438140" cy="4468416"/>
          </a:xfrm>
          <a:prstGeom prst="rect">
            <a:avLst/>
          </a:prstGeom>
          <a:ln>
            <a:noFill/>
          </a:ln>
        </p:spPr>
        <p:txBody>
          <a:bodyPr vert="horz" wrap="square" lIns="93164" tIns="46582" rIns="93164" bIns="46582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Slide Number Placeholder 4"/>
          <p:cNvSpPr txBox="1">
            <a:spLocks/>
          </p:cNvSpPr>
          <p:nvPr/>
        </p:nvSpPr>
        <p:spPr>
          <a:xfrm>
            <a:off x="5287083" y="0"/>
            <a:ext cx="1510595" cy="330995"/>
          </a:xfrm>
          <a:prstGeom prst="rect">
            <a:avLst/>
          </a:prstGeom>
        </p:spPr>
        <p:txBody>
          <a:bodyPr lIns="93164" tIns="46582" rIns="93164" bIns="46582" anchor="b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>
                <a:latin typeface="Calibri" pitchFamily="-107" charset="0"/>
              </a:rPr>
              <a:t>1 - </a:t>
            </a:r>
            <a:fld id="{E8754586-748E-423B-B46D-321A01942A47}" type="slidenum">
              <a:rPr lang="en-US" sz="1200" smtClean="0">
                <a:latin typeface="Calibri" pitchFamily="-107" charset="0"/>
              </a:rPr>
              <a:pPr algn="r" eaLnBrk="1" hangingPunct="1">
                <a:defRPr/>
              </a:pPr>
              <a:t>‹#›</a:t>
            </a:fld>
            <a:endParaRPr lang="en-US" sz="1200" dirty="0">
              <a:latin typeface="Calibri" pitchFamily="-107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02605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ＭＳ Ｐゴシック" pitchFamily="-107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7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98462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77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06936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86641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80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84233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04882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36887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335527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8432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136343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277065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210113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884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881672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2894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90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067327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295735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503401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90625" y="703263"/>
            <a:ext cx="4630738" cy="34734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34720" y="4415790"/>
            <a:ext cx="5140960" cy="41833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819147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06500" y="708025"/>
            <a:ext cx="4665663" cy="34988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2975" y="4448175"/>
            <a:ext cx="5191125" cy="4213225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879574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856170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966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12060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370332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8139" tIns="44070" rIns="88139" bIns="44070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zh-TW" altLang="en-US" sz="1800">
              <a:latin typeface="Arial" panose="020B0604020202020204" pitchFamily="34" charset="0"/>
            </a:endParaRPr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3971925" y="8832850"/>
            <a:ext cx="30384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362" tIns="0" rIns="18362" bIns="0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r>
              <a:rPr lang="en-US" altLang="zh-TW" sz="1000" i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0" y="8832850"/>
            <a:ext cx="30384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8139" tIns="44070" rIns="88139" bIns="44070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zh-TW" altLang="en-US" sz="1800">
              <a:latin typeface="Arial" panose="020B0604020202020204" pitchFamily="34" charset="0"/>
            </a:endParaRPr>
          </a:p>
        </p:txBody>
      </p:sp>
      <p:sp>
        <p:nvSpPr>
          <p:cNvPr id="36869" name="Rectangle 5"/>
          <p:cNvSpPr>
            <a:spLocks noChangeArrowheads="1"/>
          </p:cNvSpPr>
          <p:nvPr/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8139" tIns="44070" rIns="88139" bIns="44070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zh-TW" altLang="en-US" sz="1800">
              <a:latin typeface="Arial" panose="020B0604020202020204" pitchFamily="34" charset="0"/>
            </a:endParaRPr>
          </a:p>
        </p:txBody>
      </p:sp>
      <p:sp>
        <p:nvSpPr>
          <p:cNvPr id="36870" name="Rectangle 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8500"/>
            <a:ext cx="4648200" cy="3486150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71" name="Rectangle 7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rmAutofit/>
          </a:bodyPr>
          <a:lstStyle/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907937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788016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558185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8025" y="4525963"/>
            <a:ext cx="5661025" cy="4213225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Calibri" pitchFamily="-107" charset="0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861362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01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935578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0754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354719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598750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231557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32507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182063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861904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812264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8490512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006917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3502407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993030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0016443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066433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096773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6475190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9305838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5260460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129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0928647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140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7938056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53593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6FB42-E70C-4FA6-B141-9BD8E6020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54AD63-5068-4E4E-A3E7-F90521A24E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06812-10C8-433B-B6CA-EEC7F4337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29925E-EED2-44FE-A088-00640B77843B}" type="datetime1">
              <a:rPr lang="en-US" smtClean="0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28831-A964-419A-8F9B-E13A6AC9D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D5A45-30F2-4BA8-A795-B19884B2D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DA46-A0C8-43DB-B9C0-C1581C69E33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746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59A0F-11F4-468A-92A1-C983B748F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BAD7F-CA6D-45BF-B764-72E47621B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37278-C858-4DC0-AFCD-3C6A68D3C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32F547-B0D0-4CB8-8543-44DCD76FB919}" type="datetime1">
              <a:rPr lang="en-US" smtClean="0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C488E-4D8B-43F6-9EB5-45796484B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8EFFA-FE3F-4B63-A363-A60D6A346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552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26687-01E3-4EFA-AAF4-3B4BB497A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F4309-F76B-4BB7-B6F9-72503B851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824F7-8986-499F-A6D6-173E38F03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180D1F-64D5-4D03-86A8-B0C78FB9D084}" type="datetime1">
              <a:rPr lang="en-US" smtClean="0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8C674-1E77-404C-A67C-7EEBBF9AB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BAFC3-E5CC-4C2D-9F40-7AC36D99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116888-0E84-4000-8C9A-DF22FF32135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667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56322-B5D5-4209-90AD-C2E430751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F3636-E557-4BF5-BDB8-7608D671E6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1DEDD-0FE5-4DE5-8D0C-0BF6BF334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DEA4-5D2C-45AC-A09E-EA1426FF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607C7E-F4F5-4B77-8CDC-90CC78F38487}" type="datetime1">
              <a:rPr lang="en-US" smtClean="0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A3584-A3FD-4926-AF2B-BA4A22097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F32EB-F0E7-4396-94E9-D3172F1D0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AA990F-E072-4953-8691-83ED6C8215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2752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68068-C533-471D-B504-99206ADAC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A985D-5BF7-4CB5-A92B-4A6FDFBB4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1B07C4-7F34-446A-9E2E-1B83A53EA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C32C3C-0143-494D-9F52-9E04ECF3F6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06F971-95B4-46A0-91C2-A0AFD49D1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C71DDC-BE93-430E-B7EA-CDF6C2BE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607C7E-F4F5-4B77-8CDC-90CC78F38487}" type="datetime1">
              <a:rPr lang="en-US" smtClean="0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D57A58-19C6-42DB-9019-46F96D1CD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CBDDE3-F8EA-46B4-9C1F-FFEAFED2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AA990F-E072-4953-8691-83ED6C8215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93755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699D1-45FB-49A6-A72B-39DFBA798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AEA5B-B844-499C-BA2B-C67C65D26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12F0C6-B5C0-45E6-85FD-C21AB31A1A95}" type="datetime1">
              <a:rPr lang="en-US" smtClean="0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7586E5-DF4D-41FD-939D-D5906457C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68673F-6F56-412B-8D53-B5B5D1D6A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8B8CC1-C7B3-4BC4-BEEE-A4A95954513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705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B17015-38ED-4E49-B354-BF1208BF6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224EFF-F9F8-496A-8AFF-0F456197E8B5}" type="datetime1">
              <a:rPr lang="en-US" smtClean="0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FED087-1CA0-4D1D-A5B0-CA6A37061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E9A89-0D3C-4EB6-BC78-A5673BA38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019379-17AD-4E0D-9610-E34AD365F0A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18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C35F3-02F6-4359-A8DD-7118AD1E8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C6DA7-C41C-4B1D-821B-A34DDED7D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6F4FC8-0644-4504-8FD0-62DFC733C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DD565-4EB8-457E-B8A9-509B3DCE9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D88E37B-CCA0-4BF7-B7AF-2BF4EC7610D2}" type="datetime1">
              <a:rPr lang="en-US" smtClean="0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9D874-3E53-419D-8C82-3E772F73D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B5090-F9E3-4FA5-B32F-54204C780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9EE4FC-2A91-409C-B8D2-F3728F9891D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51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7437F-279B-4932-9EF7-FFD910F0F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8E7D60-0F4E-4BE9-B09F-E7246F9691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00D92-3484-4528-A351-19165E1E6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7D33E0-CCF8-4FEC-A987-DCEDD3193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607C7E-F4F5-4B77-8CDC-90CC78F38487}" type="datetime1">
              <a:rPr lang="en-US" smtClean="0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906EF-43E0-4C73-8925-C4A8189FB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2ED9E-B863-4067-A92B-B18B62177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AA990F-E072-4953-8691-83ED6C8215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35032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CC477-2B1A-4487-9A1A-D9D3C01F6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A2816-85E2-44D9-878A-B0F1465BB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A877E-BE39-43C8-9EE8-D621A9D0E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103DD5F-3ADD-4550-807E-1C58669018A4}" type="datetime1">
              <a:rPr lang="en-US" smtClean="0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29F1C-DBE1-4824-91C7-103FAFC42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7950F-2711-4E12-8356-E605F7485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AD7A4F-0B31-4615-9C11-A8677BAFCAE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3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2CA952-B5B7-4257-8694-84F3A9F904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EB2DB1-6CAB-4906-8B39-FB4DED0A8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8120D-AC6D-4553-9834-55272B2AA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81D123-9B63-43A4-93F3-FBB2E34B51D6}" type="datetime1">
              <a:rPr lang="en-US" smtClean="0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26FC3-224D-4426-B73C-2AA0B48F5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EE764-C080-4BE3-AFC3-EA929A6EE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01C260-B825-4CE8-9DDA-33D812275B3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281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257" y="273050"/>
            <a:ext cx="80010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73342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257" y="273050"/>
            <a:ext cx="80010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73342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257" y="273050"/>
            <a:ext cx="80010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73342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922080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 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057400"/>
            <a:ext cx="7315200" cy="87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4800600"/>
            <a:ext cx="7315200" cy="87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970351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0"/>
            <a:ext cx="8534400" cy="1143000"/>
          </a:xfrm>
        </p:spPr>
        <p:txBody>
          <a:bodyPr>
            <a:normAutofit/>
          </a:bodyPr>
          <a:lstStyle>
            <a:lvl1pPr>
              <a:defRPr lang="en-US" sz="4300" kern="1200" dirty="0">
                <a:solidFill>
                  <a:schemeClr val="tx1"/>
                </a:solidFill>
                <a:effectLst/>
                <a:latin typeface="+mj-lt"/>
                <a:ea typeface="MS PGothic" pitchFamily="34" charset="-128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/>
          <p:cNvSpPr txBox="1">
            <a:spLocks/>
          </p:cNvSpPr>
          <p:nvPr userDrawn="1"/>
        </p:nvSpPr>
        <p:spPr>
          <a:xfrm>
            <a:off x="863600" y="6400800"/>
            <a:ext cx="7404100" cy="4572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© McGraw-Hill Education.</a:t>
            </a:r>
          </a:p>
        </p:txBody>
      </p:sp>
    </p:spTree>
    <p:extLst>
      <p:ext uri="{BB962C8B-B14F-4D97-AF65-F5344CB8AC3E}">
        <p14:creationId xmlns:p14="http://schemas.microsoft.com/office/powerpoint/2010/main" val="27995495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4294967295"/>
          </p:nvPr>
        </p:nvSpPr>
        <p:spPr>
          <a:xfrm>
            <a:off x="457200" y="6019800"/>
            <a:ext cx="8458200" cy="502951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latin typeface="STIX Two Text" panose="02020603050405020304" pitchFamily="18" charset="0"/>
              </a:rPr>
              <a:t>Copyright © 2019 by McGraw-Hill Education. All rights reserved. Authorized only for instructor use in the classroom. No reproduction or further distribution permitted without the prior written consent of McGraw-Hill Education.</a:t>
            </a:r>
          </a:p>
        </p:txBody>
      </p:sp>
    </p:spTree>
    <p:extLst>
      <p:ext uri="{BB962C8B-B14F-4D97-AF65-F5344CB8AC3E}">
        <p14:creationId xmlns:p14="http://schemas.microsoft.com/office/powerpoint/2010/main" val="10207591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440" y="685800"/>
            <a:ext cx="82296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 txBox="1">
            <a:spLocks/>
          </p:cNvSpPr>
          <p:nvPr userDrawn="1"/>
        </p:nvSpPr>
        <p:spPr>
          <a:xfrm>
            <a:off x="0" y="6389224"/>
            <a:ext cx="8305800" cy="468775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© McGraw-Hill Education. All rights reserved. Authorized only for instructor use in the classroom. No reproduction or further distribution permitted without the prior written consent of McGraw-Hill Education.</a:t>
            </a:r>
          </a:p>
        </p:txBody>
      </p:sp>
    </p:spTree>
    <p:extLst>
      <p:ext uri="{BB962C8B-B14F-4D97-AF65-F5344CB8AC3E}">
        <p14:creationId xmlns:p14="http://schemas.microsoft.com/office/powerpoint/2010/main" val="2194913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E64F96-0661-4ECF-9982-9B197F1FD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15EEC-6249-47C2-8057-6D2EEB8EA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A0C48-B9DE-4CE6-A788-912657533B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A607C7E-F4F5-4B77-8CDC-90CC78F38487}" type="datetime1">
              <a:rPr lang="en-US" smtClean="0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3B9AB-B01B-4609-977B-94A63EF8D5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44386-A281-4CF3-A02F-A34096AE1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FAA990F-E072-4953-8691-83ED6C8215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344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722" r:id="rId1"/>
    <p:sldLayoutId id="2147485723" r:id="rId2"/>
    <p:sldLayoutId id="2147485724" r:id="rId3"/>
    <p:sldLayoutId id="2147485725" r:id="rId4"/>
    <p:sldLayoutId id="2147485726" r:id="rId5"/>
    <p:sldLayoutId id="2147485727" r:id="rId6"/>
    <p:sldLayoutId id="2147485728" r:id="rId7"/>
    <p:sldLayoutId id="2147485729" r:id="rId8"/>
    <p:sldLayoutId id="2147485730" r:id="rId9"/>
    <p:sldLayoutId id="2147485731" r:id="rId10"/>
    <p:sldLayoutId id="2147485732" r:id="rId11"/>
    <p:sldLayoutId id="2147484929" r:id="rId12"/>
    <p:sldLayoutId id="2147484917" r:id="rId13"/>
    <p:sldLayoutId id="2147485054" r:id="rId14"/>
    <p:sldLayoutId id="2147485733" r:id="rId15"/>
    <p:sldLayoutId id="2147485734" r:id="rId16"/>
    <p:sldLayoutId id="2147485735" r:id="rId17"/>
    <p:sldLayoutId id="2147485736" r:id="rId1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itle 3"/>
          <p:cNvSpPr>
            <a:spLocks noGrp="1"/>
          </p:cNvSpPr>
          <p:nvPr>
            <p:ph type="ctrTitle"/>
          </p:nvPr>
        </p:nvSpPr>
        <p:spPr>
          <a:xfrm>
            <a:off x="609600" y="1088237"/>
            <a:ext cx="6858000" cy="1718936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altLang="en-US" b="1" dirty="0"/>
              <a:t>AC6761 Artificial Intelligence Accounting</a:t>
            </a:r>
          </a:p>
        </p:txBody>
      </p:sp>
      <p:sp>
        <p:nvSpPr>
          <p:cNvPr id="129027" name="Subtitle 2"/>
          <p:cNvSpPr>
            <a:spLocks noGrp="1"/>
          </p:cNvSpPr>
          <p:nvPr>
            <p:ph type="subTitle" idx="1"/>
          </p:nvPr>
        </p:nvSpPr>
        <p:spPr>
          <a:xfrm>
            <a:off x="762000" y="3429000"/>
            <a:ext cx="7162800" cy="1543012"/>
          </a:xfrm>
        </p:spPr>
        <p:txBody>
          <a:bodyPr>
            <a:normAutofit/>
          </a:bodyPr>
          <a:lstStyle/>
          <a:p>
            <a:pPr algn="l" eaLnBrk="1" hangingPunct="1">
              <a:buFont typeface="Wingdings" pitchFamily="-107" charset="2"/>
              <a:buNone/>
            </a:pPr>
            <a:r>
              <a:rPr lang="en-US" altLang="en-US" sz="3600" b="1" dirty="0">
                <a:solidFill>
                  <a:srgbClr val="898989"/>
                </a:solidFill>
              </a:rPr>
              <a:t>Chapter 2 Accounting for Business Transactions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  <a:ln w="28575" cap="flat" cmpd="sng" algn="ctr">
            <a:solidFill>
              <a:srgbClr val="6076B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ysClr val="window" lastClr="FFFFFF"/>
              </a:solidFill>
              <a:latin typeface="Palatino Linotype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Title 4"/>
          <p:cNvSpPr>
            <a:spLocks noGrp="1"/>
          </p:cNvSpPr>
          <p:nvPr>
            <p:ph type="ctrTitle" idx="4294967295"/>
          </p:nvPr>
        </p:nvSpPr>
        <p:spPr>
          <a:xfrm>
            <a:off x="762000" y="1882775"/>
            <a:ext cx="7315200" cy="3124200"/>
          </a:xfrm>
        </p:spPr>
        <p:txBody>
          <a:bodyPr>
            <a:normAutofit/>
          </a:bodyPr>
          <a:lstStyle/>
          <a:p>
            <a:r>
              <a:rPr lang="en-US" dirty="0"/>
              <a:t>Explain the steps in processing transactions and the role of source documents.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  <a:ln w="28575" cap="flat" cmpd="sng" algn="ctr">
            <a:solidFill>
              <a:srgbClr val="6076B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rgbClr val="FFFF00"/>
              </a:solidFill>
              <a:latin typeface="Palatino Linotype"/>
            </a:endParaRPr>
          </a:p>
        </p:txBody>
      </p:sp>
    </p:spTree>
    <p:extLst>
      <p:ext uri="{BB962C8B-B14F-4D97-AF65-F5344CB8AC3E}">
        <p14:creationId xmlns:p14="http://schemas.microsoft.com/office/powerpoint/2010/main" val="1676697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5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534400" cy="1143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latin typeface="Arial" charset="0"/>
                <a:cs typeface="Arial" charset="0"/>
              </a:rPr>
              <a:t>Basis of Financial Statements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3400" y="1584446"/>
            <a:ext cx="8229600" cy="452431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C00000"/>
                </a:solidFill>
              </a:rPr>
              <a:t>Business transactions and events are the starting points of financial statements. Process from transactions to financial statements is as follows:</a:t>
            </a:r>
          </a:p>
          <a:p>
            <a:pPr>
              <a:defRPr/>
            </a:pPr>
            <a:endParaRPr lang="en-US" sz="2400" dirty="0">
              <a:solidFill>
                <a:srgbClr val="C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Identify each transaction and event from source documents.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Analyze each transaction and event using the accounting equation.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Record relevant transactions and events in a journal.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Post journal information to ledger accounts.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Prepare and analyze the trial balance and financial statements.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  <a:ln w="28575" cap="flat" cmpd="sng" algn="ctr">
            <a:solidFill>
              <a:srgbClr val="6076B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ysClr val="window" lastClr="FFFFFF"/>
              </a:solidFill>
              <a:latin typeface="Palatino Linotyp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itle 4"/>
          <p:cNvSpPr>
            <a:spLocks noGrp="1"/>
          </p:cNvSpPr>
          <p:nvPr>
            <p:ph type="title"/>
          </p:nvPr>
        </p:nvSpPr>
        <p:spPr>
          <a:xfrm>
            <a:off x="1049515" y="2657316"/>
            <a:ext cx="7162800" cy="1143000"/>
          </a:xfrm>
        </p:spPr>
        <p:txBody>
          <a:bodyPr>
            <a:normAutofit fontScale="90000"/>
          </a:bodyPr>
          <a:lstStyle/>
          <a:p>
            <a:br>
              <a:rPr lang="en-US" altLang="en-US" b="1" dirty="0"/>
            </a:br>
            <a:br>
              <a:rPr lang="en-US" altLang="en-US" b="1" dirty="0"/>
            </a:br>
            <a:br>
              <a:rPr lang="en-US" altLang="en-US" dirty="0"/>
            </a:br>
            <a:r>
              <a:rPr lang="en-US" altLang="en-US" dirty="0"/>
              <a:t>Describe an account and its use in recording transactions.</a:t>
            </a: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  <a:ln w="28575" cap="flat" cmpd="sng" algn="ctr">
            <a:solidFill>
              <a:srgbClr val="6076B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rgbClr val="FFFF00"/>
              </a:solidFill>
              <a:latin typeface="Palatino Linotype"/>
            </a:endParaRPr>
          </a:p>
        </p:txBody>
      </p:sp>
      <p:pic>
        <p:nvPicPr>
          <p:cNvPr id="12390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91" y="2133600"/>
            <a:ext cx="7315200" cy="8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909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724400"/>
            <a:ext cx="7315200" cy="8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213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505968" y="2051954"/>
            <a:ext cx="3568700" cy="4038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99190" dir="3011666" algn="ctr" rotWithShape="0">
              <a:schemeClr val="tx2">
                <a:alpha val="74998"/>
              </a:schemeClr>
            </a:outerShdw>
          </a:effectLst>
        </p:spPr>
        <p:txBody>
          <a:bodyPr lIns="90488" tIns="44450" rIns="90488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3200" dirty="0">
                <a:ea typeface="MS PGothic" pitchFamily="34" charset="-128"/>
              </a:rPr>
              <a:t>An </a:t>
            </a:r>
            <a:r>
              <a:rPr lang="en-US" sz="3200" dirty="0">
                <a:solidFill>
                  <a:srgbClr val="FF0000"/>
                </a:solidFill>
                <a:ea typeface="MS PGothic" pitchFamily="34" charset="-128"/>
              </a:rPr>
              <a:t>account</a:t>
            </a:r>
            <a:r>
              <a:rPr lang="en-US" sz="3200" dirty="0">
                <a:ea typeface="MS PGothic" pitchFamily="34" charset="-128"/>
              </a:rPr>
              <a:t> is a record of increases and decreases in a specific asset, liability, equity, revenue, or expense.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title"/>
          </p:nvPr>
        </p:nvSpPr>
        <p:spPr>
          <a:xfrm>
            <a:off x="472440" y="685800"/>
            <a:ext cx="8253984" cy="9461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b="1" dirty="0">
                <a:latin typeface="Arial" charset="0"/>
                <a:cs typeface="Arial" charset="0"/>
              </a:rPr>
              <a:t>The Account Underlying Financial Statements</a:t>
            </a: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4907012" y="2051954"/>
            <a:ext cx="3568700" cy="4038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99190" dir="3011666" algn="ctr" rotWithShape="0">
              <a:schemeClr val="tx2">
                <a:alpha val="74998"/>
              </a:schemeClr>
            </a:outerShdw>
          </a:effectLst>
        </p:spPr>
        <p:txBody>
          <a:bodyPr lIns="90488" tIns="44450" rIns="90488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3200" dirty="0">
                <a:ea typeface="MS PGothic" pitchFamily="34" charset="-128"/>
              </a:rPr>
              <a:t>The </a:t>
            </a:r>
            <a:r>
              <a:rPr lang="en-US" sz="3200" dirty="0">
                <a:solidFill>
                  <a:srgbClr val="FF0000"/>
                </a:solidFill>
                <a:ea typeface="MS PGothic" pitchFamily="34" charset="-128"/>
              </a:rPr>
              <a:t>general ledger</a:t>
            </a:r>
            <a:r>
              <a:rPr lang="en-US" sz="3200" dirty="0">
                <a:ea typeface="MS PGothic" pitchFamily="34" charset="-128"/>
              </a:rPr>
              <a:t> is a record of all accounts used by the company. </a:t>
            </a:r>
            <a:endParaRPr lang="en-US" sz="2600" dirty="0">
              <a:solidFill>
                <a:schemeClr val="hlink"/>
              </a:solidFill>
              <a:ea typeface="MS PGothic" pitchFamily="34" charset="-128"/>
            </a:endParaRPr>
          </a:p>
        </p:txBody>
      </p:sp>
      <p:sp>
        <p:nvSpPr>
          <p:cNvPr id="6" name="Right Brace 5"/>
          <p:cNvSpPr>
            <a:spLocks/>
          </p:cNvSpPr>
          <p:nvPr/>
        </p:nvSpPr>
        <p:spPr bwMode="auto">
          <a:xfrm>
            <a:off x="4449811" y="2051953"/>
            <a:ext cx="232731" cy="4038601"/>
          </a:xfrm>
          <a:prstGeom prst="rightBrace">
            <a:avLst>
              <a:gd name="adj1" fmla="val 30724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>
            <a:outerShdw blurRad="50800" dist="38100" dir="5400000" algn="t" rotWithShape="0">
              <a:srgbClr val="808080">
                <a:alpha val="39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dirty="0">
              <a:latin typeface="Century Schoolbook" pitchFamily="-107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  <a:ln w="28575" cap="flat" cmpd="sng" algn="ctr">
            <a:solidFill>
              <a:srgbClr val="6076B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ysClr val="window" lastClr="FFFFFF"/>
              </a:solidFill>
              <a:latin typeface="Palatino Linotyp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latin typeface="Arial" charset="0"/>
                <a:cs typeface="Arial" charset="0"/>
              </a:rPr>
              <a:t>The Account and Its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  <a:ln w="28575" cap="flat" cmpd="sng" algn="ctr">
            <a:solidFill>
              <a:srgbClr val="6076B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ysClr val="window" lastClr="FFFFFF"/>
              </a:solidFill>
              <a:latin typeface="Palatino Linoty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F7F4DC-2C1C-483A-BB1E-9AB72FD08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57" y="2367095"/>
            <a:ext cx="8514286" cy="2123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Oval 2"/>
          <p:cNvSpPr>
            <a:spLocks noChangeArrowheads="1"/>
          </p:cNvSpPr>
          <p:nvPr/>
        </p:nvSpPr>
        <p:spPr bwMode="auto">
          <a:xfrm>
            <a:off x="1112838" y="2325688"/>
            <a:ext cx="1570037" cy="555625"/>
          </a:xfrm>
          <a:prstGeom prst="ellipse">
            <a:avLst/>
          </a:prstGeom>
          <a:solidFill>
            <a:srgbClr val="558ED5"/>
          </a:solidFill>
          <a:ln w="12700">
            <a:solidFill>
              <a:srgbClr val="414141"/>
            </a:solidFill>
            <a:round/>
            <a:headEnd/>
            <a:tailEnd/>
          </a:ln>
          <a:effectLst>
            <a:outerShdw blurRad="63500" dist="46662" dir="3284183" algn="ctr" rotWithShape="0">
              <a:schemeClr val="tx1">
                <a:alpha val="74997"/>
              </a:schemeClr>
            </a:outerShdw>
          </a:effectLst>
        </p:spPr>
        <p:txBody>
          <a:bodyPr wrap="none" lIns="90488" tIns="44450" rIns="90488" bIns="44450" anchor="ctr"/>
          <a:lstStyle/>
          <a:p>
            <a:pPr algn="ctr">
              <a:defRPr/>
            </a:pPr>
            <a:r>
              <a:rPr lang="en-US" sz="2000" b="1" dirty="0">
                <a:solidFill>
                  <a:schemeClr val="bg1"/>
                </a:solidFill>
                <a:ea typeface="MS PGothic" pitchFamily="34" charset="-128"/>
              </a:rPr>
              <a:t>Land</a:t>
            </a:r>
          </a:p>
        </p:txBody>
      </p:sp>
      <p:sp>
        <p:nvSpPr>
          <p:cNvPr id="16387" name="Oval 3"/>
          <p:cNvSpPr>
            <a:spLocks noChangeArrowheads="1"/>
          </p:cNvSpPr>
          <p:nvPr/>
        </p:nvSpPr>
        <p:spPr bwMode="auto">
          <a:xfrm>
            <a:off x="908050" y="4737100"/>
            <a:ext cx="2216150" cy="609600"/>
          </a:xfrm>
          <a:prstGeom prst="ellipse">
            <a:avLst/>
          </a:prstGeom>
          <a:solidFill>
            <a:srgbClr val="77933C"/>
          </a:solidFill>
          <a:ln w="12700">
            <a:solidFill>
              <a:srgbClr val="414141"/>
            </a:solidFill>
            <a:round/>
            <a:headEnd/>
            <a:tailEnd/>
          </a:ln>
          <a:effectLst>
            <a:outerShdw blurRad="63500" dist="46662" dir="3284183" algn="ctr" rotWithShape="0">
              <a:schemeClr val="tx1">
                <a:alpha val="74997"/>
              </a:schemeClr>
            </a:outerShdw>
          </a:effectLst>
        </p:spPr>
        <p:txBody>
          <a:bodyPr wrap="none" lIns="90488" tIns="44450" rIns="90488" bIns="44450" anchor="ctr"/>
          <a:lstStyle/>
          <a:p>
            <a:pPr algn="ctr">
              <a:defRPr/>
            </a:pPr>
            <a:r>
              <a:rPr lang="en-US" sz="2000" b="1" dirty="0">
                <a:solidFill>
                  <a:schemeClr val="bg1"/>
                </a:solidFill>
                <a:ea typeface="MS PGothic" pitchFamily="34" charset="-128"/>
              </a:rPr>
              <a:t>Equipment</a:t>
            </a:r>
          </a:p>
        </p:txBody>
      </p:sp>
      <p:sp>
        <p:nvSpPr>
          <p:cNvPr id="16388" name="Oval 4"/>
          <p:cNvSpPr>
            <a:spLocks noChangeArrowheads="1"/>
          </p:cNvSpPr>
          <p:nvPr/>
        </p:nvSpPr>
        <p:spPr bwMode="auto">
          <a:xfrm>
            <a:off x="946150" y="3517900"/>
            <a:ext cx="1784350" cy="609600"/>
          </a:xfrm>
          <a:prstGeom prst="ellipse">
            <a:avLst/>
          </a:prstGeom>
          <a:solidFill>
            <a:srgbClr val="604A7B"/>
          </a:solidFill>
          <a:ln w="12700">
            <a:solidFill>
              <a:srgbClr val="414141"/>
            </a:solidFill>
            <a:round/>
            <a:headEnd/>
            <a:tailEnd/>
          </a:ln>
          <a:effectLst>
            <a:outerShdw blurRad="63500" dist="46662" dir="3284183" algn="ctr" rotWithShape="0">
              <a:schemeClr val="tx1">
                <a:alpha val="74997"/>
              </a:schemeClr>
            </a:outerShdw>
          </a:effectLst>
        </p:spPr>
        <p:txBody>
          <a:bodyPr wrap="none" lIns="90488" tIns="44450" rIns="90488" bIns="44450" anchor="ctr"/>
          <a:lstStyle/>
          <a:p>
            <a:pPr algn="ctr">
              <a:defRPr/>
            </a:pPr>
            <a:r>
              <a:rPr lang="en-US" sz="2000" b="1" dirty="0">
                <a:solidFill>
                  <a:schemeClr val="bg1"/>
                </a:solidFill>
                <a:ea typeface="MS PGothic" pitchFamily="34" charset="-128"/>
              </a:rPr>
              <a:t>Buildings</a:t>
            </a:r>
          </a:p>
        </p:txBody>
      </p:sp>
      <p:sp>
        <p:nvSpPr>
          <p:cNvPr id="16389" name="Oval 5"/>
          <p:cNvSpPr>
            <a:spLocks noChangeArrowheads="1"/>
          </p:cNvSpPr>
          <p:nvPr/>
        </p:nvSpPr>
        <p:spPr bwMode="auto">
          <a:xfrm>
            <a:off x="3568700" y="2009775"/>
            <a:ext cx="1806575" cy="504825"/>
          </a:xfrm>
          <a:prstGeom prst="ellipse">
            <a:avLst/>
          </a:prstGeom>
          <a:solidFill>
            <a:srgbClr val="77933C"/>
          </a:solidFill>
          <a:ln w="12700">
            <a:solidFill>
              <a:srgbClr val="414141"/>
            </a:solidFill>
            <a:round/>
            <a:headEnd/>
            <a:tailEnd/>
          </a:ln>
          <a:effectLst>
            <a:outerShdw blurRad="63500" dist="46662" dir="3284183" algn="ctr" rotWithShape="0">
              <a:schemeClr val="tx1">
                <a:alpha val="74997"/>
              </a:schemeClr>
            </a:outerShdw>
          </a:effectLst>
        </p:spPr>
        <p:txBody>
          <a:bodyPr wrap="none" lIns="90488" tIns="44450" rIns="90488" bIns="44450" anchor="ctr"/>
          <a:lstStyle/>
          <a:p>
            <a:pPr algn="ctr">
              <a:defRPr/>
            </a:pPr>
            <a:r>
              <a:rPr lang="en-US" sz="2000" b="1" dirty="0">
                <a:solidFill>
                  <a:schemeClr val="bg1"/>
                </a:solidFill>
                <a:ea typeface="MS PGothic" pitchFamily="34" charset="-128"/>
              </a:rPr>
              <a:t>Cash</a:t>
            </a:r>
          </a:p>
        </p:txBody>
      </p:sp>
      <p:sp>
        <p:nvSpPr>
          <p:cNvPr id="16390" name="Oval 6"/>
          <p:cNvSpPr>
            <a:spLocks noChangeArrowheads="1"/>
          </p:cNvSpPr>
          <p:nvPr/>
        </p:nvSpPr>
        <p:spPr bwMode="auto">
          <a:xfrm>
            <a:off x="6400800" y="3454400"/>
            <a:ext cx="2286000" cy="736600"/>
          </a:xfrm>
          <a:prstGeom prst="ellipse">
            <a:avLst/>
          </a:prstGeom>
          <a:solidFill>
            <a:srgbClr val="77933C"/>
          </a:solidFill>
          <a:ln w="12700">
            <a:solidFill>
              <a:srgbClr val="414141"/>
            </a:solidFill>
            <a:round/>
            <a:headEnd/>
            <a:tailEnd/>
          </a:ln>
          <a:effectLst>
            <a:outerShdw blurRad="63500" dist="46662" dir="3284183" algn="ctr" rotWithShape="0">
              <a:schemeClr val="tx1">
                <a:alpha val="74997"/>
              </a:schemeClr>
            </a:outerShdw>
          </a:effectLst>
        </p:spPr>
        <p:txBody>
          <a:bodyPr lIns="90488" tIns="44450" rIns="90488" bIns="44450" anchor="ctr"/>
          <a:lstStyle/>
          <a:p>
            <a:pPr algn="ctr">
              <a:defRPr/>
            </a:pPr>
            <a:r>
              <a:rPr lang="en-US" sz="2000" b="1" dirty="0">
                <a:solidFill>
                  <a:schemeClr val="bg1"/>
                </a:solidFill>
                <a:ea typeface="MS PGothic" pitchFamily="34" charset="-128"/>
              </a:rPr>
              <a:t>Notes Receivable</a:t>
            </a:r>
          </a:p>
        </p:txBody>
      </p:sp>
      <p:sp>
        <p:nvSpPr>
          <p:cNvPr id="16391" name="Oval 7"/>
          <p:cNvSpPr>
            <a:spLocks noChangeArrowheads="1"/>
          </p:cNvSpPr>
          <p:nvPr/>
        </p:nvSpPr>
        <p:spPr bwMode="auto">
          <a:xfrm>
            <a:off x="3468688" y="5181600"/>
            <a:ext cx="1995487" cy="660400"/>
          </a:xfrm>
          <a:prstGeom prst="ellipse">
            <a:avLst/>
          </a:prstGeom>
          <a:solidFill>
            <a:srgbClr val="558ED5"/>
          </a:solidFill>
          <a:ln w="12700">
            <a:solidFill>
              <a:srgbClr val="414141"/>
            </a:solidFill>
            <a:round/>
            <a:headEnd/>
            <a:tailEnd/>
          </a:ln>
          <a:effectLst>
            <a:outerShdw blurRad="63500" dist="46662" dir="3284183" algn="ctr" rotWithShape="0">
              <a:schemeClr val="tx1">
                <a:alpha val="74997"/>
              </a:schemeClr>
            </a:outerShdw>
          </a:effectLst>
        </p:spPr>
        <p:txBody>
          <a:bodyPr lIns="90488" tIns="44450" rIns="90488" bIns="44450" anchor="ctr"/>
          <a:lstStyle/>
          <a:p>
            <a:pPr algn="ctr">
              <a:defRPr/>
            </a:pPr>
            <a:r>
              <a:rPr lang="en-US" sz="2000" b="1" dirty="0">
                <a:solidFill>
                  <a:schemeClr val="bg1"/>
                </a:solidFill>
                <a:ea typeface="MS PGothic" pitchFamily="34" charset="-128"/>
              </a:rPr>
              <a:t>Supplies</a:t>
            </a:r>
          </a:p>
        </p:txBody>
      </p:sp>
      <p:sp>
        <p:nvSpPr>
          <p:cNvPr id="16392" name="Oval 8"/>
          <p:cNvSpPr>
            <a:spLocks noChangeArrowheads="1"/>
          </p:cNvSpPr>
          <p:nvPr/>
        </p:nvSpPr>
        <p:spPr bwMode="auto">
          <a:xfrm>
            <a:off x="6094413" y="4673600"/>
            <a:ext cx="2287587" cy="736600"/>
          </a:xfrm>
          <a:prstGeom prst="ellipse">
            <a:avLst/>
          </a:prstGeom>
          <a:solidFill>
            <a:srgbClr val="604A7B"/>
          </a:solidFill>
          <a:ln w="12700">
            <a:solidFill>
              <a:srgbClr val="414141"/>
            </a:solidFill>
            <a:round/>
            <a:headEnd/>
            <a:tailEnd/>
          </a:ln>
          <a:effectLst>
            <a:outerShdw blurRad="63500" dist="46662" dir="3284183" algn="ctr" rotWithShape="0">
              <a:schemeClr val="tx1">
                <a:alpha val="74997"/>
              </a:schemeClr>
            </a:outerShdw>
          </a:effectLst>
        </p:spPr>
        <p:txBody>
          <a:bodyPr lIns="90488" tIns="44450" rIns="90488" bIns="44450" anchor="ctr"/>
          <a:lstStyle/>
          <a:p>
            <a:pPr algn="ctr">
              <a:defRPr/>
            </a:pPr>
            <a:r>
              <a:rPr lang="en-US" sz="2000" b="1" dirty="0">
                <a:solidFill>
                  <a:srgbClr val="FF0000"/>
                </a:solidFill>
                <a:ea typeface="MS PGothic" pitchFamily="34" charset="-128"/>
              </a:rPr>
              <a:t>Prepaid Accounts</a:t>
            </a:r>
          </a:p>
        </p:txBody>
      </p:sp>
      <p:sp>
        <p:nvSpPr>
          <p:cNvPr id="16393" name="Oval 9"/>
          <p:cNvSpPr>
            <a:spLocks noChangeArrowheads="1"/>
          </p:cNvSpPr>
          <p:nvPr/>
        </p:nvSpPr>
        <p:spPr bwMode="auto">
          <a:xfrm>
            <a:off x="5730875" y="2235200"/>
            <a:ext cx="2498725" cy="736600"/>
          </a:xfrm>
          <a:prstGeom prst="ellipse">
            <a:avLst/>
          </a:prstGeom>
          <a:solidFill>
            <a:srgbClr val="604A7B"/>
          </a:solidFill>
          <a:ln w="12700">
            <a:solidFill>
              <a:srgbClr val="414141"/>
            </a:solidFill>
            <a:round/>
            <a:headEnd/>
            <a:tailEnd/>
          </a:ln>
          <a:effectLst>
            <a:outerShdw blurRad="63500" dist="46662" dir="3284183" algn="ctr" rotWithShape="0">
              <a:schemeClr val="tx1">
                <a:alpha val="74997"/>
              </a:schemeClr>
            </a:outerShdw>
          </a:effectLst>
        </p:spPr>
        <p:txBody>
          <a:bodyPr lIns="90488" tIns="44450" rIns="90488" bIns="44450" anchor="ctr"/>
          <a:lstStyle/>
          <a:p>
            <a:pPr algn="ctr">
              <a:defRPr/>
            </a:pPr>
            <a:r>
              <a:rPr lang="en-US" sz="2000" b="1" dirty="0">
                <a:solidFill>
                  <a:schemeClr val="bg1"/>
                </a:solidFill>
                <a:ea typeface="MS PGothic" pitchFamily="34" charset="-128"/>
              </a:rPr>
              <a:t>Accounts Receivable</a:t>
            </a:r>
          </a:p>
        </p:txBody>
      </p:sp>
      <p:sp>
        <p:nvSpPr>
          <p:cNvPr id="126986" name="Rectangle 10"/>
          <p:cNvSpPr>
            <a:spLocks noChangeArrowheads="1"/>
          </p:cNvSpPr>
          <p:nvPr/>
        </p:nvSpPr>
        <p:spPr bwMode="auto">
          <a:xfrm>
            <a:off x="3359150" y="3016250"/>
            <a:ext cx="2349500" cy="1663700"/>
          </a:xfrm>
          <a:prstGeom prst="rect">
            <a:avLst/>
          </a:prstGeom>
          <a:solidFill>
            <a:srgbClr val="948A54"/>
          </a:solidFill>
          <a:ln w="12700">
            <a:solidFill>
              <a:srgbClr val="414141"/>
            </a:solidFill>
            <a:miter lim="800000"/>
            <a:headEnd/>
            <a:tailEnd/>
          </a:ln>
          <a:effectLst>
            <a:outerShdw dist="107763" dir="2700000" algn="ctr" rotWithShape="0">
              <a:srgbClr val="414141"/>
            </a:outerShdw>
          </a:effectLst>
        </p:spPr>
        <p:txBody>
          <a:bodyPr wrap="none" lIns="90488" tIns="44450" rIns="90488" bIns="4445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-107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-107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-107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-107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-107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-107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-107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-107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-107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chemeClr val="bg1"/>
                </a:solidFill>
                <a:latin typeface="Arial" charset="0"/>
                <a:ea typeface="MS PGothic" pitchFamily="34" charset="-128"/>
              </a:rPr>
              <a:t>Asset</a:t>
            </a:r>
            <a:br>
              <a:rPr lang="en-US" altLang="en-US" sz="3600" dirty="0">
                <a:solidFill>
                  <a:schemeClr val="bg1"/>
                </a:solidFill>
                <a:latin typeface="Arial" charset="0"/>
                <a:ea typeface="MS PGothic" pitchFamily="34" charset="-128"/>
              </a:rPr>
            </a:br>
            <a:r>
              <a:rPr lang="en-US" altLang="en-US" sz="3600" dirty="0">
                <a:solidFill>
                  <a:schemeClr val="bg1"/>
                </a:solidFill>
                <a:latin typeface="Arial" charset="0"/>
                <a:ea typeface="MS PGothic" pitchFamily="34" charset="-128"/>
              </a:rPr>
              <a:t>Accounts</a:t>
            </a:r>
          </a:p>
        </p:txBody>
      </p:sp>
      <p:sp>
        <p:nvSpPr>
          <p:cNvPr id="126987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cs typeface="Arial" charset="0"/>
              </a:rPr>
              <a:t>Asset Accounts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  <a:ln w="28575" cap="flat" cmpd="sng" algn="ctr">
            <a:solidFill>
              <a:srgbClr val="6076B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ysClr val="window" lastClr="FFFFFF"/>
              </a:solidFill>
              <a:latin typeface="Palatino Linotyp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animBg="1" autoUpdateAnimBg="0"/>
      <p:bldP spid="16387" grpId="0" animBg="1" autoUpdateAnimBg="0"/>
      <p:bldP spid="16388" grpId="0" animBg="1" autoUpdateAnimBg="0"/>
      <p:bldP spid="16389" grpId="0" animBg="1" autoUpdateAnimBg="0"/>
      <p:bldP spid="16390" grpId="0" animBg="1" autoUpdateAnimBg="0"/>
      <p:bldP spid="16391" grpId="0" animBg="1" autoUpdateAnimBg="0"/>
      <p:bldP spid="16392" grpId="0" animBg="1" autoUpdateAnimBg="0"/>
      <p:bldP spid="16393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Oval 2"/>
          <p:cNvSpPr>
            <a:spLocks noChangeArrowheads="1"/>
          </p:cNvSpPr>
          <p:nvPr/>
        </p:nvSpPr>
        <p:spPr bwMode="auto">
          <a:xfrm>
            <a:off x="698500" y="5016500"/>
            <a:ext cx="2343150" cy="977900"/>
          </a:xfrm>
          <a:prstGeom prst="ellipse">
            <a:avLst/>
          </a:prstGeom>
          <a:solidFill>
            <a:srgbClr val="C4BD97"/>
          </a:solidFill>
          <a:ln w="12700">
            <a:solidFill>
              <a:srgbClr val="414141"/>
            </a:solidFill>
            <a:round/>
            <a:headEnd/>
            <a:tailEnd/>
          </a:ln>
          <a:effectLst>
            <a:outerShdw dist="53882" dir="2700000" algn="ctr" rotWithShape="0">
              <a:schemeClr val="tx1"/>
            </a:outerShdw>
          </a:effectLst>
        </p:spPr>
        <p:txBody>
          <a:bodyPr lIns="90488" tIns="44450" rIns="90488" bIns="44450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-107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-107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-107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-107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-107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-107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-107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-107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-107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  <a:latin typeface="Arial" charset="0"/>
                <a:ea typeface="MS PGothic" pitchFamily="34" charset="-128"/>
              </a:rPr>
              <a:t>Tax</a:t>
            </a:r>
            <a:r>
              <a:rPr lang="en-HK" altLang="en-US" sz="2400" b="1">
                <a:solidFill>
                  <a:srgbClr val="FF0000"/>
                </a:solidFill>
                <a:latin typeface="Arial" charset="0"/>
                <a:ea typeface="MS PGothic" pitchFamily="34" charset="-128"/>
              </a:rPr>
              <a:t> </a:t>
            </a:r>
            <a:r>
              <a:rPr lang="en-HK" altLang="en-US" sz="2400" b="1" dirty="0">
                <a:solidFill>
                  <a:srgbClr val="FF0000"/>
                </a:solidFill>
                <a:latin typeface="Arial" charset="0"/>
                <a:ea typeface="MS PGothic" pitchFamily="34" charset="-128"/>
              </a:rPr>
              <a:t>Payable</a:t>
            </a:r>
            <a:endParaRPr lang="en-US" altLang="en-US" sz="2400" b="1" dirty="0">
              <a:solidFill>
                <a:srgbClr val="FF0000"/>
              </a:solidFill>
              <a:latin typeface="Arial" charset="0"/>
              <a:ea typeface="MS PGothic" pitchFamily="34" charset="-128"/>
            </a:endParaRPr>
          </a:p>
        </p:txBody>
      </p:sp>
      <p:sp>
        <p:nvSpPr>
          <p:cNvPr id="17411" name="Oval 3"/>
          <p:cNvSpPr>
            <a:spLocks noChangeArrowheads="1"/>
          </p:cNvSpPr>
          <p:nvPr/>
        </p:nvSpPr>
        <p:spPr bwMode="auto">
          <a:xfrm>
            <a:off x="6143625" y="4959350"/>
            <a:ext cx="2425700" cy="10922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rgbClr val="414141"/>
            </a:solidFill>
            <a:round/>
            <a:headEnd/>
            <a:tailEnd/>
          </a:ln>
          <a:effectLst>
            <a:outerShdw blurRad="63500" dist="53882" dir="2700000" algn="ctr" rotWithShape="0">
              <a:schemeClr val="tx1">
                <a:alpha val="74998"/>
              </a:schemeClr>
            </a:outerShdw>
          </a:effectLst>
        </p:spPr>
        <p:txBody>
          <a:bodyPr lIns="90488" tIns="44450" rIns="90488" bIns="44450" anchor="ctr"/>
          <a:lstStyle/>
          <a:p>
            <a:pPr algn="ctr">
              <a:defRPr/>
            </a:pPr>
            <a:r>
              <a:rPr lang="en-US" sz="2400" b="1" dirty="0">
                <a:solidFill>
                  <a:schemeClr val="bg1"/>
                </a:solidFill>
                <a:ea typeface="MS PGothic" pitchFamily="34" charset="-128"/>
              </a:rPr>
              <a:t>Unearned Revenue</a:t>
            </a:r>
          </a:p>
        </p:txBody>
      </p:sp>
      <p:sp>
        <p:nvSpPr>
          <p:cNvPr id="17412" name="Oval 4"/>
          <p:cNvSpPr>
            <a:spLocks noChangeArrowheads="1"/>
          </p:cNvSpPr>
          <p:nvPr/>
        </p:nvSpPr>
        <p:spPr bwMode="auto">
          <a:xfrm>
            <a:off x="6032500" y="1949450"/>
            <a:ext cx="2647950" cy="1092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2700">
            <a:solidFill>
              <a:srgbClr val="414141"/>
            </a:solidFill>
            <a:round/>
            <a:headEnd/>
            <a:tailEnd/>
          </a:ln>
          <a:effectLst>
            <a:outerShdw blurRad="63500" dist="53882" dir="2700000" algn="ctr" rotWithShape="0">
              <a:schemeClr val="tx1">
                <a:alpha val="74998"/>
              </a:schemeClr>
            </a:outerShdw>
          </a:effectLst>
        </p:spPr>
        <p:txBody>
          <a:bodyPr lIns="90488" tIns="44450" rIns="90488" bIns="44450" anchor="ctr"/>
          <a:lstStyle/>
          <a:p>
            <a:pPr algn="ctr">
              <a:defRPr/>
            </a:pPr>
            <a:r>
              <a:rPr lang="en-US" sz="2400" b="1" dirty="0">
                <a:solidFill>
                  <a:schemeClr val="bg1"/>
                </a:solidFill>
                <a:ea typeface="MS PGothic" pitchFamily="34" charset="-128"/>
              </a:rPr>
              <a:t>Notes Payable</a:t>
            </a:r>
          </a:p>
        </p:txBody>
      </p:sp>
      <p:sp>
        <p:nvSpPr>
          <p:cNvPr id="17413" name="Oval 5"/>
          <p:cNvSpPr>
            <a:spLocks noChangeArrowheads="1"/>
          </p:cNvSpPr>
          <p:nvPr/>
        </p:nvSpPr>
        <p:spPr bwMode="auto">
          <a:xfrm>
            <a:off x="546100" y="1949450"/>
            <a:ext cx="2647950" cy="10922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solidFill>
              <a:srgbClr val="414141"/>
            </a:solidFill>
            <a:round/>
            <a:headEnd/>
            <a:tailEnd/>
          </a:ln>
          <a:effectLst>
            <a:outerShdw blurRad="63500" dist="53882" dir="2700000" algn="ctr" rotWithShape="0">
              <a:schemeClr val="tx1">
                <a:alpha val="74998"/>
              </a:schemeClr>
            </a:outerShdw>
          </a:effectLst>
        </p:spPr>
        <p:txBody>
          <a:bodyPr lIns="90488" tIns="44450" rIns="90488" bIns="44450" anchor="ctr"/>
          <a:lstStyle/>
          <a:p>
            <a:pPr algn="ctr">
              <a:defRPr/>
            </a:pPr>
            <a:r>
              <a:rPr lang="en-US" sz="2400" b="1" dirty="0">
                <a:solidFill>
                  <a:schemeClr val="bg1"/>
                </a:solidFill>
                <a:ea typeface="MS PGothic" pitchFamily="34" charset="-128"/>
              </a:rPr>
              <a:t>Accounts Payable</a:t>
            </a:r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3095625" y="3282950"/>
            <a:ext cx="3035300" cy="1435100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solidFill>
              <a:srgbClr val="414141"/>
            </a:solidFill>
            <a:miter lim="800000"/>
            <a:headEnd/>
            <a:tailEnd/>
          </a:ln>
          <a:effectLst>
            <a:outerShdw blurRad="63500" dist="71842" dir="2700000" algn="ctr" rotWithShape="0">
              <a:schemeClr val="tx1">
                <a:alpha val="74998"/>
              </a:schemeClr>
            </a:outerShdw>
          </a:effectLst>
        </p:spPr>
        <p:txBody>
          <a:bodyPr wrap="none" lIns="90488" tIns="44450" rIns="90488" bIns="44450" anchor="ctr"/>
          <a:lstStyle/>
          <a:p>
            <a:pPr algn="ctr">
              <a:defRPr/>
            </a:pPr>
            <a:r>
              <a:rPr lang="en-US" sz="4000" dirty="0">
                <a:solidFill>
                  <a:schemeClr val="bg1"/>
                </a:solidFill>
                <a:ea typeface="MS PGothic" pitchFamily="34" charset="-128"/>
              </a:rPr>
              <a:t>Liability</a:t>
            </a:r>
            <a:br>
              <a:rPr lang="en-US" sz="4000" dirty="0">
                <a:solidFill>
                  <a:schemeClr val="bg1"/>
                </a:solidFill>
                <a:ea typeface="MS PGothic" pitchFamily="34" charset="-128"/>
              </a:rPr>
            </a:br>
            <a:r>
              <a:rPr lang="en-US" sz="4000" dirty="0">
                <a:solidFill>
                  <a:schemeClr val="bg1"/>
                </a:solidFill>
                <a:ea typeface="MS PGothic" pitchFamily="34" charset="-128"/>
              </a:rPr>
              <a:t>Accounts</a:t>
            </a:r>
          </a:p>
        </p:txBody>
      </p:sp>
      <p:sp>
        <p:nvSpPr>
          <p:cNvPr id="128007" name="Rectangle 7"/>
          <p:cNvSpPr>
            <a:spLocks noGrp="1" noChangeArrowheads="1"/>
          </p:cNvSpPr>
          <p:nvPr>
            <p:ph type="title"/>
          </p:nvPr>
        </p:nvSpPr>
        <p:spPr>
          <a:xfrm>
            <a:off x="546100" y="711294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 dirty="0">
                <a:cs typeface="Arial" charset="0"/>
              </a:rPr>
              <a:t>Liability Accounts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705600" y="6416738"/>
            <a:ext cx="2133600" cy="365125"/>
          </a:xfrm>
        </p:spPr>
        <p:txBody>
          <a:bodyPr/>
          <a:lstStyle/>
          <a:p>
            <a:pPr>
              <a:defRPr/>
            </a:pPr>
            <a:fld id="{FB0DFD52-9166-448D-AF78-75100243221E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  <a:ln w="28575" cap="flat" cmpd="sng" algn="ctr">
            <a:solidFill>
              <a:srgbClr val="6076B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ysClr val="window" lastClr="FFFFFF"/>
              </a:solidFill>
              <a:latin typeface="Palatino Linotyp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animBg="1" autoUpdateAnimBg="0"/>
      <p:bldP spid="17411" grpId="0" animBg="1" autoUpdateAnimBg="0"/>
      <p:bldP spid="17412" grpId="0" animBg="1" autoUpdateAnimBg="0"/>
      <p:bldP spid="17413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3063875" y="3060700"/>
            <a:ext cx="2971800" cy="1663700"/>
          </a:xfrm>
          <a:prstGeom prst="rect">
            <a:avLst/>
          </a:prstGeom>
          <a:solidFill>
            <a:srgbClr val="948A54"/>
          </a:solidFill>
          <a:ln w="12700">
            <a:solidFill>
              <a:srgbClr val="414141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8"/>
              </a:srgbClr>
            </a:outerShdw>
          </a:effectLst>
        </p:spPr>
        <p:txBody>
          <a:bodyPr wrap="none" lIns="90488" tIns="44450" rIns="90488" bIns="44450" anchor="ctr"/>
          <a:lstStyle/>
          <a:p>
            <a:pPr algn="ctr">
              <a:defRPr/>
            </a:pPr>
            <a:r>
              <a:rPr lang="en-US" sz="4400" dirty="0">
                <a:solidFill>
                  <a:schemeClr val="bg1"/>
                </a:solidFill>
                <a:ea typeface="MS PGothic" pitchFamily="34" charset="-128"/>
              </a:rPr>
              <a:t>Equity</a:t>
            </a:r>
            <a:br>
              <a:rPr lang="en-US" sz="4400" dirty="0">
                <a:solidFill>
                  <a:schemeClr val="bg1"/>
                </a:solidFill>
                <a:ea typeface="MS PGothic" pitchFamily="34" charset="-128"/>
              </a:rPr>
            </a:br>
            <a:r>
              <a:rPr lang="en-US" sz="4400" dirty="0">
                <a:solidFill>
                  <a:schemeClr val="bg1"/>
                </a:solidFill>
                <a:ea typeface="MS PGothic" pitchFamily="34" charset="-128"/>
              </a:rPr>
              <a:t>Accounts</a:t>
            </a:r>
          </a:p>
        </p:txBody>
      </p:sp>
      <p:sp>
        <p:nvSpPr>
          <p:cNvPr id="18435" name="Oval 3"/>
          <p:cNvSpPr>
            <a:spLocks noChangeArrowheads="1"/>
          </p:cNvSpPr>
          <p:nvPr/>
        </p:nvSpPr>
        <p:spPr bwMode="auto">
          <a:xfrm>
            <a:off x="1143000" y="4876800"/>
            <a:ext cx="2578100" cy="103505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2700">
            <a:solidFill>
              <a:srgbClr val="414141"/>
            </a:solidFill>
            <a:round/>
            <a:headEnd/>
            <a:tailEnd/>
          </a:ln>
          <a:effectLst>
            <a:outerShdw blurRad="63500" dist="63500" dir="3187806" algn="ctr" rotWithShape="0">
              <a:schemeClr val="tx1">
                <a:alpha val="74998"/>
              </a:schemeClr>
            </a:outerShdw>
          </a:effectLst>
        </p:spPr>
        <p:txBody>
          <a:bodyPr wrap="none" lIns="90488" tIns="44450" rIns="90488" bIns="44450" anchor="ctr"/>
          <a:lstStyle/>
          <a:p>
            <a:pPr algn="ctr">
              <a:defRPr/>
            </a:pPr>
            <a:r>
              <a:rPr lang="en-US" sz="2800" b="1" dirty="0">
                <a:solidFill>
                  <a:schemeClr val="bg1"/>
                </a:solidFill>
                <a:ea typeface="MS PGothic" pitchFamily="34" charset="-128"/>
              </a:rPr>
              <a:t>+</a:t>
            </a:r>
          </a:p>
          <a:p>
            <a:pPr algn="ctr">
              <a:defRPr/>
            </a:pPr>
            <a:r>
              <a:rPr lang="en-US" sz="2800" b="1" dirty="0">
                <a:solidFill>
                  <a:schemeClr val="bg1"/>
                </a:solidFill>
                <a:ea typeface="MS PGothic" pitchFamily="34" charset="-128"/>
              </a:rPr>
              <a:t>Revenues</a:t>
            </a:r>
          </a:p>
        </p:txBody>
      </p:sp>
      <p:sp>
        <p:nvSpPr>
          <p:cNvPr id="18436" name="Oval 4"/>
          <p:cNvSpPr>
            <a:spLocks noChangeArrowheads="1"/>
          </p:cNvSpPr>
          <p:nvPr/>
        </p:nvSpPr>
        <p:spPr bwMode="auto">
          <a:xfrm>
            <a:off x="685800" y="1637262"/>
            <a:ext cx="2895600" cy="1215722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solidFill>
              <a:srgbClr val="414141"/>
            </a:solidFill>
            <a:round/>
            <a:headEnd/>
            <a:tailEnd/>
          </a:ln>
          <a:effectLst>
            <a:outerShdw blurRad="63500" dist="63500" dir="3187806" algn="ctr" rotWithShape="0">
              <a:schemeClr val="tx1">
                <a:alpha val="74998"/>
              </a:schemeClr>
            </a:outerShdw>
          </a:effectLst>
        </p:spPr>
        <p:txBody>
          <a:bodyPr lIns="90488" tIns="44450" rIns="90488" bIns="44450" anchor="ctr"/>
          <a:lstStyle/>
          <a:p>
            <a:pPr algn="ctr">
              <a:defRPr/>
            </a:pPr>
            <a:r>
              <a:rPr lang="en-US" sz="2800" b="1" dirty="0">
                <a:solidFill>
                  <a:schemeClr val="bg1"/>
                </a:solidFill>
                <a:ea typeface="MS PGothic" pitchFamily="34" charset="-128"/>
              </a:rPr>
              <a:t>+</a:t>
            </a:r>
          </a:p>
          <a:p>
            <a:pPr algn="ctr">
              <a:defRPr/>
            </a:pPr>
            <a:r>
              <a:rPr lang="en-US" sz="2800" b="1" dirty="0">
                <a:solidFill>
                  <a:schemeClr val="bg1"/>
                </a:solidFill>
                <a:ea typeface="MS PGothic" pitchFamily="34" charset="-128"/>
              </a:rPr>
              <a:t>Common Stock</a:t>
            </a:r>
          </a:p>
        </p:txBody>
      </p:sp>
      <p:sp>
        <p:nvSpPr>
          <p:cNvPr id="18437" name="Oval 5"/>
          <p:cNvSpPr>
            <a:spLocks noChangeArrowheads="1"/>
          </p:cNvSpPr>
          <p:nvPr/>
        </p:nvSpPr>
        <p:spPr bwMode="auto">
          <a:xfrm>
            <a:off x="5797360" y="1466547"/>
            <a:ext cx="2855912" cy="1473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2700">
            <a:solidFill>
              <a:srgbClr val="414141"/>
            </a:solidFill>
            <a:round/>
            <a:headEnd/>
            <a:tailEnd/>
          </a:ln>
          <a:effectLst>
            <a:outerShdw blurRad="63500" dist="63500" dir="3187806" algn="ctr" rotWithShape="0">
              <a:schemeClr val="tx1">
                <a:alpha val="74998"/>
              </a:schemeClr>
            </a:outerShdw>
          </a:effectLst>
        </p:spPr>
        <p:txBody>
          <a:bodyPr lIns="90488" tIns="44450" rIns="90488" bIns="44450" anchor="ctr"/>
          <a:lstStyle/>
          <a:p>
            <a:pPr algn="ctr">
              <a:defRPr/>
            </a:pPr>
            <a:r>
              <a:rPr lang="en-US" sz="2800" b="1" dirty="0">
                <a:solidFill>
                  <a:schemeClr val="bg1"/>
                </a:solidFill>
                <a:ea typeface="MS PGothic" pitchFamily="34" charset="-128"/>
              </a:rPr>
              <a:t>-</a:t>
            </a:r>
          </a:p>
          <a:p>
            <a:pPr algn="ctr">
              <a:defRPr/>
            </a:pPr>
            <a:r>
              <a:rPr lang="en-US" sz="2800" b="1" dirty="0">
                <a:solidFill>
                  <a:schemeClr val="bg1"/>
                </a:solidFill>
                <a:ea typeface="MS PGothic" pitchFamily="34" charset="-128"/>
              </a:rPr>
              <a:t>Dividends</a:t>
            </a:r>
          </a:p>
        </p:txBody>
      </p:sp>
      <p:sp>
        <p:nvSpPr>
          <p:cNvPr id="18438" name="Oval 6"/>
          <p:cNvSpPr>
            <a:spLocks noChangeArrowheads="1"/>
          </p:cNvSpPr>
          <p:nvPr/>
        </p:nvSpPr>
        <p:spPr bwMode="auto">
          <a:xfrm>
            <a:off x="5651500" y="4876800"/>
            <a:ext cx="2578100" cy="103505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blurRad="63500" dist="63500" dir="3187806" algn="ctr" rotWithShape="0">
              <a:schemeClr val="tx1">
                <a:alpha val="74998"/>
              </a:schemeClr>
            </a:outerShdw>
          </a:effectLst>
        </p:spPr>
        <p:txBody>
          <a:bodyPr wrap="none" lIns="90488" tIns="44450" rIns="90488" bIns="44450" anchor="ctr"/>
          <a:lstStyle/>
          <a:p>
            <a:pPr algn="ctr">
              <a:defRPr/>
            </a:pPr>
            <a:r>
              <a:rPr lang="en-US" sz="2800" b="1" dirty="0">
                <a:solidFill>
                  <a:schemeClr val="bg1"/>
                </a:solidFill>
                <a:ea typeface="MS PGothic" pitchFamily="34" charset="-128"/>
              </a:rPr>
              <a:t>-</a:t>
            </a:r>
          </a:p>
          <a:p>
            <a:pPr algn="ctr">
              <a:defRPr/>
            </a:pPr>
            <a:r>
              <a:rPr lang="en-US" sz="2800" b="1" dirty="0">
                <a:solidFill>
                  <a:schemeClr val="bg1"/>
                </a:solidFill>
                <a:ea typeface="MS PGothic" pitchFamily="34" charset="-128"/>
              </a:rPr>
              <a:t>Expenses</a:t>
            </a:r>
          </a:p>
        </p:txBody>
      </p:sp>
      <p:sp>
        <p:nvSpPr>
          <p:cNvPr id="129031" name="Rectangle 7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 dirty="0">
                <a:cs typeface="Arial" charset="0"/>
              </a:rPr>
              <a:t>Equity Accounts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0E331E-D1DD-4385-B65C-ED2A628AAA6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  <a:ln w="28575" cap="flat" cmpd="sng" algn="ctr">
            <a:solidFill>
              <a:srgbClr val="6076B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ysClr val="window" lastClr="FFFFFF"/>
              </a:solidFill>
              <a:latin typeface="Palatino Linotyp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animBg="1" autoUpdateAnimBg="0"/>
      <p:bldP spid="18436" grpId="0" animBg="1" autoUpdateAnimBg="0"/>
      <p:bldP spid="18437" grpId="0" animBg="1" autoUpdateAnimBg="0"/>
      <p:bldP spid="18438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title"/>
          </p:nvPr>
        </p:nvSpPr>
        <p:spPr>
          <a:xfrm>
            <a:off x="773482" y="746191"/>
            <a:ext cx="7391400" cy="1158809"/>
          </a:xfrm>
        </p:spPr>
        <p:txBody>
          <a:bodyPr/>
          <a:lstStyle/>
          <a:p>
            <a:pPr eaLnBrk="1" hangingPunct="1"/>
            <a:r>
              <a:rPr lang="en-US" altLang="en-US" b="1" dirty="0">
                <a:cs typeface="Arial" charset="0"/>
              </a:rPr>
              <a:t>Expanded Accounting Equation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2EE963-08B5-4E80-87B2-27D7BC7351FE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609600" y="2141538"/>
            <a:ext cx="7696200" cy="83026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Revenues and common stock increases equity.</a:t>
            </a:r>
          </a:p>
          <a:p>
            <a:pPr algn="ctr">
              <a:defRPr/>
            </a:pPr>
            <a:r>
              <a:rPr lang="en-US" sz="2400" dirty="0"/>
              <a:t> Expenses and dividends decrease equity.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  <a:ln w="28575" cap="flat" cmpd="sng" algn="ctr">
            <a:solidFill>
              <a:srgbClr val="6076B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ysClr val="window" lastClr="FFFFFF"/>
              </a:solidFill>
              <a:latin typeface="Palatino Linotype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A07544-45BB-4B13-A467-A85850C9C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62" y="3067429"/>
            <a:ext cx="8228571" cy="30285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Title 4"/>
          <p:cNvSpPr>
            <a:spLocks noGrp="1"/>
          </p:cNvSpPr>
          <p:nvPr>
            <p:ph type="ctrTitle"/>
          </p:nvPr>
        </p:nvSpPr>
        <p:spPr>
          <a:xfrm>
            <a:off x="914400" y="1828800"/>
            <a:ext cx="7315200" cy="3124200"/>
          </a:xfrm>
        </p:spPr>
        <p:txBody>
          <a:bodyPr>
            <a:normAutofit fontScale="90000"/>
          </a:bodyPr>
          <a:lstStyle/>
          <a:p>
            <a:pPr eaLnBrk="1" hangingPunct="1"/>
            <a:br>
              <a:rPr lang="en-US" altLang="en-US" b="1" dirty="0"/>
            </a:br>
            <a:br>
              <a:rPr lang="en-US" altLang="en-US" b="1" dirty="0"/>
            </a:br>
            <a:r>
              <a:rPr lang="en-US" altLang="en-US" dirty="0"/>
              <a:t>Describe a ledger and a chart of accounts. </a:t>
            </a:r>
            <a:br>
              <a:rPr lang="en-US" altLang="en-US" b="1" dirty="0"/>
            </a:br>
            <a:br>
              <a:rPr lang="en-US" altLang="en-US" b="1" dirty="0"/>
            </a:br>
            <a:endParaRPr lang="en-US" altLang="en-US" b="1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  <a:ln w="28575" cap="flat" cmpd="sng" algn="ctr">
            <a:solidFill>
              <a:srgbClr val="6076B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rgbClr val="FFFF00"/>
              </a:solidFill>
              <a:latin typeface="Palatino Linotype"/>
            </a:endParaRPr>
          </a:p>
        </p:txBody>
      </p:sp>
      <p:pic>
        <p:nvPicPr>
          <p:cNvPr id="13210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53456"/>
            <a:ext cx="7315200" cy="8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2101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572000"/>
            <a:ext cx="7315200" cy="8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2102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121C84F6-564E-424C-9361-99C3A6829AB0}" type="slidenum">
              <a:rPr lang="en-US" altLang="en-US" smtClean="0">
                <a:solidFill>
                  <a:srgbClr val="898989"/>
                </a:solidFill>
              </a:rPr>
              <a:pPr eaLnBrk="1" hangingPunct="1"/>
              <a:t>11</a:t>
            </a:fld>
            <a:endParaRPr lang="en-US" altLang="en-US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878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74638"/>
            <a:ext cx="7010400" cy="1143000"/>
          </a:xfrm>
        </p:spPr>
        <p:txBody>
          <a:bodyPr/>
          <a:lstStyle/>
          <a:p>
            <a:pPr eaLnBrk="1" hangingPunct="1"/>
            <a:r>
              <a:rPr lang="en-US" altLang="en-US" b="1" dirty="0">
                <a:cs typeface="Arial" charset="0"/>
              </a:rPr>
              <a:t>Ledger and Chart of Accounts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4F8229-955A-4A23-ACCB-66F2AAE0F83E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50179" name="Rectangle 3"/>
          <p:cNvSpPr>
            <a:spLocks noChangeArrowheads="1"/>
          </p:cNvSpPr>
          <p:nvPr/>
        </p:nvSpPr>
        <p:spPr bwMode="auto">
          <a:xfrm>
            <a:off x="347472" y="1143000"/>
            <a:ext cx="8491728" cy="1696715"/>
          </a:xfrm>
          <a:prstGeom prst="rect">
            <a:avLst/>
          </a:prstGeom>
          <a:solidFill>
            <a:srgbClr val="DDD9C3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8"/>
              </a:srgb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800" dirty="0">
                <a:solidFill>
                  <a:srgbClr val="17375E"/>
                </a:solidFill>
                <a:ea typeface="MS PGothic" pitchFamily="34" charset="-128"/>
              </a:rPr>
              <a:t>The ledger is a collection of all accounts and their </a:t>
            </a:r>
            <a:br>
              <a:rPr lang="en-US" sz="2800" dirty="0">
                <a:solidFill>
                  <a:srgbClr val="17375E"/>
                </a:solidFill>
                <a:ea typeface="MS PGothic" pitchFamily="34" charset="-128"/>
              </a:rPr>
            </a:br>
            <a:r>
              <a:rPr lang="en-US" sz="2800" dirty="0">
                <a:solidFill>
                  <a:srgbClr val="17375E"/>
                </a:solidFill>
                <a:ea typeface="MS PGothic" pitchFamily="34" charset="-128"/>
              </a:rPr>
              <a:t>balances for an accounting system. A company’s </a:t>
            </a:r>
            <a:br>
              <a:rPr lang="en-US" sz="2800" dirty="0">
                <a:solidFill>
                  <a:srgbClr val="17375E"/>
                </a:solidFill>
                <a:ea typeface="MS PGothic" pitchFamily="34" charset="-128"/>
              </a:rPr>
            </a:br>
            <a:r>
              <a:rPr lang="en-US" sz="2800" dirty="0">
                <a:solidFill>
                  <a:srgbClr val="17375E"/>
                </a:solidFill>
                <a:ea typeface="MS PGothic" pitchFamily="34" charset="-128"/>
              </a:rPr>
              <a:t>size and diversity of operations affect the number </a:t>
            </a:r>
            <a:br>
              <a:rPr lang="en-US" sz="2800" dirty="0">
                <a:solidFill>
                  <a:srgbClr val="17375E"/>
                </a:solidFill>
                <a:ea typeface="MS PGothic" pitchFamily="34" charset="-128"/>
              </a:rPr>
            </a:br>
            <a:r>
              <a:rPr lang="en-US" sz="2800" dirty="0">
                <a:solidFill>
                  <a:srgbClr val="17375E"/>
                </a:solidFill>
                <a:ea typeface="MS PGothic" pitchFamily="34" charset="-128"/>
              </a:rPr>
              <a:t>of accounts needed.</a:t>
            </a:r>
          </a:p>
        </p:txBody>
      </p:sp>
      <p:sp>
        <p:nvSpPr>
          <p:cNvPr id="133124" name="Rectangle 4"/>
          <p:cNvSpPr>
            <a:spLocks noChangeArrowheads="1"/>
          </p:cNvSpPr>
          <p:nvPr/>
        </p:nvSpPr>
        <p:spPr bwMode="auto">
          <a:xfrm>
            <a:off x="1752600" y="2926613"/>
            <a:ext cx="5638800" cy="1229917"/>
          </a:xfrm>
          <a:prstGeom prst="rect">
            <a:avLst/>
          </a:prstGeom>
          <a:solidFill>
            <a:srgbClr val="17375E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-107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-107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-107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-107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-107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-107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-107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-107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-107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DDD9C3"/>
                </a:solidFill>
                <a:latin typeface="Arial" charset="0"/>
                <a:ea typeface="MS PGothic" pitchFamily="34" charset="-128"/>
              </a:rPr>
              <a:t>   The chart of accounts is a list of all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DDD9C3"/>
                </a:solidFill>
                <a:latin typeface="Arial" charset="0"/>
                <a:ea typeface="MS PGothic" pitchFamily="34" charset="-128"/>
              </a:rPr>
              <a:t>accounts and includes an</a:t>
            </a:r>
            <a:br>
              <a:rPr lang="en-US" altLang="en-US" sz="2400" dirty="0">
                <a:solidFill>
                  <a:srgbClr val="DDD9C3"/>
                </a:solidFill>
                <a:latin typeface="Arial" charset="0"/>
                <a:ea typeface="MS PGothic" pitchFamily="34" charset="-128"/>
              </a:rPr>
            </a:br>
            <a:r>
              <a:rPr lang="en-US" altLang="en-US" sz="2400" dirty="0">
                <a:solidFill>
                  <a:srgbClr val="DDD9C3"/>
                </a:solidFill>
                <a:latin typeface="Arial" charset="0"/>
                <a:ea typeface="MS PGothic" pitchFamily="34" charset="-128"/>
              </a:rPr>
              <a:t>identifying number for each account.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  <a:ln w="28575" cap="flat" cmpd="sng" algn="ctr">
            <a:solidFill>
              <a:srgbClr val="6076B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ysClr val="window" lastClr="FFFFFF"/>
              </a:solidFill>
              <a:latin typeface="Palatino Linotype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8E4DC4-F79B-4C2C-A7C9-5FBCA02BB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4305495"/>
            <a:ext cx="8695887" cy="19542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Title 4"/>
          <p:cNvSpPr>
            <a:spLocks noGrp="1"/>
          </p:cNvSpPr>
          <p:nvPr>
            <p:ph type="ctrTitle"/>
          </p:nvPr>
        </p:nvSpPr>
        <p:spPr>
          <a:xfrm>
            <a:off x="914400" y="1828800"/>
            <a:ext cx="7315200" cy="3124200"/>
          </a:xfrm>
        </p:spPr>
        <p:txBody>
          <a:bodyPr>
            <a:normAutofit fontScale="90000"/>
          </a:bodyPr>
          <a:lstStyle/>
          <a:p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Define </a:t>
            </a:r>
            <a:r>
              <a:rPr lang="en-US" altLang="en-US" i="1" dirty="0"/>
              <a:t>debits</a:t>
            </a:r>
            <a:r>
              <a:rPr lang="en-US" altLang="en-US" dirty="0"/>
              <a:t> and </a:t>
            </a:r>
            <a:r>
              <a:rPr lang="en-US" altLang="en-US" i="1" dirty="0"/>
              <a:t>credits</a:t>
            </a:r>
            <a:r>
              <a:rPr lang="en-US" altLang="en-US" dirty="0"/>
              <a:t> and explain double-entry accounting. </a:t>
            </a: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  <a:ln w="28575" cap="flat" cmpd="sng" algn="ctr">
            <a:solidFill>
              <a:srgbClr val="6076B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rgbClr val="FFFF00"/>
              </a:solidFill>
              <a:latin typeface="Palatino Linotype"/>
            </a:endParaRPr>
          </a:p>
        </p:txBody>
      </p:sp>
      <p:pic>
        <p:nvPicPr>
          <p:cNvPr id="13414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081" y="1741488"/>
            <a:ext cx="7315200" cy="8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4149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081" y="5105400"/>
            <a:ext cx="7315200" cy="8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4150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7FEB3622-DEEE-4BF0-A346-6367FC23B7ED}" type="slidenum">
              <a:rPr lang="en-US" altLang="en-US" smtClean="0">
                <a:solidFill>
                  <a:srgbClr val="898989"/>
                </a:solidFill>
              </a:rPr>
              <a:pPr eaLnBrk="1" hangingPunct="1"/>
              <a:t>13</a:t>
            </a:fld>
            <a:endParaRPr lang="en-US" altLang="en-US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7177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405471"/>
            <a:ext cx="8229600" cy="1249362"/>
          </a:xfrm>
        </p:spPr>
        <p:txBody>
          <a:bodyPr/>
          <a:lstStyle/>
          <a:p>
            <a:pPr eaLnBrk="1" hangingPunct="1"/>
            <a:r>
              <a:rPr lang="en-US" altLang="en-US" b="1" dirty="0">
                <a:cs typeface="Arial" charset="0"/>
              </a:rPr>
              <a:t>Debits and Credits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115300" y="6350414"/>
            <a:ext cx="685800" cy="365125"/>
          </a:xfrm>
        </p:spPr>
        <p:txBody>
          <a:bodyPr/>
          <a:lstStyle/>
          <a:p>
            <a:pPr>
              <a:defRPr/>
            </a:pPr>
            <a:fld id="{8312745A-BC56-4E8C-83B3-73C550770D45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75818"/>
            <a:ext cx="8229600" cy="1524000"/>
          </a:xfrm>
          <a:solidFill>
            <a:schemeClr val="accent4">
              <a:lumMod val="50000"/>
            </a:schemeClr>
          </a:solidFill>
          <a:ln>
            <a:solidFill>
              <a:schemeClr val="tx1"/>
            </a:solidFill>
          </a:ln>
        </p:spPr>
        <p:txBody>
          <a:bodyPr lIns="90488" tIns="44450" rIns="90488" bIns="44450" rtlCol="0">
            <a:normAutofit/>
          </a:bodyPr>
          <a:lstStyle/>
          <a:p>
            <a:pPr algn="ctr" eaLnBrk="1" fontAlgn="auto" hangingPunct="1">
              <a:lnSpc>
                <a:spcPct val="85000"/>
              </a:lnSpc>
              <a:spcAft>
                <a:spcPts val="0"/>
              </a:spcAft>
              <a:buFont typeface="Wingdings" pitchFamily="-107" charset="2"/>
              <a:buNone/>
              <a:defRPr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A T-account represents a ledger account and is used to show the effects of one or more transactions.  </a:t>
            </a:r>
          </a:p>
        </p:txBody>
      </p:sp>
      <p:pic>
        <p:nvPicPr>
          <p:cNvPr id="13517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387" y="3177330"/>
            <a:ext cx="6428598" cy="16505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  <a:ln w="28575" cap="flat" cmpd="sng" algn="ctr">
            <a:solidFill>
              <a:srgbClr val="6076B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ysClr val="window" lastClr="FFFFFF"/>
              </a:solidFill>
              <a:latin typeface="Palatino Linotype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04800" y="5065423"/>
            <a:ext cx="8534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363" indent="-360363" defTabSz="960438">
              <a:buClr>
                <a:srgbClr val="F60233"/>
              </a:buClr>
              <a:buFont typeface="Wingdings 2" panose="05020102010507070707" pitchFamily="18" charset="2"/>
              <a:buChar char=""/>
            </a:pPr>
            <a:r>
              <a:rPr lang="en-US" altLang="zh-TW" dirty="0">
                <a:ea typeface="新細明體" panose="02020500000000000000" pitchFamily="18" charset="-120"/>
              </a:rPr>
              <a:t>The act of entering an amount on the </a:t>
            </a:r>
            <a:r>
              <a:rPr lang="en-US" altLang="zh-TW" dirty="0">
                <a:solidFill>
                  <a:schemeClr val="hlink"/>
                </a:solidFill>
                <a:ea typeface="新細明體" panose="02020500000000000000" pitchFamily="18" charset="-120"/>
              </a:rPr>
              <a:t>left</a:t>
            </a:r>
            <a:r>
              <a:rPr lang="en-US" altLang="zh-TW" dirty="0">
                <a:ea typeface="新細明體" panose="02020500000000000000" pitchFamily="18" charset="-120"/>
              </a:rPr>
              <a:t> side of an account is called debiting the account and making an entry on the </a:t>
            </a:r>
            <a:r>
              <a:rPr lang="en-US" altLang="zh-TW" dirty="0">
                <a:solidFill>
                  <a:schemeClr val="hlink"/>
                </a:solidFill>
                <a:ea typeface="新細明體" panose="02020500000000000000" pitchFamily="18" charset="-120"/>
              </a:rPr>
              <a:t>right</a:t>
            </a:r>
            <a:r>
              <a:rPr lang="en-US" altLang="zh-TW" dirty="0">
                <a:ea typeface="新細明體" panose="02020500000000000000" pitchFamily="18" charset="-120"/>
              </a:rPr>
              <a:t> side is crediting the account.</a:t>
            </a:r>
          </a:p>
          <a:p>
            <a:pPr marL="360363" indent="-360363" defTabSz="960438">
              <a:buClr>
                <a:srgbClr val="F60233"/>
              </a:buClr>
              <a:buFont typeface="Wingdings 2" panose="05020102010507070707" pitchFamily="18" charset="2"/>
              <a:buChar char=""/>
            </a:pPr>
            <a:r>
              <a:rPr lang="en-US" altLang="zh-TW" dirty="0">
                <a:ea typeface="新細明體" panose="02020500000000000000" pitchFamily="18" charset="-120"/>
              </a:rPr>
              <a:t>When the debit amounts exceed the credits, an account has a </a:t>
            </a:r>
            <a:r>
              <a:rPr lang="en-US" altLang="zh-TW" dirty="0">
                <a:solidFill>
                  <a:srgbClr val="F60233"/>
                </a:solidFill>
                <a:ea typeface="新細明體" panose="02020500000000000000" pitchFamily="18" charset="-120"/>
              </a:rPr>
              <a:t>debit</a:t>
            </a:r>
            <a:r>
              <a:rPr lang="en-US" altLang="zh-TW" dirty="0">
                <a:ea typeface="新細明體" panose="02020500000000000000" pitchFamily="18" charset="-120"/>
              </a:rPr>
              <a:t> balance; when the reverse is true, the account has a </a:t>
            </a:r>
            <a:r>
              <a:rPr lang="en-US" altLang="zh-TW" dirty="0">
                <a:solidFill>
                  <a:srgbClr val="F60233"/>
                </a:solidFill>
                <a:ea typeface="新細明體" panose="02020500000000000000" pitchFamily="18" charset="-120"/>
              </a:rPr>
              <a:t>credit</a:t>
            </a:r>
            <a:r>
              <a:rPr lang="en-US" altLang="zh-TW" dirty="0">
                <a:ea typeface="新細明體" panose="02020500000000000000" pitchFamily="18" charset="-120"/>
              </a:rPr>
              <a:t> balance.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zh-TW" dirty="0">
                <a:solidFill>
                  <a:srgbClr val="7B9899"/>
                </a:solidFill>
                <a:ea typeface="PMingLiU" pitchFamily="18" charset="-120"/>
              </a:rPr>
              <a:t>Double Entry System</a:t>
            </a:r>
          </a:p>
        </p:txBody>
      </p:sp>
      <p:sp>
        <p:nvSpPr>
          <p:cNvPr id="23555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692150" y="1600200"/>
            <a:ext cx="7772400" cy="4068763"/>
          </a:xfrm>
        </p:spPr>
        <p:txBody>
          <a:bodyPr lIns="91599" tIns="45048" rIns="91599" bIns="45048"/>
          <a:lstStyle/>
          <a:p>
            <a:pPr marL="360363" indent="-360363" defTabSz="960438">
              <a:buClr>
                <a:srgbClr val="F60233"/>
              </a:buClr>
            </a:pPr>
            <a:r>
              <a:rPr lang="en-US" altLang="zh-TW">
                <a:ea typeface="新細明體" panose="02020500000000000000" pitchFamily="18" charset="-120"/>
              </a:rPr>
              <a:t>In a </a:t>
            </a:r>
            <a:r>
              <a:rPr lang="en-US" altLang="zh-TW">
                <a:solidFill>
                  <a:srgbClr val="F60233"/>
                </a:solidFill>
                <a:ea typeface="新細明體" panose="02020500000000000000" pitchFamily="18" charset="-120"/>
              </a:rPr>
              <a:t>double-entry system</a:t>
            </a:r>
            <a:r>
              <a:rPr lang="en-US" altLang="zh-TW">
                <a:ea typeface="新細明體" panose="02020500000000000000" pitchFamily="18" charset="-120"/>
              </a:rPr>
              <a:t>, equal debits and credits are made in the accounts for each transaction.  </a:t>
            </a:r>
          </a:p>
          <a:p>
            <a:pPr marL="360363" indent="-360363" defTabSz="960438">
              <a:buClr>
                <a:srgbClr val="F60233"/>
              </a:buClr>
            </a:pPr>
            <a:endParaRPr lang="en-US" altLang="zh-TW">
              <a:ea typeface="新細明體" panose="02020500000000000000" pitchFamily="18" charset="-120"/>
            </a:endParaRPr>
          </a:p>
          <a:p>
            <a:pPr marL="360363" indent="-360363" defTabSz="960438">
              <a:buClr>
                <a:srgbClr val="F60233"/>
              </a:buClr>
            </a:pPr>
            <a:r>
              <a:rPr lang="en-US" altLang="zh-TW">
                <a:ea typeface="新細明體" panose="02020500000000000000" pitchFamily="18" charset="-120"/>
              </a:rPr>
              <a:t>Thus, the total debits will always equal the total credits and the accounting equation will always stay in balance.</a:t>
            </a:r>
          </a:p>
        </p:txBody>
      </p:sp>
    </p:spTree>
    <p:extLst>
      <p:ext uri="{BB962C8B-B14F-4D97-AF65-F5344CB8AC3E}">
        <p14:creationId xmlns:p14="http://schemas.microsoft.com/office/powerpoint/2010/main" val="143692299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49" name="Group 2"/>
          <p:cNvGrpSpPr>
            <a:grpSpLocks/>
          </p:cNvGrpSpPr>
          <p:nvPr/>
        </p:nvGrpSpPr>
        <p:grpSpPr bwMode="auto">
          <a:xfrm>
            <a:off x="387350" y="1785938"/>
            <a:ext cx="8293100" cy="911225"/>
            <a:chOff x="244" y="1125"/>
            <a:chExt cx="5224" cy="574"/>
          </a:xfrm>
        </p:grpSpPr>
        <p:sp>
          <p:nvSpPr>
            <p:cNvPr id="21507" name="Rectangle 3"/>
            <p:cNvSpPr>
              <a:spLocks noChangeArrowheads="1"/>
            </p:cNvSpPr>
            <p:nvPr/>
          </p:nvSpPr>
          <p:spPr bwMode="auto">
            <a:xfrm>
              <a:off x="2116" y="1252"/>
              <a:ext cx="1480" cy="376"/>
            </a:xfrm>
            <a:prstGeom prst="rect">
              <a:avLst/>
            </a:prstGeom>
            <a:solidFill>
              <a:srgbClr val="F6E9B4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38100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0488" tIns="44450" rIns="90488" bIns="44450" anchor="ctr"/>
            <a:lstStyle/>
            <a:p>
              <a:pPr>
                <a:defRPr/>
              </a:pPr>
              <a:r>
                <a:rPr lang="en-US" sz="3600" b="1" dirty="0">
                  <a:solidFill>
                    <a:srgbClr val="9A2F6F"/>
                  </a:solidFill>
                  <a:latin typeface="Arial" charset="0"/>
                  <a:ea typeface="ＭＳ Ｐゴシック" pitchFamily="-108" charset="-128"/>
                </a:rPr>
                <a:t>Liabilities</a:t>
              </a:r>
            </a:p>
          </p:txBody>
        </p:sp>
        <p:sp>
          <p:nvSpPr>
            <p:cNvPr id="21508" name="Rectangle 4"/>
            <p:cNvSpPr>
              <a:spLocks noChangeArrowheads="1"/>
            </p:cNvSpPr>
            <p:nvPr/>
          </p:nvSpPr>
          <p:spPr bwMode="auto">
            <a:xfrm>
              <a:off x="4228" y="1252"/>
              <a:ext cx="1240" cy="376"/>
            </a:xfrm>
            <a:prstGeom prst="rect">
              <a:avLst/>
            </a:prstGeom>
            <a:solidFill>
              <a:srgbClr val="F6E9B4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38100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0488" tIns="44450" rIns="90488" bIns="44450" anchor="ctr"/>
            <a:lstStyle/>
            <a:p>
              <a:pPr>
                <a:defRPr/>
              </a:pPr>
              <a:r>
                <a:rPr lang="en-US" sz="3600" b="1" dirty="0">
                  <a:solidFill>
                    <a:srgbClr val="9A2F6F"/>
                  </a:solidFill>
                  <a:latin typeface="Arial" charset="0"/>
                  <a:ea typeface="ＭＳ Ｐゴシック" pitchFamily="-108" charset="-128"/>
                </a:rPr>
                <a:t>Equity</a:t>
              </a:r>
            </a:p>
          </p:txBody>
        </p:sp>
        <p:sp>
          <p:nvSpPr>
            <p:cNvPr id="21509" name="Rectangle 5"/>
            <p:cNvSpPr>
              <a:spLocks noChangeArrowheads="1"/>
            </p:cNvSpPr>
            <p:nvPr/>
          </p:nvSpPr>
          <p:spPr bwMode="auto">
            <a:xfrm>
              <a:off x="244" y="1252"/>
              <a:ext cx="1192" cy="376"/>
            </a:xfrm>
            <a:prstGeom prst="rect">
              <a:avLst/>
            </a:prstGeom>
            <a:solidFill>
              <a:srgbClr val="F6E9B4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38100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0488" tIns="44450" rIns="90488" bIns="44450" anchor="ctr"/>
            <a:lstStyle/>
            <a:p>
              <a:pPr>
                <a:defRPr/>
              </a:pPr>
              <a:r>
                <a:rPr lang="en-US" sz="3600" b="1" dirty="0">
                  <a:solidFill>
                    <a:srgbClr val="9A2F6F"/>
                  </a:solidFill>
                  <a:latin typeface="Arial" charset="0"/>
                  <a:ea typeface="ＭＳ Ｐゴシック" pitchFamily="-108" charset="-128"/>
                </a:rPr>
                <a:t>Assets</a:t>
              </a:r>
            </a:p>
          </p:txBody>
        </p:sp>
        <p:sp>
          <p:nvSpPr>
            <p:cNvPr id="27679" name="Rectangle 6"/>
            <p:cNvSpPr>
              <a:spLocks noChangeArrowheads="1"/>
            </p:cNvSpPr>
            <p:nvPr/>
          </p:nvSpPr>
          <p:spPr bwMode="auto">
            <a:xfrm>
              <a:off x="1581" y="1125"/>
              <a:ext cx="390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54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=</a:t>
              </a:r>
            </a:p>
          </p:txBody>
        </p:sp>
        <p:sp>
          <p:nvSpPr>
            <p:cNvPr id="27680" name="Rectangle 7"/>
            <p:cNvSpPr>
              <a:spLocks noChangeArrowheads="1"/>
            </p:cNvSpPr>
            <p:nvPr/>
          </p:nvSpPr>
          <p:spPr bwMode="auto">
            <a:xfrm>
              <a:off x="3741" y="1125"/>
              <a:ext cx="390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54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</p:grpSp>
      <p:sp>
        <p:nvSpPr>
          <p:cNvPr id="21512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Double-Entry Accounting</a:t>
            </a:r>
          </a:p>
        </p:txBody>
      </p:sp>
      <p:grpSp>
        <p:nvGrpSpPr>
          <p:cNvPr id="27651" name="Group 9"/>
          <p:cNvGrpSpPr>
            <a:grpSpLocks/>
          </p:cNvGrpSpPr>
          <p:nvPr/>
        </p:nvGrpSpPr>
        <p:grpSpPr bwMode="auto">
          <a:xfrm>
            <a:off x="76200" y="2924175"/>
            <a:ext cx="8858250" cy="2609850"/>
            <a:chOff x="48" y="1842"/>
            <a:chExt cx="5580" cy="1644"/>
          </a:xfrm>
        </p:grpSpPr>
        <p:sp>
          <p:nvSpPr>
            <p:cNvPr id="21514" name="Rectangle 10"/>
            <p:cNvSpPr>
              <a:spLocks noChangeArrowheads="1"/>
            </p:cNvSpPr>
            <p:nvPr/>
          </p:nvSpPr>
          <p:spPr bwMode="auto">
            <a:xfrm>
              <a:off x="48" y="1842"/>
              <a:ext cx="5580" cy="1644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38100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ea typeface="ＭＳ Ｐゴシック" pitchFamily="-108" charset="-128"/>
              </a:endParaRPr>
            </a:p>
          </p:txBody>
        </p:sp>
        <p:grpSp>
          <p:nvGrpSpPr>
            <p:cNvPr id="27657" name="Group 11"/>
            <p:cNvGrpSpPr>
              <a:grpSpLocks/>
            </p:cNvGrpSpPr>
            <p:nvPr/>
          </p:nvGrpSpPr>
          <p:grpSpPr bwMode="auto">
            <a:xfrm>
              <a:off x="297" y="2718"/>
              <a:ext cx="5112" cy="301"/>
              <a:chOff x="315" y="2718"/>
              <a:chExt cx="5112" cy="301"/>
            </a:xfrm>
          </p:grpSpPr>
          <p:sp>
            <p:nvSpPr>
              <p:cNvPr id="27673" name="Rectangle 12"/>
              <p:cNvSpPr>
                <a:spLocks noChangeArrowheads="1"/>
              </p:cNvSpPr>
              <p:nvPr/>
            </p:nvSpPr>
            <p:spPr bwMode="auto">
              <a:xfrm>
                <a:off x="315" y="2726"/>
                <a:ext cx="1350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>
                    <a:solidFill>
                      <a:srgbClr val="414141"/>
                    </a:solidFill>
                    <a:latin typeface="Times New Roman" panose="02020603050405020304" pitchFamily="18" charset="0"/>
                  </a:rPr>
                  <a:t>Debit      Credit</a:t>
                </a:r>
              </a:p>
            </p:txBody>
          </p:sp>
          <p:sp>
            <p:nvSpPr>
              <p:cNvPr id="27674" name="Rectangle 13"/>
              <p:cNvSpPr>
                <a:spLocks noChangeArrowheads="1"/>
              </p:cNvSpPr>
              <p:nvPr/>
            </p:nvSpPr>
            <p:spPr bwMode="auto">
              <a:xfrm>
                <a:off x="2157" y="2733"/>
                <a:ext cx="1350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>
                    <a:solidFill>
                      <a:srgbClr val="414141"/>
                    </a:solidFill>
                    <a:latin typeface="Times New Roman" panose="02020603050405020304" pitchFamily="18" charset="0"/>
                  </a:rPr>
                  <a:t>Debit      Credit</a:t>
                </a:r>
              </a:p>
            </p:txBody>
          </p:sp>
          <p:sp>
            <p:nvSpPr>
              <p:cNvPr id="27675" name="Rectangle 14"/>
              <p:cNvSpPr>
                <a:spLocks noChangeArrowheads="1"/>
              </p:cNvSpPr>
              <p:nvPr/>
            </p:nvSpPr>
            <p:spPr bwMode="auto">
              <a:xfrm>
                <a:off x="4077" y="2718"/>
                <a:ext cx="1350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>
                    <a:solidFill>
                      <a:srgbClr val="414141"/>
                    </a:solidFill>
                    <a:latin typeface="Times New Roman" panose="02020603050405020304" pitchFamily="18" charset="0"/>
                  </a:rPr>
                  <a:t>Debit      Credit</a:t>
                </a:r>
              </a:p>
            </p:txBody>
          </p:sp>
        </p:grpSp>
        <p:sp>
          <p:nvSpPr>
            <p:cNvPr id="27658" name="Line 15"/>
            <p:cNvSpPr>
              <a:spLocks noChangeShapeType="1"/>
            </p:cNvSpPr>
            <p:nvPr/>
          </p:nvSpPr>
          <p:spPr bwMode="auto">
            <a:xfrm>
              <a:off x="970" y="2186"/>
              <a:ext cx="0" cy="127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 dirty="0"/>
            </a:p>
          </p:txBody>
        </p:sp>
        <p:sp>
          <p:nvSpPr>
            <p:cNvPr id="27659" name="Rectangle 16"/>
            <p:cNvSpPr>
              <a:spLocks noChangeArrowheads="1"/>
            </p:cNvSpPr>
            <p:nvPr/>
          </p:nvSpPr>
          <p:spPr bwMode="auto">
            <a:xfrm>
              <a:off x="376" y="1931"/>
              <a:ext cx="1200" cy="275"/>
            </a:xfrm>
            <a:prstGeom prst="rect">
              <a:avLst/>
            </a:prstGeom>
            <a:solidFill>
              <a:srgbClr val="9900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200" b="1" dirty="0">
                  <a:solidFill>
                    <a:schemeClr val="bg1"/>
                  </a:solidFill>
                </a:rPr>
                <a:t>ASSETS</a:t>
              </a:r>
            </a:p>
          </p:txBody>
        </p:sp>
        <p:sp>
          <p:nvSpPr>
            <p:cNvPr id="27660" name="AutoShape 17"/>
            <p:cNvSpPr>
              <a:spLocks noChangeArrowheads="1"/>
            </p:cNvSpPr>
            <p:nvPr/>
          </p:nvSpPr>
          <p:spPr bwMode="auto">
            <a:xfrm rot="-5400000">
              <a:off x="322" y="2360"/>
              <a:ext cx="520" cy="232"/>
            </a:xfrm>
            <a:prstGeom prst="rightArrow">
              <a:avLst>
                <a:gd name="adj1" fmla="val 50000"/>
                <a:gd name="adj2" fmla="val 112079"/>
              </a:avLst>
            </a:prstGeom>
            <a:solidFill>
              <a:srgbClr val="60C9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 dirty="0"/>
            </a:p>
          </p:txBody>
        </p:sp>
        <p:sp>
          <p:nvSpPr>
            <p:cNvPr id="27661" name="AutoShape 18"/>
            <p:cNvSpPr>
              <a:spLocks noChangeArrowheads="1"/>
            </p:cNvSpPr>
            <p:nvPr/>
          </p:nvSpPr>
          <p:spPr bwMode="auto">
            <a:xfrm rot="16200000" flipH="1">
              <a:off x="970" y="2384"/>
              <a:ext cx="568" cy="232"/>
            </a:xfrm>
            <a:prstGeom prst="rightArrow">
              <a:avLst>
                <a:gd name="adj1" fmla="val 50000"/>
                <a:gd name="adj2" fmla="val 122425"/>
              </a:avLst>
            </a:prstGeom>
            <a:solidFill>
              <a:srgbClr val="FF33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 dirty="0"/>
            </a:p>
          </p:txBody>
        </p:sp>
        <p:sp>
          <p:nvSpPr>
            <p:cNvPr id="27662" name="Rectangle 19"/>
            <p:cNvSpPr>
              <a:spLocks noChangeArrowheads="1"/>
            </p:cNvSpPr>
            <p:nvPr/>
          </p:nvSpPr>
          <p:spPr bwMode="auto">
            <a:xfrm>
              <a:off x="267" y="2736"/>
              <a:ext cx="1350" cy="522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600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  </a:t>
              </a:r>
              <a:r>
                <a:rPr lang="en-US" altLang="en-US" sz="36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+</a:t>
              </a:r>
              <a:r>
                <a:rPr lang="en-US" altLang="en-US" sz="3600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        </a:t>
              </a:r>
              <a:r>
                <a:rPr lang="en-US" altLang="en-US" sz="4800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27663" name="Line 20"/>
            <p:cNvSpPr>
              <a:spLocks noChangeShapeType="1"/>
            </p:cNvSpPr>
            <p:nvPr/>
          </p:nvSpPr>
          <p:spPr bwMode="auto">
            <a:xfrm>
              <a:off x="2794" y="2186"/>
              <a:ext cx="0" cy="127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 dirty="0"/>
            </a:p>
          </p:txBody>
        </p:sp>
        <p:sp>
          <p:nvSpPr>
            <p:cNvPr id="27664" name="Rectangle 21"/>
            <p:cNvSpPr>
              <a:spLocks noChangeArrowheads="1"/>
            </p:cNvSpPr>
            <p:nvPr/>
          </p:nvSpPr>
          <p:spPr bwMode="auto">
            <a:xfrm>
              <a:off x="2155" y="1931"/>
              <a:ext cx="1269" cy="275"/>
            </a:xfrm>
            <a:prstGeom prst="rect">
              <a:avLst/>
            </a:prstGeom>
            <a:solidFill>
              <a:srgbClr val="9900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200" b="1" dirty="0">
                  <a:solidFill>
                    <a:schemeClr val="bg1"/>
                  </a:solidFill>
                </a:rPr>
                <a:t>LIABILITIES</a:t>
              </a:r>
            </a:p>
          </p:txBody>
        </p:sp>
        <p:sp>
          <p:nvSpPr>
            <p:cNvPr id="27665" name="AutoShape 22"/>
            <p:cNvSpPr>
              <a:spLocks noChangeArrowheads="1"/>
            </p:cNvSpPr>
            <p:nvPr/>
          </p:nvSpPr>
          <p:spPr bwMode="auto">
            <a:xfrm rot="-5400000">
              <a:off x="2866" y="2360"/>
              <a:ext cx="520" cy="232"/>
            </a:xfrm>
            <a:prstGeom prst="rightArrow">
              <a:avLst>
                <a:gd name="adj1" fmla="val 50000"/>
                <a:gd name="adj2" fmla="val 112079"/>
              </a:avLst>
            </a:prstGeom>
            <a:solidFill>
              <a:srgbClr val="60C9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 dirty="0"/>
            </a:p>
          </p:txBody>
        </p:sp>
        <p:sp>
          <p:nvSpPr>
            <p:cNvPr id="27666" name="AutoShape 23"/>
            <p:cNvSpPr>
              <a:spLocks noChangeArrowheads="1"/>
            </p:cNvSpPr>
            <p:nvPr/>
          </p:nvSpPr>
          <p:spPr bwMode="auto">
            <a:xfrm rot="16200000" flipH="1">
              <a:off x="2170" y="2384"/>
              <a:ext cx="568" cy="232"/>
            </a:xfrm>
            <a:prstGeom prst="rightArrow">
              <a:avLst>
                <a:gd name="adj1" fmla="val 50000"/>
                <a:gd name="adj2" fmla="val 122425"/>
              </a:avLst>
            </a:prstGeom>
            <a:solidFill>
              <a:srgbClr val="FF33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 dirty="0"/>
            </a:p>
          </p:txBody>
        </p:sp>
        <p:sp>
          <p:nvSpPr>
            <p:cNvPr id="27667" name="Rectangle 24"/>
            <p:cNvSpPr>
              <a:spLocks noChangeArrowheads="1"/>
            </p:cNvSpPr>
            <p:nvPr/>
          </p:nvSpPr>
          <p:spPr bwMode="auto">
            <a:xfrm>
              <a:off x="2139" y="2786"/>
              <a:ext cx="1350" cy="478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200" b="1" dirty="0">
                  <a:solidFill>
                    <a:srgbClr val="414141"/>
                  </a:solidFill>
                  <a:latin typeface="Times New Roman" panose="02020603050405020304" pitchFamily="18" charset="0"/>
                </a:rPr>
                <a:t>   </a:t>
              </a:r>
              <a:r>
                <a:rPr lang="en-US" altLang="en-US" sz="44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-       </a:t>
              </a:r>
              <a:r>
                <a:rPr lang="en-US" altLang="en-US" sz="32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7668" name="Line 25"/>
            <p:cNvSpPr>
              <a:spLocks noChangeShapeType="1"/>
            </p:cNvSpPr>
            <p:nvPr/>
          </p:nvSpPr>
          <p:spPr bwMode="auto">
            <a:xfrm>
              <a:off x="4714" y="2186"/>
              <a:ext cx="0" cy="127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 dirty="0"/>
            </a:p>
          </p:txBody>
        </p:sp>
        <p:sp>
          <p:nvSpPr>
            <p:cNvPr id="27669" name="Rectangle 26"/>
            <p:cNvSpPr>
              <a:spLocks noChangeArrowheads="1"/>
            </p:cNvSpPr>
            <p:nvPr/>
          </p:nvSpPr>
          <p:spPr bwMode="auto">
            <a:xfrm>
              <a:off x="4147" y="1930"/>
              <a:ext cx="1125" cy="275"/>
            </a:xfrm>
            <a:prstGeom prst="rect">
              <a:avLst/>
            </a:prstGeom>
            <a:solidFill>
              <a:srgbClr val="9900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200" b="1" dirty="0">
                  <a:solidFill>
                    <a:schemeClr val="bg1"/>
                  </a:solidFill>
                </a:rPr>
                <a:t>EQUITIES</a:t>
              </a:r>
            </a:p>
          </p:txBody>
        </p:sp>
        <p:sp>
          <p:nvSpPr>
            <p:cNvPr id="27670" name="AutoShape 27"/>
            <p:cNvSpPr>
              <a:spLocks noChangeArrowheads="1"/>
            </p:cNvSpPr>
            <p:nvPr/>
          </p:nvSpPr>
          <p:spPr bwMode="auto">
            <a:xfrm rot="-5400000">
              <a:off x="4738" y="2360"/>
              <a:ext cx="520" cy="232"/>
            </a:xfrm>
            <a:prstGeom prst="rightArrow">
              <a:avLst>
                <a:gd name="adj1" fmla="val 50000"/>
                <a:gd name="adj2" fmla="val 112079"/>
              </a:avLst>
            </a:prstGeom>
            <a:solidFill>
              <a:srgbClr val="60C9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 dirty="0"/>
            </a:p>
          </p:txBody>
        </p:sp>
        <p:sp>
          <p:nvSpPr>
            <p:cNvPr id="27671" name="AutoShape 28"/>
            <p:cNvSpPr>
              <a:spLocks noChangeArrowheads="1"/>
            </p:cNvSpPr>
            <p:nvPr/>
          </p:nvSpPr>
          <p:spPr bwMode="auto">
            <a:xfrm rot="16200000" flipH="1">
              <a:off x="4090" y="2384"/>
              <a:ext cx="568" cy="232"/>
            </a:xfrm>
            <a:prstGeom prst="rightArrow">
              <a:avLst>
                <a:gd name="adj1" fmla="val 50000"/>
                <a:gd name="adj2" fmla="val 122425"/>
              </a:avLst>
            </a:prstGeom>
            <a:solidFill>
              <a:srgbClr val="FF33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 dirty="0"/>
            </a:p>
          </p:txBody>
        </p:sp>
        <p:sp>
          <p:nvSpPr>
            <p:cNvPr id="27672" name="Rectangle 29"/>
            <p:cNvSpPr>
              <a:spLocks noChangeArrowheads="1"/>
            </p:cNvSpPr>
            <p:nvPr/>
          </p:nvSpPr>
          <p:spPr bwMode="auto">
            <a:xfrm>
              <a:off x="4058" y="2738"/>
              <a:ext cx="1350" cy="478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200" b="1" dirty="0">
                  <a:solidFill>
                    <a:srgbClr val="414141"/>
                  </a:solidFill>
                  <a:latin typeface="Times New Roman" panose="02020603050405020304" pitchFamily="18" charset="0"/>
                </a:rPr>
                <a:t>   </a:t>
              </a:r>
              <a:r>
                <a:rPr lang="en-US" altLang="en-US" sz="44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-       </a:t>
              </a:r>
              <a:r>
                <a:rPr lang="en-US" altLang="en-US" sz="32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</p:grp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381000" y="5070475"/>
            <a:ext cx="990600" cy="368300"/>
          </a:xfrm>
          <a:prstGeom prst="rect">
            <a:avLst/>
          </a:prstGeom>
          <a:solidFill>
            <a:srgbClr val="FFE636"/>
          </a:solidFill>
          <a:ln w="19050">
            <a:solidFill>
              <a:schemeClr val="accent1"/>
            </a:solidFill>
            <a:miter lim="800000"/>
            <a:headEnd/>
            <a:tailEnd/>
          </a:ln>
          <a:effectLst>
            <a:outerShdw blurRad="63500" dist="38100" dir="2700000" algn="tl" rotWithShape="0">
              <a:srgbClr val="000000">
                <a:alpha val="39999"/>
              </a:srgb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latin typeface="Arial" charset="0"/>
                <a:ea typeface="+mn-ea"/>
              </a:rPr>
              <a:t>Normal</a:t>
            </a:r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4572000" y="5057775"/>
            <a:ext cx="990600" cy="369888"/>
          </a:xfrm>
          <a:prstGeom prst="rect">
            <a:avLst/>
          </a:prstGeom>
          <a:solidFill>
            <a:srgbClr val="FFE636"/>
          </a:solidFill>
          <a:ln w="19050">
            <a:solidFill>
              <a:schemeClr val="accent1"/>
            </a:solidFill>
            <a:miter lim="800000"/>
            <a:headEnd/>
            <a:tailEnd/>
          </a:ln>
          <a:effectLst>
            <a:outerShdw blurRad="63500" dist="38100" dir="2700000" algn="tl" rotWithShape="0">
              <a:srgbClr val="000000">
                <a:alpha val="39999"/>
              </a:srgb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latin typeface="Arial" charset="0"/>
                <a:ea typeface="+mn-ea"/>
              </a:rPr>
              <a:t>Normal</a:t>
            </a: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7620000" y="5057775"/>
            <a:ext cx="990600" cy="369888"/>
          </a:xfrm>
          <a:prstGeom prst="rect">
            <a:avLst/>
          </a:prstGeom>
          <a:solidFill>
            <a:srgbClr val="FFE636"/>
          </a:solidFill>
          <a:ln w="19050">
            <a:solidFill>
              <a:schemeClr val="accent1"/>
            </a:solidFill>
            <a:miter lim="800000"/>
            <a:headEnd/>
            <a:tailEnd/>
          </a:ln>
          <a:effectLst>
            <a:outerShdw blurRad="63500" dist="38100" dir="2700000" algn="tl" rotWithShape="0">
              <a:srgbClr val="000000">
                <a:alpha val="39999"/>
              </a:srgb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latin typeface="Arial" charset="0"/>
                <a:ea typeface="+mn-ea"/>
              </a:rPr>
              <a:t>Normal</a:t>
            </a:r>
          </a:p>
        </p:txBody>
      </p:sp>
    </p:spTree>
    <p:extLst>
      <p:ext uri="{BB962C8B-B14F-4D97-AF65-F5344CB8AC3E}">
        <p14:creationId xmlns:p14="http://schemas.microsoft.com/office/powerpoint/2010/main" val="843528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7" name="Group 2"/>
          <p:cNvGrpSpPr>
            <a:grpSpLocks/>
          </p:cNvGrpSpPr>
          <p:nvPr/>
        </p:nvGrpSpPr>
        <p:grpSpPr bwMode="auto">
          <a:xfrm>
            <a:off x="82550" y="2433638"/>
            <a:ext cx="8826500" cy="1063625"/>
            <a:chOff x="52" y="1533"/>
            <a:chExt cx="5560" cy="670"/>
          </a:xfrm>
        </p:grpSpPr>
        <p:sp>
          <p:nvSpPr>
            <p:cNvPr id="22531" name="Rectangle 3"/>
            <p:cNvSpPr>
              <a:spLocks noChangeArrowheads="1"/>
            </p:cNvSpPr>
            <p:nvPr/>
          </p:nvSpPr>
          <p:spPr bwMode="auto">
            <a:xfrm>
              <a:off x="3364" y="1780"/>
              <a:ext cx="1000" cy="376"/>
            </a:xfrm>
            <a:prstGeom prst="rect">
              <a:avLst/>
            </a:prstGeom>
            <a:solidFill>
              <a:srgbClr val="C0FEF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18900000" algn="ctr" rotWithShape="0">
                <a:schemeClr val="tx1"/>
              </a:outerShdw>
            </a:effectLst>
          </p:spPr>
          <p:txBody>
            <a:bodyPr wrap="none" lIns="90488" tIns="44450" rIns="90488" bIns="4445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dirty="0">
                  <a:solidFill>
                    <a:srgbClr val="0070C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Arial" panose="020B0604020202020204" pitchFamily="34" charset="0"/>
                </a:rPr>
                <a:t>Revenues</a:t>
              </a:r>
            </a:p>
          </p:txBody>
        </p:sp>
        <p:sp>
          <p:nvSpPr>
            <p:cNvPr id="22532" name="Rectangle 4"/>
            <p:cNvSpPr>
              <a:spLocks noChangeArrowheads="1"/>
            </p:cNvSpPr>
            <p:nvPr/>
          </p:nvSpPr>
          <p:spPr bwMode="auto">
            <a:xfrm>
              <a:off x="4708" y="1780"/>
              <a:ext cx="904" cy="376"/>
            </a:xfrm>
            <a:prstGeom prst="rect">
              <a:avLst/>
            </a:prstGeom>
            <a:solidFill>
              <a:srgbClr val="C0FEF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18900000" algn="ctr" rotWithShape="0">
                <a:schemeClr val="tx1"/>
              </a:outerShdw>
            </a:effectLst>
          </p:spPr>
          <p:txBody>
            <a:bodyPr wrap="none" lIns="90488" tIns="44450" rIns="90488" bIns="4445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dirty="0">
                  <a:solidFill>
                    <a:srgbClr val="0070C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Arial" panose="020B0604020202020204" pitchFamily="34" charset="0"/>
                </a:rPr>
                <a:t>Expenses</a:t>
              </a:r>
            </a:p>
          </p:txBody>
        </p:sp>
        <p:sp>
          <p:nvSpPr>
            <p:cNvPr id="22533" name="Rectangle 5"/>
            <p:cNvSpPr>
              <a:spLocks noChangeArrowheads="1"/>
            </p:cNvSpPr>
            <p:nvPr/>
          </p:nvSpPr>
          <p:spPr bwMode="auto">
            <a:xfrm>
              <a:off x="52" y="1660"/>
              <a:ext cx="1240" cy="520"/>
            </a:xfrm>
            <a:prstGeom prst="rect">
              <a:avLst/>
            </a:prstGeom>
            <a:solidFill>
              <a:srgbClr val="C0FEF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18900000" algn="ctr" rotWithShape="0">
                <a:schemeClr val="tx1"/>
              </a:outerShdw>
            </a:effectLst>
          </p:spPr>
          <p:txBody>
            <a:bodyPr lIns="90488" tIns="44450" rIns="90488" bIns="4445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dirty="0">
                  <a:solidFill>
                    <a:srgbClr val="0070C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Arial" panose="020B0604020202020204" pitchFamily="34" charset="0"/>
                </a:rPr>
                <a:t>Common Stock</a:t>
              </a:r>
            </a:p>
          </p:txBody>
        </p:sp>
        <p:sp>
          <p:nvSpPr>
            <p:cNvPr id="22534" name="Rectangle 6"/>
            <p:cNvSpPr>
              <a:spLocks noChangeArrowheads="1"/>
            </p:cNvSpPr>
            <p:nvPr/>
          </p:nvSpPr>
          <p:spPr bwMode="auto">
            <a:xfrm>
              <a:off x="1732" y="1660"/>
              <a:ext cx="1240" cy="520"/>
            </a:xfrm>
            <a:prstGeom prst="rect">
              <a:avLst/>
            </a:prstGeom>
            <a:solidFill>
              <a:srgbClr val="C0FEF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18900000" algn="ctr" rotWithShape="0">
                <a:schemeClr val="tx1"/>
              </a:outerShdw>
            </a:effectLst>
          </p:spPr>
          <p:txBody>
            <a:bodyPr lIns="90488" tIns="44450" rIns="90488" bIns="4445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dirty="0">
                  <a:solidFill>
                    <a:srgbClr val="0070C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Arial" panose="020B0604020202020204" pitchFamily="34" charset="0"/>
                </a:rPr>
                <a:t>Dividends</a:t>
              </a:r>
            </a:p>
          </p:txBody>
        </p:sp>
        <p:sp>
          <p:nvSpPr>
            <p:cNvPr id="29731" name="Rectangle 7"/>
            <p:cNvSpPr>
              <a:spLocks noChangeArrowheads="1"/>
            </p:cNvSpPr>
            <p:nvPr/>
          </p:nvSpPr>
          <p:spPr bwMode="auto">
            <a:xfrm>
              <a:off x="1341" y="1533"/>
              <a:ext cx="342" cy="478"/>
            </a:xfrm>
            <a:prstGeom prst="rect">
              <a:avLst/>
            </a:prstGeom>
            <a:noFill/>
            <a:ln>
              <a:noFill/>
            </a:ln>
            <a:effectLst>
              <a:outerShdw dist="28398" dir="6993903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4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29732" name="Rectangle 8"/>
            <p:cNvSpPr>
              <a:spLocks noChangeArrowheads="1"/>
            </p:cNvSpPr>
            <p:nvPr/>
          </p:nvSpPr>
          <p:spPr bwMode="auto">
            <a:xfrm>
              <a:off x="3021" y="1725"/>
              <a:ext cx="342" cy="478"/>
            </a:xfrm>
            <a:prstGeom prst="rect">
              <a:avLst/>
            </a:prstGeom>
            <a:noFill/>
            <a:ln>
              <a:noFill/>
            </a:ln>
            <a:effectLst>
              <a:outerShdw dist="28398" dir="6993903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4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9733" name="Rectangle 9"/>
            <p:cNvSpPr>
              <a:spLocks noChangeArrowheads="1"/>
            </p:cNvSpPr>
            <p:nvPr/>
          </p:nvSpPr>
          <p:spPr bwMode="auto">
            <a:xfrm>
              <a:off x="4413" y="1533"/>
              <a:ext cx="342" cy="478"/>
            </a:xfrm>
            <a:prstGeom prst="rect">
              <a:avLst/>
            </a:prstGeom>
            <a:noFill/>
            <a:ln>
              <a:noFill/>
            </a:ln>
            <a:effectLst>
              <a:outerShdw dist="28398" dir="6993903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44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_</a:t>
              </a:r>
            </a:p>
          </p:txBody>
        </p:sp>
      </p:grpSp>
      <p:grpSp>
        <p:nvGrpSpPr>
          <p:cNvPr id="29698" name="Group 10"/>
          <p:cNvGrpSpPr>
            <a:grpSpLocks/>
          </p:cNvGrpSpPr>
          <p:nvPr/>
        </p:nvGrpSpPr>
        <p:grpSpPr bwMode="auto">
          <a:xfrm>
            <a:off x="104775" y="3762375"/>
            <a:ext cx="8912225" cy="2609850"/>
            <a:chOff x="66" y="2370"/>
            <a:chExt cx="5614" cy="1644"/>
          </a:xfrm>
        </p:grpSpPr>
        <p:sp>
          <p:nvSpPr>
            <p:cNvPr id="29704" name="Rectangle 11"/>
            <p:cNvSpPr>
              <a:spLocks noChangeArrowheads="1"/>
            </p:cNvSpPr>
            <p:nvPr/>
          </p:nvSpPr>
          <p:spPr bwMode="auto">
            <a:xfrm>
              <a:off x="66" y="2370"/>
              <a:ext cx="5580" cy="1644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 dirty="0"/>
            </a:p>
          </p:txBody>
        </p:sp>
        <p:sp>
          <p:nvSpPr>
            <p:cNvPr id="29705" name="Rectangle 12"/>
            <p:cNvSpPr>
              <a:spLocks noChangeArrowheads="1"/>
            </p:cNvSpPr>
            <p:nvPr/>
          </p:nvSpPr>
          <p:spPr bwMode="auto">
            <a:xfrm>
              <a:off x="109" y="3429"/>
              <a:ext cx="1254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>
                  <a:solidFill>
                    <a:srgbClr val="414141"/>
                  </a:solidFill>
                  <a:latin typeface="Times New Roman" panose="02020603050405020304" pitchFamily="18" charset="0"/>
                </a:rPr>
                <a:t>Debit   Credit</a:t>
              </a:r>
            </a:p>
          </p:txBody>
        </p:sp>
        <p:sp>
          <p:nvSpPr>
            <p:cNvPr id="29706" name="Line 13"/>
            <p:cNvSpPr>
              <a:spLocks noChangeShapeType="1"/>
            </p:cNvSpPr>
            <p:nvPr/>
          </p:nvSpPr>
          <p:spPr bwMode="auto">
            <a:xfrm>
              <a:off x="696" y="2666"/>
              <a:ext cx="0" cy="718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 dirty="0"/>
            </a:p>
          </p:txBody>
        </p:sp>
        <p:sp>
          <p:nvSpPr>
            <p:cNvPr id="29707" name="Rectangle 14"/>
            <p:cNvSpPr>
              <a:spLocks noChangeArrowheads="1"/>
            </p:cNvSpPr>
            <p:nvPr/>
          </p:nvSpPr>
          <p:spPr bwMode="auto">
            <a:xfrm>
              <a:off x="189" y="2448"/>
              <a:ext cx="1011" cy="444"/>
            </a:xfrm>
            <a:prstGeom prst="rect">
              <a:avLst/>
            </a:prstGeom>
            <a:solidFill>
              <a:srgbClr val="9900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000" b="1" dirty="0">
                  <a:solidFill>
                    <a:srgbClr val="FFFFFF"/>
                  </a:solidFill>
                </a:rPr>
                <a:t>Common Stock</a:t>
              </a:r>
            </a:p>
          </p:txBody>
        </p:sp>
        <p:sp>
          <p:nvSpPr>
            <p:cNvPr id="29708" name="Rectangle 17"/>
            <p:cNvSpPr>
              <a:spLocks noChangeArrowheads="1"/>
            </p:cNvSpPr>
            <p:nvPr/>
          </p:nvSpPr>
          <p:spPr bwMode="auto">
            <a:xfrm>
              <a:off x="144" y="3450"/>
              <a:ext cx="1062" cy="478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200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  </a:t>
              </a:r>
              <a:r>
                <a:rPr lang="en-US" altLang="en-US" sz="4400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-     </a:t>
              </a:r>
              <a:r>
                <a:rPr lang="en-US" altLang="en-US" sz="32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9709" name="Rectangle 18"/>
            <p:cNvSpPr>
              <a:spLocks noChangeArrowheads="1"/>
            </p:cNvSpPr>
            <p:nvPr/>
          </p:nvSpPr>
          <p:spPr bwMode="auto">
            <a:xfrm>
              <a:off x="1733" y="3429"/>
              <a:ext cx="1254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>
                  <a:solidFill>
                    <a:srgbClr val="414141"/>
                  </a:solidFill>
                  <a:latin typeface="Times New Roman" panose="02020603050405020304" pitchFamily="18" charset="0"/>
                </a:rPr>
                <a:t>Debit   Credit</a:t>
              </a:r>
            </a:p>
          </p:txBody>
        </p:sp>
        <p:sp>
          <p:nvSpPr>
            <p:cNvPr id="29710" name="Line 19"/>
            <p:cNvSpPr>
              <a:spLocks noChangeShapeType="1"/>
            </p:cNvSpPr>
            <p:nvPr/>
          </p:nvSpPr>
          <p:spPr bwMode="auto">
            <a:xfrm>
              <a:off x="2328" y="2698"/>
              <a:ext cx="0" cy="718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 dirty="0"/>
            </a:p>
          </p:txBody>
        </p:sp>
        <p:sp>
          <p:nvSpPr>
            <p:cNvPr id="29711" name="Rectangle 20"/>
            <p:cNvSpPr>
              <a:spLocks noChangeArrowheads="1"/>
            </p:cNvSpPr>
            <p:nvPr/>
          </p:nvSpPr>
          <p:spPr bwMode="auto">
            <a:xfrm>
              <a:off x="1744" y="2448"/>
              <a:ext cx="1171" cy="250"/>
            </a:xfrm>
            <a:prstGeom prst="rect">
              <a:avLst/>
            </a:prstGeom>
            <a:solidFill>
              <a:srgbClr val="9900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000" b="1" dirty="0">
                  <a:solidFill>
                    <a:srgbClr val="FFFFFF"/>
                  </a:solidFill>
                </a:rPr>
                <a:t>Dividends</a:t>
              </a:r>
            </a:p>
          </p:txBody>
        </p:sp>
        <p:sp>
          <p:nvSpPr>
            <p:cNvPr id="29712" name="AutoShape 21"/>
            <p:cNvSpPr>
              <a:spLocks noChangeArrowheads="1"/>
            </p:cNvSpPr>
            <p:nvPr/>
          </p:nvSpPr>
          <p:spPr bwMode="auto">
            <a:xfrm rot="-5400000">
              <a:off x="1878" y="3030"/>
              <a:ext cx="424" cy="236"/>
            </a:xfrm>
            <a:prstGeom prst="rightArrow">
              <a:avLst>
                <a:gd name="adj1" fmla="val 50000"/>
                <a:gd name="adj2" fmla="val 112080"/>
              </a:avLst>
            </a:prstGeom>
            <a:solidFill>
              <a:srgbClr val="60C9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 dirty="0"/>
            </a:p>
          </p:txBody>
        </p:sp>
        <p:sp>
          <p:nvSpPr>
            <p:cNvPr id="29713" name="AutoShape 22"/>
            <p:cNvSpPr>
              <a:spLocks noChangeArrowheads="1"/>
            </p:cNvSpPr>
            <p:nvPr/>
          </p:nvSpPr>
          <p:spPr bwMode="auto">
            <a:xfrm rot="16200000" flipH="1">
              <a:off x="2374" y="3050"/>
              <a:ext cx="480" cy="236"/>
            </a:xfrm>
            <a:prstGeom prst="rightArrow">
              <a:avLst>
                <a:gd name="adj1" fmla="val 50000"/>
                <a:gd name="adj2" fmla="val 122429"/>
              </a:avLst>
            </a:prstGeom>
            <a:solidFill>
              <a:srgbClr val="FF33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 dirty="0"/>
            </a:p>
          </p:txBody>
        </p:sp>
        <p:sp>
          <p:nvSpPr>
            <p:cNvPr id="29714" name="Rectangle 23"/>
            <p:cNvSpPr>
              <a:spLocks noChangeArrowheads="1"/>
            </p:cNvSpPr>
            <p:nvPr/>
          </p:nvSpPr>
          <p:spPr bwMode="auto">
            <a:xfrm>
              <a:off x="1821" y="3456"/>
              <a:ext cx="1062" cy="478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200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  </a:t>
              </a:r>
              <a:r>
                <a:rPr lang="en-US" altLang="en-US" sz="32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+</a:t>
              </a:r>
              <a:r>
                <a:rPr lang="en-US" altLang="en-US" sz="3200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      </a:t>
              </a:r>
              <a:r>
                <a:rPr lang="en-US" altLang="en-US" sz="4400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29715" name="Rectangle 24"/>
            <p:cNvSpPr>
              <a:spLocks noChangeArrowheads="1"/>
            </p:cNvSpPr>
            <p:nvPr/>
          </p:nvSpPr>
          <p:spPr bwMode="auto">
            <a:xfrm>
              <a:off x="4477" y="3429"/>
              <a:ext cx="1203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>
                  <a:solidFill>
                    <a:srgbClr val="414141"/>
                  </a:solidFill>
                  <a:latin typeface="Times New Roman" panose="02020603050405020304" pitchFamily="18" charset="0"/>
                </a:rPr>
                <a:t>Debit   Credit</a:t>
              </a:r>
            </a:p>
          </p:txBody>
        </p:sp>
        <p:sp>
          <p:nvSpPr>
            <p:cNvPr id="29716" name="Line 25"/>
            <p:cNvSpPr>
              <a:spLocks noChangeShapeType="1"/>
            </p:cNvSpPr>
            <p:nvPr/>
          </p:nvSpPr>
          <p:spPr bwMode="auto">
            <a:xfrm>
              <a:off x="5064" y="2698"/>
              <a:ext cx="0" cy="718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 dirty="0"/>
            </a:p>
          </p:txBody>
        </p:sp>
        <p:sp>
          <p:nvSpPr>
            <p:cNvPr id="29717" name="Rectangle 26"/>
            <p:cNvSpPr>
              <a:spLocks noChangeArrowheads="1"/>
            </p:cNvSpPr>
            <p:nvPr/>
          </p:nvSpPr>
          <p:spPr bwMode="auto">
            <a:xfrm>
              <a:off x="4549" y="2448"/>
              <a:ext cx="1011" cy="256"/>
            </a:xfrm>
            <a:prstGeom prst="rect">
              <a:avLst/>
            </a:prstGeom>
            <a:solidFill>
              <a:srgbClr val="9900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000" b="1" dirty="0">
                  <a:solidFill>
                    <a:srgbClr val="FFFFFF"/>
                  </a:solidFill>
                </a:rPr>
                <a:t>Expenses</a:t>
              </a:r>
            </a:p>
          </p:txBody>
        </p:sp>
        <p:sp>
          <p:nvSpPr>
            <p:cNvPr id="29718" name="AutoShape 27"/>
            <p:cNvSpPr>
              <a:spLocks noChangeArrowheads="1"/>
            </p:cNvSpPr>
            <p:nvPr/>
          </p:nvSpPr>
          <p:spPr bwMode="auto">
            <a:xfrm rot="-5400000">
              <a:off x="4564" y="2932"/>
              <a:ext cx="520" cy="232"/>
            </a:xfrm>
            <a:prstGeom prst="rightArrow">
              <a:avLst>
                <a:gd name="adj1" fmla="val 50000"/>
                <a:gd name="adj2" fmla="val 112079"/>
              </a:avLst>
            </a:prstGeom>
            <a:solidFill>
              <a:srgbClr val="60C9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 dirty="0"/>
            </a:p>
          </p:txBody>
        </p:sp>
        <p:sp>
          <p:nvSpPr>
            <p:cNvPr id="29719" name="AutoShape 28"/>
            <p:cNvSpPr>
              <a:spLocks noChangeArrowheads="1"/>
            </p:cNvSpPr>
            <p:nvPr/>
          </p:nvSpPr>
          <p:spPr bwMode="auto">
            <a:xfrm rot="16200000" flipH="1">
              <a:off x="5068" y="2956"/>
              <a:ext cx="568" cy="232"/>
            </a:xfrm>
            <a:prstGeom prst="rightArrow">
              <a:avLst>
                <a:gd name="adj1" fmla="val 50000"/>
                <a:gd name="adj2" fmla="val 122425"/>
              </a:avLst>
            </a:prstGeom>
            <a:solidFill>
              <a:srgbClr val="FF33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 dirty="0"/>
            </a:p>
          </p:txBody>
        </p:sp>
        <p:sp>
          <p:nvSpPr>
            <p:cNvPr id="29720" name="Rectangle 29"/>
            <p:cNvSpPr>
              <a:spLocks noChangeArrowheads="1"/>
            </p:cNvSpPr>
            <p:nvPr/>
          </p:nvSpPr>
          <p:spPr bwMode="auto">
            <a:xfrm>
              <a:off x="4557" y="3456"/>
              <a:ext cx="1062" cy="478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200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  </a:t>
              </a:r>
              <a:r>
                <a:rPr lang="en-US" altLang="en-US" sz="32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+</a:t>
              </a:r>
              <a:r>
                <a:rPr lang="en-US" altLang="en-US" sz="3200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      </a:t>
              </a:r>
              <a:r>
                <a:rPr lang="en-US" altLang="en-US" sz="4400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29721" name="Rectangle 30"/>
            <p:cNvSpPr>
              <a:spLocks noChangeArrowheads="1"/>
            </p:cNvSpPr>
            <p:nvPr/>
          </p:nvSpPr>
          <p:spPr bwMode="auto">
            <a:xfrm>
              <a:off x="3141" y="3429"/>
              <a:ext cx="1254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>
                  <a:solidFill>
                    <a:srgbClr val="414141"/>
                  </a:solidFill>
                  <a:latin typeface="Times New Roman" panose="02020603050405020304" pitchFamily="18" charset="0"/>
                </a:rPr>
                <a:t>Debit   Credit</a:t>
              </a:r>
            </a:p>
          </p:txBody>
        </p:sp>
        <p:sp>
          <p:nvSpPr>
            <p:cNvPr id="29722" name="Line 31"/>
            <p:cNvSpPr>
              <a:spLocks noChangeShapeType="1"/>
            </p:cNvSpPr>
            <p:nvPr/>
          </p:nvSpPr>
          <p:spPr bwMode="auto">
            <a:xfrm>
              <a:off x="3720" y="2698"/>
              <a:ext cx="0" cy="718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SG" dirty="0"/>
            </a:p>
          </p:txBody>
        </p:sp>
        <p:sp>
          <p:nvSpPr>
            <p:cNvPr id="29723" name="Rectangle 32"/>
            <p:cNvSpPr>
              <a:spLocks noChangeArrowheads="1"/>
            </p:cNvSpPr>
            <p:nvPr/>
          </p:nvSpPr>
          <p:spPr bwMode="auto">
            <a:xfrm>
              <a:off x="3213" y="2448"/>
              <a:ext cx="1011" cy="256"/>
            </a:xfrm>
            <a:prstGeom prst="rect">
              <a:avLst/>
            </a:prstGeom>
            <a:solidFill>
              <a:srgbClr val="9900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000" b="1" dirty="0">
                  <a:solidFill>
                    <a:srgbClr val="FFFFFF"/>
                  </a:solidFill>
                </a:rPr>
                <a:t> Revenues</a:t>
              </a:r>
            </a:p>
          </p:txBody>
        </p:sp>
        <p:sp>
          <p:nvSpPr>
            <p:cNvPr id="29724" name="AutoShape 33"/>
            <p:cNvSpPr>
              <a:spLocks noChangeArrowheads="1"/>
            </p:cNvSpPr>
            <p:nvPr/>
          </p:nvSpPr>
          <p:spPr bwMode="auto">
            <a:xfrm rot="-5400000">
              <a:off x="3748" y="2932"/>
              <a:ext cx="520" cy="232"/>
            </a:xfrm>
            <a:prstGeom prst="rightArrow">
              <a:avLst>
                <a:gd name="adj1" fmla="val 50000"/>
                <a:gd name="adj2" fmla="val 112079"/>
              </a:avLst>
            </a:prstGeom>
            <a:solidFill>
              <a:srgbClr val="60C9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 dirty="0"/>
            </a:p>
          </p:txBody>
        </p:sp>
        <p:sp>
          <p:nvSpPr>
            <p:cNvPr id="29725" name="AutoShape 34"/>
            <p:cNvSpPr>
              <a:spLocks noChangeArrowheads="1"/>
            </p:cNvSpPr>
            <p:nvPr/>
          </p:nvSpPr>
          <p:spPr bwMode="auto">
            <a:xfrm rot="16200000" flipH="1">
              <a:off x="3196" y="2956"/>
              <a:ext cx="568" cy="232"/>
            </a:xfrm>
            <a:prstGeom prst="rightArrow">
              <a:avLst>
                <a:gd name="adj1" fmla="val 50000"/>
                <a:gd name="adj2" fmla="val 122425"/>
              </a:avLst>
            </a:prstGeom>
            <a:solidFill>
              <a:srgbClr val="FF33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 dirty="0"/>
            </a:p>
          </p:txBody>
        </p:sp>
        <p:sp>
          <p:nvSpPr>
            <p:cNvPr id="29726" name="Rectangle 35"/>
            <p:cNvSpPr>
              <a:spLocks noChangeArrowheads="1"/>
            </p:cNvSpPr>
            <p:nvPr/>
          </p:nvSpPr>
          <p:spPr bwMode="auto">
            <a:xfrm>
              <a:off x="3213" y="3456"/>
              <a:ext cx="1062" cy="478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200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  </a:t>
              </a:r>
              <a:r>
                <a:rPr lang="en-US" altLang="en-US" sz="4400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-     </a:t>
              </a:r>
              <a:r>
                <a:rPr lang="en-US" altLang="en-US" sz="32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</p:grpSp>
      <p:sp>
        <p:nvSpPr>
          <p:cNvPr id="22564" name="Rectangle 3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Double-Entry Accounting</a:t>
            </a:r>
          </a:p>
        </p:txBody>
      </p:sp>
      <p:sp>
        <p:nvSpPr>
          <p:cNvPr id="22565" name="Rectangle 37"/>
          <p:cNvSpPr>
            <a:spLocks noChangeArrowheads="1"/>
          </p:cNvSpPr>
          <p:nvPr/>
        </p:nvSpPr>
        <p:spPr bwMode="auto">
          <a:xfrm>
            <a:off x="3365500" y="1562100"/>
            <a:ext cx="2349500" cy="838200"/>
          </a:xfrm>
          <a:prstGeom prst="rect">
            <a:avLst/>
          </a:prstGeom>
          <a:solidFill>
            <a:srgbClr val="F6E9B4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63500" dir="19387806" algn="ctr" rotWithShape="0">
              <a:schemeClr val="tx1"/>
            </a:outerShdw>
          </a:effectLst>
        </p:spPr>
        <p:txBody>
          <a:bodyPr wrap="none" lIns="90488" tIns="44450" rIns="90488" bIns="44450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4400" dirty="0">
                <a:solidFill>
                  <a:srgbClr val="9A2F6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Arial" panose="020B0604020202020204" pitchFamily="34" charset="0"/>
              </a:rPr>
              <a:t>Equity</a:t>
            </a:r>
          </a:p>
        </p:txBody>
      </p:sp>
      <p:sp>
        <p:nvSpPr>
          <p:cNvPr id="29701" name="AutoShape 21"/>
          <p:cNvSpPr>
            <a:spLocks noChangeArrowheads="1"/>
          </p:cNvSpPr>
          <p:nvPr/>
        </p:nvSpPr>
        <p:spPr bwMode="auto">
          <a:xfrm rot="-5400000">
            <a:off x="1146175" y="4797425"/>
            <a:ext cx="673100" cy="374650"/>
          </a:xfrm>
          <a:prstGeom prst="rightArrow">
            <a:avLst>
              <a:gd name="adj1" fmla="val 50000"/>
              <a:gd name="adj2" fmla="val 112080"/>
            </a:avLst>
          </a:prstGeom>
          <a:solidFill>
            <a:srgbClr val="60C9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 dirty="0"/>
          </a:p>
        </p:txBody>
      </p:sp>
      <p:sp>
        <p:nvSpPr>
          <p:cNvPr id="29702" name="AutoShape 22"/>
          <p:cNvSpPr>
            <a:spLocks noChangeArrowheads="1"/>
          </p:cNvSpPr>
          <p:nvPr/>
        </p:nvSpPr>
        <p:spPr bwMode="auto">
          <a:xfrm rot="16200000" flipH="1">
            <a:off x="339725" y="4841875"/>
            <a:ext cx="762000" cy="374650"/>
          </a:xfrm>
          <a:prstGeom prst="rightArrow">
            <a:avLst>
              <a:gd name="adj1" fmla="val 50000"/>
              <a:gd name="adj2" fmla="val 122429"/>
            </a:avLst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5214346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36"/>
          <p:cNvSpPr>
            <a:spLocks noGrp="1" noChangeArrowheads="1"/>
          </p:cNvSpPr>
          <p:nvPr>
            <p:ph type="title"/>
          </p:nvPr>
        </p:nvSpPr>
        <p:spPr>
          <a:xfrm>
            <a:off x="495300" y="624881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 dirty="0">
                <a:cs typeface="Arial" charset="0"/>
              </a:rPr>
              <a:t>Double-Entry Accounting:</a:t>
            </a:r>
            <a:br>
              <a:rPr lang="en-US" altLang="en-US" b="1" dirty="0">
                <a:cs typeface="Arial" charset="0"/>
              </a:rPr>
            </a:br>
            <a:r>
              <a:rPr lang="en-US" altLang="en-US" b="1" dirty="0">
                <a:cs typeface="Arial" charset="0"/>
              </a:rPr>
              <a:t>Expanded Accounting Equation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781800" y="6363657"/>
            <a:ext cx="2133600" cy="365125"/>
          </a:xfrm>
        </p:spPr>
        <p:txBody>
          <a:bodyPr/>
          <a:lstStyle/>
          <a:p>
            <a:pPr>
              <a:defRPr/>
            </a:pPr>
            <a:fld id="{3A033813-C328-4BC5-9F9D-A7A4262C6BE2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137221" name="Rectangle 6"/>
          <p:cNvSpPr>
            <a:spLocks noChangeArrowheads="1"/>
          </p:cNvSpPr>
          <p:nvPr/>
        </p:nvSpPr>
        <p:spPr bwMode="auto">
          <a:xfrm>
            <a:off x="914400" y="2006756"/>
            <a:ext cx="73914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-107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-107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-107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-107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-107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-107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-107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-107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-107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Arial" charset="0"/>
              </a:rPr>
              <a:t>Here is the expanded accounting equation showing the equity section.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  <a:ln w="28575" cap="flat" cmpd="sng" algn="ctr">
            <a:solidFill>
              <a:srgbClr val="6076B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ysClr val="window" lastClr="FFFFFF"/>
              </a:solidFill>
              <a:latin typeface="Palatino Linotype"/>
            </a:endParaRPr>
          </a:p>
        </p:txBody>
      </p:sp>
      <p:pic>
        <p:nvPicPr>
          <p:cNvPr id="1026" name="Picture 2" descr="C:\Users\April\AppData\Local\Temp\SNAGHTML9456991.PNG">
            <a:extLst>
              <a:ext uri="{FF2B5EF4-FFF2-40B4-BE49-F238E27FC236}">
                <a16:creationId xmlns:a16="http://schemas.microsoft.com/office/drawing/2014/main" id="{652C86F3-C7B1-4599-BAC3-783EB8208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28006"/>
            <a:ext cx="9144000" cy="1882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516795"/>
            <a:ext cx="8229600" cy="1249362"/>
          </a:xfrm>
        </p:spPr>
        <p:txBody>
          <a:bodyPr/>
          <a:lstStyle/>
          <a:p>
            <a:pPr eaLnBrk="1" hangingPunct="1"/>
            <a:r>
              <a:rPr lang="en-US" altLang="en-US" b="1" dirty="0">
                <a:cs typeface="Arial" charset="0"/>
              </a:rPr>
              <a:t>Double-Entry Accounting: </a:t>
            </a:r>
            <a:br>
              <a:rPr lang="en-US" altLang="en-US" b="1" dirty="0">
                <a:cs typeface="Arial" charset="0"/>
              </a:rPr>
            </a:br>
            <a:r>
              <a:rPr lang="en-US" altLang="en-US" b="1" dirty="0">
                <a:cs typeface="Arial" charset="0"/>
              </a:rPr>
              <a:t>Account Balance</a:t>
            </a:r>
            <a:endParaRPr lang="en-US" altLang="en-US" b="1" dirty="0">
              <a:latin typeface="Arial" charset="0"/>
              <a:cs typeface="Arial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6705600" y="6368306"/>
            <a:ext cx="2133600" cy="365125"/>
          </a:xfrm>
        </p:spPr>
        <p:txBody>
          <a:bodyPr/>
          <a:lstStyle/>
          <a:p>
            <a:pPr>
              <a:defRPr/>
            </a:pPr>
            <a:fld id="{8F33418F-874F-469A-9617-B141720A8E12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801382"/>
            <a:ext cx="8610600" cy="914400"/>
          </a:xfr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buFont typeface="Wingdings" pitchFamily="-107" charset="2"/>
              <a:buNone/>
              <a:defRPr/>
            </a:pPr>
            <a:r>
              <a:rPr lang="en-US" sz="2400" dirty="0">
                <a:solidFill>
                  <a:srgbClr val="5A160B"/>
                </a:solidFill>
                <a:latin typeface="Arial" charset="0"/>
                <a:cs typeface="Arial" charset="0"/>
              </a:rPr>
              <a:t>An account balance is the difference between the increases and decreases in an account. Notice the T-Account.</a:t>
            </a:r>
          </a:p>
          <a:p>
            <a:pPr algn="ctr" eaLnBrk="1" fontAlgn="auto" hangingPunct="1">
              <a:spcAft>
                <a:spcPts val="0"/>
              </a:spcAft>
              <a:buFont typeface="Wingdings" pitchFamily="-107" charset="2"/>
              <a:buNone/>
              <a:defRPr/>
            </a:pPr>
            <a:endParaRPr lang="en-US" sz="2400" dirty="0">
              <a:solidFill>
                <a:srgbClr val="5A160B"/>
              </a:solidFill>
              <a:latin typeface="Arial" charset="0"/>
              <a:cs typeface="Arial" charset="0"/>
            </a:endParaRPr>
          </a:p>
        </p:txBody>
      </p:sp>
      <p:sp>
        <p:nvSpPr>
          <p:cNvPr id="6149" name="Line 6"/>
          <p:cNvSpPr>
            <a:spLocks noChangeShapeType="1"/>
          </p:cNvSpPr>
          <p:nvPr/>
        </p:nvSpPr>
        <p:spPr bwMode="auto">
          <a:xfrm flipH="1">
            <a:off x="3184072" y="2610880"/>
            <a:ext cx="1143000" cy="8337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arrow" w="med" len="med"/>
          </a:ln>
          <a:effectLst>
            <a:outerShdw blurRad="50800"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  <a:ln w="28575" cap="flat" cmpd="sng" algn="ctr">
            <a:solidFill>
              <a:srgbClr val="6076B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ysClr val="window" lastClr="FFFFFF"/>
              </a:solidFill>
              <a:latin typeface="Palatino Linoty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73B35D-BC99-4DFA-8320-ECA21CCF3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877" y="3474857"/>
            <a:ext cx="8391677" cy="29244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Title 4"/>
          <p:cNvSpPr>
            <a:spLocks noGrp="1"/>
          </p:cNvSpPr>
          <p:nvPr>
            <p:ph type="ctrTitle"/>
          </p:nvPr>
        </p:nvSpPr>
        <p:spPr>
          <a:xfrm>
            <a:off x="914400" y="1828800"/>
            <a:ext cx="7315200" cy="3124200"/>
          </a:xfrm>
        </p:spPr>
        <p:txBody>
          <a:bodyPr>
            <a:normAutofit fontScale="90000"/>
          </a:bodyPr>
          <a:lstStyle/>
          <a:p>
            <a:pPr eaLnBrk="1" hangingPunct="1"/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Record transactions in a journal and post entries to a ledger. </a:t>
            </a: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  <a:ln w="28575" cap="flat" cmpd="sng" algn="ctr">
            <a:solidFill>
              <a:srgbClr val="6076B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rgbClr val="FFFF00"/>
              </a:solidFill>
              <a:latin typeface="Palatino Linotype"/>
            </a:endParaRPr>
          </a:p>
        </p:txBody>
      </p:sp>
      <p:pic>
        <p:nvPicPr>
          <p:cNvPr id="14029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676" y="1869322"/>
            <a:ext cx="7315200" cy="8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0293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648" y="5181600"/>
            <a:ext cx="7315200" cy="8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0294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363AA050-11C5-43C4-87E6-504C0538F225}" type="slidenum">
              <a:rPr lang="en-US" altLang="en-US" smtClean="0">
                <a:solidFill>
                  <a:srgbClr val="898989"/>
                </a:solidFill>
              </a:rPr>
              <a:pPr eaLnBrk="1" hangingPunct="1"/>
              <a:t>20</a:t>
            </a:fld>
            <a:endParaRPr lang="en-US" altLang="en-US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671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90182" y="657620"/>
            <a:ext cx="8229600" cy="1143000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cs typeface="Arial" charset="0"/>
              </a:rPr>
              <a:t>Journalizing and Posting Transactions</a:t>
            </a:r>
            <a:endParaRPr lang="en-US" altLang="en-US" b="1" dirty="0">
              <a:latin typeface="Arial" charset="0"/>
              <a:cs typeface="Arial" charset="0"/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6729046" y="6344981"/>
            <a:ext cx="2133600" cy="365125"/>
          </a:xfrm>
        </p:spPr>
        <p:txBody>
          <a:bodyPr/>
          <a:lstStyle/>
          <a:p>
            <a:pPr>
              <a:defRPr/>
            </a:pPr>
            <a:fld id="{23AEDF90-7069-470B-9B75-F55F2CE07A25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  <a:ln w="28575" cap="flat" cmpd="sng" algn="ctr">
            <a:solidFill>
              <a:srgbClr val="6076B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ysClr val="window" lastClr="FFFFFF"/>
              </a:solidFill>
              <a:latin typeface="Palatino Linoty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83FC1E-434E-470B-BCAD-C43205558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1" y="2641604"/>
            <a:ext cx="8991600" cy="28447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/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533400" y="1828800"/>
            <a:ext cx="8077200" cy="20510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b="1" dirty="0">
                <a:ea typeface="新細明體" panose="02020500000000000000" pitchFamily="18" charset="-120"/>
              </a:rPr>
              <a:t>In an actual accounting system, transactions are initially recorded in the</a:t>
            </a:r>
            <a:r>
              <a:rPr lang="en-US" altLang="zh-TW" sz="3200" b="1" dirty="0">
                <a:solidFill>
                  <a:schemeClr val="accent2"/>
                </a:solidFill>
                <a:ea typeface="新細明體" panose="02020500000000000000" pitchFamily="18" charset="-120"/>
              </a:rPr>
              <a:t> journal</a:t>
            </a:r>
            <a:r>
              <a:rPr lang="en-US" altLang="zh-TW" sz="3200" b="1" dirty="0">
                <a:ea typeface="新細明體" panose="02020500000000000000" pitchFamily="18" charset="-120"/>
              </a:rPr>
              <a:t>. Journal is a chronological record of transactions.</a:t>
            </a:r>
          </a:p>
        </p:txBody>
      </p:sp>
      <p:sp>
        <p:nvSpPr>
          <p:cNvPr id="474117" name="AutoShap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defRPr/>
            </a:pPr>
            <a:r>
              <a:rPr lang="en-US" altLang="zh-TW" dirty="0">
                <a:latin typeface="Arial" charset="0"/>
                <a:ea typeface="新細明體" charset="-120"/>
                <a:cs typeface="Arial" charset="0"/>
              </a:rPr>
              <a:t>Journalizing &amp;</a:t>
            </a:r>
            <a:br>
              <a:rPr lang="en-US" altLang="zh-TW" dirty="0">
                <a:latin typeface="Arial" charset="0"/>
                <a:ea typeface="新細明體" charset="-120"/>
                <a:cs typeface="Arial" charset="0"/>
              </a:rPr>
            </a:br>
            <a:r>
              <a:rPr lang="en-US" altLang="zh-TW" dirty="0">
                <a:latin typeface="Arial" charset="0"/>
                <a:ea typeface="新細明體" charset="-120"/>
                <a:cs typeface="Arial" charset="0"/>
              </a:rPr>
              <a:t> Posting Transactions</a:t>
            </a:r>
            <a:endParaRPr lang="en-US" altLang="zh-TW" dirty="0">
              <a:ea typeface="新細明體" charset="-120"/>
            </a:endParaRPr>
          </a:p>
        </p:txBody>
      </p:sp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533400" y="4267200"/>
            <a:ext cx="8077200" cy="15636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lIns="90488" tIns="44450" rIns="90488" bIns="44450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TW" sz="3200" b="1">
                <a:solidFill>
                  <a:schemeClr val="accent2"/>
                </a:solidFill>
                <a:ea typeface="新細明體" panose="02020500000000000000" pitchFamily="18" charset="-120"/>
              </a:rPr>
              <a:t>Posting</a:t>
            </a:r>
            <a:r>
              <a:rPr lang="en-US" altLang="zh-TW" sz="3200" b="1">
                <a:ea typeface="新細明體" panose="02020500000000000000" pitchFamily="18" charset="-120"/>
              </a:rPr>
              <a:t> is the process of systematically copying information from the journal to the ledger</a:t>
            </a:r>
            <a:r>
              <a:rPr lang="en-US" altLang="zh-CN" sz="3200" b="1">
                <a:ea typeface="新細明體" panose="02020500000000000000" pitchFamily="18" charset="-120"/>
              </a:rPr>
              <a:t> accounts</a:t>
            </a:r>
            <a:r>
              <a:rPr lang="en-US" altLang="zh-TW" sz="3200" b="1">
                <a:ea typeface="新細明體" panose="02020500000000000000" pitchFamily="18" charset="-12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35198805"/>
      </p:ext>
    </p:extLst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C19CE9-1CE4-4579-968A-CE6E36BF0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502" y="2576525"/>
            <a:ext cx="7660601" cy="2420882"/>
          </a:xfrm>
          <a:prstGeom prst="rect">
            <a:avLst/>
          </a:prstGeom>
        </p:spPr>
      </p:pic>
      <p:sp>
        <p:nvSpPr>
          <p:cNvPr id="142340" name="Rectangle 7"/>
          <p:cNvSpPr>
            <a:spLocks noGrp="1" noChangeArrowheads="1"/>
          </p:cNvSpPr>
          <p:nvPr>
            <p:ph type="title"/>
          </p:nvPr>
        </p:nvSpPr>
        <p:spPr>
          <a:xfrm>
            <a:off x="1219200" y="274638"/>
            <a:ext cx="6629400" cy="1143000"/>
          </a:xfrm>
        </p:spPr>
        <p:txBody>
          <a:bodyPr/>
          <a:lstStyle/>
          <a:p>
            <a:pPr eaLnBrk="1" hangingPunct="1"/>
            <a:r>
              <a:rPr lang="en-US" altLang="en-US" b="1" dirty="0">
                <a:cs typeface="Arial" charset="0"/>
              </a:rPr>
              <a:t>Journalizing Transactions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858000" y="6448561"/>
            <a:ext cx="2133600" cy="365125"/>
          </a:xfrm>
        </p:spPr>
        <p:txBody>
          <a:bodyPr/>
          <a:lstStyle/>
          <a:p>
            <a:pPr>
              <a:defRPr/>
            </a:pPr>
            <a:fld id="{37B7D29A-4EF1-4BC8-B956-3087A25DCB54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18447" name="Rectangle 10"/>
          <p:cNvSpPr>
            <a:spLocks noChangeArrowheads="1"/>
          </p:cNvSpPr>
          <p:nvPr/>
        </p:nvSpPr>
        <p:spPr bwMode="auto">
          <a:xfrm>
            <a:off x="1039037" y="1282921"/>
            <a:ext cx="2133600" cy="77540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71842" dir="2700000" algn="ctr" rotWithShape="0">
              <a:schemeClr val="tx1">
                <a:alpha val="74998"/>
              </a:schemeClr>
            </a:outerShdw>
          </a:effectLst>
        </p:spPr>
        <p:txBody>
          <a:bodyPr lIns="90488" tIns="44450" rIns="90488" bIns="44450" anchor="ctr"/>
          <a:lstStyle/>
          <a:p>
            <a:pPr marL="457200" indent="-457200">
              <a:buFont typeface="Calibri" pitchFamily="-107" charset="0"/>
              <a:buAutoNum type="alphaLcPeriod"/>
              <a:defRPr/>
            </a:pPr>
            <a:r>
              <a:rPr lang="en-US" sz="2000" b="1" dirty="0">
                <a:solidFill>
                  <a:srgbClr val="008000"/>
                </a:solidFill>
                <a:ea typeface="MS PGothic" pitchFamily="34" charset="-128"/>
              </a:rPr>
              <a:t>Transaction Date</a:t>
            </a:r>
          </a:p>
        </p:txBody>
      </p:sp>
      <p:sp>
        <p:nvSpPr>
          <p:cNvPr id="18443" name="Rectangle 17"/>
          <p:cNvSpPr>
            <a:spLocks noChangeArrowheads="1"/>
          </p:cNvSpPr>
          <p:nvPr/>
        </p:nvSpPr>
        <p:spPr bwMode="auto">
          <a:xfrm>
            <a:off x="4098648" y="1277028"/>
            <a:ext cx="2941928" cy="830496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71842" dir="2700000" algn="ctr" rotWithShape="0">
              <a:schemeClr val="tx1">
                <a:alpha val="74998"/>
              </a:schemeClr>
            </a:outerShdw>
          </a:effectLst>
        </p:spPr>
        <p:txBody>
          <a:bodyPr lIns="90488" tIns="44450" rIns="90488" bIns="44450" anchor="ctr"/>
          <a:lstStyle/>
          <a:p>
            <a:pPr marL="457200" indent="-457200">
              <a:buFont typeface="Calibri" pitchFamily="-107" charset="0"/>
              <a:buAutoNum type="alphaLcPeriod" startAt="2"/>
              <a:defRPr/>
            </a:pPr>
            <a:r>
              <a:rPr lang="en-US" sz="2000" b="1" dirty="0">
                <a:solidFill>
                  <a:schemeClr val="bg1"/>
                </a:solidFill>
                <a:ea typeface="MS PGothic" pitchFamily="34" charset="-128"/>
              </a:rPr>
              <a:t>Titles of Affected Accounts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  <a:ln w="28575" cap="flat" cmpd="sng" algn="ctr">
            <a:solidFill>
              <a:srgbClr val="6076B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ysClr val="window" lastClr="FFFFFF"/>
              </a:solidFill>
              <a:latin typeface="Palatino Linotype"/>
            </a:endParaRPr>
          </a:p>
        </p:txBody>
      </p:sp>
      <p:cxnSp>
        <p:nvCxnSpPr>
          <p:cNvPr id="31" name="Straight Arrow Connector 30"/>
          <p:cNvCxnSpPr>
            <a:cxnSpLocks/>
          </p:cNvCxnSpPr>
          <p:nvPr/>
        </p:nvCxnSpPr>
        <p:spPr>
          <a:xfrm flipV="1">
            <a:off x="7391400" y="3777768"/>
            <a:ext cx="136585" cy="178483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cxnSpLocks/>
          </p:cNvCxnSpPr>
          <p:nvPr/>
        </p:nvCxnSpPr>
        <p:spPr>
          <a:xfrm flipV="1">
            <a:off x="5715000" y="3657601"/>
            <a:ext cx="730370" cy="19049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cxnSpLocks/>
          </p:cNvCxnSpPr>
          <p:nvPr/>
        </p:nvCxnSpPr>
        <p:spPr>
          <a:xfrm flipV="1">
            <a:off x="2209800" y="4137210"/>
            <a:ext cx="762000" cy="14253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/>
          </p:cNvCxnSpPr>
          <p:nvPr/>
        </p:nvCxnSpPr>
        <p:spPr>
          <a:xfrm flipH="1">
            <a:off x="1600201" y="2133600"/>
            <a:ext cx="685799" cy="115585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cxnSpLocks/>
          </p:cNvCxnSpPr>
          <p:nvPr/>
        </p:nvCxnSpPr>
        <p:spPr>
          <a:xfrm flipH="1">
            <a:off x="2547635" y="2133600"/>
            <a:ext cx="2252965" cy="13993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48" name="Rectangle 4"/>
          <p:cNvSpPr>
            <a:spLocks noChangeArrowheads="1"/>
          </p:cNvSpPr>
          <p:nvPr/>
        </p:nvSpPr>
        <p:spPr bwMode="auto">
          <a:xfrm>
            <a:off x="4457700" y="5583224"/>
            <a:ext cx="3492500" cy="6842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71842" dir="2700000" algn="ctr" rotWithShape="0">
              <a:schemeClr val="tx1">
                <a:alpha val="74998"/>
              </a:schemeClr>
            </a:outerShdw>
          </a:effectLst>
        </p:spPr>
        <p:txBody>
          <a:bodyPr lIns="90488" tIns="44450" rIns="90488" bIns="44450" anchor="ctr"/>
          <a:lstStyle/>
          <a:p>
            <a:pPr marL="457200" indent="-457200">
              <a:buFont typeface="Calibri" pitchFamily="-107" charset="0"/>
              <a:buAutoNum type="alphaLcPeriod" startAt="3"/>
              <a:defRPr/>
            </a:pPr>
            <a:r>
              <a:rPr lang="en-US" sz="2000" b="1" dirty="0">
                <a:solidFill>
                  <a:srgbClr val="114FFB"/>
                </a:solidFill>
                <a:ea typeface="MS PGothic" pitchFamily="34" charset="-128"/>
              </a:rPr>
              <a:t>Dollar amount of debits and credits</a:t>
            </a:r>
          </a:p>
        </p:txBody>
      </p:sp>
      <p:sp>
        <p:nvSpPr>
          <p:cNvPr id="18445" name="Rectangle 13"/>
          <p:cNvSpPr>
            <a:spLocks noChangeArrowheads="1"/>
          </p:cNvSpPr>
          <p:nvPr/>
        </p:nvSpPr>
        <p:spPr bwMode="auto">
          <a:xfrm>
            <a:off x="1422571" y="5562600"/>
            <a:ext cx="2743200" cy="750247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71842" dir="2700000" algn="ctr" rotWithShape="0">
              <a:schemeClr val="tx1">
                <a:alpha val="74998"/>
              </a:schemeClr>
            </a:outerShdw>
          </a:effectLst>
        </p:spPr>
        <p:txBody>
          <a:bodyPr lIns="90488" tIns="44450" rIns="90488" bIns="44450" anchor="ctr"/>
          <a:lstStyle/>
          <a:p>
            <a:pPr marL="457200" indent="-457200">
              <a:buFont typeface="Calibri" pitchFamily="-107" charset="0"/>
              <a:buAutoNum type="alphaLcPeriod" startAt="4"/>
              <a:defRPr/>
            </a:pPr>
            <a:r>
              <a:rPr lang="en-US" sz="2000" b="1" dirty="0">
                <a:solidFill>
                  <a:srgbClr val="FFFFFF"/>
                </a:solidFill>
                <a:ea typeface="MS PGothic" pitchFamily="34" charset="-128"/>
              </a:rPr>
              <a:t>Transaction explanation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325562"/>
          </a:xfrm>
        </p:spPr>
        <p:txBody>
          <a:bodyPr/>
          <a:lstStyle/>
          <a:p>
            <a:pPr eaLnBrk="1" hangingPunct="1"/>
            <a:r>
              <a:rPr lang="en-US" altLang="en-US" b="1" dirty="0">
                <a:cs typeface="Arial" charset="0"/>
              </a:rPr>
              <a:t>Balance Column Account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781800" y="6407468"/>
            <a:ext cx="2133600" cy="365125"/>
          </a:xfrm>
        </p:spPr>
        <p:txBody>
          <a:bodyPr/>
          <a:lstStyle/>
          <a:p>
            <a:pPr>
              <a:defRPr/>
            </a:pPr>
            <a:fld id="{D9EB0867-3AC7-4D3F-929E-5D27A5C5DF2E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95299" y="1819394"/>
            <a:ext cx="8153400" cy="1219200"/>
          </a:xfr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lIns="90488" tIns="44450" rIns="90488" bIns="44450"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buFont typeface="Wingdings" pitchFamily="-107" charset="2"/>
              <a:buNone/>
              <a:defRPr/>
            </a:pPr>
            <a:r>
              <a:rPr lang="en-US" dirty="0">
                <a:cs typeface="Arial" charset="0"/>
              </a:rPr>
              <a:t>T-accounts are useful illustrations, but </a:t>
            </a:r>
            <a:r>
              <a:rPr lang="en-US" dirty="0">
                <a:solidFill>
                  <a:schemeClr val="hlink"/>
                </a:solidFill>
                <a:cs typeface="Arial" charset="0"/>
              </a:rPr>
              <a:t>balance column accounts </a:t>
            </a:r>
            <a:r>
              <a:rPr lang="en-US" dirty="0">
                <a:cs typeface="Arial" charset="0"/>
              </a:rPr>
              <a:t>are used in practice.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  <a:ln w="28575" cap="flat" cmpd="sng" algn="ctr">
            <a:solidFill>
              <a:srgbClr val="6076B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ysClr val="window" lastClr="FFFFFF"/>
              </a:solidFill>
              <a:latin typeface="Palatino Linoty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F6D358-36C2-4E08-8D8D-8D6F8619F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3270193"/>
            <a:ext cx="8191499" cy="21511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cs typeface="Arial" charset="0"/>
              </a:rPr>
              <a:t>Posting Journal Entries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>
          <a:xfrm>
            <a:off x="6834554" y="6373935"/>
            <a:ext cx="2133600" cy="365125"/>
          </a:xfrm>
        </p:spPr>
        <p:txBody>
          <a:bodyPr/>
          <a:lstStyle/>
          <a:p>
            <a:pPr>
              <a:defRPr/>
            </a:pPr>
            <a:fld id="{756DDC27-7E3C-41A6-8B5E-36348B393707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0" y="1143000"/>
            <a:ext cx="739775" cy="472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3888" y="1524000"/>
            <a:ext cx="228600" cy="152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44391" name="TextBox 22"/>
          <p:cNvSpPr txBox="1">
            <a:spLocks noChangeArrowheads="1"/>
          </p:cNvSpPr>
          <p:nvPr/>
        </p:nvSpPr>
        <p:spPr bwMode="auto">
          <a:xfrm>
            <a:off x="838200" y="18288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-107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-107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-107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-107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-107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-107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-107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-107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-107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    </a:t>
            </a:r>
          </a:p>
        </p:txBody>
      </p:sp>
      <p:sp>
        <p:nvSpPr>
          <p:cNvPr id="144392" name="TextBox 23"/>
          <p:cNvSpPr txBox="1">
            <a:spLocks noChangeArrowheads="1"/>
          </p:cNvSpPr>
          <p:nvPr/>
        </p:nvSpPr>
        <p:spPr bwMode="auto">
          <a:xfrm>
            <a:off x="762000" y="41910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-107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-107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-107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-107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-107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-107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-107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-107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-107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  <a:ln w="28575" cap="flat" cmpd="sng" algn="ctr">
            <a:solidFill>
              <a:srgbClr val="6076B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ysClr val="window" lastClr="FFFFFF"/>
              </a:solidFill>
              <a:latin typeface="Palatino Linotype"/>
            </a:endParaRPr>
          </a:p>
        </p:txBody>
      </p:sp>
      <p:pic>
        <p:nvPicPr>
          <p:cNvPr id="2050" name="Picture 2" descr="C:\Users\April\AppData\Local\Temp\SNAGHTML948e73e.PNG">
            <a:extLst>
              <a:ext uri="{FF2B5EF4-FFF2-40B4-BE49-F238E27FC236}">
                <a16:creationId xmlns:a16="http://schemas.microsoft.com/office/drawing/2014/main" id="{F8BB0834-8FBC-40B8-846F-654353A6C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739459"/>
            <a:ext cx="9220201" cy="4415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Title 4"/>
          <p:cNvSpPr>
            <a:spLocks noGrp="1"/>
          </p:cNvSpPr>
          <p:nvPr>
            <p:ph type="ctrTitle"/>
          </p:nvPr>
        </p:nvSpPr>
        <p:spPr>
          <a:xfrm>
            <a:off x="914400" y="1828800"/>
            <a:ext cx="7315200" cy="3124200"/>
          </a:xfrm>
        </p:spPr>
        <p:txBody>
          <a:bodyPr>
            <a:normAutofit fontScale="90000"/>
          </a:bodyPr>
          <a:lstStyle/>
          <a:p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Analyze the impact of transactions on accounts and financial statements.</a:t>
            </a:r>
            <a:br>
              <a:rPr lang="en-US" altLang="en-US" b="1" dirty="0"/>
            </a:br>
            <a:br>
              <a:rPr lang="en-US" altLang="en-US" dirty="0"/>
            </a:br>
            <a:endParaRPr lang="en-US" alt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  <a:ln w="28575" cap="flat" cmpd="sng" algn="ctr">
            <a:solidFill>
              <a:srgbClr val="6076B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rgbClr val="FFFF00"/>
              </a:solidFill>
              <a:latin typeface="Palatino Linotype"/>
            </a:endParaRPr>
          </a:p>
        </p:txBody>
      </p:sp>
      <p:pic>
        <p:nvPicPr>
          <p:cNvPr id="1454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56467"/>
            <a:ext cx="7315200" cy="8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5413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337" y="5029200"/>
            <a:ext cx="7315200" cy="8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5414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CEB7237-41E6-41E3-BBB7-57F6EE8E9341}" type="slidenum">
              <a:rPr lang="en-US" altLang="en-US" smtClean="0">
                <a:solidFill>
                  <a:srgbClr val="898989"/>
                </a:solidFill>
              </a:rPr>
              <a:pPr eaLnBrk="1" hangingPunct="1"/>
              <a:t>26</a:t>
            </a:fld>
            <a:endParaRPr lang="en-US" altLang="en-US" dirty="0">
              <a:solidFill>
                <a:srgbClr val="898989"/>
              </a:solidFill>
            </a:endParaRPr>
          </a:p>
        </p:txBody>
      </p:sp>
      <p:sp>
        <p:nvSpPr>
          <p:cNvPr id="10" name="Rectangle 9"/>
          <p:cNvSpPr>
            <a:spLocks noGrp="1" noChangeArrowheads="1"/>
          </p:cNvSpPr>
          <p:nvPr/>
        </p:nvSpPr>
        <p:spPr bwMode="auto">
          <a:xfrm>
            <a:off x="6445370" y="6414482"/>
            <a:ext cx="2165230" cy="228599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prstClr val="black">
                    <a:tint val="75000"/>
                  </a:prst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r>
              <a:rPr lang="en-US" dirty="0"/>
              <a:t> © McGraw-Hill Education 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80216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036638"/>
          </a:xfrm>
        </p:spPr>
        <p:txBody>
          <a:bodyPr/>
          <a:lstStyle/>
          <a:p>
            <a:pPr eaLnBrk="1" hangingPunct="1"/>
            <a:r>
              <a:rPr lang="en-US" altLang="en-US" b="1" dirty="0">
                <a:cs typeface="Arial" charset="0"/>
              </a:rPr>
              <a:t>Processing Transactions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6781800" y="6397736"/>
            <a:ext cx="2133600" cy="365125"/>
          </a:xfrm>
        </p:spPr>
        <p:txBody>
          <a:bodyPr/>
          <a:lstStyle/>
          <a:p>
            <a:pPr>
              <a:defRPr/>
            </a:pPr>
            <a:fld id="{0E8A867F-2B08-441A-ADF4-2838433508CC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pic>
        <p:nvPicPr>
          <p:cNvPr id="14643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211513"/>
            <a:ext cx="8915400" cy="2301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457200" y="1524000"/>
            <a:ext cx="8077200" cy="12001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dirty="0"/>
              <a:t>Double-entry accounting is useful in analyzing and processing transactions. Analysis of each transaction follows these four steps.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  <a:ln w="28575" cap="flat" cmpd="sng" algn="ctr">
            <a:solidFill>
              <a:srgbClr val="6076B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ysClr val="window" lastClr="FFFFFF"/>
              </a:solidFill>
              <a:latin typeface="Palatino Linotyp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78489"/>
            <a:ext cx="8229600" cy="1143000"/>
          </a:xfrm>
        </p:spPr>
        <p:txBody>
          <a:bodyPr/>
          <a:lstStyle/>
          <a:p>
            <a:r>
              <a:rPr lang="en-US" altLang="en-US" b="1" dirty="0">
                <a:cs typeface="Arial" charset="0"/>
              </a:rPr>
              <a:t>Processing Transactions #1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770481" y="6346218"/>
            <a:ext cx="2133600" cy="365125"/>
          </a:xfrm>
        </p:spPr>
        <p:txBody>
          <a:bodyPr/>
          <a:lstStyle/>
          <a:p>
            <a:pPr>
              <a:defRPr/>
            </a:pPr>
            <a:fld id="{57A87CD1-3AF0-4612-A671-DB899BA1B7F9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C16811-C519-413E-84A3-3721E8B95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0" y="1981199"/>
            <a:ext cx="9081080" cy="34451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78716"/>
            <a:ext cx="8229600" cy="1143000"/>
          </a:xfrm>
        </p:spPr>
        <p:txBody>
          <a:bodyPr/>
          <a:lstStyle/>
          <a:p>
            <a:r>
              <a:rPr lang="en-US" altLang="en-US" b="1" dirty="0">
                <a:cs typeface="Arial" charset="0"/>
              </a:rPr>
              <a:t>Processing Transactions #2</a:t>
            </a:r>
            <a:endParaRPr lang="en-US" altLang="en-US" b="1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567928" y="6337146"/>
            <a:ext cx="410308" cy="437906"/>
          </a:xfrm>
        </p:spPr>
        <p:txBody>
          <a:bodyPr/>
          <a:lstStyle/>
          <a:p>
            <a:pPr>
              <a:defRPr/>
            </a:pPr>
            <a:fld id="{DF2278C9-1937-49A2-BB4F-46CB9B7A0A2F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pic>
        <p:nvPicPr>
          <p:cNvPr id="148484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1" y="1638023"/>
            <a:ext cx="8858966" cy="3710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566928"/>
            <a:ext cx="8229600" cy="1143000"/>
          </a:xfrm>
        </p:spPr>
        <p:txBody>
          <a:bodyPr/>
          <a:lstStyle/>
          <a:p>
            <a:r>
              <a:rPr lang="en-US" altLang="en-US" b="1" dirty="0">
                <a:cs typeface="Arial" charset="0"/>
              </a:rPr>
              <a:t>Processing Transactions #3</a:t>
            </a:r>
            <a:endParaRPr lang="en-US" altLang="en-US" b="1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858000" y="6370636"/>
            <a:ext cx="2133600" cy="365125"/>
          </a:xfrm>
        </p:spPr>
        <p:txBody>
          <a:bodyPr/>
          <a:lstStyle/>
          <a:p>
            <a:pPr>
              <a:defRPr/>
            </a:pPr>
            <a:fld id="{4CFAE9D9-3BF5-4021-AA10-44943BF60C87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pic>
        <p:nvPicPr>
          <p:cNvPr id="149508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904999"/>
            <a:ext cx="9067800" cy="3733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450822"/>
            <a:ext cx="8229600" cy="1143000"/>
          </a:xfrm>
        </p:spPr>
        <p:txBody>
          <a:bodyPr/>
          <a:lstStyle/>
          <a:p>
            <a:r>
              <a:rPr lang="en-US" altLang="en-US" b="1" dirty="0">
                <a:cs typeface="Arial" charset="0"/>
              </a:rPr>
              <a:t>Processing Transactions #4</a:t>
            </a:r>
            <a:endParaRPr lang="en-US" altLang="en-US" b="1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881468" y="6346218"/>
            <a:ext cx="2133600" cy="365125"/>
          </a:xfrm>
        </p:spPr>
        <p:txBody>
          <a:bodyPr/>
          <a:lstStyle/>
          <a:p>
            <a:pPr>
              <a:defRPr/>
            </a:pPr>
            <a:fld id="{5A44D9BE-6EF9-4E20-B7F9-95D6017A8CA8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pic>
        <p:nvPicPr>
          <p:cNvPr id="150532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82684"/>
            <a:ext cx="8991600" cy="377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78536" y="387350"/>
            <a:ext cx="8229600" cy="1143000"/>
          </a:xfrm>
        </p:spPr>
        <p:txBody>
          <a:bodyPr/>
          <a:lstStyle/>
          <a:p>
            <a:r>
              <a:rPr lang="en-US" altLang="en-US" b="1" dirty="0">
                <a:cs typeface="Arial" charset="0"/>
              </a:rPr>
              <a:t>Processing Transactions #5</a:t>
            </a:r>
            <a:endParaRPr lang="en-US" altLang="en-US" b="1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86F4D-567E-4E1B-BD13-7FD150E039E7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pic>
        <p:nvPicPr>
          <p:cNvPr id="151556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36" y="1828800"/>
            <a:ext cx="88392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38912" y="527304"/>
            <a:ext cx="8229600" cy="1143000"/>
          </a:xfrm>
        </p:spPr>
        <p:txBody>
          <a:bodyPr/>
          <a:lstStyle/>
          <a:p>
            <a:r>
              <a:rPr lang="en-US" altLang="en-US" b="1" dirty="0">
                <a:cs typeface="Arial" charset="0"/>
              </a:rPr>
              <a:t>Processing Transactions #6</a:t>
            </a:r>
            <a:endParaRPr lang="en-US" altLang="en-US" b="1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86F4D-567E-4E1B-BD13-7FD150E039E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" y="2104796"/>
            <a:ext cx="9066028" cy="3457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794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63550"/>
            <a:ext cx="8229600" cy="1143000"/>
          </a:xfrm>
        </p:spPr>
        <p:txBody>
          <a:bodyPr/>
          <a:lstStyle/>
          <a:p>
            <a:r>
              <a:rPr lang="en-US" altLang="en-US" b="1" dirty="0">
                <a:cs typeface="Arial" charset="0"/>
              </a:rPr>
              <a:t>Processing Transactions #7</a:t>
            </a:r>
            <a:endParaRPr lang="en-US" altLang="en-US" b="1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86F4D-567E-4E1B-BD13-7FD150E039E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81200"/>
            <a:ext cx="8959312" cy="3643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54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10845"/>
            <a:ext cx="8229600" cy="1143000"/>
          </a:xfrm>
        </p:spPr>
        <p:txBody>
          <a:bodyPr/>
          <a:lstStyle/>
          <a:p>
            <a:r>
              <a:rPr lang="en-US" altLang="en-US" b="1" dirty="0">
                <a:cs typeface="Arial" charset="0"/>
              </a:rPr>
              <a:t>Processing Transactions #8</a:t>
            </a:r>
            <a:endParaRPr lang="en-US" altLang="en-US" b="1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86F4D-567E-4E1B-BD13-7FD150E039E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9" y="1676400"/>
            <a:ext cx="9121751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67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65274"/>
            <a:ext cx="8229600" cy="1143000"/>
          </a:xfrm>
        </p:spPr>
        <p:txBody>
          <a:bodyPr/>
          <a:lstStyle/>
          <a:p>
            <a:r>
              <a:rPr lang="en-US" altLang="en-US" b="1" dirty="0">
                <a:cs typeface="Arial" charset="0"/>
              </a:rPr>
              <a:t>Processing Transactions #9</a:t>
            </a:r>
            <a:endParaRPr lang="en-US" altLang="en-US" b="1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86F4D-567E-4E1B-BD13-7FD150E039E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32736"/>
            <a:ext cx="91440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933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1325"/>
            <a:ext cx="8229600" cy="1143000"/>
          </a:xfrm>
        </p:spPr>
        <p:txBody>
          <a:bodyPr/>
          <a:lstStyle/>
          <a:p>
            <a:r>
              <a:rPr lang="en-US" altLang="en-US" b="1" dirty="0">
                <a:cs typeface="Arial" charset="0"/>
              </a:rPr>
              <a:t>Processing Transactions #10</a:t>
            </a:r>
            <a:endParaRPr lang="en-US" altLang="en-US" b="1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86F4D-567E-4E1B-BD13-7FD150E039E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" y="1642457"/>
            <a:ext cx="894715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995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28134"/>
            <a:ext cx="8229600" cy="1143000"/>
          </a:xfrm>
        </p:spPr>
        <p:txBody>
          <a:bodyPr/>
          <a:lstStyle/>
          <a:p>
            <a:r>
              <a:rPr lang="en-US" altLang="en-US" b="1" dirty="0">
                <a:cs typeface="Arial" charset="0"/>
              </a:rPr>
              <a:t>Processing Transactions #11</a:t>
            </a:r>
            <a:endParaRPr lang="en-US" altLang="en-US" b="1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86F4D-567E-4E1B-BD13-7FD150E039E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D85F24-5E3A-42AE-859B-42494D288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1" y="1629267"/>
            <a:ext cx="9023350" cy="431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90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19577"/>
            <a:ext cx="8229600" cy="1143000"/>
          </a:xfrm>
        </p:spPr>
        <p:txBody>
          <a:bodyPr/>
          <a:lstStyle/>
          <a:p>
            <a:r>
              <a:rPr lang="en-US" altLang="en-US" b="1" dirty="0">
                <a:cs typeface="Arial" charset="0"/>
              </a:rPr>
              <a:t>Processing Transactions #12</a:t>
            </a:r>
            <a:endParaRPr lang="en-US" altLang="en-US" b="1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86F4D-567E-4E1B-BD13-7FD150E039E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0709"/>
            <a:ext cx="9144000" cy="447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485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6045"/>
            <a:ext cx="8229600" cy="1143000"/>
          </a:xfrm>
        </p:spPr>
        <p:txBody>
          <a:bodyPr/>
          <a:lstStyle/>
          <a:p>
            <a:r>
              <a:rPr lang="en-US" altLang="en-US" b="1" dirty="0">
                <a:cs typeface="Arial" charset="0"/>
              </a:rPr>
              <a:t>Processing Transactions #13</a:t>
            </a:r>
            <a:endParaRPr lang="en-US" altLang="en-US" b="1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86F4D-567E-4E1B-BD13-7FD150E039E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829957"/>
            <a:ext cx="9000378" cy="39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745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72440" y="359873"/>
            <a:ext cx="8229600" cy="1143000"/>
          </a:xfrm>
        </p:spPr>
        <p:txBody>
          <a:bodyPr/>
          <a:lstStyle/>
          <a:p>
            <a:r>
              <a:rPr lang="en-US" altLang="en-US" b="1" dirty="0">
                <a:cs typeface="Arial" charset="0"/>
              </a:rPr>
              <a:t>Processing Transactions #14</a:t>
            </a:r>
            <a:endParaRPr lang="en-US" altLang="en-US" b="1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86F4D-567E-4E1B-BD13-7FD150E039E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61005"/>
            <a:ext cx="9296400" cy="461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867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0404"/>
            <a:ext cx="8229600" cy="1143000"/>
          </a:xfrm>
        </p:spPr>
        <p:txBody>
          <a:bodyPr/>
          <a:lstStyle/>
          <a:p>
            <a:r>
              <a:rPr lang="en-US" altLang="en-US" b="1" dirty="0">
                <a:cs typeface="Arial" charset="0"/>
              </a:rPr>
              <a:t>Processing Transactions #15</a:t>
            </a:r>
            <a:endParaRPr lang="en-US" altLang="en-US" b="1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86F4D-567E-4E1B-BD13-7FD150E039E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" y="1551537"/>
            <a:ext cx="9220200" cy="478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531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42900"/>
            <a:ext cx="8229600" cy="1143000"/>
          </a:xfrm>
        </p:spPr>
        <p:txBody>
          <a:bodyPr/>
          <a:lstStyle/>
          <a:p>
            <a:r>
              <a:rPr lang="en-US" altLang="en-US" b="1" dirty="0">
                <a:cs typeface="Arial" charset="0"/>
              </a:rPr>
              <a:t>Processing Transactions #16</a:t>
            </a:r>
            <a:endParaRPr lang="en-US" altLang="en-US" b="1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86F4D-567E-4E1B-BD13-7FD150E039E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85900"/>
            <a:ext cx="9143999" cy="492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567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87680" y="454339"/>
            <a:ext cx="8229600" cy="646331"/>
          </a:xfrm>
        </p:spPr>
        <p:txBody>
          <a:bodyPr/>
          <a:lstStyle/>
          <a:p>
            <a:r>
              <a:rPr lang="en-US" altLang="en-US" sz="3600" b="1" dirty="0">
                <a:cs typeface="Arial" charset="0"/>
              </a:rPr>
              <a:t>Summarizing Transactions in a Ledger</a:t>
            </a:r>
            <a:endParaRPr lang="en-US" altLang="en-US" sz="3600" b="1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86F4D-567E-4E1B-BD13-7FD150E039E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BA04AC-8793-4D68-A1EF-97B9AE2AC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48216"/>
            <a:ext cx="7635240" cy="536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894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Title 4"/>
          <p:cNvSpPr>
            <a:spLocks noGrp="1"/>
          </p:cNvSpPr>
          <p:nvPr>
            <p:ph type="ctrTitle"/>
          </p:nvPr>
        </p:nvSpPr>
        <p:spPr>
          <a:xfrm>
            <a:off x="914400" y="1828800"/>
            <a:ext cx="7315200" cy="3124200"/>
          </a:xfrm>
        </p:spPr>
        <p:txBody>
          <a:bodyPr>
            <a:normAutofit fontScale="90000"/>
          </a:bodyPr>
          <a:lstStyle/>
          <a:p>
            <a:pPr eaLnBrk="1" hangingPunct="1"/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Prepare and explain the </a:t>
            </a:r>
            <a:br>
              <a:rPr lang="en-US" altLang="en-US" dirty="0"/>
            </a:br>
            <a:r>
              <a:rPr lang="en-US" altLang="en-US" dirty="0"/>
              <a:t>use of a trial balance. </a:t>
            </a:r>
            <a:br>
              <a:rPr lang="en-US" altLang="en-US" b="1" dirty="0"/>
            </a:br>
            <a:br>
              <a:rPr lang="en-US" altLang="en-US" dirty="0"/>
            </a:br>
            <a:endParaRPr lang="en-US" alt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  <a:ln w="28575" cap="flat" cmpd="sng" algn="ctr">
            <a:solidFill>
              <a:srgbClr val="6076B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rgbClr val="FFFF00"/>
              </a:solidFill>
              <a:latin typeface="Palatino Linotype"/>
            </a:endParaRPr>
          </a:p>
        </p:txBody>
      </p:sp>
      <p:pic>
        <p:nvPicPr>
          <p:cNvPr id="15667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360613"/>
            <a:ext cx="7315200" cy="8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667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865687"/>
            <a:ext cx="7315200" cy="8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6678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5FBB888-C979-453A-9044-A56ED3CAB229}" type="slidenum">
              <a:rPr lang="en-US" altLang="en-US" smtClean="0">
                <a:solidFill>
                  <a:srgbClr val="898989"/>
                </a:solidFill>
              </a:rPr>
              <a:pPr eaLnBrk="1" hangingPunct="1"/>
              <a:t>45</a:t>
            </a:fld>
            <a:endParaRPr lang="en-US" altLang="en-US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722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6934200" cy="685800"/>
          </a:xfrm>
        </p:spPr>
        <p:txBody>
          <a:bodyPr/>
          <a:lstStyle/>
          <a:p>
            <a:pPr eaLnBrk="1" hangingPunct="1"/>
            <a:r>
              <a:rPr lang="en-US" altLang="en-US" b="1" dirty="0">
                <a:cs typeface="Arial" charset="0"/>
              </a:rPr>
              <a:t>Preparing a Trial Balance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0568CF-EF72-4882-9FEB-E73809C646A9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457200" y="1596747"/>
            <a:ext cx="8229600" cy="3970318"/>
          </a:xfrm>
          <a:prstGeom prst="rect">
            <a:avLst/>
          </a:prstGeom>
          <a:solidFill>
            <a:srgbClr val="E3EAF7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39998"/>
              </a:srgbClr>
            </a:outerShdw>
          </a:effectLst>
        </p:spPr>
        <p:txBody>
          <a:bodyPr>
            <a:spAutoFit/>
          </a:bodyPr>
          <a:lstStyle>
            <a:lvl1pPr marL="514350" indent="-5143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buClr>
                <a:srgbClr val="C00000"/>
              </a:buClr>
              <a:defRPr/>
            </a:pPr>
            <a:r>
              <a:rPr lang="en-US" sz="3000" dirty="0">
                <a:solidFill>
                  <a:srgbClr val="42557F"/>
                </a:solidFill>
                <a:ea typeface="MS PGothic" pitchFamily="34" charset="-128"/>
              </a:rPr>
              <a:t>Preparing a trial balance has three steps:</a:t>
            </a:r>
          </a:p>
          <a:p>
            <a:pPr eaLnBrk="1" hangingPunct="1">
              <a:buClr>
                <a:srgbClr val="C00000"/>
              </a:buClr>
              <a:defRPr/>
            </a:pPr>
            <a:endParaRPr lang="en-US" dirty="0">
              <a:solidFill>
                <a:srgbClr val="42557F"/>
              </a:solidFill>
              <a:ea typeface="MS PGothic" pitchFamily="34" charset="-128"/>
            </a:endParaRPr>
          </a:p>
          <a:p>
            <a:pPr eaLnBrk="1" hangingPunct="1">
              <a:buClr>
                <a:srgbClr val="C00000"/>
              </a:buClr>
              <a:buFont typeface="Century Schoolbook" pitchFamily="-107" charset="0"/>
              <a:buAutoNum type="arabicPeriod"/>
              <a:defRPr/>
            </a:pPr>
            <a:r>
              <a:rPr lang="en-US" dirty="0">
                <a:ea typeface="MS PGothic" pitchFamily="34" charset="-128"/>
              </a:rPr>
              <a:t>List each account title and its amount (from ledger) in the trial balance. If an account has a zero balance, list it with a zero in the normal balance column (or omit it entirely).</a:t>
            </a:r>
          </a:p>
          <a:p>
            <a:pPr eaLnBrk="1" hangingPunct="1">
              <a:buClr>
                <a:srgbClr val="C00000"/>
              </a:buClr>
              <a:buFont typeface="Century Schoolbook" pitchFamily="-107" charset="0"/>
              <a:buAutoNum type="arabicPeriod"/>
              <a:defRPr/>
            </a:pPr>
            <a:r>
              <a:rPr lang="en-US" dirty="0">
                <a:ea typeface="MS PGothic" pitchFamily="34" charset="-128"/>
              </a:rPr>
              <a:t>Compute the total of debit balances and the total of credit balances.</a:t>
            </a:r>
          </a:p>
          <a:p>
            <a:pPr eaLnBrk="1" hangingPunct="1">
              <a:buClr>
                <a:srgbClr val="C00000"/>
              </a:buClr>
              <a:buFont typeface="Century Schoolbook" pitchFamily="-107" charset="0"/>
              <a:buAutoNum type="arabicPeriod"/>
              <a:defRPr/>
            </a:pPr>
            <a:r>
              <a:rPr lang="en-US" dirty="0">
                <a:ea typeface="MS PGothic" pitchFamily="34" charset="-128"/>
              </a:rPr>
              <a:t>Verify (prove) total debit balances equal total credit balances.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1066800" y="185121"/>
            <a:ext cx="6858000" cy="685800"/>
          </a:xfrm>
          <a:prstGeom prst="rect">
            <a:avLst/>
          </a:prstGeom>
          <a:solidFill>
            <a:srgbClr val="DDD9C3"/>
          </a:solidFill>
          <a:ln w="12700">
            <a:solidFill>
              <a:srgbClr val="414141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tx1">
                <a:alpha val="74997"/>
              </a:schemeClr>
            </a:outerShdw>
          </a:effectLst>
        </p:spPr>
        <p:txBody>
          <a:bodyPr lIns="90488" tIns="44450" rIns="90488" bIns="44450" anchor="ctr"/>
          <a:lstStyle/>
          <a:p>
            <a:pPr algn="ctr">
              <a:spcBef>
                <a:spcPct val="20000"/>
              </a:spcBef>
              <a:defRPr/>
            </a:pPr>
            <a:endParaRPr lang="en-US" sz="4400" b="1" dirty="0">
              <a:solidFill>
                <a:srgbClr val="17375E"/>
              </a:solidFill>
              <a:latin typeface="+mn-lt"/>
              <a:ea typeface="MS PGothic" pitchFamily="34" charset="-128"/>
            </a:endParaRPr>
          </a:p>
        </p:txBody>
      </p:sp>
      <p:sp>
        <p:nvSpPr>
          <p:cNvPr id="31751" name="Text Box 85"/>
          <p:cNvSpPr txBox="1">
            <a:spLocks noChangeArrowheads="1"/>
          </p:cNvSpPr>
          <p:nvPr/>
        </p:nvSpPr>
        <p:spPr bwMode="auto">
          <a:xfrm>
            <a:off x="5976295" y="1270690"/>
            <a:ext cx="2249587" cy="4524315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tx1">
                <a:alpha val="74998"/>
              </a:schemeClr>
            </a:outerShdw>
          </a:effec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ea typeface="ＭＳ Ｐゴシック" pitchFamily="-112" charset="-128"/>
              </a:rPr>
              <a:t>The trial balance lists all ledger accounts and their balances at a point in time. If the books are in balance, the total debits will equal the total credits.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93451" y="185121"/>
            <a:ext cx="7315200" cy="1151985"/>
          </a:xfrm>
        </p:spPr>
        <p:txBody>
          <a:bodyPr/>
          <a:lstStyle/>
          <a:p>
            <a:r>
              <a:rPr lang="en-US" b="1" dirty="0">
                <a:solidFill>
                  <a:srgbClr val="17375E"/>
                </a:solidFill>
                <a:ea typeface="MS PGothic" pitchFamily="34" charset="-128"/>
              </a:rPr>
              <a:t>FastForward’s Trial Balance</a:t>
            </a:r>
            <a:br>
              <a:rPr lang="en-US" b="1" dirty="0">
                <a:solidFill>
                  <a:srgbClr val="17375E"/>
                </a:solidFill>
                <a:ea typeface="MS PGothic" pitchFamily="34" charset="-128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867400" y="6356352"/>
            <a:ext cx="2358482" cy="112598"/>
          </a:xfrm>
        </p:spPr>
        <p:txBody>
          <a:bodyPr/>
          <a:lstStyle/>
          <a:p>
            <a:pPr>
              <a:defRPr/>
            </a:pPr>
            <a:r>
              <a:rPr lang="en-US" sz="2400" dirty="0"/>
              <a:t>@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3C2531-7D85-439F-BB26-FBECD8B84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925056"/>
            <a:ext cx="4572000" cy="5543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909</Words>
  <Application>Microsoft Office PowerPoint</Application>
  <PresentationFormat>On-screen Show (4:3)</PresentationFormat>
  <Paragraphs>184</Paragraphs>
  <Slides>47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62" baseType="lpstr">
      <vt:lpstr>ＭＳ Ｐゴシック</vt:lpstr>
      <vt:lpstr>ＭＳ Ｐゴシック</vt:lpstr>
      <vt:lpstr>PMingLiU</vt:lpstr>
      <vt:lpstr>PMingLiU</vt:lpstr>
      <vt:lpstr>STIX Two Text</vt:lpstr>
      <vt:lpstr>Arial</vt:lpstr>
      <vt:lpstr>Calibri</vt:lpstr>
      <vt:lpstr>Calibri Light</vt:lpstr>
      <vt:lpstr>Century Schoolbook</vt:lpstr>
      <vt:lpstr>Palatino Linotype</vt:lpstr>
      <vt:lpstr>Times New Roman</vt:lpstr>
      <vt:lpstr>Verdana</vt:lpstr>
      <vt:lpstr>Wingdings</vt:lpstr>
      <vt:lpstr>Wingdings 2</vt:lpstr>
      <vt:lpstr>Office Theme</vt:lpstr>
      <vt:lpstr>AC6761 Artificial Intelligence Accounting</vt:lpstr>
      <vt:lpstr>Explain the steps in processing transactions and the role of source documents.</vt:lpstr>
      <vt:lpstr>Basis of Financial Statements</vt:lpstr>
      <vt:lpstr>   Describe an account and its use in recording transactions.  </vt:lpstr>
      <vt:lpstr>The Account Underlying Financial Statements</vt:lpstr>
      <vt:lpstr>The Account and Its Analysis</vt:lpstr>
      <vt:lpstr>Asset Accounts</vt:lpstr>
      <vt:lpstr>Liability Accounts</vt:lpstr>
      <vt:lpstr>Equity Accounts</vt:lpstr>
      <vt:lpstr>Expanded Accounting Equation</vt:lpstr>
      <vt:lpstr>  Describe a ledger and a chart of accounts.   </vt:lpstr>
      <vt:lpstr>Ledger and Chart of Accounts</vt:lpstr>
      <vt:lpstr>  Define debits and credits and explain double-entry accounting.   </vt:lpstr>
      <vt:lpstr>Debits and Credits</vt:lpstr>
      <vt:lpstr>Double Entry System</vt:lpstr>
      <vt:lpstr>Double-Entry Accounting</vt:lpstr>
      <vt:lpstr>Double-Entry Accounting</vt:lpstr>
      <vt:lpstr>Double-Entry Accounting: Expanded Accounting Equation</vt:lpstr>
      <vt:lpstr>Double-Entry Accounting:  Account Balance</vt:lpstr>
      <vt:lpstr>  Record transactions in a journal and post entries to a ledger.   </vt:lpstr>
      <vt:lpstr>Journalizing and Posting Transactions</vt:lpstr>
      <vt:lpstr>Journalizing &amp;  Posting Transactions</vt:lpstr>
      <vt:lpstr>Journalizing Transactions</vt:lpstr>
      <vt:lpstr>Balance Column Account</vt:lpstr>
      <vt:lpstr>Posting Journal Entries</vt:lpstr>
      <vt:lpstr>  Analyze the impact of transactions on accounts and financial statements.  </vt:lpstr>
      <vt:lpstr>Processing Transactions</vt:lpstr>
      <vt:lpstr>Processing Transactions #1</vt:lpstr>
      <vt:lpstr>Processing Transactions #2</vt:lpstr>
      <vt:lpstr>Processing Transactions #3</vt:lpstr>
      <vt:lpstr>Processing Transactions #4</vt:lpstr>
      <vt:lpstr>Processing Transactions #5</vt:lpstr>
      <vt:lpstr>Processing Transactions #6</vt:lpstr>
      <vt:lpstr>Processing Transactions #7</vt:lpstr>
      <vt:lpstr>Processing Transactions #8</vt:lpstr>
      <vt:lpstr>Processing Transactions #9</vt:lpstr>
      <vt:lpstr>Processing Transactions #10</vt:lpstr>
      <vt:lpstr>Processing Transactions #11</vt:lpstr>
      <vt:lpstr>Processing Transactions #12</vt:lpstr>
      <vt:lpstr>Processing Transactions #13</vt:lpstr>
      <vt:lpstr>Processing Transactions #14</vt:lpstr>
      <vt:lpstr>Processing Transactions #15</vt:lpstr>
      <vt:lpstr>Processing Transactions #16</vt:lpstr>
      <vt:lpstr>Summarizing Transactions in a Ledger</vt:lpstr>
      <vt:lpstr>  Prepare and explain the  use of a trial balance.   </vt:lpstr>
      <vt:lpstr>Preparing a Trial Balance </vt:lpstr>
      <vt:lpstr>FastForward’s Trial Balance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2020-08-27T08:06:10Z</dcterms:created>
  <dcterms:modified xsi:type="dcterms:W3CDTF">2025-09-11T03:10:05Z</dcterms:modified>
</cp:coreProperties>
</file>